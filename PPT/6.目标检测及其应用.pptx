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tiff" ContentType="image/tif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23"/>
  </p:notesMasterIdLst>
  <p:sldIdLst>
    <p:sldId id="259" r:id="rId3"/>
    <p:sldId id="257" r:id="rId4"/>
    <p:sldId id="419" r:id="rId5"/>
    <p:sldId id="258"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8" r:id="rId65"/>
    <p:sldId id="319" r:id="rId66"/>
    <p:sldId id="320" r:id="rId67"/>
    <p:sldId id="321" r:id="rId68"/>
    <p:sldId id="322" r:id="rId69"/>
    <p:sldId id="323" r:id="rId70"/>
    <p:sldId id="324" r:id="rId71"/>
    <p:sldId id="325" r:id="rId72"/>
    <p:sldId id="326" r:id="rId73"/>
    <p:sldId id="327" r:id="rId74"/>
    <p:sldId id="416" r:id="rId75"/>
    <p:sldId id="328" r:id="rId76"/>
    <p:sldId id="417"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418" r:id="rId92"/>
    <p:sldId id="415" r:id="rId9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117" d="100"/>
          <a:sy n="117" d="100"/>
        </p:scale>
        <p:origin x="19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6" Type="http://schemas.openxmlformats.org/officeDocument/2006/relationships/tableStyles" Target="tableStyles.xml"/><Relationship Id="rId95" Type="http://schemas.openxmlformats.org/officeDocument/2006/relationships/viewProps" Target="viewProps.xml"/><Relationship Id="rId94" Type="http://schemas.openxmlformats.org/officeDocument/2006/relationships/presProps" Target="presProps.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8B3B16-CF5C-426B-ABCC-5FFC277FEE9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4A7CB6-9882-4267-9499-AC56C1439C1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4A7CB6-9882-4267-9499-AC56C1439C1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4A7CB6-9882-4267-9499-AC56C1439C1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34A7CB6-9882-4267-9499-AC56C1439C1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23751" y="1185332"/>
            <a:ext cx="8088127" cy="32427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 name="标题 1"/>
          <p:cNvSpPr>
            <a:spLocks noGrp="1"/>
          </p:cNvSpPr>
          <p:nvPr>
            <p:ph type="ctrTitle"/>
          </p:nvPr>
        </p:nvSpPr>
        <p:spPr>
          <a:xfrm>
            <a:off x="349211" y="1927004"/>
            <a:ext cx="7543800" cy="1303869"/>
          </a:xfrm>
        </p:spPr>
        <p:txBody>
          <a:bodyPr anchor="b">
            <a:noAutofit/>
          </a:bodyPr>
          <a:lstStyle>
            <a:lvl1pPr algn="ctr">
              <a:defRPr sz="4800">
                <a:solidFill>
                  <a:schemeClr val="bg1"/>
                </a:solidFill>
              </a:defRPr>
            </a:lvl1pPr>
          </a:lstStyle>
          <a:p>
            <a:r>
              <a:rPr lang="zh-CN" altLang="en-US"/>
              <a:t>单击此处编辑母版标题样式</a:t>
            </a:r>
            <a:endParaRPr lang="zh-CN" altLang="en-US"/>
          </a:p>
        </p:txBody>
      </p:sp>
      <p:sp>
        <p:nvSpPr>
          <p:cNvPr id="3" name="副标题 2"/>
          <p:cNvSpPr>
            <a:spLocks noGrp="1"/>
          </p:cNvSpPr>
          <p:nvPr>
            <p:ph type="subTitle" idx="1"/>
          </p:nvPr>
        </p:nvSpPr>
        <p:spPr>
          <a:xfrm>
            <a:off x="1377064" y="3578491"/>
            <a:ext cx="5842000" cy="77893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68F7E53A-EF7A-4463-B4B1-A900788337C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人工智能技术基础及应用</a:t>
            </a:r>
            <a:endParaRPr lang="zh-CN" altLang="en-US" dirty="0"/>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dirty="0"/>
          </a:p>
        </p:txBody>
      </p:sp>
      <p:pic>
        <p:nvPicPr>
          <p:cNvPr id="1028" name="Picture 4" descr="https://gimg2.baidu.com/image_search/src=http%3A%2F%2Fpic.51yuansu.com%2Fpic3%2Fcover%2F02%2F02%2F84%2F599d4b2896b26_610.jpg&amp;refer=http%3A%2F%2Fpic.51yuansu.com&amp;app=2002&amp;size=f9999,10000&amp;q=a80&amp;n=0&amp;g=0n&amp;fmt=auto?sec=1661300391&amp;t=5a61ee9afe7d4abd715546fc922a7a9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88127" y="1185332"/>
            <a:ext cx="4103873" cy="3242733"/>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userDrawn="1"/>
        </p:nvSpPr>
        <p:spPr>
          <a:xfrm>
            <a:off x="9134543" y="1647915"/>
            <a:ext cx="1967652" cy="1862048"/>
          </a:xfrm>
          <a:prstGeom prst="rect">
            <a:avLst/>
          </a:prstGeom>
          <a:noFill/>
        </p:spPr>
        <p:txBody>
          <a:bodyPr wrap="square" rtlCol="0">
            <a:spAutoFit/>
          </a:bodyPr>
          <a:lstStyle/>
          <a:p>
            <a:r>
              <a:rPr lang="en-US" altLang="zh-CN"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a typeface="Segoe UI Black" panose="020B0A02040204020203" pitchFamily="34" charset="0"/>
              </a:rPr>
              <a:t>AI</a:t>
            </a:r>
            <a:endParaRPr lang="zh-CN" altLang="en-US"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54A9E70-2B6A-45C0-AB3B-96FADC4A497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8" name="矩形 7"/>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106FE6E-4E9D-4468-AC34-FE4F4D994E00}"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7" name="矩形 6"/>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522958"/>
            <a:ext cx="5181600" cy="465400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522958"/>
            <a:ext cx="5181600" cy="4654005"/>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8E89127B-CFE9-4EAE-80D1-D3AC1B862485}"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9" name="矩形 8"/>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矩形 10"/>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9788"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8200" y="1544638"/>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8200" y="2368550"/>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544638"/>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0612" y="2368550"/>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C4DDF22-E36A-43D0-A786-B79C028AF445}"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人工智能技术基础及应用</a:t>
            </a:r>
            <a:endParaRPr lang="zh-CN" altLang="en-US"/>
          </a:p>
        </p:txBody>
      </p:sp>
      <p:sp>
        <p:nvSpPr>
          <p:cNvPr id="9" name="灯片编号占位符 8"/>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10" name="矩形 9"/>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7" name="矩形 6"/>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5938"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1" y="365126"/>
            <a:ext cx="10033000" cy="978446"/>
          </a:xfrm>
        </p:spPr>
        <p:txBody>
          <a:bodyPr/>
          <a:lstStyle>
            <a:lvl1pPr>
              <a:defRPr>
                <a:solidFill>
                  <a:schemeClr val="bg1"/>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EB0F5C7A-7483-427B-8AE9-7F2885B05023}"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人工智能技术基础及应用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1C80F8-3830-4814-B3D7-418476975033}"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人工智能技术基础及应用</a:t>
            </a:r>
            <a:endParaRPr lang="zh-CN" altLang="en-US"/>
          </a:p>
        </p:txBody>
      </p:sp>
      <p:sp>
        <p:nvSpPr>
          <p:cNvPr id="4" name="灯片编号占位符 3"/>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5" name="矩形 4"/>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0AFDA35-86A0-4DE8-B1DD-2634C2246327}"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892ED2-027C-4FFA-B806-95D15D2D2A1A}"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24D006A-17A9-43E7-8C18-4ECD6DFFC8F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13C2FB7-8F6E-4721-8067-59DBAB6C691D}"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2A1D5C-8D49-4F54-955B-9C29B313AFCE}"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人工智能技术基础及应用</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18CECD-4AF4-4E96-AD6D-215F227B9D3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image" Target="../media/image6.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image" Target="../media/image8.emf"/></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image" Target="../media/image10.em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e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emf"/></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emf"/><Relationship Id="rId1"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7.png"/><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image" Target="../media/image44.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image" Target="../media/image48.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6.png"/><Relationship Id="rId1" Type="http://schemas.openxmlformats.org/officeDocument/2006/relationships/image" Target="../media/image55.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tiff"/></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5.emf"/><Relationship Id="rId2" Type="http://schemas.openxmlformats.org/officeDocument/2006/relationships/image" Target="../media/image64.emf"/><Relationship Id="rId1" Type="http://schemas.openxmlformats.org/officeDocument/2006/relationships/image" Target="../media/image63.png"/></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8.png"/><Relationship Id="rId2" Type="http://schemas.openxmlformats.org/officeDocument/2006/relationships/image" Target="../media/image67.emf"/><Relationship Id="rId1" Type="http://schemas.openxmlformats.org/officeDocument/2006/relationships/image" Target="../media/image66.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microsoft.com/office/2007/relationships/hdphoto" Target="../media/image76.wdp"/><Relationship Id="rId2" Type="http://schemas.openxmlformats.org/officeDocument/2006/relationships/image" Target="../media/image75.png"/><Relationship Id="rId1" Type="http://schemas.openxmlformats.org/officeDocument/2006/relationships/image" Target="../media/image74.emf"/></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8.emf"/><Relationship Id="rId1" Type="http://schemas.openxmlformats.org/officeDocument/2006/relationships/image" Target="../media/image77.emf"/></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0.emf"/><Relationship Id="rId1" Type="http://schemas.openxmlformats.org/officeDocument/2006/relationships/image" Target="../media/image79.emf"/></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1.emf"/></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3.emf"/><Relationship Id="rId1" Type="http://schemas.openxmlformats.org/officeDocument/2006/relationships/image" Target="../media/image82.emf"/></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5.emf"/><Relationship Id="rId1" Type="http://schemas.openxmlformats.org/officeDocument/2006/relationships/image" Target="../media/image84.emf"/></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6.emf"/></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8.emf"/><Relationship Id="rId1" Type="http://schemas.openxmlformats.org/officeDocument/2006/relationships/image" Target="../media/image87.emf"/></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9.emf"/></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0.emf"/></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1.emf"/></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2.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3.emf"/></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5.emf"/><Relationship Id="rId1" Type="http://schemas.openxmlformats.org/officeDocument/2006/relationships/image" Target="../media/image94.emf"/></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7.png"/><Relationship Id="rId1" Type="http://schemas.openxmlformats.org/officeDocument/2006/relationships/image" Target="../media/image96.emf"/></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0.emf"/><Relationship Id="rId1" Type="http://schemas.openxmlformats.org/officeDocument/2006/relationships/image" Target="../media/image99.emf"/></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2.png"/><Relationship Id="rId1" Type="http://schemas.openxmlformats.org/officeDocument/2006/relationships/image" Target="../media/image101.emf"/></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3.emf"/></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4.emf"/></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5.emf"/></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6.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7.emf"/></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9.emf"/><Relationship Id="rId1" Type="http://schemas.openxmlformats.org/officeDocument/2006/relationships/image" Target="../media/image108.emf"/></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1.png"/><Relationship Id="rId1" Type="http://schemas.openxmlformats.org/officeDocument/2006/relationships/image" Target="../media/image110.e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p:txBody>
          <a:bodyPr/>
          <a:lstStyle/>
          <a:p>
            <a:r>
              <a:rPr lang="zh-CN" altLang="en-US" dirty="0">
                <a:solidFill>
                  <a:schemeClr val="bg1"/>
                </a:solidFill>
                <a:latin typeface="+mn-lt"/>
                <a:ea typeface="+mn-ea"/>
                <a:cs typeface="+mn-ea"/>
                <a:sym typeface="+mn-lt"/>
              </a:rPr>
              <a:t>第六章 目标检测及其应用</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8" name="日期占位符 7"/>
          <p:cNvSpPr>
            <a:spLocks noGrp="1"/>
          </p:cNvSpPr>
          <p:nvPr>
            <p:ph type="dt" sz="half" idx="10"/>
          </p:nvPr>
        </p:nvSpPr>
        <p:spPr/>
        <p:txBody>
          <a:bodyPr/>
          <a:lstStyle/>
          <a:p>
            <a:fld id="{223324E9-F7C3-44A3-AC2A-B78C44D67144}" type="datetime1">
              <a:rPr lang="zh-CN" altLang="en-US" smtClean="0">
                <a:cs typeface="+mn-ea"/>
                <a:sym typeface="+mn-lt"/>
              </a:rPr>
            </a:fld>
            <a:endParaRPr lang="zh-CN" altLang="en-US" dirty="0">
              <a:cs typeface="+mn-ea"/>
              <a:sym typeface="+mn-lt"/>
            </a:endParaRPr>
          </a:p>
        </p:txBody>
      </p:sp>
      <p:sp>
        <p:nvSpPr>
          <p:cNvPr id="2" name="副标题 6"/>
          <p:cNvSpPr>
            <a:spLocks noGrp="1"/>
          </p:cNvSpPr>
          <p:nvPr/>
        </p:nvSpPr>
        <p:spPr>
          <a:xfrm>
            <a:off x="1675514" y="4831981"/>
            <a:ext cx="5842000" cy="778933"/>
          </a:xfrm>
          <a:prstGeom prst="rect">
            <a:avLst/>
          </a:prstGeom>
        </p:spPr>
        <p:txBody>
          <a:bodyPr vert="horz" lIns="91440" tIns="45720" rIns="91440" bIns="45720" rtlCol="0" anchor="ctr" anchorCtr="1">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dirty="0"/>
              <a:t>AI</a:t>
            </a:r>
            <a:r>
              <a:rPr lang="zh-CN" altLang="en-US" dirty="0"/>
              <a:t>工程师学院</a:t>
            </a:r>
            <a:r>
              <a:rPr lang="en-US" altLang="zh-CN" dirty="0"/>
              <a:t> </a:t>
            </a:r>
            <a:r>
              <a:rPr lang="zh-CN" altLang="en-US" dirty="0"/>
              <a:t>王传传</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6361590" cy="4351338"/>
          </a:xfrm>
        </p:spPr>
        <p:txBody>
          <a:bodyPr/>
          <a:lstStyle/>
          <a:p>
            <a:pPr marL="0" indent="0">
              <a:buNone/>
            </a:pPr>
            <a:r>
              <a:rPr lang="en-US" altLang="zh-CN" sz="2400" b="1" dirty="0">
                <a:cs typeface="+mn-ea"/>
                <a:sym typeface="+mn-lt"/>
              </a:rPr>
              <a:t>6.1.1 </a:t>
            </a:r>
            <a:r>
              <a:rPr lang="zh-CN" altLang="en-US" sz="2400" b="1" dirty="0">
                <a:cs typeface="+mn-ea"/>
                <a:sym typeface="+mn-lt"/>
              </a:rPr>
              <a:t>边界框</a:t>
            </a:r>
            <a:endParaRPr lang="en-US" altLang="zh-CN" sz="2400" b="1" dirty="0">
              <a:cs typeface="+mn-ea"/>
              <a:sym typeface="+mn-lt"/>
            </a:endParaRPr>
          </a:p>
          <a:p>
            <a:pPr marL="0" indent="0">
              <a:buNone/>
            </a:pPr>
            <a:r>
              <a:rPr lang="zh-CN" altLang="en-US" sz="2000" dirty="0">
                <a:cs typeface="+mn-ea"/>
                <a:sym typeface="+mn-lt"/>
              </a:rPr>
              <a:t>目标检测任务中引入</a:t>
            </a:r>
            <a:r>
              <a:rPr lang="zh-CN" altLang="en-US" sz="2000" b="1" dirty="0">
                <a:cs typeface="+mn-ea"/>
                <a:sym typeface="+mn-lt"/>
              </a:rPr>
              <a:t>边界框</a:t>
            </a:r>
            <a:r>
              <a:rPr lang="zh-CN" altLang="en-US" sz="2000" dirty="0">
                <a:cs typeface="+mn-ea"/>
                <a:sym typeface="+mn-lt"/>
              </a:rPr>
              <a:t>（</a:t>
            </a:r>
            <a:r>
              <a:rPr lang="en-US" altLang="zh-CN" sz="2000" dirty="0">
                <a:cs typeface="+mn-ea"/>
                <a:sym typeface="+mn-lt"/>
              </a:rPr>
              <a:t>Bounding Box</a:t>
            </a:r>
            <a:r>
              <a:rPr lang="zh-CN" altLang="en-US" sz="2000" dirty="0">
                <a:cs typeface="+mn-ea"/>
                <a:sym typeface="+mn-lt"/>
              </a:rPr>
              <a:t>）表示目标的空间位置。边界框一般是矩形的，通常有两种表示方法。一种是由矩形的左上角坐标和右下角坐标来表示</a:t>
            </a:r>
            <a:r>
              <a:rPr lang="en-US" altLang="zh-CN" sz="2000" dirty="0">
                <a:cs typeface="+mn-ea"/>
                <a:sym typeface="+mn-lt"/>
              </a:rPr>
              <a:t>, (</a:t>
            </a:r>
            <a:r>
              <a:rPr lang="en-US" altLang="zh-CN" sz="2000" i="1" dirty="0">
                <a:cs typeface="+mn-ea"/>
                <a:sym typeface="+mn-lt"/>
              </a:rPr>
              <a:t>x</a:t>
            </a:r>
            <a:r>
              <a:rPr lang="en-US" altLang="zh-CN" sz="2000" baseline="-25000" dirty="0">
                <a:cs typeface="+mn-ea"/>
                <a:sym typeface="+mn-lt"/>
              </a:rPr>
              <a:t>1</a:t>
            </a:r>
            <a:r>
              <a:rPr lang="en-US" altLang="zh-CN" sz="2000" dirty="0">
                <a:cs typeface="+mn-ea"/>
                <a:sym typeface="+mn-lt"/>
              </a:rPr>
              <a:t>,</a:t>
            </a:r>
            <a:r>
              <a:rPr lang="en-US" altLang="zh-CN" sz="2000" i="1" dirty="0">
                <a:cs typeface="+mn-ea"/>
                <a:sym typeface="+mn-lt"/>
              </a:rPr>
              <a:t>y</a:t>
            </a:r>
            <a:r>
              <a:rPr lang="en-US" altLang="zh-CN" sz="2000" baseline="-25000" dirty="0">
                <a:cs typeface="+mn-ea"/>
                <a:sym typeface="+mn-lt"/>
              </a:rPr>
              <a:t>1</a:t>
            </a:r>
            <a:r>
              <a:rPr lang="en-US" altLang="zh-CN" sz="2000" dirty="0">
                <a:cs typeface="+mn-ea"/>
                <a:sym typeface="+mn-lt"/>
              </a:rPr>
              <a:t>,</a:t>
            </a:r>
            <a:r>
              <a:rPr lang="en-US" altLang="zh-CN" sz="2000" i="1" dirty="0">
                <a:cs typeface="+mn-ea"/>
                <a:sym typeface="+mn-lt"/>
              </a:rPr>
              <a:t>x</a:t>
            </a:r>
            <a:r>
              <a:rPr lang="en-US" altLang="zh-CN" sz="2000" baseline="-25000" dirty="0">
                <a:cs typeface="+mn-ea"/>
                <a:sym typeface="+mn-lt"/>
              </a:rPr>
              <a:t>2</a:t>
            </a:r>
            <a:r>
              <a:rPr lang="en-US" altLang="zh-CN" sz="2000" dirty="0">
                <a:cs typeface="+mn-ea"/>
                <a:sym typeface="+mn-lt"/>
              </a:rPr>
              <a:t>,</a:t>
            </a:r>
            <a:r>
              <a:rPr lang="en-US" altLang="zh-CN" sz="2000" i="1" dirty="0">
                <a:cs typeface="+mn-ea"/>
                <a:sym typeface="+mn-lt"/>
              </a:rPr>
              <a:t>y</a:t>
            </a:r>
            <a:r>
              <a:rPr lang="en-US" altLang="zh-CN" sz="2000" baseline="-25000" dirty="0">
                <a:cs typeface="+mn-ea"/>
                <a:sym typeface="+mn-lt"/>
              </a:rPr>
              <a:t>2</a:t>
            </a:r>
            <a:r>
              <a:rPr lang="en-US" altLang="zh-CN" sz="2000" dirty="0">
                <a:cs typeface="+mn-ea"/>
                <a:sym typeface="+mn-lt"/>
              </a:rPr>
              <a:t>), </a:t>
            </a:r>
            <a:r>
              <a:rPr lang="zh-CN" altLang="en-US" sz="2000" dirty="0">
                <a:cs typeface="+mn-ea"/>
                <a:sym typeface="+mn-lt"/>
              </a:rPr>
              <a:t>另一种则是由边界框的中心坐标和框的宽度和高度</a:t>
            </a:r>
            <a:r>
              <a:rPr lang="en-US" altLang="zh-CN" sz="2000" dirty="0">
                <a:cs typeface="+mn-ea"/>
                <a:sym typeface="+mn-lt"/>
              </a:rPr>
              <a:t>, (</a:t>
            </a:r>
            <a:r>
              <a:rPr lang="en-US" altLang="zh-CN" sz="2000" i="1" dirty="0" err="1">
                <a:cs typeface="+mn-ea"/>
                <a:sym typeface="+mn-lt"/>
              </a:rPr>
              <a:t>x</a:t>
            </a:r>
            <a:r>
              <a:rPr lang="en-US" altLang="zh-CN" sz="2000" dirty="0" err="1">
                <a:cs typeface="+mn-ea"/>
                <a:sym typeface="+mn-lt"/>
              </a:rPr>
              <a:t>,</a:t>
            </a:r>
            <a:r>
              <a:rPr lang="en-US" altLang="zh-CN" sz="2000" i="1" dirty="0" err="1">
                <a:cs typeface="+mn-ea"/>
                <a:sym typeface="+mn-lt"/>
              </a:rPr>
              <a:t>y</a:t>
            </a:r>
            <a:r>
              <a:rPr lang="en-US" altLang="zh-CN" sz="2000" dirty="0" err="1">
                <a:cs typeface="+mn-ea"/>
                <a:sym typeface="+mn-lt"/>
              </a:rPr>
              <a:t>,</a:t>
            </a:r>
            <a:r>
              <a:rPr lang="en-US" altLang="zh-CN" sz="2000" i="1" dirty="0" err="1">
                <a:cs typeface="+mn-ea"/>
                <a:sym typeface="+mn-lt"/>
              </a:rPr>
              <a:t>w</a:t>
            </a:r>
            <a:r>
              <a:rPr lang="en-US" altLang="zh-CN" sz="2000" dirty="0" err="1">
                <a:cs typeface="+mn-ea"/>
                <a:sym typeface="+mn-lt"/>
              </a:rPr>
              <a:t>,</a:t>
            </a:r>
            <a:r>
              <a:rPr lang="en-US" altLang="zh-CN" sz="2000" i="1" dirty="0" err="1">
                <a:cs typeface="+mn-ea"/>
                <a:sym typeface="+mn-lt"/>
              </a:rPr>
              <a:t>h</a:t>
            </a:r>
            <a:r>
              <a:rPr lang="en-US" altLang="zh-CN" sz="2000" dirty="0">
                <a:cs typeface="+mn-ea"/>
                <a:sym typeface="+mn-lt"/>
              </a:rPr>
              <a:t> )</a:t>
            </a:r>
            <a:r>
              <a:rPr lang="zh-CN" altLang="en-US" sz="2000" dirty="0">
                <a:cs typeface="+mn-ea"/>
                <a:sym typeface="+mn-lt"/>
              </a:rPr>
              <a:t>来表示。</a:t>
            </a:r>
            <a:r>
              <a:rPr lang="zh-CN" altLang="en-US" sz="2600" dirty="0">
                <a:cs typeface="+mn-ea"/>
                <a:sym typeface="+mn-lt"/>
              </a:rPr>
              <a:t> </a:t>
            </a:r>
            <a:endParaRPr lang="zh-CN" altLang="en-US" sz="2600" dirty="0">
              <a:cs typeface="+mn-ea"/>
              <a:sym typeface="+mn-lt"/>
            </a:endParaRPr>
          </a:p>
        </p:txBody>
      </p:sp>
      <p:sp>
        <p:nvSpPr>
          <p:cNvPr id="6" name="页脚占位符 5"/>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7" name="灯片编号占位符 6"/>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8" name="日期占位符 7"/>
          <p:cNvSpPr>
            <a:spLocks noGrp="1"/>
          </p:cNvSpPr>
          <p:nvPr>
            <p:ph type="dt" sz="half" idx="10"/>
          </p:nvPr>
        </p:nvSpPr>
        <p:spPr/>
        <p:txBody>
          <a:bodyPr/>
          <a:lstStyle/>
          <a:p>
            <a:fld id="{B424EA30-61D8-43FA-BDE6-4A07840353B7}" type="datetime1">
              <a:rPr lang="zh-CN" altLang="en-US" smtClean="0">
                <a:cs typeface="+mn-ea"/>
                <a:sym typeface="+mn-lt"/>
              </a:rPr>
            </a:fld>
            <a:endParaRPr lang="zh-CN" altLang="en-US">
              <a:cs typeface="+mn-ea"/>
              <a:sym typeface="+mn-lt"/>
            </a:endParaRPr>
          </a:p>
        </p:txBody>
      </p:sp>
      <p:pic>
        <p:nvPicPr>
          <p:cNvPr id="9" name="图片 8" descr="男人在滑雪&#10;&#10;中度可信度描述已自动生成"/>
          <p:cNvPicPr/>
          <p:nvPr/>
        </p:nvPicPr>
        <p:blipFill>
          <a:blip r:embed="rId1"/>
          <a:stretch>
            <a:fillRect/>
          </a:stretch>
        </p:blipFill>
        <p:spPr>
          <a:xfrm>
            <a:off x="8701773" y="2200366"/>
            <a:ext cx="2377557" cy="32739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6361590" cy="4351338"/>
          </a:xfrm>
        </p:spPr>
        <p:txBody>
          <a:bodyPr/>
          <a:lstStyle/>
          <a:p>
            <a:pPr marL="0" indent="0">
              <a:buNone/>
            </a:pPr>
            <a:r>
              <a:rPr lang="en-US" altLang="zh-CN" sz="2400" b="1" dirty="0">
                <a:cs typeface="+mn-ea"/>
                <a:sym typeface="+mn-lt"/>
              </a:rPr>
              <a:t>6.1.1 </a:t>
            </a:r>
            <a:r>
              <a:rPr lang="zh-CN" altLang="en-US" sz="2400" b="1" dirty="0">
                <a:cs typeface="+mn-ea"/>
                <a:sym typeface="+mn-lt"/>
              </a:rPr>
              <a:t>边界框</a:t>
            </a:r>
            <a:endParaRPr lang="en-US" altLang="zh-CN" sz="2400" b="1" dirty="0">
              <a:cs typeface="+mn-ea"/>
              <a:sym typeface="+mn-lt"/>
            </a:endParaRPr>
          </a:p>
          <a:p>
            <a:pPr marL="0" indent="0">
              <a:buNone/>
            </a:pPr>
            <a:r>
              <a:rPr lang="zh-CN" altLang="en-US" sz="2000" dirty="0">
                <a:cs typeface="+mn-ea"/>
                <a:sym typeface="+mn-lt"/>
              </a:rPr>
              <a:t>目标检测任务中引入</a:t>
            </a:r>
            <a:r>
              <a:rPr lang="zh-CN" altLang="en-US" sz="2000" b="1" dirty="0">
                <a:cs typeface="+mn-ea"/>
                <a:sym typeface="+mn-lt"/>
              </a:rPr>
              <a:t>边界框</a:t>
            </a:r>
            <a:r>
              <a:rPr lang="zh-CN" altLang="en-US" sz="2000" dirty="0">
                <a:cs typeface="+mn-ea"/>
                <a:sym typeface="+mn-lt"/>
              </a:rPr>
              <a:t>（</a:t>
            </a:r>
            <a:r>
              <a:rPr lang="en-US" altLang="zh-CN" sz="2000" dirty="0">
                <a:cs typeface="+mn-ea"/>
                <a:sym typeface="+mn-lt"/>
              </a:rPr>
              <a:t>Bounding Box</a:t>
            </a:r>
            <a:r>
              <a:rPr lang="zh-CN" altLang="en-US" sz="2000" dirty="0">
                <a:cs typeface="+mn-ea"/>
                <a:sym typeface="+mn-lt"/>
              </a:rPr>
              <a:t>）表示目标的空间位置。边界框一般是矩形的，通常有两种表示方法。一种是由矩形的左上角坐标和右下角坐标来表示</a:t>
            </a:r>
            <a:r>
              <a:rPr lang="en-US" altLang="zh-CN" sz="2000" dirty="0">
                <a:cs typeface="+mn-ea"/>
                <a:sym typeface="+mn-lt"/>
              </a:rPr>
              <a:t>, (</a:t>
            </a:r>
            <a:r>
              <a:rPr lang="en-US" altLang="zh-CN" sz="2000" i="1" dirty="0">
                <a:cs typeface="+mn-ea"/>
                <a:sym typeface="+mn-lt"/>
              </a:rPr>
              <a:t>x</a:t>
            </a:r>
            <a:r>
              <a:rPr lang="en-US" altLang="zh-CN" sz="2000" baseline="-25000" dirty="0">
                <a:cs typeface="+mn-ea"/>
                <a:sym typeface="+mn-lt"/>
              </a:rPr>
              <a:t>1</a:t>
            </a:r>
            <a:r>
              <a:rPr lang="en-US" altLang="zh-CN" sz="2000" dirty="0">
                <a:cs typeface="+mn-ea"/>
                <a:sym typeface="+mn-lt"/>
              </a:rPr>
              <a:t>,</a:t>
            </a:r>
            <a:r>
              <a:rPr lang="en-US" altLang="zh-CN" sz="2000" i="1" dirty="0">
                <a:cs typeface="+mn-ea"/>
                <a:sym typeface="+mn-lt"/>
              </a:rPr>
              <a:t>y</a:t>
            </a:r>
            <a:r>
              <a:rPr lang="en-US" altLang="zh-CN" sz="2000" baseline="-25000" dirty="0">
                <a:cs typeface="+mn-ea"/>
                <a:sym typeface="+mn-lt"/>
              </a:rPr>
              <a:t>1</a:t>
            </a:r>
            <a:r>
              <a:rPr lang="en-US" altLang="zh-CN" sz="2000" dirty="0">
                <a:cs typeface="+mn-ea"/>
                <a:sym typeface="+mn-lt"/>
              </a:rPr>
              <a:t>,</a:t>
            </a:r>
            <a:r>
              <a:rPr lang="en-US" altLang="zh-CN" sz="2000" i="1" dirty="0">
                <a:cs typeface="+mn-ea"/>
                <a:sym typeface="+mn-lt"/>
              </a:rPr>
              <a:t>x</a:t>
            </a:r>
            <a:r>
              <a:rPr lang="en-US" altLang="zh-CN" sz="2000" baseline="-25000" dirty="0">
                <a:cs typeface="+mn-ea"/>
                <a:sym typeface="+mn-lt"/>
              </a:rPr>
              <a:t>2</a:t>
            </a:r>
            <a:r>
              <a:rPr lang="en-US" altLang="zh-CN" sz="2000" dirty="0">
                <a:cs typeface="+mn-ea"/>
                <a:sym typeface="+mn-lt"/>
              </a:rPr>
              <a:t>,</a:t>
            </a:r>
            <a:r>
              <a:rPr lang="en-US" altLang="zh-CN" sz="2000" i="1" dirty="0">
                <a:cs typeface="+mn-ea"/>
                <a:sym typeface="+mn-lt"/>
              </a:rPr>
              <a:t>y</a:t>
            </a:r>
            <a:r>
              <a:rPr lang="en-US" altLang="zh-CN" sz="2000" baseline="-25000" dirty="0">
                <a:cs typeface="+mn-ea"/>
                <a:sym typeface="+mn-lt"/>
              </a:rPr>
              <a:t>2</a:t>
            </a:r>
            <a:r>
              <a:rPr lang="en-US" altLang="zh-CN" sz="2000" dirty="0">
                <a:cs typeface="+mn-ea"/>
                <a:sym typeface="+mn-lt"/>
              </a:rPr>
              <a:t>), </a:t>
            </a:r>
            <a:r>
              <a:rPr lang="zh-CN" altLang="en-US" sz="2000" dirty="0">
                <a:cs typeface="+mn-ea"/>
                <a:sym typeface="+mn-lt"/>
              </a:rPr>
              <a:t>另一种则是由边界框的中心坐标和框的宽度和高度</a:t>
            </a:r>
            <a:r>
              <a:rPr lang="en-US" altLang="zh-CN" sz="2000" dirty="0">
                <a:cs typeface="+mn-ea"/>
                <a:sym typeface="+mn-lt"/>
              </a:rPr>
              <a:t>, (</a:t>
            </a:r>
            <a:r>
              <a:rPr lang="en-US" altLang="zh-CN" sz="2000" i="1" dirty="0" err="1">
                <a:cs typeface="+mn-ea"/>
                <a:sym typeface="+mn-lt"/>
              </a:rPr>
              <a:t>x</a:t>
            </a:r>
            <a:r>
              <a:rPr lang="en-US" altLang="zh-CN" sz="2000" dirty="0" err="1">
                <a:cs typeface="+mn-ea"/>
                <a:sym typeface="+mn-lt"/>
              </a:rPr>
              <a:t>,</a:t>
            </a:r>
            <a:r>
              <a:rPr lang="en-US" altLang="zh-CN" sz="2000" i="1" dirty="0" err="1">
                <a:cs typeface="+mn-ea"/>
                <a:sym typeface="+mn-lt"/>
              </a:rPr>
              <a:t>y</a:t>
            </a:r>
            <a:r>
              <a:rPr lang="en-US" altLang="zh-CN" sz="2000" dirty="0" err="1">
                <a:cs typeface="+mn-ea"/>
                <a:sym typeface="+mn-lt"/>
              </a:rPr>
              <a:t>,</a:t>
            </a:r>
            <a:r>
              <a:rPr lang="en-US" altLang="zh-CN" sz="2000" i="1" dirty="0" err="1">
                <a:cs typeface="+mn-ea"/>
                <a:sym typeface="+mn-lt"/>
              </a:rPr>
              <a:t>w</a:t>
            </a:r>
            <a:r>
              <a:rPr lang="en-US" altLang="zh-CN" sz="2000" dirty="0" err="1">
                <a:cs typeface="+mn-ea"/>
                <a:sym typeface="+mn-lt"/>
              </a:rPr>
              <a:t>,</a:t>
            </a:r>
            <a:r>
              <a:rPr lang="en-US" altLang="zh-CN" sz="2000" i="1" dirty="0" err="1">
                <a:cs typeface="+mn-ea"/>
                <a:sym typeface="+mn-lt"/>
              </a:rPr>
              <a:t>h</a:t>
            </a:r>
            <a:r>
              <a:rPr lang="en-US" altLang="zh-CN" sz="2000" dirty="0">
                <a:cs typeface="+mn-ea"/>
                <a:sym typeface="+mn-lt"/>
              </a:rPr>
              <a:t> )</a:t>
            </a:r>
            <a:r>
              <a:rPr lang="zh-CN" altLang="en-US" sz="2000" dirty="0">
                <a:cs typeface="+mn-ea"/>
                <a:sym typeface="+mn-lt"/>
              </a:rPr>
              <a:t>来表示。</a:t>
            </a:r>
            <a:endParaRPr lang="zh-CN" altLang="en-US" sz="2000" dirty="0">
              <a:cs typeface="+mn-ea"/>
              <a:sym typeface="+mn-lt"/>
            </a:endParaRPr>
          </a:p>
          <a:p>
            <a:pPr marL="0" indent="0">
              <a:buNone/>
            </a:pPr>
            <a:r>
              <a:rPr sz="2600" b="1" kern="100" dirty="0">
                <a:latin typeface="等线" panose="02010600030101010101" charset="-122"/>
                <a:ea typeface="宋体" panose="02010600030101010101" pitchFamily="2" charset="-122"/>
                <a:cs typeface="Times New Roman" panose="02020603050405020304" charset="0"/>
                <a:sym typeface="+mn-ea"/>
              </a:rPr>
              <a:t>置信度(Confidence)：</a:t>
            </a:r>
            <a:r>
              <a:rPr sz="2600" kern="100" dirty="0">
                <a:latin typeface="等线" panose="02010600030101010101" charset="-122"/>
                <a:ea typeface="宋体" panose="02010600030101010101" pitchFamily="2" charset="-122"/>
                <a:cs typeface="Times New Roman" panose="02020603050405020304" charset="0"/>
                <a:sym typeface="+mn-ea"/>
              </a:rPr>
              <a:t>表示该对象实际存在于该框中的可能性。例如，0.9的置信度表示该框中实际存在该对象的可能性为90%</a:t>
            </a:r>
            <a:r>
              <a:rPr lang="zh-CN" altLang="en-US" sz="2600" dirty="0">
                <a:cs typeface="+mn-ea"/>
                <a:sym typeface="+mn-lt"/>
              </a:rPr>
              <a:t> </a:t>
            </a:r>
            <a:endParaRPr lang="zh-CN" altLang="en-US" sz="2600" dirty="0">
              <a:cs typeface="+mn-ea"/>
              <a:sym typeface="+mn-lt"/>
            </a:endParaRPr>
          </a:p>
        </p:txBody>
      </p:sp>
      <p:sp>
        <p:nvSpPr>
          <p:cNvPr id="6" name="页脚占位符 5"/>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7" name="灯片编号占位符 6"/>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8" name="日期占位符 7"/>
          <p:cNvSpPr>
            <a:spLocks noGrp="1"/>
          </p:cNvSpPr>
          <p:nvPr>
            <p:ph type="dt" sz="half" idx="10"/>
          </p:nvPr>
        </p:nvSpPr>
        <p:spPr/>
        <p:txBody>
          <a:bodyPr/>
          <a:lstStyle/>
          <a:p>
            <a:fld id="{B424EA30-61D8-43FA-BDE6-4A07840353B7}" type="datetime1">
              <a:rPr lang="zh-CN" altLang="en-US" smtClean="0">
                <a:cs typeface="+mn-ea"/>
                <a:sym typeface="+mn-lt"/>
              </a:rPr>
            </a:fld>
            <a:endParaRPr lang="zh-CN" altLang="en-US">
              <a:cs typeface="+mn-ea"/>
              <a:sym typeface="+mn-lt"/>
            </a:endParaRPr>
          </a:p>
        </p:txBody>
      </p:sp>
      <p:pic>
        <p:nvPicPr>
          <p:cNvPr id="9" name="图片 8" descr="男人在滑雪&#10;&#10;中度可信度描述已自动生成"/>
          <p:cNvPicPr/>
          <p:nvPr/>
        </p:nvPicPr>
        <p:blipFill>
          <a:blip r:embed="rId1"/>
          <a:stretch>
            <a:fillRect/>
          </a:stretch>
        </p:blipFill>
        <p:spPr>
          <a:xfrm>
            <a:off x="8701773" y="2200366"/>
            <a:ext cx="2377557" cy="32739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solidFill>
                <a:schemeClr val="bg1"/>
              </a:solidFill>
              <a:latin typeface="+mn-lt"/>
              <a:ea typeface="+mn-ea"/>
              <a:cs typeface="+mn-ea"/>
              <a:sym typeface="+mn-lt"/>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825625"/>
                <a:ext cx="7613342" cy="4351338"/>
              </a:xfrm>
            </p:spPr>
            <p:txBody>
              <a:bodyPr>
                <a:normAutofit/>
              </a:bodyPr>
              <a:lstStyle/>
              <a:p>
                <a:pPr marL="0" indent="0">
                  <a:buNone/>
                </a:pPr>
                <a:r>
                  <a:rPr lang="en-US" altLang="zh-CN" sz="2400" b="1" dirty="0">
                    <a:cs typeface="+mn-ea"/>
                    <a:sym typeface="+mn-lt"/>
                  </a:rPr>
                  <a:t>6.1.2 </a:t>
                </a:r>
                <a:r>
                  <a:rPr lang="zh-CN" altLang="en-US" sz="2400" b="1" dirty="0">
                    <a:cs typeface="+mn-ea"/>
                    <a:sym typeface="+mn-lt"/>
                  </a:rPr>
                  <a:t>锚框</a:t>
                </a:r>
                <a:endParaRPr lang="en-US" altLang="zh-CN" sz="2400" b="1" dirty="0">
                  <a:cs typeface="+mn-ea"/>
                  <a:sym typeface="+mn-lt"/>
                </a:endParaRPr>
              </a:p>
              <a:p>
                <a:pPr marL="0" indent="0">
                  <a:buNone/>
                </a:pPr>
                <a:r>
                  <a:rPr lang="zh-CN" altLang="en-US" sz="2000" dirty="0">
                    <a:cs typeface="+mn-ea"/>
                    <a:sym typeface="+mn-lt"/>
                  </a:rPr>
                  <a:t>不同的算法会采取不同的区域采样方法，通常为了更好的与目标匹配，需要产生多种尺度和比例的边界框，这些边界框称为</a:t>
                </a:r>
                <a:r>
                  <a:rPr lang="zh-CN" altLang="en-US" sz="2000" b="1" dirty="0">
                    <a:cs typeface="+mn-ea"/>
                    <a:sym typeface="+mn-lt"/>
                  </a:rPr>
                  <a:t>锚框</a:t>
                </a:r>
                <a:r>
                  <a:rPr lang="zh-CN" altLang="en-US" sz="2000" dirty="0">
                    <a:cs typeface="+mn-ea"/>
                    <a:sym typeface="+mn-lt"/>
                  </a:rPr>
                  <a:t>。</a:t>
                </a:r>
                <a:endParaRPr lang="en-US" altLang="zh-CN" sz="2000" dirty="0">
                  <a:cs typeface="+mn-ea"/>
                  <a:sym typeface="+mn-lt"/>
                </a:endParaRPr>
              </a:p>
              <a:p>
                <a:pPr marL="0" indent="0">
                  <a:buNone/>
                </a:pPr>
                <a:r>
                  <a:rPr lang="zh-CN" altLang="en-US" sz="2000" dirty="0">
                    <a:cs typeface="+mn-ea"/>
                    <a:sym typeface="+mn-lt"/>
                  </a:rPr>
                  <a:t>假设输入图像的宽度为</a:t>
                </a:r>
                <a:r>
                  <a:rPr lang="en-US" altLang="zh-CN" sz="2000" i="1" dirty="0">
                    <a:cs typeface="+mn-ea"/>
                    <a:sym typeface="+mn-lt"/>
                  </a:rPr>
                  <a:t>w</a:t>
                </a:r>
                <a:r>
                  <a:rPr lang="en-US" altLang="zh-CN" sz="2000" dirty="0">
                    <a:cs typeface="+mn-ea"/>
                    <a:sym typeface="+mn-lt"/>
                  </a:rPr>
                  <a:t>, </a:t>
                </a:r>
                <a:r>
                  <a:rPr lang="zh-CN" altLang="en-US" sz="2000" dirty="0">
                    <a:cs typeface="+mn-ea"/>
                    <a:sym typeface="+mn-lt"/>
                  </a:rPr>
                  <a:t>高度为</a:t>
                </a:r>
                <a:r>
                  <a:rPr lang="en-US" altLang="zh-CN" sz="2000" i="1" dirty="0">
                    <a:cs typeface="+mn-ea"/>
                    <a:sym typeface="+mn-lt"/>
                  </a:rPr>
                  <a:t>h</a:t>
                </a:r>
                <a:r>
                  <a:rPr lang="zh-CN" altLang="en-US" sz="2000" dirty="0">
                    <a:cs typeface="+mn-ea"/>
                    <a:sym typeface="+mn-lt"/>
                  </a:rPr>
                  <a:t>，锚框缩放比（锚框面积与图片面积之比）</a:t>
                </a:r>
                <a:r>
                  <a:rPr lang="en-US" altLang="zh-CN" sz="2000" i="1" dirty="0">
                    <a:cs typeface="+mn-ea"/>
                    <a:sym typeface="+mn-lt"/>
                  </a:rPr>
                  <a:t>s</a:t>
                </a:r>
                <a:r>
                  <a:rPr lang="en-US" altLang="zh-CN" sz="2000" dirty="0">
                    <a:cs typeface="+mn-ea"/>
                    <a:sym typeface="+mn-lt"/>
                  </a:rPr>
                  <a:t>∈(0,1)</a:t>
                </a:r>
                <a:r>
                  <a:rPr lang="zh-CN" altLang="en-US" sz="2000" dirty="0">
                    <a:cs typeface="+mn-ea"/>
                    <a:sym typeface="+mn-lt"/>
                  </a:rPr>
                  <a:t>，宽高比为</a:t>
                </a:r>
                <a:r>
                  <a:rPr lang="en-US" altLang="zh-CN" sz="2000" i="1" dirty="0">
                    <a:cs typeface="+mn-ea"/>
                    <a:sym typeface="+mn-lt"/>
                  </a:rPr>
                  <a:t>r</a:t>
                </a:r>
                <a:r>
                  <a:rPr lang="en-US" altLang="zh-CN" sz="2000" dirty="0">
                    <a:cs typeface="+mn-ea"/>
                    <a:sym typeface="+mn-lt"/>
                  </a:rPr>
                  <a:t>&gt;0</a:t>
                </a:r>
                <a:r>
                  <a:rPr lang="zh-CN" altLang="en-US" sz="2000" dirty="0">
                    <a:cs typeface="+mn-ea"/>
                    <a:sym typeface="+mn-lt"/>
                  </a:rPr>
                  <a:t>，那么锚框的宽和高分别为</a:t>
                </a:r>
                <a14:m>
                  <m:oMath xmlns:m="http://schemas.openxmlformats.org/officeDocument/2006/math">
                    <m:r>
                      <m:rPr>
                        <m:sty m:val="p"/>
                      </m:rPr>
                      <a:rPr lang="en-US" altLang="zh-CN" sz="2000" b="0" i="0" smtClean="0">
                        <a:latin typeface="Cambria Math" panose="02040503050406030204" pitchFamily="18" charset="0"/>
                        <a:cs typeface="+mn-ea"/>
                        <a:sym typeface="+mn-lt"/>
                      </a:rPr>
                      <m:t>ws</m:t>
                    </m:r>
                    <m:rad>
                      <m:radPr>
                        <m:degHide m:val="on"/>
                        <m:ctrlPr>
                          <a:rPr lang="zh-CN" altLang="en-US" sz="2000" i="1" smtClean="0">
                            <a:latin typeface="Cambria Math" panose="02040503050406030204" pitchFamily="18" charset="0"/>
                            <a:cs typeface="+mn-ea"/>
                            <a:sym typeface="+mn-lt"/>
                          </a:rPr>
                        </m:ctrlPr>
                      </m:radPr>
                      <m:deg/>
                      <m:e>
                        <m:r>
                          <a:rPr lang="en-US" altLang="zh-CN" sz="2000" b="0" i="1" smtClean="0">
                            <a:latin typeface="Cambria Math" panose="02040503050406030204" pitchFamily="18" charset="0"/>
                            <a:cs typeface="+mn-ea"/>
                            <a:sym typeface="+mn-lt"/>
                          </a:rPr>
                          <m:t>𝑟</m:t>
                        </m:r>
                      </m:e>
                    </m:rad>
                  </m:oMath>
                </a14:m>
                <a:r>
                  <a:rPr lang="en-US" altLang="zh-CN" sz="2000" dirty="0">
                    <a:cs typeface="+mn-ea"/>
                    <a:sym typeface="+mn-lt"/>
                  </a:rPr>
                  <a:t> </a:t>
                </a:r>
                <a:r>
                  <a:rPr lang="zh-CN" altLang="en-US" sz="2000" dirty="0">
                    <a:cs typeface="+mn-ea"/>
                    <a:sym typeface="+mn-lt"/>
                  </a:rPr>
                  <a:t>和 </a:t>
                </a:r>
                <a14:m>
                  <m:oMath xmlns:m="http://schemas.openxmlformats.org/officeDocument/2006/math">
                    <m:r>
                      <m:rPr>
                        <m:sty m:val="p"/>
                      </m:rPr>
                      <a:rPr lang="en-US" altLang="zh-CN" sz="2000" b="0" i="0" smtClean="0">
                        <a:latin typeface="Cambria Math" panose="02040503050406030204" pitchFamily="18" charset="0"/>
                        <a:cs typeface="+mn-ea"/>
                        <a:sym typeface="+mn-lt"/>
                      </a:rPr>
                      <m:t>h</m:t>
                    </m:r>
                    <m:r>
                      <m:rPr>
                        <m:sty m:val="p"/>
                      </m:rPr>
                      <a:rPr lang="en-US" altLang="zh-CN" sz="2000">
                        <a:latin typeface="Cambria Math" panose="02040503050406030204" pitchFamily="18" charset="0"/>
                        <a:cs typeface="+mn-ea"/>
                        <a:sym typeface="+mn-lt"/>
                      </a:rPr>
                      <m:t>s</m:t>
                    </m:r>
                    <m:r>
                      <a:rPr lang="en-US" altLang="zh-CN" sz="2000" b="0" i="1" smtClean="0">
                        <a:latin typeface="Cambria Math" panose="02040503050406030204" pitchFamily="18" charset="0"/>
                        <a:cs typeface="+mn-ea"/>
                        <a:sym typeface="+mn-lt"/>
                      </a:rPr>
                      <m:t>/</m:t>
                    </m:r>
                    <m:rad>
                      <m:radPr>
                        <m:degHide m:val="on"/>
                        <m:ctrlPr>
                          <a:rPr lang="zh-CN" altLang="en-US" sz="2000" i="1">
                            <a:latin typeface="Cambria Math" panose="02040503050406030204" pitchFamily="18" charset="0"/>
                            <a:cs typeface="+mn-ea"/>
                            <a:sym typeface="+mn-lt"/>
                          </a:rPr>
                        </m:ctrlPr>
                      </m:radPr>
                      <m:deg/>
                      <m:e>
                        <m:r>
                          <a:rPr lang="en-US" altLang="zh-CN" sz="2000" i="1">
                            <a:latin typeface="Cambria Math" panose="02040503050406030204" pitchFamily="18" charset="0"/>
                            <a:cs typeface="+mn-ea"/>
                            <a:sym typeface="+mn-lt"/>
                          </a:rPr>
                          <m:t>𝑟</m:t>
                        </m:r>
                      </m:e>
                    </m:rad>
                  </m:oMath>
                </a14:m>
                <a:r>
                  <a:rPr lang="en-US" altLang="zh-CN" sz="2000" dirty="0">
                    <a:cs typeface="+mn-ea"/>
                    <a:sym typeface="+mn-lt"/>
                  </a:rPr>
                  <a:t> </a:t>
                </a:r>
                <a:r>
                  <a:rPr lang="zh-CN" altLang="en-US" sz="2000" dirty="0">
                    <a:cs typeface="+mn-ea"/>
                    <a:sym typeface="+mn-lt"/>
                  </a:rPr>
                  <a:t>。</a:t>
                </a:r>
                <a:r>
                  <a:rPr lang="en-US" altLang="zh-CN" sz="2000" dirty="0">
                    <a:cs typeface="+mn-ea"/>
                    <a:sym typeface="+mn-lt"/>
                  </a:rPr>
                  <a:t> </a:t>
                </a:r>
                <a:r>
                  <a:rPr lang="zh-CN" altLang="en-US" sz="2000" dirty="0">
                    <a:cs typeface="+mn-ea"/>
                    <a:sym typeface="+mn-lt"/>
                  </a:rPr>
                  <a:t>当给定锚框的中心位置时，已知宽高比的锚框是确定的。如右图所示，以黑色像素点为中心，以不同的尺寸</a:t>
                </a:r>
                <a:r>
                  <a:rPr lang="en-US" altLang="zh-CN" sz="2000" dirty="0">
                    <a:cs typeface="+mn-ea"/>
                    <a:sym typeface="+mn-lt"/>
                  </a:rPr>
                  <a:t>s</a:t>
                </a:r>
                <a:r>
                  <a:rPr lang="zh-CN" altLang="en-US" sz="2000" dirty="0">
                    <a:cs typeface="+mn-ea"/>
                    <a:sym typeface="+mn-lt"/>
                  </a:rPr>
                  <a:t>和比例</a:t>
                </a:r>
                <a:r>
                  <a:rPr lang="en-US" altLang="zh-CN" sz="2000" dirty="0">
                    <a:cs typeface="+mn-ea"/>
                    <a:sym typeface="+mn-lt"/>
                  </a:rPr>
                  <a:t>r</a:t>
                </a:r>
                <a:r>
                  <a:rPr lang="zh-CN" altLang="en-US" sz="2000" dirty="0">
                    <a:cs typeface="+mn-ea"/>
                    <a:sym typeface="+mn-lt"/>
                  </a:rPr>
                  <a:t>生成的多个锚框，其中</a:t>
                </a:r>
                <a:r>
                  <a:rPr lang="en-US" altLang="zh-CN" sz="2000" dirty="0">
                    <a:cs typeface="+mn-ea"/>
                    <a:sym typeface="+mn-lt"/>
                  </a:rPr>
                  <a:t>1</a:t>
                </a:r>
                <a:r>
                  <a:rPr lang="zh-CN" altLang="en-US" sz="2000" dirty="0">
                    <a:cs typeface="+mn-ea"/>
                    <a:sym typeface="+mn-lt"/>
                  </a:rPr>
                  <a:t>号锚框（</a:t>
                </a:r>
                <a:r>
                  <a:rPr lang="en-US" altLang="zh-CN" sz="2000" dirty="0">
                    <a:cs typeface="+mn-ea"/>
                    <a:sym typeface="+mn-lt"/>
                  </a:rPr>
                  <a:t>s=0.75</a:t>
                </a:r>
                <a:r>
                  <a:rPr lang="zh-CN" altLang="en-US" sz="2000" dirty="0">
                    <a:cs typeface="+mn-ea"/>
                    <a:sym typeface="+mn-lt"/>
                  </a:rPr>
                  <a:t>，</a:t>
                </a:r>
                <a:r>
                  <a:rPr lang="en-US" altLang="zh-CN" sz="2000" dirty="0">
                    <a:cs typeface="+mn-ea"/>
                    <a:sym typeface="+mn-lt"/>
                  </a:rPr>
                  <a:t>r=0.5</a:t>
                </a:r>
                <a:r>
                  <a:rPr lang="zh-CN" altLang="en-US" sz="2000" dirty="0">
                    <a:cs typeface="+mn-ea"/>
                    <a:sym typeface="+mn-lt"/>
                  </a:rPr>
                  <a:t>）框选目标最为合适。</a:t>
                </a:r>
                <a:endParaRPr lang="zh-CN" altLang="en-US" sz="2000" dirty="0">
                  <a:cs typeface="+mn-ea"/>
                  <a:sym typeface="+mn-lt"/>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825625"/>
                <a:ext cx="7613342" cy="4351338"/>
              </a:xfrm>
              <a:blipFill rotWithShape="1">
                <a:blip r:embed="rId1"/>
                <a:stretch>
                  <a:fillRect r="4" b="7"/>
                </a:stretch>
              </a:blipFill>
            </p:spPr>
            <p:txBody>
              <a:bodyPr/>
              <a:lstStyle/>
              <a:p>
                <a:r>
                  <a:rPr lang="zh-CN" altLang="en-US">
                    <a:noFill/>
                  </a:rPr>
                  <a:t> </a:t>
                </a:r>
              </a:p>
            </p:txBody>
          </p:sp>
        </mc:Fallback>
      </mc:AlternateContent>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a:cs typeface="+mn-ea"/>
              <a:sym typeface="+mn-lt"/>
            </a:endParaRPr>
          </a:p>
        </p:txBody>
      </p:sp>
      <p:pic>
        <p:nvPicPr>
          <p:cNvPr id="7" name="图片 6" descr="男子正在玩飞盘&#10;&#10;低可信度描述已自动生成"/>
          <p:cNvPicPr/>
          <p:nvPr/>
        </p:nvPicPr>
        <p:blipFill>
          <a:blip r:embed="rId2"/>
          <a:stretch>
            <a:fillRect/>
          </a:stretch>
        </p:blipFill>
        <p:spPr>
          <a:xfrm>
            <a:off x="8886401" y="2378635"/>
            <a:ext cx="2191598" cy="291742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latin typeface="+mn-lt"/>
              <a:ea typeface="+mn-ea"/>
              <a:cs typeface="+mn-ea"/>
              <a:sym typeface="+mn-lt"/>
            </a:endParaRPr>
          </a:p>
        </p:txBody>
      </p:sp>
      <p:sp>
        <p:nvSpPr>
          <p:cNvPr id="3" name="内容占位符 2"/>
          <p:cNvSpPr>
            <a:spLocks noGrp="1"/>
          </p:cNvSpPr>
          <p:nvPr>
            <p:ph idx="1"/>
          </p:nvPr>
        </p:nvSpPr>
        <p:spPr/>
        <p:txBody>
          <a:bodyPr/>
          <a:lstStyle/>
          <a:p>
            <a:pPr marL="0" indent="0">
              <a:buNone/>
            </a:pPr>
            <a:r>
              <a:rPr lang="en-US" altLang="zh-CN" sz="2400" b="1" dirty="0">
                <a:cs typeface="+mn-ea"/>
                <a:sym typeface="+mn-lt"/>
              </a:rPr>
              <a:t>6.1.3 </a:t>
            </a:r>
            <a:r>
              <a:rPr lang="zh-CN" altLang="en-US" sz="2400" b="1" dirty="0">
                <a:cs typeface="+mn-ea"/>
                <a:sym typeface="+mn-lt"/>
              </a:rPr>
              <a:t>交并比</a:t>
            </a:r>
            <a:endParaRPr lang="en-US" altLang="zh-CN" sz="2400" b="1" dirty="0">
              <a:cs typeface="+mn-ea"/>
              <a:sym typeface="+mn-lt"/>
            </a:endParaRPr>
          </a:p>
          <a:p>
            <a:pPr marL="0" indent="0">
              <a:buNone/>
            </a:pPr>
            <a:r>
              <a:rPr lang="zh-CN" altLang="en-US" sz="2000" dirty="0">
                <a:cs typeface="+mn-ea"/>
                <a:sym typeface="+mn-lt"/>
              </a:rPr>
              <a:t>实际上，为了更好地预测真实边界框，需要对锚框进行评价，比如可以用</a:t>
            </a:r>
            <a:r>
              <a:rPr lang="zh-CN" altLang="en-US" sz="2000" b="1" dirty="0">
                <a:cs typeface="+mn-ea"/>
                <a:sym typeface="+mn-lt"/>
              </a:rPr>
              <a:t>交并比</a:t>
            </a:r>
            <a:r>
              <a:rPr lang="zh-CN" altLang="en-US" sz="2000" dirty="0">
                <a:cs typeface="+mn-ea"/>
                <a:sym typeface="+mn-lt"/>
              </a:rPr>
              <a:t>（</a:t>
            </a:r>
            <a:r>
              <a:rPr lang="en-US" altLang="zh-CN" sz="2000" dirty="0" err="1">
                <a:cs typeface="+mn-ea"/>
                <a:sym typeface="+mn-lt"/>
              </a:rPr>
              <a:t>IoU</a:t>
            </a:r>
            <a:r>
              <a:rPr lang="zh-CN" altLang="en-US" sz="2000" dirty="0">
                <a:cs typeface="+mn-ea"/>
                <a:sym typeface="+mn-lt"/>
              </a:rPr>
              <a:t>）来表示锚框和真实检测框的相似度。</a:t>
            </a:r>
            <a:endParaRPr lang="en-US" altLang="zh-CN" sz="2000" dirty="0">
              <a:cs typeface="+mn-ea"/>
              <a:sym typeface="+mn-lt"/>
            </a:endParaRPr>
          </a:p>
          <a:p>
            <a:pPr marL="0" indent="0">
              <a:buNone/>
            </a:pPr>
            <a:r>
              <a:rPr lang="en-US" altLang="zh-CN" sz="2000" dirty="0" err="1">
                <a:cs typeface="+mn-ea"/>
                <a:sym typeface="+mn-lt"/>
              </a:rPr>
              <a:t>IoU</a:t>
            </a:r>
            <a:r>
              <a:rPr lang="zh-CN" altLang="en-US" sz="2000" dirty="0">
                <a:cs typeface="+mn-ea"/>
                <a:sym typeface="+mn-lt"/>
              </a:rPr>
              <a:t>的取值在</a:t>
            </a:r>
            <a:r>
              <a:rPr lang="en-US" altLang="zh-CN" sz="2000" dirty="0">
                <a:cs typeface="+mn-ea"/>
                <a:sym typeface="+mn-lt"/>
              </a:rPr>
              <a:t>0~1</a:t>
            </a:r>
            <a:r>
              <a:rPr lang="zh-CN" altLang="en-US" sz="2000" dirty="0">
                <a:cs typeface="+mn-ea"/>
                <a:sym typeface="+mn-lt"/>
              </a:rPr>
              <a:t>之间，</a:t>
            </a:r>
            <a:r>
              <a:rPr lang="en-US" altLang="zh-CN" sz="2000" b="1" dirty="0">
                <a:cs typeface="+mn-ea"/>
                <a:sym typeface="+mn-lt"/>
              </a:rPr>
              <a:t>0</a:t>
            </a:r>
            <a:r>
              <a:rPr lang="zh-CN" altLang="en-US" sz="2000" dirty="0">
                <a:cs typeface="+mn-ea"/>
                <a:sym typeface="+mn-lt"/>
              </a:rPr>
              <a:t>表示两个锚框没有重叠，</a:t>
            </a:r>
            <a:r>
              <a:rPr lang="en-US" altLang="zh-CN" sz="2000" b="1" dirty="0">
                <a:cs typeface="+mn-ea"/>
                <a:sym typeface="+mn-lt"/>
              </a:rPr>
              <a:t>1</a:t>
            </a:r>
            <a:r>
              <a:rPr lang="zh-CN" altLang="en-US" sz="2000" dirty="0">
                <a:cs typeface="+mn-ea"/>
                <a:sym typeface="+mn-lt"/>
              </a:rPr>
              <a:t>表示完全重叠。</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4038600" y="3781887"/>
            <a:ext cx="3245281" cy="22194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latin typeface="+mn-lt"/>
              <a:ea typeface="+mn-ea"/>
              <a:cs typeface="+mn-ea"/>
              <a:sym typeface="+mn-lt"/>
            </a:endParaRPr>
          </a:p>
        </p:txBody>
      </p:sp>
      <p:sp>
        <p:nvSpPr>
          <p:cNvPr id="3" name="内容占位符 2"/>
          <p:cNvSpPr>
            <a:spLocks noGrp="1"/>
          </p:cNvSpPr>
          <p:nvPr>
            <p:ph idx="1"/>
          </p:nvPr>
        </p:nvSpPr>
        <p:spPr/>
        <p:txBody>
          <a:bodyPr/>
          <a:lstStyle/>
          <a:p>
            <a:pPr marL="0" indent="0">
              <a:buNone/>
            </a:pPr>
            <a:r>
              <a:rPr lang="en-US" altLang="zh-CN" sz="2400" b="1" dirty="0">
                <a:cs typeface="+mn-ea"/>
                <a:sym typeface="+mn-lt"/>
              </a:rPr>
              <a:t>6.1.4 NMS</a:t>
            </a:r>
            <a:r>
              <a:rPr lang="zh-CN" altLang="en-US" sz="2400" b="1" dirty="0">
                <a:cs typeface="+mn-ea"/>
                <a:sym typeface="+mn-lt"/>
              </a:rPr>
              <a:t>操作</a:t>
            </a:r>
            <a:endParaRPr lang="en-US" altLang="zh-CN" sz="2400" b="1" dirty="0">
              <a:cs typeface="+mn-ea"/>
              <a:sym typeface="+mn-lt"/>
            </a:endParaRPr>
          </a:p>
          <a:p>
            <a:pPr marL="0" indent="0">
              <a:buNone/>
            </a:pPr>
            <a:r>
              <a:rPr lang="zh-CN" altLang="en-US" sz="2000" dirty="0">
                <a:cs typeface="+mn-ea"/>
                <a:sym typeface="+mn-lt"/>
              </a:rPr>
              <a:t>基于前面的描述可以看到，在预测阶段，同一目标可能会有多个预测框，因此需要移除相似的锚框。这里，常用的方法有</a:t>
            </a:r>
            <a:r>
              <a:rPr lang="zh-CN" altLang="en-US" sz="2000" b="1" dirty="0">
                <a:cs typeface="+mn-ea"/>
                <a:sym typeface="+mn-lt"/>
              </a:rPr>
              <a:t>非极大值抑制</a:t>
            </a:r>
            <a:r>
              <a:rPr lang="zh-CN" altLang="en-US" sz="2000" dirty="0">
                <a:cs typeface="+mn-ea"/>
                <a:sym typeface="+mn-lt"/>
              </a:rPr>
              <a:t>（</a:t>
            </a:r>
            <a:r>
              <a:rPr lang="en-US" altLang="zh-CN" sz="2000" dirty="0">
                <a:cs typeface="+mn-ea"/>
                <a:sym typeface="+mn-lt"/>
              </a:rPr>
              <a:t>non-maximum suppression, NMS</a:t>
            </a:r>
            <a:r>
              <a:rPr lang="zh-CN" altLang="en-US" sz="2000" dirty="0">
                <a:cs typeface="+mn-ea"/>
                <a:sym typeface="+mn-lt"/>
              </a:rPr>
              <a:t>）、</a:t>
            </a:r>
            <a:r>
              <a:rPr lang="en-US" altLang="zh-CN" sz="2000" dirty="0">
                <a:cs typeface="+mn-ea"/>
                <a:sym typeface="+mn-lt"/>
              </a:rPr>
              <a:t>Soft-NMS </a:t>
            </a:r>
            <a:r>
              <a:rPr lang="zh-CN" altLang="en-US" sz="2000" dirty="0">
                <a:cs typeface="+mn-ea"/>
                <a:sym typeface="+mn-lt"/>
              </a:rPr>
              <a:t>、</a:t>
            </a:r>
            <a:r>
              <a:rPr lang="en-US" altLang="zh-CN" sz="2000" dirty="0">
                <a:cs typeface="+mn-ea"/>
                <a:sym typeface="+mn-lt"/>
              </a:rPr>
              <a:t>Softer-NMS</a:t>
            </a:r>
            <a:r>
              <a:rPr lang="zh-CN" altLang="en-US" sz="2000" dirty="0">
                <a:cs typeface="+mn-ea"/>
                <a:sym typeface="+mn-lt"/>
              </a:rPr>
              <a:t>。</a:t>
            </a:r>
            <a:endParaRPr lang="en-US" altLang="zh-CN" sz="2000" dirty="0">
              <a:cs typeface="+mn-ea"/>
              <a:sym typeface="+mn-lt"/>
            </a:endParaRPr>
          </a:p>
          <a:p>
            <a:pPr marL="0" indent="0">
              <a:buNone/>
            </a:pPr>
            <a:r>
              <a:rPr lang="en-US" altLang="zh-CN" sz="2000" dirty="0">
                <a:cs typeface="+mn-ea"/>
                <a:sym typeface="+mn-lt"/>
              </a:rPr>
              <a:t>NMS </a:t>
            </a:r>
            <a:r>
              <a:rPr lang="zh-CN" altLang="en-US" sz="2000" dirty="0">
                <a:cs typeface="+mn-ea"/>
                <a:sym typeface="+mn-lt"/>
              </a:rPr>
              <a:t>算法是绝大多数目标检测方法中必备的后处理步骤：</a:t>
            </a:r>
            <a:endParaRPr lang="zh-CN" altLang="en-US" sz="2000" dirty="0">
              <a:cs typeface="+mn-ea"/>
              <a:sym typeface="+mn-lt"/>
            </a:endParaRPr>
          </a:p>
          <a:p>
            <a:pPr marL="457200" indent="-457200">
              <a:buFont typeface="+mj-ea"/>
              <a:buAutoNum type="circleNumDbPlain"/>
            </a:pPr>
            <a:r>
              <a:rPr lang="zh-CN" altLang="en-US" sz="2000" dirty="0">
                <a:cs typeface="+mn-ea"/>
                <a:sym typeface="+mn-lt"/>
              </a:rPr>
              <a:t>首先将一定区域内的检测框按照</a:t>
            </a:r>
            <a:r>
              <a:rPr lang="zh-CN" altLang="en-US" sz="2000" b="1" dirty="0">
                <a:cs typeface="+mn-ea"/>
                <a:sym typeface="+mn-lt"/>
              </a:rPr>
              <a:t>置信度</a:t>
            </a:r>
            <a:r>
              <a:rPr lang="zh-CN" altLang="en-US" sz="2000" dirty="0">
                <a:cs typeface="+mn-ea"/>
                <a:sym typeface="+mn-lt"/>
              </a:rPr>
              <a:t>得分高低进行排序；</a:t>
            </a:r>
            <a:endParaRPr lang="zh-CN" altLang="en-US" sz="2000" dirty="0">
              <a:cs typeface="+mn-ea"/>
              <a:sym typeface="+mn-lt"/>
            </a:endParaRPr>
          </a:p>
          <a:p>
            <a:pPr marL="457200" indent="-457200">
              <a:buFont typeface="+mj-ea"/>
              <a:buAutoNum type="circleNumDbPlain"/>
            </a:pPr>
            <a:r>
              <a:rPr lang="zh-CN" altLang="en-US" sz="2000" dirty="0">
                <a:cs typeface="+mn-ea"/>
                <a:sym typeface="+mn-lt"/>
              </a:rPr>
              <a:t>然后保留</a:t>
            </a:r>
            <a:r>
              <a:rPr lang="zh-CN" altLang="en-US" sz="2000" b="1" dirty="0">
                <a:cs typeface="+mn-ea"/>
                <a:sym typeface="+mn-lt"/>
              </a:rPr>
              <a:t>得分最高</a:t>
            </a:r>
            <a:r>
              <a:rPr lang="zh-CN" altLang="en-US" sz="2000" dirty="0">
                <a:cs typeface="+mn-ea"/>
                <a:sym typeface="+mn-lt"/>
              </a:rPr>
              <a:t>的框；</a:t>
            </a:r>
            <a:endParaRPr lang="zh-CN" altLang="en-US" sz="2000" dirty="0">
              <a:cs typeface="+mn-ea"/>
              <a:sym typeface="+mn-lt"/>
            </a:endParaRPr>
          </a:p>
          <a:p>
            <a:pPr marL="457200" indent="-457200">
              <a:buFont typeface="+mj-ea"/>
              <a:buAutoNum type="circleNumDbPlain"/>
            </a:pPr>
            <a:r>
              <a:rPr lang="zh-CN" altLang="en-US" sz="2000" dirty="0">
                <a:cs typeface="+mn-ea"/>
                <a:sym typeface="+mn-lt"/>
              </a:rPr>
              <a:t>同时在剩余的边界框中，删除与该框重叠面积大于一定</a:t>
            </a:r>
            <a:r>
              <a:rPr lang="zh-CN" altLang="en-US" sz="2000" b="1" dirty="0">
                <a:cs typeface="+mn-ea"/>
                <a:sym typeface="+mn-lt"/>
              </a:rPr>
              <a:t>阈值</a:t>
            </a:r>
            <a:r>
              <a:rPr lang="en-US" altLang="zh-CN" sz="2000" dirty="0">
                <a:cs typeface="+mn-ea"/>
                <a:sym typeface="+mn-lt"/>
              </a:rPr>
              <a:t>(</a:t>
            </a:r>
            <a:r>
              <a:rPr lang="zh-CN" altLang="en-US" sz="2000" dirty="0">
                <a:cs typeface="+mn-ea"/>
                <a:sym typeface="+mn-lt"/>
              </a:rPr>
              <a:t>使用预先定义的阈值</a:t>
            </a:r>
            <a:r>
              <a:rPr lang="en-US" altLang="zh-CN" sz="2000" dirty="0">
                <a:cs typeface="+mn-ea"/>
                <a:sym typeface="+mn-lt"/>
              </a:rPr>
              <a:t>)</a:t>
            </a:r>
            <a:r>
              <a:rPr lang="zh-CN" altLang="en-US" sz="2000" dirty="0">
                <a:cs typeface="+mn-ea"/>
                <a:sym typeface="+mn-lt"/>
              </a:rPr>
              <a:t>的边界框；</a:t>
            </a:r>
            <a:endParaRPr lang="zh-CN" altLang="en-US" sz="2000" dirty="0">
              <a:cs typeface="+mn-ea"/>
              <a:sym typeface="+mn-lt"/>
            </a:endParaRPr>
          </a:p>
          <a:p>
            <a:pPr marL="457200" indent="-457200">
              <a:buFont typeface="+mj-ea"/>
              <a:buAutoNum type="circleNumDbPlain"/>
            </a:pPr>
            <a:r>
              <a:rPr lang="zh-CN" altLang="en-US" sz="2000" dirty="0">
                <a:cs typeface="+mn-ea"/>
                <a:sym typeface="+mn-lt"/>
              </a:rPr>
              <a:t>最后将此过程</a:t>
            </a:r>
            <a:r>
              <a:rPr lang="zh-CN" altLang="en-US" sz="2000" b="1" dirty="0">
                <a:cs typeface="+mn-ea"/>
                <a:sym typeface="+mn-lt"/>
              </a:rPr>
              <a:t>递归</a:t>
            </a:r>
            <a:r>
              <a:rPr lang="zh-CN" altLang="en-US" sz="2000" dirty="0">
                <a:cs typeface="+mn-ea"/>
                <a:sym typeface="+mn-lt"/>
              </a:rPr>
              <a:t>地应用于其余的边界框，从而保证为每个目标找到检测效果最好的框。</a:t>
            </a:r>
            <a:endParaRPr lang="zh-CN" altLang="en-US"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dirty="0">
                <a:cs typeface="+mn-ea"/>
                <a:sym typeface="+mn-lt"/>
              </a:rPr>
              <a:t>NMS</a:t>
            </a:r>
            <a:r>
              <a:rPr lang="zh-CN" altLang="en-US" sz="2000" dirty="0">
                <a:cs typeface="+mn-ea"/>
                <a:sym typeface="+mn-lt"/>
              </a:rPr>
              <a:t>常见问题：</a:t>
            </a:r>
            <a:r>
              <a:rPr lang="en-US" altLang="zh-CN" sz="2000" dirty="0">
                <a:cs typeface="+mn-ea"/>
                <a:sym typeface="+mn-lt"/>
              </a:rPr>
              <a:t>NMS </a:t>
            </a:r>
            <a:r>
              <a:rPr lang="zh-CN" altLang="en-US" sz="2000" dirty="0">
                <a:cs typeface="+mn-ea"/>
                <a:sym typeface="+mn-lt"/>
              </a:rPr>
              <a:t>的</a:t>
            </a:r>
            <a:r>
              <a:rPr lang="zh-CN" altLang="en-US" sz="2000" b="1" dirty="0">
                <a:cs typeface="+mn-ea"/>
                <a:sym typeface="+mn-lt"/>
              </a:rPr>
              <a:t>阈值不容易确定</a:t>
            </a:r>
            <a:r>
              <a:rPr lang="zh-CN" altLang="en-US" sz="2000" dirty="0">
                <a:cs typeface="+mn-ea"/>
                <a:sym typeface="+mn-lt"/>
              </a:rPr>
              <a:t>，设置小了会减小正确率，设置大了会增加误检率</a:t>
            </a:r>
            <a:r>
              <a:rPr lang="en-US" altLang="zh-CN" sz="2000" dirty="0">
                <a:cs typeface="+mn-ea"/>
                <a:sym typeface="+mn-lt"/>
              </a:rPr>
              <a:t>; </a:t>
            </a:r>
            <a:r>
              <a:rPr lang="zh-CN" altLang="en-US" sz="2000" dirty="0">
                <a:cs typeface="+mn-ea"/>
                <a:sym typeface="+mn-lt"/>
              </a:rPr>
              <a:t>不满足要求的框会被直接删除，处理方式过于简单。</a:t>
            </a:r>
            <a:endParaRPr lang="en-US" altLang="zh-CN" sz="2000" dirty="0">
              <a:cs typeface="+mn-ea"/>
              <a:sym typeface="+mn-lt"/>
            </a:endParaRPr>
          </a:p>
          <a:p>
            <a:pPr marL="0" indent="0">
              <a:buNone/>
            </a:pPr>
            <a:r>
              <a:rPr lang="zh-CN" altLang="en-US" sz="2000" dirty="0">
                <a:cs typeface="+mn-ea"/>
                <a:sym typeface="+mn-lt"/>
              </a:rPr>
              <a:t>针对这些问题，</a:t>
            </a:r>
            <a:r>
              <a:rPr lang="en-US" altLang="zh-CN" sz="2000" dirty="0" err="1">
                <a:cs typeface="+mn-ea"/>
                <a:sym typeface="+mn-lt"/>
              </a:rPr>
              <a:t>Bodla</a:t>
            </a:r>
            <a:r>
              <a:rPr lang="en-US" altLang="zh-CN" sz="2000" dirty="0">
                <a:cs typeface="+mn-ea"/>
                <a:sym typeface="+mn-lt"/>
              </a:rPr>
              <a:t> </a:t>
            </a:r>
            <a:r>
              <a:rPr lang="zh-CN" altLang="en-US" sz="2000" dirty="0">
                <a:cs typeface="+mn-ea"/>
                <a:sym typeface="+mn-lt"/>
              </a:rPr>
              <a:t>等人</a:t>
            </a:r>
            <a:r>
              <a:rPr lang="en-US" altLang="zh-CN" sz="2000" dirty="0">
                <a:cs typeface="+mn-ea"/>
                <a:sym typeface="+mn-lt"/>
              </a:rPr>
              <a:t>(2017)</a:t>
            </a:r>
            <a:r>
              <a:rPr lang="zh-CN" altLang="en-US" sz="2000" dirty="0">
                <a:cs typeface="+mn-ea"/>
                <a:sym typeface="+mn-lt"/>
              </a:rPr>
              <a:t>提出了</a:t>
            </a:r>
            <a:r>
              <a:rPr lang="en-US" altLang="zh-CN" sz="2000" dirty="0">
                <a:cs typeface="+mn-ea"/>
                <a:sym typeface="+mn-lt"/>
              </a:rPr>
              <a:t>Soft-NMS </a:t>
            </a:r>
            <a:r>
              <a:rPr lang="zh-CN" altLang="en-US" sz="2000" dirty="0">
                <a:cs typeface="+mn-ea"/>
                <a:sym typeface="+mn-lt"/>
              </a:rPr>
              <a:t>算法，其整体流程与 </a:t>
            </a:r>
            <a:r>
              <a:rPr lang="en-US" altLang="zh-CN" sz="2000" dirty="0">
                <a:cs typeface="+mn-ea"/>
                <a:sym typeface="+mn-lt"/>
              </a:rPr>
              <a:t>NMS </a:t>
            </a:r>
            <a:r>
              <a:rPr lang="zh-CN" altLang="en-US" sz="2000" dirty="0">
                <a:cs typeface="+mn-ea"/>
                <a:sym typeface="+mn-lt"/>
              </a:rPr>
              <a:t>相似，不同之处在于不是直接删除所有</a:t>
            </a:r>
            <a:r>
              <a:rPr lang="en-US" altLang="zh-CN" sz="2000" dirty="0" err="1">
                <a:cs typeface="+mn-ea"/>
                <a:sym typeface="+mn-lt"/>
              </a:rPr>
              <a:t>IoU</a:t>
            </a:r>
            <a:r>
              <a:rPr lang="en-US" altLang="zh-CN" sz="2000" dirty="0">
                <a:cs typeface="+mn-ea"/>
                <a:sym typeface="+mn-lt"/>
              </a:rPr>
              <a:t> </a:t>
            </a:r>
            <a:r>
              <a:rPr lang="zh-CN" altLang="en-US" sz="2000" dirty="0">
                <a:cs typeface="+mn-ea"/>
                <a:sym typeface="+mn-lt"/>
              </a:rPr>
              <a:t>大于阈值的检测框，而是</a:t>
            </a:r>
            <a:r>
              <a:rPr lang="zh-CN" altLang="en-US" sz="2000" b="1" dirty="0">
                <a:cs typeface="+mn-ea"/>
                <a:sym typeface="+mn-lt"/>
              </a:rPr>
              <a:t>新设定一个置信度阈值</a:t>
            </a:r>
            <a:r>
              <a:rPr lang="zh-CN" altLang="en-US" sz="2000" dirty="0">
                <a:cs typeface="+mn-ea"/>
                <a:sym typeface="+mn-lt"/>
              </a:rPr>
              <a:t>，待处理框与</a:t>
            </a:r>
            <a:r>
              <a:rPr lang="zh-CN" altLang="en-US" sz="2000" b="1" dirty="0">
                <a:cs typeface="+mn-ea"/>
                <a:sym typeface="+mn-lt"/>
              </a:rPr>
              <a:t>最高得分框</a:t>
            </a:r>
            <a:r>
              <a:rPr lang="zh-CN" altLang="en-US" sz="2000" dirty="0">
                <a:cs typeface="+mn-ea"/>
                <a:sym typeface="+mn-lt"/>
              </a:rPr>
              <a:t>的 </a:t>
            </a:r>
            <a:r>
              <a:rPr lang="en-US" altLang="zh-CN" sz="2000" dirty="0" err="1">
                <a:cs typeface="+mn-ea"/>
                <a:sym typeface="+mn-lt"/>
              </a:rPr>
              <a:t>IoU</a:t>
            </a:r>
            <a:r>
              <a:rPr lang="en-US" altLang="zh-CN" sz="2000" dirty="0">
                <a:cs typeface="+mn-ea"/>
                <a:sym typeface="+mn-lt"/>
              </a:rPr>
              <a:t> </a:t>
            </a:r>
            <a:r>
              <a:rPr lang="zh-CN" altLang="en-US" sz="2000" dirty="0">
                <a:cs typeface="+mn-ea"/>
                <a:sym typeface="+mn-lt"/>
              </a:rPr>
              <a:t>越大，该框置信度的得分就越低，最后得分大于置信度阈值的检测框可以保留，这样可以提高目标检测算法的召回率。</a:t>
            </a:r>
            <a:endParaRPr lang="en-US" altLang="zh-CN" sz="2000" dirty="0">
              <a:cs typeface="+mn-ea"/>
              <a:sym typeface="+mn-lt"/>
            </a:endParaRPr>
          </a:p>
          <a:p>
            <a:pPr marL="0" indent="0">
              <a:buNone/>
            </a:pPr>
            <a:r>
              <a:rPr lang="zh-CN" altLang="en-US" sz="2000" dirty="0">
                <a:cs typeface="+mn-ea"/>
                <a:sym typeface="+mn-lt"/>
              </a:rPr>
              <a:t>为了进一步提高目标位置的预测精度，</a:t>
            </a:r>
            <a:r>
              <a:rPr lang="en-US" altLang="zh-CN" sz="2000" dirty="0">
                <a:cs typeface="+mn-ea"/>
                <a:sym typeface="+mn-lt"/>
              </a:rPr>
              <a:t>He </a:t>
            </a:r>
            <a:r>
              <a:rPr lang="zh-CN" altLang="en-US" sz="2000" dirty="0">
                <a:cs typeface="+mn-ea"/>
                <a:sym typeface="+mn-lt"/>
              </a:rPr>
              <a:t>等人</a:t>
            </a:r>
            <a:r>
              <a:rPr lang="en-US" altLang="zh-CN" sz="2000" dirty="0">
                <a:cs typeface="+mn-ea"/>
                <a:sym typeface="+mn-lt"/>
              </a:rPr>
              <a:t>(2018)</a:t>
            </a:r>
            <a:r>
              <a:rPr lang="zh-CN" altLang="en-US" sz="2000" dirty="0">
                <a:cs typeface="+mn-ea"/>
                <a:sym typeface="+mn-lt"/>
              </a:rPr>
              <a:t>提出了</a:t>
            </a:r>
            <a:r>
              <a:rPr lang="zh-CN" altLang="en-US" sz="2000" b="1" dirty="0">
                <a:cs typeface="+mn-ea"/>
                <a:sym typeface="+mn-lt"/>
              </a:rPr>
              <a:t> </a:t>
            </a:r>
            <a:r>
              <a:rPr lang="en-US" altLang="zh-CN" sz="2000" dirty="0">
                <a:cs typeface="+mn-ea"/>
                <a:sym typeface="+mn-lt"/>
              </a:rPr>
              <a:t>Softer-NMS</a:t>
            </a:r>
            <a:r>
              <a:rPr lang="en-US" altLang="zh-CN" sz="2000" b="1" dirty="0">
                <a:cs typeface="+mn-ea"/>
                <a:sym typeface="+mn-lt"/>
              </a:rPr>
              <a:t> </a:t>
            </a:r>
            <a:r>
              <a:rPr lang="zh-CN" altLang="en-US" sz="2000" dirty="0">
                <a:cs typeface="+mn-ea"/>
                <a:sym typeface="+mn-lt"/>
              </a:rPr>
              <a:t>算法，使用一种新的</a:t>
            </a:r>
            <a:r>
              <a:rPr lang="zh-CN" altLang="en-US" sz="2000" b="1" dirty="0">
                <a:cs typeface="+mn-ea"/>
                <a:sym typeface="+mn-lt"/>
              </a:rPr>
              <a:t>边框回归损失函数</a:t>
            </a:r>
            <a:r>
              <a:rPr lang="en-US" altLang="zh-CN" sz="2000" dirty="0">
                <a:cs typeface="+mn-ea"/>
                <a:sym typeface="+mn-lt"/>
              </a:rPr>
              <a:t>( </a:t>
            </a:r>
            <a:r>
              <a:rPr lang="en-US" altLang="zh-CN" sz="2000" dirty="0" err="1">
                <a:cs typeface="+mn-ea"/>
                <a:sym typeface="+mn-lt"/>
              </a:rPr>
              <a:t>Kullback-Leibler</a:t>
            </a:r>
            <a:r>
              <a:rPr lang="zh-CN" altLang="en-US" sz="2000" dirty="0">
                <a:cs typeface="+mn-ea"/>
                <a:sym typeface="+mn-lt"/>
              </a:rPr>
              <a:t>，</a:t>
            </a:r>
            <a:r>
              <a:rPr lang="en-US" altLang="zh-CN" sz="2000" dirty="0">
                <a:cs typeface="+mn-ea"/>
                <a:sym typeface="+mn-lt"/>
              </a:rPr>
              <a:t>KL) Loss</a:t>
            </a:r>
            <a:r>
              <a:rPr lang="zh-CN" altLang="en-US" sz="2000" dirty="0">
                <a:cs typeface="+mn-ea"/>
                <a:sym typeface="+mn-lt"/>
              </a:rPr>
              <a:t>，该损失函数可以同时学习到边框的形变量和位置变化量。同时 </a:t>
            </a:r>
            <a:r>
              <a:rPr lang="en-US" altLang="zh-CN" sz="2000" dirty="0">
                <a:cs typeface="+mn-ea"/>
                <a:sym typeface="+mn-lt"/>
              </a:rPr>
              <a:t>Softer-NMS </a:t>
            </a:r>
            <a:r>
              <a:rPr lang="zh-CN" altLang="en-US" sz="2000" dirty="0">
                <a:cs typeface="+mn-ea"/>
                <a:sym typeface="+mn-lt"/>
              </a:rPr>
              <a:t>将 </a:t>
            </a:r>
            <a:r>
              <a:rPr lang="en-US" altLang="zh-CN" sz="2000" dirty="0">
                <a:cs typeface="+mn-ea"/>
                <a:sym typeface="+mn-lt"/>
              </a:rPr>
              <a:t>KL Loss </a:t>
            </a:r>
            <a:r>
              <a:rPr lang="zh-CN" altLang="en-US" sz="2000" dirty="0">
                <a:cs typeface="+mn-ea"/>
                <a:sym typeface="+mn-lt"/>
              </a:rPr>
              <a:t>使用在基于权重平均的 </a:t>
            </a:r>
            <a:r>
              <a:rPr lang="en-US" altLang="zh-CN" sz="2000" dirty="0">
                <a:cs typeface="+mn-ea"/>
                <a:sym typeface="+mn-lt"/>
              </a:rPr>
              <a:t>Soft-NMS </a:t>
            </a:r>
            <a:r>
              <a:rPr lang="zh-CN" altLang="en-US" sz="2000" dirty="0">
                <a:cs typeface="+mn-ea"/>
                <a:sym typeface="+mn-lt"/>
              </a:rPr>
              <a:t>算法上</a:t>
            </a:r>
            <a:r>
              <a:rPr lang="en-US" altLang="zh-CN" sz="2000" dirty="0">
                <a:cs typeface="+mn-ea"/>
                <a:sym typeface="+mn-lt"/>
              </a:rPr>
              <a:t>;</a:t>
            </a:r>
            <a:r>
              <a:rPr lang="zh-CN" altLang="en-US" sz="2000" dirty="0">
                <a:cs typeface="+mn-ea"/>
                <a:sym typeface="+mn-lt"/>
              </a:rPr>
              <a:t>最终，</a:t>
            </a:r>
            <a:r>
              <a:rPr lang="en-US" altLang="zh-CN" sz="2000" dirty="0">
                <a:cs typeface="+mn-ea"/>
                <a:sym typeface="+mn-lt"/>
              </a:rPr>
              <a:t>Softer-NMS </a:t>
            </a:r>
            <a:r>
              <a:rPr lang="zh-CN" altLang="en-US" sz="2000" dirty="0">
                <a:cs typeface="+mn-ea"/>
                <a:sym typeface="+mn-lt"/>
              </a:rPr>
              <a:t>算法在 </a:t>
            </a:r>
            <a:r>
              <a:rPr lang="en-US" altLang="zh-CN" sz="2000" dirty="0">
                <a:cs typeface="+mn-ea"/>
                <a:sym typeface="+mn-lt"/>
              </a:rPr>
              <a:t>MS COCO </a:t>
            </a:r>
            <a:r>
              <a:rPr lang="zh-CN" altLang="en-US" sz="2000" dirty="0">
                <a:cs typeface="+mn-ea"/>
                <a:sym typeface="+mn-lt"/>
              </a:rPr>
              <a:t>数据集上，将基于 </a:t>
            </a:r>
            <a:r>
              <a:rPr lang="en-US" altLang="zh-CN" sz="2000" dirty="0">
                <a:cs typeface="+mn-ea"/>
                <a:sym typeface="+mn-lt"/>
              </a:rPr>
              <a:t>VGG-16 </a:t>
            </a:r>
            <a:r>
              <a:rPr lang="zh-CN" altLang="en-US" sz="2000" dirty="0">
                <a:cs typeface="+mn-ea"/>
                <a:sym typeface="+mn-lt"/>
              </a:rPr>
              <a:t>的 </a:t>
            </a:r>
            <a:r>
              <a:rPr lang="en-US" altLang="zh-CN" sz="2000" dirty="0">
                <a:cs typeface="+mn-ea"/>
                <a:sym typeface="+mn-lt"/>
              </a:rPr>
              <a:t>Faster R-CNN </a:t>
            </a:r>
            <a:r>
              <a:rPr lang="zh-CN" altLang="en-US" sz="2000" dirty="0">
                <a:cs typeface="+mn-ea"/>
                <a:sym typeface="+mn-lt"/>
              </a:rPr>
              <a:t>的检测精度从 </a:t>
            </a:r>
            <a:r>
              <a:rPr lang="en-US" altLang="zh-CN" sz="2000" dirty="0">
                <a:cs typeface="+mn-ea"/>
                <a:sym typeface="+mn-lt"/>
              </a:rPr>
              <a:t>23. 6% </a:t>
            </a:r>
            <a:r>
              <a:rPr lang="zh-CN" altLang="en-US" sz="2000" dirty="0">
                <a:cs typeface="+mn-ea"/>
                <a:sym typeface="+mn-lt"/>
              </a:rPr>
              <a:t>提高到 </a:t>
            </a:r>
            <a:r>
              <a:rPr lang="en-US" altLang="zh-CN" sz="2000" dirty="0">
                <a:cs typeface="+mn-ea"/>
                <a:sym typeface="+mn-lt"/>
              </a:rPr>
              <a:t>29. 1% </a:t>
            </a:r>
            <a:r>
              <a:rPr lang="zh-CN" altLang="en-US" sz="2000" dirty="0">
                <a:cs typeface="+mn-ea"/>
                <a:sym typeface="+mn-lt"/>
              </a:rPr>
              <a:t>，将基于</a:t>
            </a:r>
            <a:r>
              <a:rPr lang="en-US" altLang="zh-CN" sz="2000" dirty="0">
                <a:cs typeface="+mn-ea"/>
                <a:sym typeface="+mn-lt"/>
              </a:rPr>
              <a:t>ResNet-50 </a:t>
            </a:r>
            <a:r>
              <a:rPr lang="zh-CN" altLang="en-US" sz="2000" dirty="0">
                <a:cs typeface="+mn-ea"/>
                <a:sym typeface="+mn-lt"/>
              </a:rPr>
              <a:t>的 </a:t>
            </a:r>
            <a:r>
              <a:rPr lang="en-US" altLang="zh-CN" sz="2000" dirty="0">
                <a:cs typeface="+mn-ea"/>
                <a:sym typeface="+mn-lt"/>
              </a:rPr>
              <a:t>Fast R-CNN </a:t>
            </a:r>
            <a:r>
              <a:rPr lang="zh-CN" altLang="en-US" sz="2000" dirty="0">
                <a:cs typeface="+mn-ea"/>
                <a:sym typeface="+mn-lt"/>
              </a:rPr>
              <a:t>的检测精度从 </a:t>
            </a:r>
            <a:r>
              <a:rPr lang="en-US" altLang="zh-CN" sz="2000" dirty="0">
                <a:cs typeface="+mn-ea"/>
                <a:sym typeface="+mn-lt"/>
              </a:rPr>
              <a:t>36. 8% </a:t>
            </a:r>
            <a:r>
              <a:rPr lang="zh-CN" altLang="en-US" sz="2000" dirty="0">
                <a:cs typeface="+mn-ea"/>
                <a:sym typeface="+mn-lt"/>
              </a:rPr>
              <a:t>提高到 </a:t>
            </a:r>
            <a:r>
              <a:rPr lang="en-US" altLang="zh-CN" sz="2000" dirty="0">
                <a:cs typeface="+mn-ea"/>
                <a:sym typeface="+mn-lt"/>
              </a:rPr>
              <a:t>37. 8%</a:t>
            </a:r>
            <a:r>
              <a:rPr lang="zh-CN" altLang="en-US" sz="2000" dirty="0">
                <a:cs typeface="+mn-ea"/>
                <a:sym typeface="+mn-lt"/>
              </a:rPr>
              <a:t>。</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38195" y="2215780"/>
            <a:ext cx="10315579" cy="420167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400" dirty="0">
                <a:cs typeface="+mn-ea"/>
                <a:sym typeface="+mn-lt"/>
              </a:rPr>
              <a:t>NMS</a:t>
            </a:r>
            <a:r>
              <a:rPr lang="zh-CN" altLang="en-US" sz="2400" dirty="0">
                <a:cs typeface="+mn-ea"/>
                <a:sym typeface="+mn-lt"/>
              </a:rPr>
              <a:t>代码实现</a:t>
            </a:r>
            <a:endParaRPr lang="zh-CN" altLang="en-US" sz="24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10" name="图片 9"/>
          <p:cNvPicPr>
            <a:picLocks noChangeAspect="1"/>
          </p:cNvPicPr>
          <p:nvPr/>
        </p:nvPicPr>
        <p:blipFill rotWithShape="1">
          <a:blip r:embed="rId1"/>
          <a:srcRect r="20111" b="67496"/>
          <a:stretch>
            <a:fillRect/>
          </a:stretch>
        </p:blipFill>
        <p:spPr>
          <a:xfrm>
            <a:off x="838195" y="2276890"/>
            <a:ext cx="6048380" cy="2283548"/>
          </a:xfrm>
          <a:prstGeom prst="rect">
            <a:avLst/>
          </a:prstGeom>
        </p:spPr>
      </p:pic>
      <p:pic>
        <p:nvPicPr>
          <p:cNvPr id="12" name="图片 11"/>
          <p:cNvPicPr>
            <a:picLocks noChangeAspect="1"/>
          </p:cNvPicPr>
          <p:nvPr/>
        </p:nvPicPr>
        <p:blipFill rotWithShape="1">
          <a:blip r:embed="rId2"/>
          <a:srcRect l="6883" t="33978" r="33120"/>
          <a:stretch>
            <a:fillRect/>
          </a:stretch>
        </p:blipFill>
        <p:spPr>
          <a:xfrm>
            <a:off x="7058023" y="2215780"/>
            <a:ext cx="4114800" cy="420167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latin typeface="+mn-lt"/>
              <a:ea typeface="+mn-ea"/>
              <a:cs typeface="+mn-ea"/>
              <a:sym typeface="+mn-lt"/>
            </a:endParaRPr>
          </a:p>
        </p:txBody>
      </p:sp>
      <p:sp>
        <p:nvSpPr>
          <p:cNvPr id="3" name="内容占位符 2"/>
          <p:cNvSpPr>
            <a:spLocks noGrp="1"/>
          </p:cNvSpPr>
          <p:nvPr>
            <p:ph idx="1"/>
          </p:nvPr>
        </p:nvSpPr>
        <p:spPr/>
        <p:txBody>
          <a:bodyPr/>
          <a:lstStyle/>
          <a:p>
            <a:pPr marL="0" indent="0">
              <a:buNone/>
            </a:pPr>
            <a:r>
              <a:rPr lang="en-US" altLang="zh-CN" sz="2400" b="1" dirty="0">
                <a:cs typeface="+mn-ea"/>
                <a:sym typeface="+mn-lt"/>
              </a:rPr>
              <a:t>6.1.5 </a:t>
            </a:r>
            <a:r>
              <a:rPr lang="zh-CN" altLang="en-US" sz="2400" b="1" dirty="0">
                <a:cs typeface="+mn-ea"/>
                <a:sym typeface="+mn-lt"/>
              </a:rPr>
              <a:t>评价指标</a:t>
            </a:r>
            <a:endParaRPr lang="en-US" altLang="zh-CN" sz="2400" b="1" dirty="0">
              <a:cs typeface="+mn-ea"/>
              <a:sym typeface="+mn-lt"/>
            </a:endParaRPr>
          </a:p>
          <a:p>
            <a:pPr marL="0" indent="0">
              <a:buNone/>
            </a:pPr>
            <a:r>
              <a:rPr lang="zh-CN" altLang="en-US" sz="2000" dirty="0">
                <a:cs typeface="+mn-ea"/>
                <a:sym typeface="+mn-lt"/>
              </a:rPr>
              <a:t>目标检测的效果取决于预测框的位置和类别是否准确，作为最常用的度量指标，</a:t>
            </a:r>
            <a:r>
              <a:rPr lang="zh-CN" altLang="en-US" sz="2000" b="1" dirty="0">
                <a:cs typeface="+mn-ea"/>
                <a:sym typeface="+mn-lt"/>
              </a:rPr>
              <a:t>平均精度均值</a:t>
            </a:r>
            <a:r>
              <a:rPr lang="zh-CN" altLang="en-US" sz="2000" dirty="0">
                <a:cs typeface="+mn-ea"/>
                <a:sym typeface="+mn-lt"/>
              </a:rPr>
              <a:t>（</a:t>
            </a:r>
            <a:r>
              <a:rPr lang="en-US" altLang="zh-CN" sz="2000" dirty="0">
                <a:cs typeface="+mn-ea"/>
                <a:sym typeface="+mn-lt"/>
              </a:rPr>
              <a:t>mean Average Precision</a:t>
            </a:r>
            <a:r>
              <a:rPr lang="zh-CN" altLang="en-US" sz="2000" dirty="0">
                <a:cs typeface="+mn-ea"/>
                <a:sym typeface="+mn-lt"/>
              </a:rPr>
              <a:t>），简称</a:t>
            </a:r>
            <a:r>
              <a:rPr lang="en-US" altLang="zh-CN" sz="2000" b="1" dirty="0" err="1">
                <a:cs typeface="+mn-ea"/>
                <a:sym typeface="+mn-lt"/>
              </a:rPr>
              <a:t>mAP</a:t>
            </a:r>
            <a:r>
              <a:rPr lang="en-US" altLang="zh-CN" sz="2000" dirty="0">
                <a:cs typeface="+mn-ea"/>
                <a:sym typeface="+mn-lt"/>
              </a:rPr>
              <a:t>, </a:t>
            </a:r>
            <a:r>
              <a:rPr lang="zh-CN" altLang="en-US" sz="2000" dirty="0">
                <a:cs typeface="+mn-ea"/>
                <a:sym typeface="+mn-lt"/>
              </a:rPr>
              <a:t>通过计算预测框和真值框的</a:t>
            </a:r>
            <a:r>
              <a:rPr lang="en-US" altLang="zh-CN" sz="2000" dirty="0" err="1">
                <a:cs typeface="+mn-ea"/>
                <a:sym typeface="+mn-lt"/>
              </a:rPr>
              <a:t>IoU</a:t>
            </a:r>
            <a:r>
              <a:rPr lang="zh-CN" altLang="en-US" sz="2000" dirty="0">
                <a:cs typeface="+mn-ea"/>
                <a:sym typeface="+mn-lt"/>
              </a:rPr>
              <a:t>来判断预测框是否准确预测了位置信息，同时引入精度（</a:t>
            </a:r>
            <a:r>
              <a:rPr lang="en-US" altLang="zh-CN" sz="2000" dirty="0">
                <a:cs typeface="+mn-ea"/>
                <a:sym typeface="+mn-lt"/>
              </a:rPr>
              <a:t>Precision</a:t>
            </a:r>
            <a:r>
              <a:rPr lang="zh-CN" altLang="en-US" sz="2000" dirty="0">
                <a:cs typeface="+mn-ea"/>
                <a:sym typeface="+mn-lt"/>
              </a:rPr>
              <a:t>）和召回率（</a:t>
            </a:r>
            <a:r>
              <a:rPr lang="en-US" altLang="zh-CN" sz="2000" dirty="0">
                <a:cs typeface="+mn-ea"/>
                <a:sym typeface="+mn-lt"/>
              </a:rPr>
              <a:t>Recall</a:t>
            </a:r>
            <a:r>
              <a:rPr lang="zh-CN" altLang="en-US" sz="2000" dirty="0">
                <a:cs typeface="+mn-ea"/>
                <a:sym typeface="+mn-lt"/>
              </a:rPr>
              <a:t>）指标评估预测框的分类性能。</a:t>
            </a:r>
            <a:endParaRPr lang="en-US" altLang="zh-CN" sz="2000" dirty="0">
              <a:cs typeface="+mn-ea"/>
              <a:sym typeface="+mn-lt"/>
            </a:endParaRPr>
          </a:p>
          <a:p>
            <a:pPr marL="0" indent="0">
              <a:buNone/>
            </a:pPr>
            <a:r>
              <a:rPr lang="zh-CN" altLang="en-US" sz="2000" dirty="0">
                <a:cs typeface="+mn-ea"/>
                <a:sym typeface="+mn-lt"/>
              </a:rPr>
              <a:t>下面我们将详细介绍一下与</a:t>
            </a:r>
            <a:r>
              <a:rPr lang="en-US" altLang="zh-CN" sz="2000" dirty="0" err="1">
                <a:cs typeface="+mn-ea"/>
                <a:sym typeface="+mn-lt"/>
              </a:rPr>
              <a:t>mAP</a:t>
            </a:r>
            <a:r>
              <a:rPr lang="zh-CN" altLang="en-US" sz="2000" dirty="0">
                <a:cs typeface="+mn-ea"/>
                <a:sym typeface="+mn-lt"/>
              </a:rPr>
              <a:t>相关的一些基本概念，并通过一个实例展示</a:t>
            </a:r>
            <a:r>
              <a:rPr lang="en-US" altLang="zh-CN" sz="2000" dirty="0" err="1">
                <a:cs typeface="+mn-ea"/>
                <a:sym typeface="+mn-lt"/>
              </a:rPr>
              <a:t>mAP</a:t>
            </a:r>
            <a:r>
              <a:rPr lang="zh-CN" altLang="en-US" sz="2000" dirty="0">
                <a:cs typeface="+mn-ea"/>
                <a:sym typeface="+mn-lt"/>
              </a:rPr>
              <a:t>的计算过程。</a:t>
            </a:r>
            <a:endParaRPr lang="en-US" altLang="zh-CN" sz="2000" dirty="0">
              <a:cs typeface="+mn-ea"/>
              <a:sym typeface="+mn-lt"/>
            </a:endParaRPr>
          </a:p>
          <a:p>
            <a:pPr marL="0" indent="0">
              <a:buNone/>
            </a:pPr>
            <a:endParaRPr lang="en-US" altLang="zh-CN"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zh-CN" altLang="en-US" sz="2400" b="1" dirty="0">
                <a:cs typeface="+mn-ea"/>
                <a:sym typeface="+mn-lt"/>
              </a:rPr>
              <a:t>基本概念</a:t>
            </a:r>
            <a:endParaRPr lang="en-US" altLang="zh-CN" sz="2400" b="1" dirty="0">
              <a:cs typeface="+mn-ea"/>
              <a:sym typeface="+mn-lt"/>
            </a:endParaRPr>
          </a:p>
          <a:p>
            <a:pPr marL="0" indent="0">
              <a:buNone/>
            </a:pPr>
            <a:r>
              <a:rPr lang="en-US" altLang="zh-CN" sz="2400" b="1" dirty="0">
                <a:cs typeface="+mn-ea"/>
                <a:sym typeface="+mn-lt"/>
              </a:rPr>
              <a:t>1</a:t>
            </a:r>
            <a:r>
              <a:rPr lang="zh-CN" altLang="en-US" sz="2400" b="1" dirty="0">
                <a:cs typeface="+mn-ea"/>
                <a:sym typeface="+mn-lt"/>
              </a:rPr>
              <a:t>）</a:t>
            </a:r>
            <a:r>
              <a:rPr lang="en-US" altLang="zh-CN" sz="2400" b="1" dirty="0">
                <a:cs typeface="+mn-ea"/>
                <a:sym typeface="+mn-lt"/>
              </a:rPr>
              <a:t>Precision</a:t>
            </a:r>
            <a:r>
              <a:rPr lang="zh-CN" altLang="en-US" sz="2400" b="1" dirty="0">
                <a:cs typeface="+mn-ea"/>
                <a:sym typeface="+mn-lt"/>
              </a:rPr>
              <a:t>与</a:t>
            </a:r>
            <a:r>
              <a:rPr lang="en-US" altLang="zh-CN" sz="2400" b="1" dirty="0">
                <a:cs typeface="+mn-ea"/>
                <a:sym typeface="+mn-lt"/>
              </a:rPr>
              <a:t>Recall</a:t>
            </a:r>
            <a:endParaRPr lang="en-US" altLang="zh-CN" sz="2400" b="1"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dirty="0">
                <a:cs typeface="+mn-ea"/>
                <a:sym typeface="+mn-lt"/>
              </a:rPr>
              <a:t>在目标检测任务中，为了能够更好的定位目标，往往会在原始图片生成大量的候选框。这些候选框大多都不包含任何的目标，因此计算得到的</a:t>
            </a:r>
            <a:r>
              <a:rPr lang="en-US" altLang="zh-CN" sz="2000" dirty="0">
                <a:cs typeface="+mn-ea"/>
                <a:sym typeface="+mn-lt"/>
              </a:rPr>
              <a:t>accuracy</a:t>
            </a:r>
            <a:r>
              <a:rPr lang="zh-CN" altLang="en-US" sz="2000" dirty="0">
                <a:cs typeface="+mn-ea"/>
                <a:sym typeface="+mn-lt"/>
              </a:rPr>
              <a:t>会偏高不能够正确的体现目标检测算法的性能。</a:t>
            </a:r>
            <a:endParaRPr lang="en-US" altLang="zh-CN" sz="2000" dirty="0">
              <a:cs typeface="+mn-ea"/>
              <a:sym typeface="+mn-lt"/>
            </a:endParaRPr>
          </a:p>
          <a:p>
            <a:pPr marL="0" indent="0">
              <a:buNone/>
            </a:pPr>
            <a:r>
              <a:rPr lang="zh-CN" altLang="en-US" sz="2000" dirty="0">
                <a:cs typeface="+mn-ea"/>
                <a:sym typeface="+mn-lt"/>
              </a:rPr>
              <a:t>在二分类问题中，样本的真值与分类器预测的类别的组合可以列举如下</a:t>
            </a:r>
            <a:r>
              <a:rPr lang="en-US" altLang="zh-CN" sz="2000" dirty="0">
                <a:cs typeface="+mn-ea"/>
                <a:sym typeface="+mn-lt"/>
              </a:rPr>
              <a:t>: </a:t>
            </a:r>
            <a:r>
              <a:rPr lang="zh-CN" altLang="en-US" sz="2000" b="1" dirty="0">
                <a:cs typeface="+mn-ea"/>
                <a:sym typeface="+mn-lt"/>
              </a:rPr>
              <a:t>真正例</a:t>
            </a:r>
            <a:r>
              <a:rPr lang="zh-CN" altLang="en-US" sz="2000" dirty="0">
                <a:cs typeface="+mn-ea"/>
                <a:sym typeface="+mn-lt"/>
              </a:rPr>
              <a:t>（</a:t>
            </a:r>
            <a:r>
              <a:rPr lang="en-US" altLang="zh-CN" sz="2000" dirty="0">
                <a:cs typeface="+mn-ea"/>
                <a:sym typeface="+mn-lt"/>
              </a:rPr>
              <a:t>True Positive</a:t>
            </a:r>
            <a:r>
              <a:rPr lang="zh-CN" altLang="en-US" sz="2000" dirty="0">
                <a:cs typeface="+mn-ea"/>
                <a:sym typeface="+mn-lt"/>
              </a:rPr>
              <a:t>）、</a:t>
            </a:r>
            <a:r>
              <a:rPr lang="zh-CN" altLang="en-US" sz="2000" b="1" dirty="0">
                <a:cs typeface="+mn-ea"/>
                <a:sym typeface="+mn-lt"/>
              </a:rPr>
              <a:t>假正例</a:t>
            </a:r>
            <a:r>
              <a:rPr lang="zh-CN" altLang="en-US" sz="2000" dirty="0">
                <a:cs typeface="+mn-ea"/>
                <a:sym typeface="+mn-lt"/>
              </a:rPr>
              <a:t>（</a:t>
            </a:r>
            <a:r>
              <a:rPr lang="en-US" altLang="zh-CN" sz="2000" dirty="0">
                <a:cs typeface="+mn-ea"/>
                <a:sym typeface="+mn-lt"/>
              </a:rPr>
              <a:t>False Positive</a:t>
            </a:r>
            <a:r>
              <a:rPr lang="zh-CN" altLang="en-US" sz="2000" dirty="0">
                <a:cs typeface="+mn-ea"/>
                <a:sym typeface="+mn-lt"/>
              </a:rPr>
              <a:t>）、</a:t>
            </a:r>
            <a:r>
              <a:rPr lang="zh-CN" altLang="en-US" sz="2000" b="1" dirty="0">
                <a:cs typeface="+mn-ea"/>
                <a:sym typeface="+mn-lt"/>
              </a:rPr>
              <a:t>真负例</a:t>
            </a:r>
            <a:r>
              <a:rPr lang="zh-CN" altLang="en-US" sz="2000" dirty="0">
                <a:cs typeface="+mn-ea"/>
                <a:sym typeface="+mn-lt"/>
              </a:rPr>
              <a:t>（</a:t>
            </a:r>
            <a:r>
              <a:rPr lang="en-US" altLang="zh-CN" sz="2000" dirty="0">
                <a:cs typeface="+mn-ea"/>
                <a:sym typeface="+mn-lt"/>
              </a:rPr>
              <a:t>True Negative</a:t>
            </a:r>
            <a:r>
              <a:rPr lang="zh-CN" altLang="en-US" sz="2000" dirty="0">
                <a:cs typeface="+mn-ea"/>
                <a:sym typeface="+mn-lt"/>
              </a:rPr>
              <a:t>），</a:t>
            </a:r>
            <a:r>
              <a:rPr lang="zh-CN" altLang="en-US" sz="2000" b="1" dirty="0">
                <a:cs typeface="+mn-ea"/>
                <a:sym typeface="+mn-lt"/>
              </a:rPr>
              <a:t>假反例</a:t>
            </a:r>
            <a:r>
              <a:rPr lang="zh-CN" altLang="en-US" sz="2000" dirty="0">
                <a:cs typeface="+mn-ea"/>
                <a:sym typeface="+mn-lt"/>
              </a:rPr>
              <a:t>（</a:t>
            </a:r>
            <a:r>
              <a:rPr lang="en-US" altLang="zh-CN" sz="2000" dirty="0">
                <a:cs typeface="+mn-ea"/>
                <a:sym typeface="+mn-lt"/>
              </a:rPr>
              <a:t>False Negative</a:t>
            </a:r>
            <a:r>
              <a:rPr lang="zh-CN" altLang="en-US" sz="2000" dirty="0">
                <a:cs typeface="+mn-ea"/>
                <a:sym typeface="+mn-lt"/>
              </a:rPr>
              <a:t>）。假设</a:t>
            </a:r>
            <a:r>
              <a:rPr lang="en-US" altLang="zh-CN" sz="2000" dirty="0">
                <a:cs typeface="+mn-ea"/>
                <a:sym typeface="+mn-lt"/>
              </a:rPr>
              <a:t>TP</a:t>
            </a:r>
            <a:r>
              <a:rPr lang="zh-CN" altLang="en-US" sz="2000" dirty="0">
                <a:cs typeface="+mn-ea"/>
                <a:sym typeface="+mn-lt"/>
              </a:rPr>
              <a:t>、</a:t>
            </a:r>
            <a:r>
              <a:rPr lang="en-US" altLang="zh-CN" sz="2000" dirty="0">
                <a:cs typeface="+mn-ea"/>
                <a:sym typeface="+mn-lt"/>
              </a:rPr>
              <a:t>FP</a:t>
            </a:r>
            <a:r>
              <a:rPr lang="zh-CN" altLang="en-US" sz="2000" dirty="0">
                <a:cs typeface="+mn-ea"/>
                <a:sym typeface="+mn-lt"/>
              </a:rPr>
              <a:t>、</a:t>
            </a:r>
            <a:r>
              <a:rPr lang="en-US" altLang="zh-CN" sz="2000" dirty="0">
                <a:cs typeface="+mn-ea"/>
                <a:sym typeface="+mn-lt"/>
              </a:rPr>
              <a:t>TN</a:t>
            </a:r>
            <a:r>
              <a:rPr lang="zh-CN" altLang="en-US" sz="2000" dirty="0">
                <a:cs typeface="+mn-ea"/>
                <a:sym typeface="+mn-lt"/>
              </a:rPr>
              <a:t>、</a:t>
            </a:r>
            <a:r>
              <a:rPr lang="en-US" altLang="zh-CN" sz="2000" dirty="0">
                <a:cs typeface="+mn-ea"/>
                <a:sym typeface="+mn-lt"/>
              </a:rPr>
              <a:t>FN</a:t>
            </a:r>
            <a:r>
              <a:rPr lang="zh-CN" altLang="en-US" sz="2000" dirty="0">
                <a:cs typeface="+mn-ea"/>
                <a:sym typeface="+mn-lt"/>
              </a:rPr>
              <a:t>分别表示，对应的样本，显然下列关系是成立的。</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pic>
        <p:nvPicPr>
          <p:cNvPr id="8" name="图片 7"/>
          <p:cNvPicPr>
            <a:picLocks noChangeAspect="1"/>
          </p:cNvPicPr>
          <p:nvPr/>
        </p:nvPicPr>
        <p:blipFill rotWithShape="1">
          <a:blip r:embed="rId1"/>
          <a:srcRect l="24569" r="22959"/>
          <a:stretch>
            <a:fillRect/>
          </a:stretch>
        </p:blipFill>
        <p:spPr>
          <a:xfrm>
            <a:off x="3581400" y="2566665"/>
            <a:ext cx="4695657" cy="1000572"/>
          </a:xfrm>
          <a:prstGeom prst="rect">
            <a:avLst/>
          </a:prstGeom>
        </p:spPr>
      </p:pic>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dirty="0">
              <a:cs typeface="+mn-ea"/>
              <a:sym typeface="+mn-lt"/>
            </a:endParaRPr>
          </a:p>
        </p:txBody>
      </p:sp>
      <p:pic>
        <p:nvPicPr>
          <p:cNvPr id="10" name="图片 9"/>
          <p:cNvPicPr>
            <a:picLocks noChangeAspect="1"/>
          </p:cNvPicPr>
          <p:nvPr/>
        </p:nvPicPr>
        <p:blipFill rotWithShape="1">
          <a:blip r:embed="rId2"/>
          <a:srcRect l="30414" r="29773"/>
          <a:stretch>
            <a:fillRect/>
          </a:stretch>
        </p:blipFill>
        <p:spPr>
          <a:xfrm>
            <a:off x="4557691" y="5308848"/>
            <a:ext cx="3184553" cy="111852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zh-CN" altLang="en-US" sz="2000" dirty="0">
                <a:cs typeface="+mn-ea"/>
                <a:sym typeface="+mn-lt"/>
              </a:rPr>
              <a:t>  查准率（</a:t>
            </a:r>
            <a:r>
              <a:rPr lang="en-US" altLang="zh-CN" sz="2000" dirty="0">
                <a:cs typeface="+mn-ea"/>
                <a:sym typeface="+mn-lt"/>
              </a:rPr>
              <a:t>Precision), </a:t>
            </a:r>
            <a:r>
              <a:rPr lang="zh-CN" altLang="en-US" sz="2000" dirty="0">
                <a:cs typeface="+mn-ea"/>
                <a:sym typeface="+mn-lt"/>
              </a:rPr>
              <a:t>即</a:t>
            </a:r>
            <a:r>
              <a:rPr lang="zh-CN" altLang="en-US" sz="2000" b="1" dirty="0">
                <a:cs typeface="+mn-ea"/>
                <a:sym typeface="+mn-lt"/>
              </a:rPr>
              <a:t>正确预测为正</a:t>
            </a:r>
            <a:r>
              <a:rPr lang="zh-CN" altLang="en-US" sz="2000" dirty="0">
                <a:cs typeface="+mn-ea"/>
                <a:sym typeface="+mn-lt"/>
              </a:rPr>
              <a:t>的占</a:t>
            </a:r>
            <a:r>
              <a:rPr lang="zh-CN" altLang="en-US" sz="2000" b="1" dirty="0">
                <a:cs typeface="+mn-ea"/>
                <a:sym typeface="+mn-lt"/>
              </a:rPr>
              <a:t>全部预测为正</a:t>
            </a:r>
            <a:r>
              <a:rPr lang="zh-CN" altLang="en-US" sz="2000" dirty="0">
                <a:cs typeface="+mn-ea"/>
                <a:sym typeface="+mn-lt"/>
              </a:rPr>
              <a:t>的比例，（真正正确的占所有预测为正的比例）：</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dirty="0">
                <a:cs typeface="+mn-ea"/>
                <a:sym typeface="+mn-lt"/>
              </a:rPr>
              <a:t>  查全率（</a:t>
            </a:r>
            <a:r>
              <a:rPr lang="en-US" altLang="zh-CN" sz="2000" dirty="0">
                <a:cs typeface="+mn-ea"/>
                <a:sym typeface="+mn-lt"/>
              </a:rPr>
              <a:t>Recall</a:t>
            </a:r>
            <a:r>
              <a:rPr lang="zh-CN" altLang="en-US" sz="2000" dirty="0">
                <a:cs typeface="+mn-ea"/>
                <a:sym typeface="+mn-lt"/>
              </a:rPr>
              <a:t>）</a:t>
            </a:r>
            <a:r>
              <a:rPr lang="en-US" altLang="zh-CN" sz="2000" dirty="0">
                <a:cs typeface="+mn-ea"/>
                <a:sym typeface="+mn-lt"/>
              </a:rPr>
              <a:t>, </a:t>
            </a:r>
            <a:r>
              <a:rPr lang="zh-CN" altLang="en-US" sz="2000" dirty="0">
                <a:cs typeface="+mn-ea"/>
                <a:sym typeface="+mn-lt"/>
              </a:rPr>
              <a:t>即</a:t>
            </a:r>
            <a:r>
              <a:rPr lang="zh-CN" altLang="en-US" sz="2000" b="1" dirty="0">
                <a:cs typeface="+mn-ea"/>
                <a:sym typeface="+mn-lt"/>
              </a:rPr>
              <a:t>正确预测为正</a:t>
            </a:r>
            <a:r>
              <a:rPr lang="zh-CN" altLang="en-US" sz="2000" dirty="0">
                <a:cs typeface="+mn-ea"/>
                <a:sym typeface="+mn-lt"/>
              </a:rPr>
              <a:t>的占</a:t>
            </a:r>
            <a:r>
              <a:rPr lang="zh-CN" altLang="en-US" sz="2000" b="1" dirty="0">
                <a:cs typeface="+mn-ea"/>
                <a:sym typeface="+mn-lt"/>
              </a:rPr>
              <a:t>全部实际为正</a:t>
            </a:r>
            <a:r>
              <a:rPr lang="zh-CN" altLang="en-US" sz="2000" dirty="0">
                <a:cs typeface="+mn-ea"/>
                <a:sym typeface="+mn-lt"/>
              </a:rPr>
              <a:t>的比例（真正正确的占所有实际为正的比例）：</a:t>
            </a: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dirty="0">
                <a:cs typeface="+mn-ea"/>
                <a:sym typeface="+mn-lt"/>
              </a:rPr>
              <a:t>  在目标检测中，</a:t>
            </a:r>
            <a:r>
              <a:rPr lang="en-US" altLang="zh-CN" sz="2000" b="1" dirty="0">
                <a:cs typeface="+mn-ea"/>
                <a:sym typeface="+mn-lt"/>
              </a:rPr>
              <a:t>TP</a:t>
            </a:r>
            <a:r>
              <a:rPr lang="zh-CN" altLang="en-US" sz="2000" dirty="0">
                <a:cs typeface="+mn-ea"/>
                <a:sym typeface="+mn-lt"/>
              </a:rPr>
              <a:t>表示</a:t>
            </a:r>
            <a:r>
              <a:rPr lang="en-US" altLang="zh-CN" sz="2000" b="1" dirty="0" err="1">
                <a:cs typeface="+mn-ea"/>
                <a:sym typeface="+mn-lt"/>
              </a:rPr>
              <a:t>IoU</a:t>
            </a:r>
            <a:r>
              <a:rPr lang="en-US" altLang="zh-CN" sz="2000" b="1" dirty="0">
                <a:cs typeface="+mn-ea"/>
                <a:sym typeface="+mn-lt"/>
              </a:rPr>
              <a:t>&gt;</a:t>
            </a:r>
            <a:r>
              <a:rPr lang="zh-CN" altLang="en-US" sz="2000" b="1" dirty="0">
                <a:cs typeface="+mn-ea"/>
                <a:sym typeface="+mn-lt"/>
              </a:rPr>
              <a:t>阈值</a:t>
            </a:r>
            <a:r>
              <a:rPr lang="zh-CN" altLang="en-US" sz="2000" dirty="0">
                <a:cs typeface="+mn-ea"/>
                <a:sym typeface="+mn-lt"/>
              </a:rPr>
              <a:t>的预测框数量；</a:t>
            </a:r>
            <a:r>
              <a:rPr lang="en-US" altLang="zh-CN" sz="2000" b="1" dirty="0">
                <a:cs typeface="+mn-ea"/>
                <a:sym typeface="+mn-lt"/>
              </a:rPr>
              <a:t>FP</a:t>
            </a:r>
            <a:r>
              <a:rPr lang="zh-CN" altLang="en-US" sz="2000" dirty="0">
                <a:cs typeface="+mn-ea"/>
                <a:sym typeface="+mn-lt"/>
              </a:rPr>
              <a:t>表示</a:t>
            </a:r>
            <a:r>
              <a:rPr lang="en-US" altLang="zh-CN" sz="2000" b="1" dirty="0" err="1">
                <a:cs typeface="+mn-ea"/>
                <a:sym typeface="+mn-lt"/>
              </a:rPr>
              <a:t>IoU</a:t>
            </a:r>
            <a:r>
              <a:rPr lang="en-US" altLang="zh-CN" sz="2000" b="1" dirty="0">
                <a:cs typeface="+mn-ea"/>
                <a:sym typeface="+mn-lt"/>
              </a:rPr>
              <a:t>&lt;</a:t>
            </a:r>
            <a:r>
              <a:rPr lang="zh-CN" altLang="en-US" sz="2000" b="1" dirty="0">
                <a:cs typeface="+mn-ea"/>
                <a:sym typeface="+mn-lt"/>
              </a:rPr>
              <a:t>阈值</a:t>
            </a:r>
            <a:r>
              <a:rPr lang="zh-CN" altLang="en-US" sz="2000" dirty="0">
                <a:cs typeface="+mn-ea"/>
                <a:sym typeface="+mn-lt"/>
              </a:rPr>
              <a:t>的预测框的数量；</a:t>
            </a:r>
            <a:r>
              <a:rPr lang="en-US" altLang="zh-CN" sz="2000" b="1" dirty="0">
                <a:cs typeface="+mn-ea"/>
                <a:sym typeface="+mn-lt"/>
              </a:rPr>
              <a:t>TN</a:t>
            </a:r>
            <a:r>
              <a:rPr lang="zh-CN" altLang="en-US" sz="2000" dirty="0">
                <a:cs typeface="+mn-ea"/>
                <a:sym typeface="+mn-lt"/>
              </a:rPr>
              <a:t>表示</a:t>
            </a:r>
            <a:r>
              <a:rPr lang="zh-CN" altLang="en-US" sz="2000" b="1" dirty="0">
                <a:cs typeface="+mn-ea"/>
                <a:sym typeface="+mn-lt"/>
              </a:rPr>
              <a:t>不包含目标</a:t>
            </a:r>
            <a:r>
              <a:rPr lang="zh-CN" altLang="en-US" sz="2000" dirty="0">
                <a:cs typeface="+mn-ea"/>
                <a:sym typeface="+mn-lt"/>
              </a:rPr>
              <a:t>的候选框的数量；</a:t>
            </a:r>
            <a:r>
              <a:rPr lang="en-US" altLang="zh-CN" sz="2000" b="1" dirty="0">
                <a:cs typeface="+mn-ea"/>
                <a:sym typeface="+mn-lt"/>
              </a:rPr>
              <a:t>FN</a:t>
            </a:r>
            <a:r>
              <a:rPr lang="zh-CN" altLang="en-US" sz="2000" dirty="0">
                <a:cs typeface="+mn-ea"/>
                <a:sym typeface="+mn-lt"/>
              </a:rPr>
              <a:t>表示</a:t>
            </a:r>
            <a:r>
              <a:rPr lang="zh-CN" altLang="en-US" sz="2000" b="1" dirty="0">
                <a:cs typeface="+mn-ea"/>
                <a:sym typeface="+mn-lt"/>
              </a:rPr>
              <a:t>没有检测到目标的数量</a:t>
            </a:r>
            <a:r>
              <a:rPr lang="zh-CN" altLang="en-US" sz="2000" dirty="0">
                <a:cs typeface="+mn-ea"/>
                <a:sym typeface="+mn-lt"/>
              </a:rPr>
              <a:t>。那么，</a:t>
            </a:r>
            <a:r>
              <a:rPr lang="en-US" altLang="zh-CN" sz="2000" dirty="0">
                <a:cs typeface="+mn-ea"/>
                <a:sym typeface="+mn-lt"/>
              </a:rPr>
              <a:t>Precision</a:t>
            </a:r>
            <a:r>
              <a:rPr lang="zh-CN" altLang="en-US" sz="2000" dirty="0">
                <a:cs typeface="+mn-ea"/>
                <a:sym typeface="+mn-lt"/>
              </a:rPr>
              <a:t>表示所有的预测框中，包含目标的框所占的比例</a:t>
            </a:r>
            <a:r>
              <a:rPr lang="en-US" altLang="zh-CN" sz="2000" dirty="0">
                <a:cs typeface="+mn-ea"/>
                <a:sym typeface="+mn-lt"/>
              </a:rPr>
              <a:t>; Recall</a:t>
            </a:r>
            <a:r>
              <a:rPr lang="zh-CN" altLang="en-US" sz="2000" dirty="0">
                <a:cs typeface="+mn-ea"/>
                <a:sym typeface="+mn-lt"/>
              </a:rPr>
              <a:t>表示</a:t>
            </a:r>
            <a:r>
              <a:rPr lang="en-US" altLang="zh-CN" sz="2000" dirty="0" err="1">
                <a:cs typeface="+mn-ea"/>
                <a:sym typeface="+mn-lt"/>
              </a:rPr>
              <a:t>IoU</a:t>
            </a:r>
            <a:r>
              <a:rPr lang="en-US" altLang="zh-CN" sz="2000" dirty="0">
                <a:cs typeface="+mn-ea"/>
                <a:sym typeface="+mn-lt"/>
              </a:rPr>
              <a:t>&gt;</a:t>
            </a:r>
            <a:r>
              <a:rPr lang="zh-CN" altLang="en-US" sz="2000" dirty="0">
                <a:cs typeface="+mn-ea"/>
                <a:sym typeface="+mn-lt"/>
              </a:rPr>
              <a:t>阈值的预测框，占目标总数的比例，</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rotWithShape="1">
          <a:blip r:embed="rId1"/>
          <a:srcRect l="35230" t="7037" r="35952" b="-3009"/>
          <a:stretch>
            <a:fillRect/>
          </a:stretch>
        </p:blipFill>
        <p:spPr>
          <a:xfrm>
            <a:off x="4899476" y="2592280"/>
            <a:ext cx="2821654" cy="701335"/>
          </a:xfrm>
          <a:prstGeom prst="rect">
            <a:avLst/>
          </a:prstGeom>
        </p:spPr>
      </p:pic>
      <p:pic>
        <p:nvPicPr>
          <p:cNvPr id="10" name="图片 9"/>
          <p:cNvPicPr>
            <a:picLocks noChangeAspect="1"/>
          </p:cNvPicPr>
          <p:nvPr/>
        </p:nvPicPr>
        <p:blipFill rotWithShape="1">
          <a:blip r:embed="rId2"/>
          <a:srcRect l="34731" t="-1891" r="37283" b="1456"/>
          <a:stretch>
            <a:fillRect/>
          </a:stretch>
        </p:blipFill>
        <p:spPr>
          <a:xfrm>
            <a:off x="4919412" y="3664890"/>
            <a:ext cx="2697630" cy="7225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825625"/>
            <a:ext cx="5864441" cy="4351338"/>
          </a:xfrm>
        </p:spPr>
        <p:txBody>
          <a:bodyPr>
            <a:normAutofit/>
          </a:bodyPr>
          <a:lstStyle/>
          <a:p>
            <a:pPr marL="0" indent="0">
              <a:buNone/>
            </a:pPr>
            <a:r>
              <a:rPr lang="en-US" altLang="zh-CN" sz="2400" b="1" dirty="0">
                <a:cs typeface="+mn-ea"/>
                <a:sym typeface="+mn-lt"/>
              </a:rPr>
              <a:t>2</a:t>
            </a:r>
            <a:r>
              <a:rPr lang="zh-CN" altLang="en-US" sz="2400" b="1" dirty="0">
                <a:cs typeface="+mn-ea"/>
                <a:sym typeface="+mn-lt"/>
              </a:rPr>
              <a:t>）</a:t>
            </a:r>
            <a:r>
              <a:rPr lang="en-US" altLang="zh-CN" sz="2400" b="1" dirty="0">
                <a:cs typeface="+mn-ea"/>
                <a:sym typeface="+mn-lt"/>
              </a:rPr>
              <a:t>PR</a:t>
            </a:r>
            <a:r>
              <a:rPr lang="zh-CN" altLang="en-US" sz="2400" b="1" dirty="0">
                <a:cs typeface="+mn-ea"/>
                <a:sym typeface="+mn-lt"/>
              </a:rPr>
              <a:t>曲线</a:t>
            </a:r>
            <a:endParaRPr lang="en-US" altLang="zh-CN" sz="2400" b="1" dirty="0">
              <a:cs typeface="+mn-ea"/>
              <a:sym typeface="+mn-lt"/>
            </a:endParaRPr>
          </a:p>
          <a:p>
            <a:pPr marL="0" indent="0">
              <a:buNone/>
            </a:pPr>
            <a:r>
              <a:rPr lang="zh-CN" altLang="en-US" sz="2000" dirty="0">
                <a:cs typeface="+mn-ea"/>
                <a:sym typeface="+mn-lt"/>
              </a:rPr>
              <a:t>一般来说，查准率和查全率是一对</a:t>
            </a:r>
            <a:r>
              <a:rPr lang="zh-CN" altLang="en-US" sz="2000" b="1" dirty="0">
                <a:cs typeface="+mn-ea"/>
                <a:sym typeface="+mn-lt"/>
              </a:rPr>
              <a:t>相互矛盾</a:t>
            </a:r>
            <a:r>
              <a:rPr lang="zh-CN" altLang="en-US" sz="2000" dirty="0">
                <a:cs typeface="+mn-ea"/>
                <a:sym typeface="+mn-lt"/>
              </a:rPr>
              <a:t>的评价指标，为了全面的评价模型的性能，需要绘制</a:t>
            </a:r>
            <a:r>
              <a:rPr lang="en-US" altLang="zh-CN" sz="2000" dirty="0">
                <a:cs typeface="+mn-ea"/>
                <a:sym typeface="+mn-lt"/>
              </a:rPr>
              <a:t>PR</a:t>
            </a:r>
            <a:r>
              <a:rPr lang="zh-CN" altLang="en-US" sz="2000" dirty="0">
                <a:cs typeface="+mn-ea"/>
                <a:sym typeface="+mn-lt"/>
              </a:rPr>
              <a:t>曲线，观察模型在不同阈值下的</a:t>
            </a:r>
            <a:r>
              <a:rPr lang="en-US" altLang="zh-CN" sz="2000" dirty="0">
                <a:cs typeface="+mn-ea"/>
                <a:sym typeface="+mn-lt"/>
              </a:rPr>
              <a:t>Precision</a:t>
            </a:r>
            <a:r>
              <a:rPr lang="zh-CN" altLang="en-US" sz="2000" dirty="0">
                <a:cs typeface="+mn-ea"/>
                <a:sym typeface="+mn-lt"/>
              </a:rPr>
              <a:t>和</a:t>
            </a:r>
            <a:r>
              <a:rPr lang="en-US" altLang="zh-CN" sz="2000" dirty="0">
                <a:cs typeface="+mn-ea"/>
                <a:sym typeface="+mn-lt"/>
              </a:rPr>
              <a:t>Recall</a:t>
            </a:r>
            <a:r>
              <a:rPr lang="zh-CN" altLang="en-US" sz="2000" dirty="0">
                <a:cs typeface="+mn-ea"/>
                <a:sym typeface="+mn-lt"/>
              </a:rPr>
              <a:t>的表现情况。</a:t>
            </a:r>
            <a:endParaRPr lang="en-US" altLang="zh-CN" sz="2000" dirty="0">
              <a:cs typeface="+mn-ea"/>
              <a:sym typeface="+mn-lt"/>
            </a:endParaRPr>
          </a:p>
          <a:p>
            <a:pPr marL="0" indent="0">
              <a:buNone/>
            </a:pPr>
            <a:r>
              <a:rPr lang="zh-CN" altLang="en-US" sz="2000" dirty="0">
                <a:cs typeface="+mn-ea"/>
                <a:sym typeface="+mn-lt"/>
              </a:rPr>
              <a:t>要绘制</a:t>
            </a:r>
            <a:r>
              <a:rPr lang="en-US" altLang="zh-CN" sz="2000" dirty="0">
                <a:cs typeface="+mn-ea"/>
                <a:sym typeface="+mn-lt"/>
              </a:rPr>
              <a:t>PR</a:t>
            </a:r>
            <a:r>
              <a:rPr lang="zh-CN" altLang="en-US" sz="2000" dirty="0">
                <a:cs typeface="+mn-ea"/>
                <a:sym typeface="+mn-lt"/>
              </a:rPr>
              <a:t>曲线，首先需要</a:t>
            </a:r>
            <a:r>
              <a:rPr lang="zh-CN" altLang="en-US" sz="2000" b="1" dirty="0">
                <a:cs typeface="+mn-ea"/>
                <a:sym typeface="+mn-lt"/>
              </a:rPr>
              <a:t>根据置信度对预测框进行降序排序</a:t>
            </a:r>
            <a:r>
              <a:rPr lang="zh-CN" altLang="en-US" sz="2000" dirty="0">
                <a:cs typeface="+mn-ea"/>
                <a:sym typeface="+mn-lt"/>
              </a:rPr>
              <a:t>，排在最前面的预测框是模型认为最可能是正例的，排在最后面的是模型认为最不可能是正例的预测。按照此顺序逐个把预测框作为正例进行预测，则每次可以计算出当前的查全率和查准率。以当前的查准率和查全率分别作为纵轴和横轴作图，就可以得到查准率和查全率曲线，简称”</a:t>
            </a:r>
            <a:r>
              <a:rPr lang="en-US" altLang="zh-CN" sz="2000" dirty="0">
                <a:cs typeface="+mn-ea"/>
                <a:sym typeface="+mn-lt"/>
              </a:rPr>
              <a:t>PR</a:t>
            </a:r>
            <a:r>
              <a:rPr lang="zh-CN" altLang="en-US" sz="2000" dirty="0">
                <a:cs typeface="+mn-ea"/>
                <a:sym typeface="+mn-lt"/>
              </a:rPr>
              <a:t>曲线”，如右图所示。</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7198185" y="2556769"/>
            <a:ext cx="4012635" cy="314252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825625"/>
            <a:ext cx="9344487" cy="4351338"/>
          </a:xfrm>
        </p:spPr>
        <p:txBody>
          <a:bodyPr>
            <a:normAutofit/>
          </a:bodyPr>
          <a:lstStyle/>
          <a:p>
            <a:pPr marL="0" indent="0">
              <a:buNone/>
            </a:pPr>
            <a:r>
              <a:rPr lang="en-US" altLang="zh-CN" sz="2400" b="1" dirty="0">
                <a:cs typeface="+mn-ea"/>
                <a:sym typeface="+mn-lt"/>
              </a:rPr>
              <a:t>3</a:t>
            </a:r>
            <a:r>
              <a:rPr lang="zh-CN" altLang="en-US" sz="2400" b="1" dirty="0">
                <a:cs typeface="+mn-ea"/>
                <a:sym typeface="+mn-lt"/>
              </a:rPr>
              <a:t>）平均精度 </a:t>
            </a:r>
            <a:r>
              <a:rPr lang="en-US" altLang="zh-CN" sz="2400" b="1" dirty="0">
                <a:cs typeface="+mn-ea"/>
                <a:sym typeface="+mn-lt"/>
              </a:rPr>
              <a:t>AP</a:t>
            </a:r>
            <a:endParaRPr lang="en-US" altLang="zh-CN" sz="2400" b="1" dirty="0">
              <a:cs typeface="+mn-ea"/>
              <a:sym typeface="+mn-lt"/>
            </a:endParaRPr>
          </a:p>
          <a:p>
            <a:pPr marL="0" indent="0">
              <a:buNone/>
            </a:pPr>
            <a:r>
              <a:rPr lang="en-US" altLang="zh-CN" sz="2000" dirty="0">
                <a:cs typeface="+mn-ea"/>
                <a:sym typeface="+mn-lt"/>
              </a:rPr>
              <a:t>PR</a:t>
            </a:r>
            <a:r>
              <a:rPr lang="zh-CN" altLang="en-US" sz="2000" dirty="0">
                <a:cs typeface="+mn-ea"/>
                <a:sym typeface="+mn-lt"/>
              </a:rPr>
              <a:t>曲线能够直观的反映出模型在不同阈值下查全率和查准率的性能表现。在进行比较时，如果一条曲线在另一条曲线的</a:t>
            </a:r>
            <a:r>
              <a:rPr lang="zh-CN" altLang="en-US" sz="2000" b="1" dirty="0">
                <a:cs typeface="+mn-ea"/>
                <a:sym typeface="+mn-lt"/>
              </a:rPr>
              <a:t>上方</a:t>
            </a:r>
            <a:r>
              <a:rPr lang="zh-CN" altLang="en-US" sz="2000" dirty="0">
                <a:cs typeface="+mn-ea"/>
                <a:sym typeface="+mn-lt"/>
              </a:rPr>
              <a:t>，如上图的曲线</a:t>
            </a:r>
            <a:r>
              <a:rPr lang="en-US" altLang="zh-CN" sz="2000" dirty="0">
                <a:cs typeface="+mn-ea"/>
                <a:sym typeface="+mn-lt"/>
              </a:rPr>
              <a:t>A</a:t>
            </a:r>
            <a:r>
              <a:rPr lang="zh-CN" altLang="en-US" sz="2000" dirty="0">
                <a:cs typeface="+mn-ea"/>
                <a:sym typeface="+mn-lt"/>
              </a:rPr>
              <a:t>和</a:t>
            </a:r>
            <a:r>
              <a:rPr lang="en-US" altLang="zh-CN" sz="2000" dirty="0">
                <a:cs typeface="+mn-ea"/>
                <a:sym typeface="+mn-lt"/>
              </a:rPr>
              <a:t>C</a:t>
            </a:r>
            <a:r>
              <a:rPr lang="zh-CN" altLang="en-US" sz="2000" dirty="0">
                <a:cs typeface="+mn-ea"/>
                <a:sym typeface="+mn-lt"/>
              </a:rPr>
              <a:t>，那么可以说模型</a:t>
            </a:r>
            <a:r>
              <a:rPr lang="en-US" altLang="zh-CN" sz="2000" dirty="0">
                <a:cs typeface="+mn-ea"/>
                <a:sym typeface="+mn-lt"/>
              </a:rPr>
              <a:t>A</a:t>
            </a:r>
            <a:r>
              <a:rPr lang="zh-CN" altLang="en-US" sz="2000" dirty="0">
                <a:cs typeface="+mn-ea"/>
                <a:sym typeface="+mn-lt"/>
              </a:rPr>
              <a:t>的性能要</a:t>
            </a:r>
            <a:r>
              <a:rPr lang="zh-CN" altLang="en-US" sz="2000" b="1" dirty="0">
                <a:cs typeface="+mn-ea"/>
                <a:sym typeface="+mn-lt"/>
              </a:rPr>
              <a:t>优于</a:t>
            </a:r>
            <a:r>
              <a:rPr lang="zh-CN" altLang="en-US" sz="2000" dirty="0">
                <a:cs typeface="+mn-ea"/>
                <a:sym typeface="+mn-lt"/>
              </a:rPr>
              <a:t>模型</a:t>
            </a:r>
            <a:r>
              <a:rPr lang="en-US" altLang="zh-CN" sz="2000" dirty="0">
                <a:cs typeface="+mn-ea"/>
                <a:sym typeface="+mn-lt"/>
              </a:rPr>
              <a:t>C</a:t>
            </a:r>
            <a:r>
              <a:rPr lang="zh-CN" altLang="en-US" sz="2000" dirty="0">
                <a:cs typeface="+mn-ea"/>
                <a:sym typeface="+mn-lt"/>
              </a:rPr>
              <a:t>。如果两条曲线发生了交叉，如曲线</a:t>
            </a:r>
            <a:r>
              <a:rPr lang="en-US" altLang="zh-CN" sz="2000" dirty="0">
                <a:cs typeface="+mn-ea"/>
                <a:sym typeface="+mn-lt"/>
              </a:rPr>
              <a:t>A</a:t>
            </a:r>
            <a:r>
              <a:rPr lang="zh-CN" altLang="en-US" sz="2000" dirty="0">
                <a:cs typeface="+mn-ea"/>
                <a:sym typeface="+mn-lt"/>
              </a:rPr>
              <a:t>和</a:t>
            </a:r>
            <a:r>
              <a:rPr lang="en-US" altLang="zh-CN" sz="2000" dirty="0">
                <a:cs typeface="+mn-ea"/>
                <a:sym typeface="+mn-lt"/>
              </a:rPr>
              <a:t>B</a:t>
            </a:r>
            <a:r>
              <a:rPr lang="zh-CN" altLang="en-US" sz="2000" dirty="0">
                <a:cs typeface="+mn-ea"/>
                <a:sym typeface="+mn-lt"/>
              </a:rPr>
              <a:t>，则难以直接断言模型</a:t>
            </a:r>
            <a:r>
              <a:rPr lang="en-US" altLang="zh-CN" sz="2000" dirty="0">
                <a:cs typeface="+mn-ea"/>
                <a:sym typeface="+mn-lt"/>
              </a:rPr>
              <a:t>A</a:t>
            </a:r>
            <a:r>
              <a:rPr lang="zh-CN" altLang="en-US" sz="2000" dirty="0">
                <a:cs typeface="+mn-ea"/>
                <a:sym typeface="+mn-lt"/>
              </a:rPr>
              <a:t>和模型</a:t>
            </a:r>
            <a:r>
              <a:rPr lang="en-US" altLang="zh-CN" sz="2000" dirty="0">
                <a:cs typeface="+mn-ea"/>
                <a:sym typeface="+mn-lt"/>
              </a:rPr>
              <a:t>B</a:t>
            </a:r>
            <a:r>
              <a:rPr lang="zh-CN" altLang="en-US" sz="2000" dirty="0">
                <a:cs typeface="+mn-ea"/>
                <a:sym typeface="+mn-lt"/>
              </a:rPr>
              <a:t>的优劣。但是可以通过</a:t>
            </a:r>
            <a:r>
              <a:rPr lang="zh-CN" altLang="en-US" sz="2000" b="1" dirty="0">
                <a:cs typeface="+mn-ea"/>
                <a:sym typeface="+mn-lt"/>
              </a:rPr>
              <a:t>比较</a:t>
            </a:r>
            <a:r>
              <a:rPr lang="en-US" altLang="zh-CN" sz="2000" b="1" dirty="0">
                <a:cs typeface="+mn-ea"/>
                <a:sym typeface="+mn-lt"/>
              </a:rPr>
              <a:t>PR</a:t>
            </a:r>
            <a:r>
              <a:rPr lang="zh-CN" altLang="en-US" sz="2000" b="1" dirty="0">
                <a:cs typeface="+mn-ea"/>
                <a:sym typeface="+mn-lt"/>
              </a:rPr>
              <a:t>曲线下面积的大小</a:t>
            </a:r>
            <a:r>
              <a:rPr lang="zh-CN" altLang="en-US" sz="2000" dirty="0">
                <a:cs typeface="+mn-ea"/>
                <a:sym typeface="+mn-lt"/>
              </a:rPr>
              <a:t>，它在一定程度上衡量了模型在取得查准率和查全率上取得相对”双高”的比例。</a:t>
            </a:r>
            <a:endParaRPr lang="en-US" altLang="zh-CN" sz="2000" dirty="0">
              <a:cs typeface="+mn-ea"/>
              <a:sym typeface="+mn-lt"/>
            </a:endParaRPr>
          </a:p>
          <a:p>
            <a:pPr marL="0" indent="0">
              <a:buNone/>
            </a:pPr>
            <a:r>
              <a:rPr lang="en-US" altLang="zh-CN" sz="2000" dirty="0">
                <a:cs typeface="+mn-ea"/>
                <a:sym typeface="+mn-lt"/>
              </a:rPr>
              <a:t>AP</a:t>
            </a:r>
            <a:r>
              <a:rPr lang="zh-CN" altLang="en-US" sz="2000" dirty="0">
                <a:cs typeface="+mn-ea"/>
                <a:sym typeface="+mn-lt"/>
              </a:rPr>
              <a:t>计算公式定义如下：</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rotWithShape="1">
          <a:blip r:embed="rId1"/>
          <a:srcRect l="39395" t="1" r="38284" b="3687"/>
          <a:stretch>
            <a:fillRect/>
          </a:stretch>
        </p:blipFill>
        <p:spPr>
          <a:xfrm>
            <a:off x="4338827" y="4224415"/>
            <a:ext cx="2485274" cy="8003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825625"/>
            <a:ext cx="5740153" cy="4351338"/>
          </a:xfrm>
        </p:spPr>
        <p:txBody>
          <a:bodyPr>
            <a:normAutofit/>
          </a:bodyPr>
          <a:lstStyle/>
          <a:p>
            <a:pPr marL="0" indent="0">
              <a:buNone/>
            </a:pPr>
            <a:r>
              <a:rPr lang="en-US" altLang="zh-CN" sz="2400" b="1" dirty="0">
                <a:cs typeface="+mn-ea"/>
                <a:sym typeface="+mn-lt"/>
              </a:rPr>
              <a:t>4</a:t>
            </a:r>
            <a:r>
              <a:rPr lang="zh-CN" altLang="en-US" sz="2400" b="1" dirty="0">
                <a:cs typeface="+mn-ea"/>
                <a:sym typeface="+mn-lt"/>
              </a:rPr>
              <a:t>）</a:t>
            </a:r>
            <a:r>
              <a:rPr lang="en-US" altLang="zh-CN" sz="2400" b="1" dirty="0">
                <a:cs typeface="+mn-ea"/>
                <a:sym typeface="+mn-lt"/>
              </a:rPr>
              <a:t>Interpolated AP</a:t>
            </a:r>
            <a:endParaRPr lang="en-US" altLang="zh-CN" sz="2400" b="1" dirty="0">
              <a:cs typeface="+mn-ea"/>
              <a:sym typeface="+mn-lt"/>
            </a:endParaRPr>
          </a:p>
          <a:p>
            <a:pPr marL="0" indent="0">
              <a:buNone/>
            </a:pPr>
            <a:r>
              <a:rPr lang="zh-CN" altLang="en-US" sz="2000" dirty="0">
                <a:cs typeface="+mn-ea"/>
                <a:sym typeface="+mn-lt"/>
              </a:rPr>
              <a:t>由于样本数量有限，实际得到的</a:t>
            </a:r>
            <a:r>
              <a:rPr lang="en-US" altLang="zh-CN" sz="2000" dirty="0">
                <a:cs typeface="+mn-ea"/>
                <a:sym typeface="+mn-lt"/>
              </a:rPr>
              <a:t>PR</a:t>
            </a:r>
            <a:r>
              <a:rPr lang="zh-CN" altLang="en-US" sz="2000" dirty="0">
                <a:cs typeface="+mn-ea"/>
                <a:sym typeface="+mn-lt"/>
              </a:rPr>
              <a:t>曲线往往呈现锯齿状，因此，在计算</a:t>
            </a:r>
            <a:r>
              <a:rPr lang="en-US" altLang="zh-CN" sz="2000" dirty="0">
                <a:cs typeface="+mn-ea"/>
                <a:sym typeface="+mn-lt"/>
              </a:rPr>
              <a:t>AP </a:t>
            </a:r>
            <a:r>
              <a:rPr lang="zh-CN" altLang="en-US" sz="2000" dirty="0">
                <a:cs typeface="+mn-ea"/>
                <a:sym typeface="+mn-lt"/>
              </a:rPr>
              <a:t>之前，通常需要借助差值策略，平滑锯齿状的曲线。</a:t>
            </a:r>
            <a:endParaRPr lang="en-US" altLang="zh-CN" sz="2000" dirty="0">
              <a:cs typeface="+mn-ea"/>
              <a:sym typeface="+mn-lt"/>
            </a:endParaRPr>
          </a:p>
          <a:p>
            <a:pPr marL="0" indent="0">
              <a:buNone/>
            </a:pPr>
            <a:r>
              <a:rPr lang="zh-CN" altLang="en-US" sz="2000" dirty="0">
                <a:cs typeface="+mn-ea"/>
                <a:sym typeface="+mn-lt"/>
              </a:rPr>
              <a:t>一般地，对于每处召回率对应的精度，</a:t>
            </a:r>
            <a:r>
              <a:rPr lang="zh-CN" altLang="en-US" sz="2000" b="1" dirty="0">
                <a:cs typeface="+mn-ea"/>
                <a:sym typeface="+mn-lt"/>
              </a:rPr>
              <a:t>使用右侧召回率对应的最大精度来代替</a:t>
            </a:r>
            <a:r>
              <a:rPr lang="zh-CN" altLang="en-US" sz="2000" dirty="0">
                <a:cs typeface="+mn-ea"/>
                <a:sym typeface="+mn-lt"/>
              </a:rPr>
              <a:t>。那么锯齿曲线就会变成单调递减的曲线，计算的</a:t>
            </a:r>
            <a:r>
              <a:rPr lang="en-US" altLang="zh-CN" sz="2000" dirty="0">
                <a:cs typeface="+mn-ea"/>
                <a:sym typeface="+mn-lt"/>
              </a:rPr>
              <a:t>AP</a:t>
            </a:r>
            <a:r>
              <a:rPr lang="zh-CN" altLang="en-US" sz="2000" dirty="0">
                <a:cs typeface="+mn-ea"/>
                <a:sym typeface="+mn-lt"/>
              </a:rPr>
              <a:t>值将不太容易受到排名中微小干扰的影响，如右图所示。</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6485106" y="2050233"/>
            <a:ext cx="5049669" cy="281094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825625"/>
            <a:ext cx="4239827" cy="4351338"/>
          </a:xfrm>
        </p:spPr>
        <p:txBody>
          <a:bodyPr>
            <a:normAutofit/>
          </a:bodyPr>
          <a:lstStyle/>
          <a:p>
            <a:pPr marL="0" indent="0">
              <a:buNone/>
            </a:pPr>
            <a:r>
              <a:rPr lang="en-US" altLang="zh-CN" sz="2400" b="1" dirty="0">
                <a:cs typeface="+mn-ea"/>
                <a:sym typeface="+mn-lt"/>
              </a:rPr>
              <a:t>5</a:t>
            </a:r>
            <a:r>
              <a:rPr lang="zh-CN" altLang="en-US" sz="2400" b="1" dirty="0">
                <a:cs typeface="+mn-ea"/>
                <a:sym typeface="+mn-lt"/>
              </a:rPr>
              <a:t>）</a:t>
            </a:r>
            <a:r>
              <a:rPr lang="en-US" altLang="zh-CN" sz="2400" b="1" dirty="0">
                <a:cs typeface="+mn-ea"/>
                <a:sym typeface="+mn-lt"/>
              </a:rPr>
              <a:t>AP</a:t>
            </a:r>
            <a:endParaRPr lang="en-US" altLang="zh-CN" sz="2400" b="1" dirty="0">
              <a:cs typeface="+mn-ea"/>
              <a:sym typeface="+mn-lt"/>
            </a:endParaRPr>
          </a:p>
          <a:p>
            <a:pPr marL="0" indent="0">
              <a:buNone/>
            </a:pPr>
            <a:r>
              <a:rPr lang="zh-CN" altLang="en-US" sz="2000" dirty="0">
                <a:cs typeface="+mn-ea"/>
                <a:sym typeface="+mn-lt"/>
              </a:rPr>
              <a:t>对于</a:t>
            </a:r>
            <a:r>
              <a:rPr lang="en-US" altLang="zh-CN" sz="2000" dirty="0">
                <a:cs typeface="+mn-ea"/>
                <a:sym typeface="+mn-lt"/>
              </a:rPr>
              <a:t>Pascal VOC 2010-2012</a:t>
            </a:r>
            <a:r>
              <a:rPr lang="zh-CN" altLang="en-US" sz="2000" dirty="0">
                <a:cs typeface="+mn-ea"/>
                <a:sym typeface="+mn-lt"/>
              </a:rPr>
              <a:t>比赛，评价指标采集所有最大精度开始下降的点，将曲线下的面积转换为若干梯形面积的和，如右图所示。</a:t>
            </a:r>
            <a:endParaRPr lang="en-US" altLang="zh-CN" sz="2000" dirty="0">
              <a:cs typeface="+mn-ea"/>
              <a:sym typeface="+mn-lt"/>
            </a:endParaRPr>
          </a:p>
          <a:p>
            <a:pPr marL="0" indent="0">
              <a:buNone/>
            </a:pPr>
            <a:r>
              <a:rPr lang="zh-CN" altLang="en-US" sz="2000" dirty="0">
                <a:cs typeface="+mn-ea"/>
                <a:sym typeface="+mn-lt"/>
              </a:rPr>
              <a:t>计算公式如下：</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5601736" y="2324904"/>
            <a:ext cx="5544664" cy="2627835"/>
          </a:xfrm>
          <a:prstGeom prst="rect">
            <a:avLst/>
          </a:prstGeom>
        </p:spPr>
      </p:pic>
      <p:pic>
        <p:nvPicPr>
          <p:cNvPr id="9" name="图片 8"/>
          <p:cNvPicPr>
            <a:picLocks noChangeAspect="1"/>
          </p:cNvPicPr>
          <p:nvPr/>
        </p:nvPicPr>
        <p:blipFill rotWithShape="1">
          <a:blip r:embed="rId2"/>
          <a:srcRect l="31212" r="32308"/>
          <a:stretch>
            <a:fillRect/>
          </a:stretch>
        </p:blipFill>
        <p:spPr>
          <a:xfrm>
            <a:off x="1361909" y="4189309"/>
            <a:ext cx="3703741" cy="113516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lnSpcReduction="10000"/>
          </a:bodyPr>
          <a:lstStyle/>
          <a:p>
            <a:pPr marL="0" indent="0">
              <a:buNone/>
            </a:pPr>
            <a:r>
              <a:rPr lang="en-US" altLang="zh-CN" sz="2400" b="1" dirty="0">
                <a:cs typeface="+mn-ea"/>
                <a:sym typeface="+mn-lt"/>
              </a:rPr>
              <a:t>6</a:t>
            </a:r>
            <a:r>
              <a:rPr lang="zh-CN" altLang="en-US" sz="2400" b="1" dirty="0">
                <a:cs typeface="+mn-ea"/>
                <a:sym typeface="+mn-lt"/>
              </a:rPr>
              <a:t>）</a:t>
            </a:r>
            <a:r>
              <a:rPr lang="en-US" altLang="zh-CN" sz="2400" b="1" dirty="0">
                <a:cs typeface="+mn-ea"/>
                <a:sym typeface="+mn-lt"/>
              </a:rPr>
              <a:t>COCO AP</a:t>
            </a:r>
            <a:endParaRPr lang="en-US" altLang="zh-CN" sz="2400" b="1" dirty="0">
              <a:cs typeface="+mn-ea"/>
              <a:sym typeface="+mn-lt"/>
            </a:endParaRPr>
          </a:p>
          <a:p>
            <a:pPr marL="0" indent="0">
              <a:buNone/>
            </a:pPr>
            <a:r>
              <a:rPr lang="zh-CN" altLang="en-US" sz="2000" dirty="0">
                <a:cs typeface="+mn-ea"/>
                <a:sym typeface="+mn-lt"/>
              </a:rPr>
              <a:t>以下是</a:t>
            </a:r>
            <a:r>
              <a:rPr lang="en-US" altLang="zh-CN" sz="2000" dirty="0">
                <a:cs typeface="+mn-ea"/>
                <a:sym typeface="+mn-lt"/>
              </a:rPr>
              <a:t>COCO</a:t>
            </a:r>
            <a:r>
              <a:rPr lang="zh-CN" altLang="en-US" sz="2000" dirty="0">
                <a:cs typeface="+mn-ea"/>
                <a:sym typeface="+mn-lt"/>
              </a:rPr>
              <a:t>数据集所选取的一些其他指标，感兴趣的读者可进一步了解。</a:t>
            </a:r>
            <a:endParaRPr lang="en-US" altLang="zh-CN" sz="2000" dirty="0">
              <a:cs typeface="+mn-ea"/>
              <a:sym typeface="+mn-lt"/>
            </a:endParaRPr>
          </a:p>
          <a:p>
            <a:endParaRPr lang="en-US" altLang="zh-CN" sz="2400" dirty="0">
              <a:cs typeface="+mn-ea"/>
              <a:sym typeface="+mn-lt"/>
            </a:endParaRPr>
          </a:p>
          <a:p>
            <a:endParaRPr lang="en-US" altLang="zh-CN" sz="2400" dirty="0">
              <a:cs typeface="+mn-ea"/>
              <a:sym typeface="+mn-lt"/>
            </a:endParaRPr>
          </a:p>
          <a:p>
            <a:endParaRPr lang="en-US" altLang="zh-CN" sz="2400" dirty="0">
              <a:cs typeface="+mn-ea"/>
              <a:sym typeface="+mn-lt"/>
            </a:endParaRPr>
          </a:p>
          <a:p>
            <a:endParaRPr lang="en-US" altLang="zh-CN" sz="2400" dirty="0">
              <a:cs typeface="+mn-ea"/>
              <a:sym typeface="+mn-lt"/>
            </a:endParaRPr>
          </a:p>
          <a:p>
            <a:endParaRPr lang="en-US" altLang="zh-CN" sz="2400" dirty="0">
              <a:cs typeface="+mn-ea"/>
              <a:sym typeface="+mn-lt"/>
            </a:endParaRPr>
          </a:p>
          <a:p>
            <a:pPr marL="0" indent="0">
              <a:buNone/>
            </a:pPr>
            <a:endParaRPr lang="en-US" altLang="zh-CN" sz="2400" b="1" dirty="0">
              <a:cs typeface="+mn-ea"/>
              <a:sym typeface="+mn-lt"/>
            </a:endParaRPr>
          </a:p>
          <a:p>
            <a:pPr marL="0" indent="0">
              <a:buNone/>
            </a:pPr>
            <a:r>
              <a:rPr lang="en-US" altLang="zh-CN" sz="2400" b="1" dirty="0">
                <a:cs typeface="+mn-ea"/>
                <a:sym typeface="+mn-lt"/>
              </a:rPr>
              <a:t>7</a:t>
            </a:r>
            <a:r>
              <a:rPr lang="zh-CN" altLang="en-US" sz="2400" b="1" dirty="0">
                <a:cs typeface="+mn-ea"/>
                <a:sym typeface="+mn-lt"/>
              </a:rPr>
              <a:t>）</a:t>
            </a:r>
            <a:r>
              <a:rPr lang="en-US" altLang="zh-CN" sz="2400" b="1" dirty="0" err="1">
                <a:cs typeface="+mn-ea"/>
                <a:sym typeface="+mn-lt"/>
              </a:rPr>
              <a:t>mAP</a:t>
            </a:r>
            <a:endParaRPr lang="en-US" altLang="zh-CN" sz="2400" b="1" dirty="0">
              <a:cs typeface="+mn-ea"/>
              <a:sym typeface="+mn-lt"/>
            </a:endParaRPr>
          </a:p>
          <a:p>
            <a:pPr marL="0" indent="0">
              <a:buNone/>
            </a:pPr>
            <a:r>
              <a:rPr lang="zh-CN" altLang="en-US" sz="2000" dirty="0">
                <a:cs typeface="+mn-ea"/>
                <a:sym typeface="+mn-lt"/>
              </a:rPr>
              <a:t>对于每个类别，都可以计算一个</a:t>
            </a:r>
            <a:r>
              <a:rPr lang="en-US" altLang="zh-CN" sz="2000" dirty="0">
                <a:cs typeface="+mn-ea"/>
                <a:sym typeface="+mn-lt"/>
              </a:rPr>
              <a:t>AP</a:t>
            </a:r>
            <a:r>
              <a:rPr lang="zh-CN" altLang="en-US" sz="2000" dirty="0">
                <a:cs typeface="+mn-ea"/>
                <a:sym typeface="+mn-lt"/>
              </a:rPr>
              <a:t>数值，</a:t>
            </a:r>
            <a:r>
              <a:rPr lang="en-US" altLang="zh-CN" sz="2000" dirty="0" err="1">
                <a:cs typeface="+mn-ea"/>
                <a:sym typeface="+mn-lt"/>
              </a:rPr>
              <a:t>mAP</a:t>
            </a:r>
            <a:r>
              <a:rPr lang="zh-CN" altLang="en-US" sz="2000" dirty="0">
                <a:cs typeface="+mn-ea"/>
                <a:sym typeface="+mn-lt"/>
              </a:rPr>
              <a:t>就是</a:t>
            </a:r>
            <a:r>
              <a:rPr lang="zh-CN" altLang="en-US" sz="2000" b="1" dirty="0">
                <a:cs typeface="+mn-ea"/>
                <a:sym typeface="+mn-lt"/>
              </a:rPr>
              <a:t>对所有类别的</a:t>
            </a:r>
            <a:r>
              <a:rPr lang="en-US" altLang="zh-CN" sz="2000" b="1" dirty="0">
                <a:cs typeface="+mn-ea"/>
                <a:sym typeface="+mn-lt"/>
              </a:rPr>
              <a:t>AP</a:t>
            </a:r>
            <a:r>
              <a:rPr lang="zh-CN" altLang="en-US" sz="2000" b="1" dirty="0">
                <a:cs typeface="+mn-ea"/>
                <a:sym typeface="+mn-lt"/>
              </a:rPr>
              <a:t>值的平均</a:t>
            </a:r>
            <a:r>
              <a:rPr lang="zh-CN" altLang="en-US" sz="2000" dirty="0">
                <a:cs typeface="+mn-ea"/>
                <a:sym typeface="+mn-lt"/>
              </a:rPr>
              <a:t>。此外，不同的</a:t>
            </a:r>
            <a:r>
              <a:rPr lang="en-US" altLang="zh-CN" sz="2000" dirty="0" err="1">
                <a:cs typeface="+mn-ea"/>
                <a:sym typeface="+mn-lt"/>
              </a:rPr>
              <a:t>mAP</a:t>
            </a:r>
            <a:r>
              <a:rPr lang="zh-CN" altLang="en-US" sz="2000" dirty="0">
                <a:cs typeface="+mn-ea"/>
                <a:sym typeface="+mn-lt"/>
              </a:rPr>
              <a:t>计算方式的区别，主要在于</a:t>
            </a:r>
            <a:r>
              <a:rPr lang="en-US" altLang="zh-CN" sz="2000" dirty="0">
                <a:cs typeface="+mn-ea"/>
                <a:sym typeface="+mn-lt"/>
              </a:rPr>
              <a:t>AP</a:t>
            </a:r>
            <a:r>
              <a:rPr lang="zh-CN" altLang="en-US" sz="2000" dirty="0">
                <a:cs typeface="+mn-ea"/>
                <a:sym typeface="+mn-lt"/>
              </a:rPr>
              <a:t>的计算，读者需要着重理解</a:t>
            </a:r>
            <a:r>
              <a:rPr lang="en-US" altLang="zh-CN" sz="2000" dirty="0">
                <a:cs typeface="+mn-ea"/>
                <a:sym typeface="+mn-lt"/>
              </a:rPr>
              <a:t>AP</a:t>
            </a:r>
            <a:r>
              <a:rPr lang="zh-CN" altLang="en-US" sz="2000" dirty="0">
                <a:cs typeface="+mn-ea"/>
                <a:sym typeface="+mn-lt"/>
              </a:rPr>
              <a:t>的计算。</a:t>
            </a:r>
            <a:endParaRPr lang="en-US" altLang="zh-CN"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2839450" y="2645960"/>
            <a:ext cx="5669057" cy="254288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r>
              <a:rPr lang="en-US" altLang="zh-CN" sz="2400" b="1" dirty="0" err="1">
                <a:cs typeface="+mn-ea"/>
                <a:sym typeface="+mn-lt"/>
              </a:rPr>
              <a:t>mAP</a:t>
            </a:r>
            <a:r>
              <a:rPr lang="zh-CN" altLang="en-US" sz="2400" b="1" dirty="0">
                <a:cs typeface="+mn-ea"/>
                <a:sym typeface="+mn-lt"/>
              </a:rPr>
              <a:t>计算过程：</a:t>
            </a:r>
            <a:endParaRPr lang="en-US" altLang="zh-CN" sz="2400" b="1" dirty="0">
              <a:cs typeface="+mn-ea"/>
              <a:sym typeface="+mn-lt"/>
            </a:endParaRPr>
          </a:p>
          <a:p>
            <a:pPr marL="0" indent="0">
              <a:buNone/>
            </a:pPr>
            <a:r>
              <a:rPr lang="en-US" altLang="zh-CN" sz="2400" dirty="0">
                <a:cs typeface="+mn-ea"/>
                <a:sym typeface="+mn-lt"/>
              </a:rPr>
              <a:t>1</a:t>
            </a:r>
            <a:r>
              <a:rPr lang="zh-CN" altLang="en-US" sz="2400" dirty="0">
                <a:cs typeface="+mn-ea"/>
                <a:sym typeface="+mn-lt"/>
              </a:rPr>
              <a:t>）根据</a:t>
            </a:r>
            <a:r>
              <a:rPr lang="en-US" altLang="zh-CN" sz="2400" dirty="0">
                <a:cs typeface="+mn-ea"/>
                <a:sym typeface="+mn-lt"/>
              </a:rPr>
              <a:t>IOU</a:t>
            </a:r>
            <a:r>
              <a:rPr lang="zh-CN" altLang="en-US" sz="2400" dirty="0">
                <a:cs typeface="+mn-ea"/>
                <a:sym typeface="+mn-lt"/>
              </a:rPr>
              <a:t>计判定</a:t>
            </a:r>
            <a:r>
              <a:rPr lang="en-US" altLang="zh-CN" sz="2400" dirty="0">
                <a:cs typeface="+mn-ea"/>
                <a:sym typeface="+mn-lt"/>
              </a:rPr>
              <a:t>TP</a:t>
            </a:r>
            <a:r>
              <a:rPr lang="zh-CN" altLang="en-US" sz="2400" dirty="0">
                <a:cs typeface="+mn-ea"/>
                <a:sym typeface="+mn-lt"/>
              </a:rPr>
              <a:t>， </a:t>
            </a:r>
            <a:r>
              <a:rPr lang="en-US" altLang="zh-CN" sz="2400" dirty="0">
                <a:cs typeface="+mn-ea"/>
                <a:sym typeface="+mn-lt"/>
              </a:rPr>
              <a:t>FP</a:t>
            </a:r>
            <a:endParaRPr lang="en-US" altLang="zh-CN" sz="2400" dirty="0">
              <a:cs typeface="+mn-ea"/>
              <a:sym typeface="+mn-lt"/>
            </a:endParaRPr>
          </a:p>
          <a:p>
            <a:pPr marL="0" indent="0">
              <a:buNone/>
            </a:pPr>
            <a:r>
              <a:rPr lang="en-US" altLang="zh-CN" sz="2400" dirty="0">
                <a:cs typeface="+mn-ea"/>
                <a:sym typeface="+mn-lt"/>
              </a:rPr>
              <a:t>2</a:t>
            </a:r>
            <a:r>
              <a:rPr lang="zh-CN" altLang="en-US" sz="2400" dirty="0">
                <a:cs typeface="+mn-ea"/>
                <a:sym typeface="+mn-lt"/>
              </a:rPr>
              <a:t>）计算</a:t>
            </a:r>
            <a:r>
              <a:rPr lang="en-US" altLang="zh-CN" sz="2400" dirty="0">
                <a:cs typeface="+mn-ea"/>
                <a:sym typeface="+mn-lt"/>
              </a:rPr>
              <a:t>Recall</a:t>
            </a:r>
            <a:r>
              <a:rPr lang="zh-CN" altLang="en-US" sz="2400" dirty="0">
                <a:cs typeface="+mn-ea"/>
                <a:sym typeface="+mn-lt"/>
              </a:rPr>
              <a:t>和</a:t>
            </a:r>
            <a:r>
              <a:rPr lang="en-US" altLang="zh-CN" sz="2400" dirty="0" err="1">
                <a:cs typeface="+mn-ea"/>
                <a:sym typeface="+mn-lt"/>
              </a:rPr>
              <a:t>Precisison</a:t>
            </a:r>
            <a:endParaRPr lang="en-US" altLang="zh-CN" sz="2400" dirty="0">
              <a:cs typeface="+mn-ea"/>
              <a:sym typeface="+mn-lt"/>
            </a:endParaRPr>
          </a:p>
          <a:p>
            <a:pPr marL="0" indent="0">
              <a:buNone/>
            </a:pPr>
            <a:r>
              <a:rPr lang="en-US" altLang="zh-CN" sz="2400" dirty="0">
                <a:cs typeface="+mn-ea"/>
                <a:sym typeface="+mn-lt"/>
              </a:rPr>
              <a:t>3</a:t>
            </a:r>
            <a:r>
              <a:rPr lang="zh-CN" altLang="en-US" sz="2400" dirty="0">
                <a:cs typeface="+mn-ea"/>
                <a:sym typeface="+mn-lt"/>
              </a:rPr>
              <a:t>）计算</a:t>
            </a:r>
            <a:r>
              <a:rPr lang="en-US" altLang="zh-CN" sz="2400" dirty="0">
                <a:cs typeface="+mn-ea"/>
                <a:sym typeface="+mn-lt"/>
              </a:rPr>
              <a:t>AP</a:t>
            </a:r>
            <a:endParaRPr lang="en-US" altLang="zh-CN" sz="2400" dirty="0">
              <a:cs typeface="+mn-ea"/>
              <a:sym typeface="+mn-lt"/>
            </a:endParaRPr>
          </a:p>
          <a:p>
            <a:pPr marL="0" indent="0">
              <a:buNone/>
            </a:pPr>
            <a:r>
              <a:rPr lang="en-US" altLang="zh-CN" sz="2400" dirty="0">
                <a:cs typeface="+mn-ea"/>
                <a:sym typeface="+mn-lt"/>
              </a:rPr>
              <a:t>4</a:t>
            </a:r>
            <a:r>
              <a:rPr lang="zh-CN" altLang="en-US" sz="2400" dirty="0">
                <a:cs typeface="+mn-ea"/>
                <a:sym typeface="+mn-lt"/>
              </a:rPr>
              <a:t>）平均各个类别的</a:t>
            </a:r>
            <a:r>
              <a:rPr lang="en-US" altLang="zh-CN" sz="2400" dirty="0">
                <a:cs typeface="+mn-ea"/>
                <a:sym typeface="+mn-lt"/>
              </a:rPr>
              <a:t>AP</a:t>
            </a:r>
            <a:r>
              <a:rPr lang="zh-CN" altLang="en-US" sz="2400" dirty="0">
                <a:cs typeface="+mn-ea"/>
                <a:sym typeface="+mn-lt"/>
              </a:rPr>
              <a:t>就可以得到</a:t>
            </a:r>
            <a:r>
              <a:rPr lang="en-US" altLang="zh-CN" sz="2400" dirty="0" err="1">
                <a:cs typeface="+mn-ea"/>
                <a:sym typeface="+mn-lt"/>
              </a:rPr>
              <a:t>mAP</a:t>
            </a:r>
            <a:endParaRPr lang="zh-CN" altLang="en-US" sz="24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38200" y="1771651"/>
            <a:ext cx="10515600" cy="4646612"/>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6.1 </a:t>
            </a:r>
            <a:r>
              <a:rPr lang="zh-CN" altLang="en-US" dirty="0">
                <a:solidFill>
                  <a:schemeClr val="bg1"/>
                </a:solidFill>
                <a:latin typeface="+mn-lt"/>
                <a:ea typeface="+mn-ea"/>
                <a:cs typeface="+mn-ea"/>
                <a:sym typeface="+mn-lt"/>
              </a:rPr>
              <a:t>目标检测的基本概念</a:t>
            </a:r>
            <a:endParaRPr lang="zh-CN" altLang="en-US" dirty="0">
              <a:latin typeface="+mn-lt"/>
              <a:ea typeface="+mn-ea"/>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12" name="内容占位符 11"/>
          <p:cNvPicPr>
            <a:picLocks noGrp="1" noChangeAspect="1"/>
          </p:cNvPicPr>
          <p:nvPr>
            <p:ph idx="1"/>
          </p:nvPr>
        </p:nvPicPr>
        <p:blipFill rotWithShape="1">
          <a:blip r:embed="rId1"/>
          <a:srcRect l="2654" r="26604" b="49004"/>
          <a:stretch>
            <a:fillRect/>
          </a:stretch>
        </p:blipFill>
        <p:spPr>
          <a:xfrm>
            <a:off x="1004470" y="1771651"/>
            <a:ext cx="4293552" cy="4646611"/>
          </a:xfrm>
        </p:spPr>
      </p:pic>
      <p:pic>
        <p:nvPicPr>
          <p:cNvPr id="13" name="内容占位符 11"/>
          <p:cNvPicPr>
            <a:picLocks noChangeAspect="1"/>
          </p:cNvPicPr>
          <p:nvPr/>
        </p:nvPicPr>
        <p:blipFill rotWithShape="1">
          <a:blip r:embed="rId1"/>
          <a:srcRect l="2654" t="50628" r="26604"/>
          <a:stretch>
            <a:fillRect/>
          </a:stretch>
        </p:blipFill>
        <p:spPr>
          <a:xfrm>
            <a:off x="6029881" y="1771651"/>
            <a:ext cx="4434828" cy="4646611"/>
          </a:xfrm>
          <a:prstGeom prst="rect">
            <a:avLst/>
          </a:prstGeom>
        </p:spPr>
      </p:pic>
      <p:sp>
        <p:nvSpPr>
          <p:cNvPr id="14" name="文本框 13"/>
          <p:cNvSpPr txBox="1"/>
          <p:nvPr/>
        </p:nvSpPr>
        <p:spPr>
          <a:xfrm>
            <a:off x="763480" y="1399629"/>
            <a:ext cx="2533835" cy="461665"/>
          </a:xfrm>
          <a:prstGeom prst="rect">
            <a:avLst/>
          </a:prstGeom>
          <a:noFill/>
        </p:spPr>
        <p:txBody>
          <a:bodyPr wrap="square" rtlCol="0">
            <a:spAutoFit/>
          </a:bodyPr>
          <a:lstStyle/>
          <a:p>
            <a:r>
              <a:rPr lang="en-US" altLang="zh-CN" sz="2400" dirty="0" err="1">
                <a:cs typeface="+mn-ea"/>
                <a:sym typeface="+mn-lt"/>
              </a:rPr>
              <a:t>mAP</a:t>
            </a:r>
            <a:r>
              <a:rPr lang="zh-CN" altLang="en-US" sz="2400" dirty="0">
                <a:cs typeface="+mn-ea"/>
                <a:sym typeface="+mn-lt"/>
              </a:rPr>
              <a:t>代码实现</a:t>
            </a:r>
            <a:endParaRPr lang="zh-CN" altLang="en-US" sz="2400" dirty="0">
              <a:cs typeface="+mn-ea"/>
              <a:sym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lstStyle/>
          <a:p>
            <a:pPr marL="0" indent="0">
              <a:buNone/>
            </a:pPr>
            <a:r>
              <a:rPr lang="en-US" altLang="zh-CN" sz="2400" b="1" dirty="0">
                <a:cs typeface="+mn-ea"/>
                <a:sym typeface="+mn-lt"/>
              </a:rPr>
              <a:t>6.2.1 </a:t>
            </a:r>
            <a:r>
              <a:rPr lang="zh-CN" altLang="en-US" sz="2400" b="1" dirty="0">
                <a:cs typeface="+mn-ea"/>
                <a:sym typeface="+mn-lt"/>
              </a:rPr>
              <a:t>区域卷积神经网络系列</a:t>
            </a:r>
            <a:endParaRPr lang="en-US" altLang="zh-CN" sz="2400" b="1" dirty="0">
              <a:cs typeface="+mn-ea"/>
              <a:sym typeface="+mn-lt"/>
            </a:endParaRPr>
          </a:p>
          <a:p>
            <a:r>
              <a:rPr lang="en-US" altLang="zh-CN" sz="2000" b="1" dirty="0">
                <a:cs typeface="+mn-ea"/>
                <a:sym typeface="+mn-lt"/>
              </a:rPr>
              <a:t>R-CNN</a:t>
            </a:r>
            <a:endParaRPr lang="en-US" altLang="zh-CN" sz="2000" b="1" dirty="0">
              <a:cs typeface="+mn-ea"/>
              <a:sym typeface="+mn-lt"/>
            </a:endParaRPr>
          </a:p>
          <a:p>
            <a:pPr marL="0" indent="0">
              <a:buNone/>
            </a:pPr>
            <a:r>
              <a:rPr lang="zh-CN" altLang="en-US" sz="2000" dirty="0">
                <a:cs typeface="+mn-ea"/>
                <a:sym typeface="+mn-lt"/>
              </a:rPr>
              <a:t>传统的目标检测算法精度偏低，</a:t>
            </a:r>
            <a:r>
              <a:rPr lang="en-US" altLang="zh-CN" sz="2000" dirty="0" err="1">
                <a:cs typeface="+mn-ea"/>
                <a:sym typeface="+mn-lt"/>
              </a:rPr>
              <a:t>Girshick</a:t>
            </a:r>
            <a:r>
              <a:rPr lang="en-US" altLang="zh-CN" sz="2000" dirty="0">
                <a:cs typeface="+mn-ea"/>
                <a:sym typeface="+mn-lt"/>
              </a:rPr>
              <a:t> </a:t>
            </a:r>
            <a:r>
              <a:rPr lang="zh-CN" altLang="en-US" sz="2000" dirty="0">
                <a:cs typeface="+mn-ea"/>
                <a:sym typeface="+mn-lt"/>
              </a:rPr>
              <a:t>等人</a:t>
            </a:r>
            <a:r>
              <a:rPr lang="en-US" altLang="zh-CN" sz="2000" dirty="0">
                <a:cs typeface="+mn-ea"/>
                <a:sym typeface="+mn-lt"/>
              </a:rPr>
              <a:t>(2015) </a:t>
            </a:r>
            <a:r>
              <a:rPr lang="zh-CN" altLang="en-US" sz="2000" dirty="0">
                <a:cs typeface="+mn-ea"/>
                <a:sym typeface="+mn-lt"/>
              </a:rPr>
              <a:t>提出了基于深度学习的目标检测算法，区域卷积神经网络（</a:t>
            </a:r>
            <a:r>
              <a:rPr lang="en-US" altLang="zh-CN" sz="2000" dirty="0">
                <a:cs typeface="+mn-ea"/>
                <a:sym typeface="+mn-lt"/>
              </a:rPr>
              <a:t>region-based CNN</a:t>
            </a:r>
            <a:r>
              <a:rPr lang="zh-CN" altLang="en-US" sz="2000" dirty="0">
                <a:cs typeface="+mn-ea"/>
                <a:sym typeface="+mn-lt"/>
              </a:rPr>
              <a:t>，</a:t>
            </a:r>
            <a:r>
              <a:rPr lang="en-US" altLang="zh-CN" sz="2000" dirty="0">
                <a:cs typeface="+mn-ea"/>
                <a:sym typeface="+mn-lt"/>
              </a:rPr>
              <a:t>R-CNN</a:t>
            </a:r>
            <a:r>
              <a:rPr lang="zh-CN" altLang="en-US" sz="2000" dirty="0">
                <a:cs typeface="+mn-ea"/>
                <a:sym typeface="+mn-lt"/>
              </a:rPr>
              <a:t>）。</a:t>
            </a:r>
            <a:r>
              <a:rPr lang="en-US" altLang="zh-CN" sz="2000" dirty="0">
                <a:cs typeface="+mn-ea"/>
                <a:sym typeface="+mn-lt"/>
              </a:rPr>
              <a:t>R-CNN </a:t>
            </a:r>
            <a:r>
              <a:rPr lang="zh-CN" altLang="en-US" sz="2000" dirty="0">
                <a:cs typeface="+mn-ea"/>
                <a:sym typeface="+mn-lt"/>
              </a:rPr>
              <a:t>重点解决了两个问题</a:t>
            </a:r>
            <a:r>
              <a:rPr lang="en-US" altLang="zh-CN" sz="2000" dirty="0">
                <a:cs typeface="+mn-ea"/>
                <a:sym typeface="+mn-lt"/>
              </a:rPr>
              <a:t>: </a:t>
            </a:r>
            <a:r>
              <a:rPr lang="zh-CN" altLang="en-US" sz="2000" dirty="0">
                <a:cs typeface="+mn-ea"/>
                <a:sym typeface="+mn-lt"/>
              </a:rPr>
              <a:t>一是如何生成候选区域；二是如何对候选框进行分类和回归。</a:t>
            </a:r>
            <a:r>
              <a:rPr lang="en-US" altLang="zh-CN" sz="2000" dirty="0">
                <a:cs typeface="+mn-ea"/>
                <a:sym typeface="+mn-lt"/>
              </a:rPr>
              <a:t>R-CNN</a:t>
            </a:r>
            <a:r>
              <a:rPr lang="zh-CN" altLang="en-US" sz="2000" dirty="0">
                <a:cs typeface="+mn-ea"/>
                <a:sym typeface="+mn-lt"/>
              </a:rPr>
              <a:t>的网络结构如下图所示。具体地，</a:t>
            </a:r>
            <a:r>
              <a:rPr lang="en-US" altLang="zh-CN" sz="2000" dirty="0">
                <a:cs typeface="+mn-ea"/>
                <a:sym typeface="+mn-lt"/>
              </a:rPr>
              <a:t>R-CNN </a:t>
            </a:r>
            <a:r>
              <a:rPr lang="zh-CN" altLang="en-US" sz="2000" dirty="0">
                <a:cs typeface="+mn-ea"/>
                <a:sym typeface="+mn-lt"/>
              </a:rPr>
              <a:t>首先使用</a:t>
            </a:r>
            <a:r>
              <a:rPr lang="en-US" altLang="zh-CN" sz="2000" dirty="0">
                <a:cs typeface="+mn-ea"/>
                <a:sym typeface="+mn-lt"/>
              </a:rPr>
              <a:t>Selective Search</a:t>
            </a:r>
            <a:r>
              <a:rPr lang="zh-CN" altLang="en-US" sz="2000" dirty="0">
                <a:cs typeface="+mn-ea"/>
                <a:sym typeface="+mn-lt"/>
              </a:rPr>
              <a:t>算法</a:t>
            </a:r>
            <a:r>
              <a:rPr lang="zh-CN" altLang="en-US" sz="2000" b="1" dirty="0">
                <a:cs typeface="+mn-ea"/>
                <a:sym typeface="+mn-lt"/>
              </a:rPr>
              <a:t>生成大量的候选区域</a:t>
            </a:r>
            <a:r>
              <a:rPr lang="zh-CN" altLang="en-US" sz="2000" dirty="0">
                <a:cs typeface="+mn-ea"/>
                <a:sym typeface="+mn-lt"/>
              </a:rPr>
              <a:t>（</a:t>
            </a:r>
            <a:r>
              <a:rPr lang="en-US" altLang="zh-CN" sz="2000" dirty="0">
                <a:cs typeface="+mn-ea"/>
                <a:sym typeface="+mn-lt"/>
              </a:rPr>
              <a:t>Region Proposal</a:t>
            </a:r>
            <a:r>
              <a:rPr lang="zh-CN" altLang="en-US" sz="2000" dirty="0">
                <a:cs typeface="+mn-ea"/>
                <a:sym typeface="+mn-lt"/>
              </a:rPr>
              <a:t>），然后将候选区域（</a:t>
            </a:r>
            <a:r>
              <a:rPr lang="en-US" altLang="zh-CN" sz="2000" dirty="0">
                <a:cs typeface="+mn-ea"/>
                <a:sym typeface="+mn-lt"/>
              </a:rPr>
              <a:t>Region Proposal</a:t>
            </a:r>
            <a:r>
              <a:rPr lang="zh-CN" altLang="en-US" sz="2000" dirty="0">
                <a:cs typeface="+mn-ea"/>
                <a:sym typeface="+mn-lt"/>
              </a:rPr>
              <a:t>）从图像中裁剪出来并调整为相同尺寸，输入到特征提取网络</a:t>
            </a:r>
            <a:r>
              <a:rPr lang="zh-CN" altLang="en-US" sz="2000" b="1" dirty="0">
                <a:cs typeface="+mn-ea"/>
                <a:sym typeface="+mn-lt"/>
              </a:rPr>
              <a:t>提取特征</a:t>
            </a:r>
            <a:r>
              <a:rPr lang="zh-CN" altLang="en-US" sz="2000" dirty="0">
                <a:cs typeface="+mn-ea"/>
                <a:sym typeface="+mn-lt"/>
              </a:rPr>
              <a:t>，将得到的特征分别送入</a:t>
            </a:r>
            <a:r>
              <a:rPr lang="zh-CN" altLang="en-US" sz="2000" b="1" dirty="0">
                <a:cs typeface="+mn-ea"/>
                <a:sym typeface="+mn-lt"/>
              </a:rPr>
              <a:t>全连接层</a:t>
            </a:r>
            <a:r>
              <a:rPr lang="zh-CN" altLang="en-US" sz="2000" dirty="0">
                <a:cs typeface="+mn-ea"/>
                <a:sym typeface="+mn-lt"/>
              </a:rPr>
              <a:t>和</a:t>
            </a:r>
            <a:r>
              <a:rPr lang="zh-CN" altLang="en-US" sz="2000" b="1" dirty="0">
                <a:cs typeface="+mn-ea"/>
                <a:sym typeface="+mn-lt"/>
              </a:rPr>
              <a:t>若干</a:t>
            </a:r>
            <a:r>
              <a:rPr lang="en-US" altLang="zh-CN" sz="2000" b="1" dirty="0">
                <a:cs typeface="+mn-ea"/>
                <a:sym typeface="+mn-lt"/>
              </a:rPr>
              <a:t>SVM</a:t>
            </a:r>
            <a:r>
              <a:rPr lang="zh-CN" altLang="en-US" sz="2000" dirty="0">
                <a:cs typeface="+mn-ea"/>
                <a:sym typeface="+mn-lt"/>
              </a:rPr>
              <a:t>进行回归和分类。</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3294354" y="4605471"/>
            <a:ext cx="6078987" cy="175087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zh-CN" altLang="en-US" sz="2000" dirty="0">
                <a:cs typeface="+mn-ea"/>
                <a:sym typeface="+mn-lt"/>
              </a:rPr>
              <a:t>下面将详细介绍</a:t>
            </a:r>
            <a:r>
              <a:rPr lang="en-US" altLang="zh-CN" sz="2000" dirty="0">
                <a:cs typeface="+mn-ea"/>
                <a:sym typeface="+mn-lt"/>
              </a:rPr>
              <a:t>R-CNN</a:t>
            </a:r>
            <a:r>
              <a:rPr lang="zh-CN" altLang="en-US" sz="2000" dirty="0">
                <a:cs typeface="+mn-ea"/>
                <a:sym typeface="+mn-lt"/>
              </a:rPr>
              <a:t>各关键步骤的工作原理：</a:t>
            </a:r>
            <a:endParaRPr lang="en-US" altLang="zh-CN" sz="2000" dirty="0">
              <a:cs typeface="+mn-ea"/>
              <a:sym typeface="+mn-lt"/>
            </a:endParaRPr>
          </a:p>
          <a:p>
            <a:pPr marL="0" indent="0">
              <a:buNone/>
            </a:pPr>
            <a:r>
              <a:rPr lang="en-US" altLang="zh-CN" sz="2000" b="1" dirty="0">
                <a:cs typeface="+mn-ea"/>
                <a:sym typeface="+mn-lt"/>
              </a:rPr>
              <a:t>1</a:t>
            </a:r>
            <a:r>
              <a:rPr lang="zh-CN" altLang="en-US" sz="2000" b="1" dirty="0">
                <a:cs typeface="+mn-ea"/>
                <a:sym typeface="+mn-lt"/>
              </a:rPr>
              <a:t>）生成候选区域</a:t>
            </a:r>
            <a:endParaRPr lang="en-US" altLang="zh-CN" sz="2000" b="1" dirty="0">
              <a:cs typeface="+mn-ea"/>
              <a:sym typeface="+mn-lt"/>
            </a:endParaRPr>
          </a:p>
          <a:p>
            <a:pPr marL="0" indent="0">
              <a:buNone/>
            </a:pPr>
            <a:r>
              <a:rPr lang="zh-CN" altLang="en-US" sz="2000" dirty="0">
                <a:cs typeface="+mn-ea"/>
                <a:sym typeface="+mn-lt"/>
              </a:rPr>
              <a:t>生成候选区域最直接的方法就是</a:t>
            </a:r>
            <a:r>
              <a:rPr lang="zh-CN" altLang="en-US" sz="2000" b="1" dirty="0">
                <a:cs typeface="+mn-ea"/>
                <a:sym typeface="+mn-lt"/>
              </a:rPr>
              <a:t>滑动窗口法</a:t>
            </a:r>
            <a:r>
              <a:rPr lang="zh-CN" altLang="en-US" sz="2000" dirty="0">
                <a:cs typeface="+mn-ea"/>
                <a:sym typeface="+mn-lt"/>
              </a:rPr>
              <a:t>，具体的实现方法是预先定义若干</a:t>
            </a:r>
            <a:r>
              <a:rPr lang="zh-CN" altLang="en-US" sz="2000" b="1" dirty="0">
                <a:cs typeface="+mn-ea"/>
                <a:sym typeface="+mn-lt"/>
              </a:rPr>
              <a:t>不同宽高</a:t>
            </a:r>
            <a:r>
              <a:rPr lang="zh-CN" altLang="en-US" sz="2000" dirty="0">
                <a:cs typeface="+mn-ea"/>
                <a:sym typeface="+mn-lt"/>
              </a:rPr>
              <a:t>的检测窗口，然后将这些检测窗口在整幅图片上</a:t>
            </a:r>
            <a:r>
              <a:rPr lang="zh-CN" altLang="en-US" sz="2000" b="1" dirty="0">
                <a:cs typeface="+mn-ea"/>
                <a:sym typeface="+mn-lt"/>
              </a:rPr>
              <a:t>从左到右</a:t>
            </a:r>
            <a:r>
              <a:rPr lang="zh-CN" altLang="en-US" sz="2000" dirty="0">
                <a:cs typeface="+mn-ea"/>
                <a:sym typeface="+mn-lt"/>
              </a:rPr>
              <a:t>，</a:t>
            </a:r>
            <a:r>
              <a:rPr lang="zh-CN" altLang="en-US" sz="2000" b="1" dirty="0">
                <a:cs typeface="+mn-ea"/>
                <a:sym typeface="+mn-lt"/>
              </a:rPr>
              <a:t>从上到下进行滑动</a:t>
            </a:r>
            <a:r>
              <a:rPr lang="zh-CN" altLang="en-US" sz="2000" dirty="0">
                <a:cs typeface="+mn-ea"/>
                <a:sym typeface="+mn-lt"/>
              </a:rPr>
              <a:t>。每滑动到一个位置就产生一个候选框。然而这样的方法往往会产生大量的候选框，涉及到后续对检测框的分类和回归，整个检测过程会十分的耗时。为了解决这个问题，人们设计了</a:t>
            </a:r>
            <a:r>
              <a:rPr lang="en-US" altLang="zh-CN" sz="2000" dirty="0">
                <a:cs typeface="+mn-ea"/>
                <a:sym typeface="+mn-lt"/>
              </a:rPr>
              <a:t>Selective Search[11]</a:t>
            </a:r>
            <a:r>
              <a:rPr lang="zh-CN" altLang="en-US" sz="2000" dirty="0">
                <a:cs typeface="+mn-ea"/>
                <a:sym typeface="+mn-lt"/>
              </a:rPr>
              <a:t>等相对高效的候选框生成方法。</a:t>
            </a:r>
            <a:endParaRPr lang="zh-CN" altLang="en-US" sz="2000" dirty="0">
              <a:cs typeface="+mn-ea"/>
              <a:sym typeface="+mn-lt"/>
            </a:endParaRPr>
          </a:p>
          <a:p>
            <a:pPr marL="0" indent="0">
              <a:buNone/>
            </a:pPr>
            <a:r>
              <a:rPr lang="en-US" altLang="zh-CN" sz="2000" dirty="0">
                <a:cs typeface="+mn-ea"/>
                <a:sym typeface="+mn-lt"/>
              </a:rPr>
              <a:t>R-CNN</a:t>
            </a:r>
            <a:r>
              <a:rPr lang="zh-CN" altLang="en-US" sz="2000" dirty="0">
                <a:cs typeface="+mn-ea"/>
                <a:sym typeface="+mn-lt"/>
              </a:rPr>
              <a:t>的作者使用</a:t>
            </a:r>
            <a:r>
              <a:rPr lang="en-US" altLang="zh-CN" sz="2000" dirty="0">
                <a:cs typeface="+mn-ea"/>
                <a:sym typeface="+mn-lt"/>
              </a:rPr>
              <a:t>Selective Search </a:t>
            </a:r>
            <a:r>
              <a:rPr lang="zh-CN" altLang="en-US" sz="2000" dirty="0">
                <a:cs typeface="+mn-ea"/>
                <a:sym typeface="+mn-lt"/>
              </a:rPr>
              <a:t>算法来生成候选框。该算法根据</a:t>
            </a:r>
            <a:r>
              <a:rPr lang="zh-CN" altLang="en-US" sz="2000" b="1" dirty="0">
                <a:cs typeface="+mn-ea"/>
                <a:sym typeface="+mn-lt"/>
              </a:rPr>
              <a:t>相邻区域纹理的相似性</a:t>
            </a:r>
            <a:r>
              <a:rPr lang="zh-CN" altLang="en-US" sz="2000" dirty="0">
                <a:cs typeface="+mn-ea"/>
                <a:sym typeface="+mn-lt"/>
              </a:rPr>
              <a:t>，进行区域合并。为了避免单个区域不断吞噬其他区域，算法更倾向于</a:t>
            </a:r>
            <a:r>
              <a:rPr lang="zh-CN" altLang="en-US" sz="2000" b="1" dirty="0">
                <a:cs typeface="+mn-ea"/>
                <a:sym typeface="+mn-lt"/>
              </a:rPr>
              <a:t>合并较小的区域</a:t>
            </a:r>
            <a:r>
              <a:rPr lang="zh-CN" altLang="en-US" sz="2000" dirty="0">
                <a:cs typeface="+mn-ea"/>
                <a:sym typeface="+mn-lt"/>
              </a:rPr>
              <a:t>，合并过程如图所示。</a:t>
            </a:r>
            <a:endParaRPr lang="zh-CN" altLang="en-US"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rotWithShape="1">
          <a:blip r:embed="rId1"/>
          <a:srcRect l="2360" t="4700" r="2921" b="7540"/>
          <a:stretch>
            <a:fillRect/>
          </a:stretch>
        </p:blipFill>
        <p:spPr>
          <a:xfrm>
            <a:off x="5761607" y="4677615"/>
            <a:ext cx="4989251" cy="158904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b="1" dirty="0">
                <a:cs typeface="+mn-ea"/>
                <a:sym typeface="+mn-lt"/>
              </a:rPr>
              <a:t>2</a:t>
            </a:r>
            <a:r>
              <a:rPr lang="zh-CN" altLang="en-US" sz="2000" b="1" dirty="0">
                <a:cs typeface="+mn-ea"/>
                <a:sym typeface="+mn-lt"/>
              </a:rPr>
              <a:t>）特征提取</a:t>
            </a:r>
            <a:endParaRPr lang="en-US" altLang="zh-CN" sz="2000" b="1" dirty="0">
              <a:cs typeface="+mn-ea"/>
              <a:sym typeface="+mn-lt"/>
            </a:endParaRPr>
          </a:p>
          <a:p>
            <a:pPr marL="0" indent="0">
              <a:buNone/>
            </a:pPr>
            <a:r>
              <a:rPr lang="en-US" altLang="zh-CN" sz="2000" dirty="0">
                <a:cs typeface="+mn-ea"/>
                <a:sym typeface="+mn-lt"/>
              </a:rPr>
              <a:t>R-CNN</a:t>
            </a:r>
            <a:r>
              <a:rPr lang="zh-CN" altLang="en-US" sz="2000" dirty="0">
                <a:cs typeface="+mn-ea"/>
                <a:sym typeface="+mn-lt"/>
              </a:rPr>
              <a:t>使用的网络是</a:t>
            </a:r>
            <a:r>
              <a:rPr lang="en-US" altLang="zh-CN" sz="2000" b="1" dirty="0" err="1">
                <a:cs typeface="+mn-ea"/>
                <a:sym typeface="+mn-lt"/>
              </a:rPr>
              <a:t>AlexNet</a:t>
            </a:r>
            <a:r>
              <a:rPr lang="zh-CN" altLang="en-US" sz="2000" dirty="0">
                <a:cs typeface="+mn-ea"/>
                <a:sym typeface="+mn-lt"/>
              </a:rPr>
              <a:t>，网络结构</a:t>
            </a:r>
            <a:r>
              <a:rPr lang="zh-CN" altLang="en-US" sz="2000" b="1" dirty="0">
                <a:cs typeface="+mn-ea"/>
                <a:sym typeface="+mn-lt"/>
              </a:rPr>
              <a:t>如下图所示</a:t>
            </a:r>
            <a:r>
              <a:rPr lang="zh-CN" altLang="en-US" sz="2000" dirty="0">
                <a:cs typeface="+mn-ea"/>
                <a:sym typeface="+mn-lt"/>
              </a:rPr>
              <a:t>。由于</a:t>
            </a:r>
            <a:r>
              <a:rPr lang="en-US" altLang="zh-CN" sz="2000" dirty="0" err="1">
                <a:cs typeface="+mn-ea"/>
                <a:sym typeface="+mn-lt"/>
              </a:rPr>
              <a:t>AlexNet</a:t>
            </a:r>
            <a:r>
              <a:rPr lang="zh-CN" altLang="en-US" sz="2000" dirty="0">
                <a:cs typeface="+mn-ea"/>
                <a:sym typeface="+mn-lt"/>
              </a:rPr>
              <a:t>包含全连接层，需要</a:t>
            </a:r>
            <a:r>
              <a:rPr lang="zh-CN" altLang="en-US" sz="2000" b="1" dirty="0">
                <a:cs typeface="+mn-ea"/>
                <a:sym typeface="+mn-lt"/>
              </a:rPr>
              <a:t>固定图像的输入尺寸</a:t>
            </a:r>
            <a:r>
              <a:rPr lang="en-US" altLang="zh-CN" sz="2000" dirty="0">
                <a:cs typeface="+mn-ea"/>
                <a:sym typeface="+mn-lt"/>
              </a:rPr>
              <a:t>(227 × 227 </a:t>
            </a:r>
            <a:r>
              <a:rPr lang="zh-CN" altLang="en-US" sz="2000" dirty="0">
                <a:cs typeface="+mn-ea"/>
                <a:sym typeface="+mn-lt"/>
              </a:rPr>
              <a:t>像素</a:t>
            </a:r>
            <a:r>
              <a:rPr lang="en-US" altLang="zh-CN" sz="2000" dirty="0">
                <a:cs typeface="+mn-ea"/>
                <a:sym typeface="+mn-lt"/>
              </a:rPr>
              <a:t>)</a:t>
            </a:r>
            <a:r>
              <a:rPr lang="zh-CN" altLang="en-US" sz="2000" dirty="0">
                <a:cs typeface="+mn-ea"/>
                <a:sym typeface="+mn-lt"/>
              </a:rPr>
              <a:t>，因此需要把每个候选区域调整为相同的尺寸并输入到</a:t>
            </a:r>
            <a:r>
              <a:rPr lang="en-US" altLang="zh-CN" sz="2000" dirty="0" err="1">
                <a:cs typeface="+mn-ea"/>
                <a:sym typeface="+mn-lt"/>
              </a:rPr>
              <a:t>AlexNet</a:t>
            </a:r>
            <a:r>
              <a:rPr lang="zh-CN" altLang="en-US" sz="2000" dirty="0">
                <a:cs typeface="+mn-ea"/>
                <a:sym typeface="+mn-lt"/>
              </a:rPr>
              <a:t>网络中，取网络中线性分类器的输入作为候选区域的特征表达。由于候选框与真值框之间存在不同的</a:t>
            </a:r>
            <a:r>
              <a:rPr lang="en-US" altLang="zh-CN" sz="2000" dirty="0" err="1">
                <a:cs typeface="+mn-ea"/>
                <a:sym typeface="+mn-lt"/>
              </a:rPr>
              <a:t>IoU</a:t>
            </a:r>
            <a:r>
              <a:rPr lang="zh-CN" altLang="en-US" sz="2000" dirty="0">
                <a:cs typeface="+mn-ea"/>
                <a:sym typeface="+mn-lt"/>
              </a:rPr>
              <a:t>，在训练特征提取网络的时候，作者把与真值框的</a:t>
            </a:r>
            <a:r>
              <a:rPr lang="en-US" altLang="zh-CN" sz="2000" dirty="0" err="1">
                <a:cs typeface="+mn-ea"/>
                <a:sym typeface="+mn-lt"/>
              </a:rPr>
              <a:t>IoU</a:t>
            </a:r>
            <a:r>
              <a:rPr lang="zh-CN" altLang="en-US" sz="2000" dirty="0">
                <a:cs typeface="+mn-ea"/>
                <a:sym typeface="+mn-lt"/>
              </a:rPr>
              <a:t>大于</a:t>
            </a:r>
            <a:r>
              <a:rPr lang="en-US" altLang="zh-CN" sz="2000" dirty="0">
                <a:cs typeface="+mn-ea"/>
                <a:sym typeface="+mn-lt"/>
              </a:rPr>
              <a:t>0.5</a:t>
            </a:r>
            <a:r>
              <a:rPr lang="zh-CN" altLang="en-US" sz="2000" dirty="0">
                <a:cs typeface="+mn-ea"/>
                <a:sym typeface="+mn-lt"/>
              </a:rPr>
              <a:t>的候选框作作为正样本，把</a:t>
            </a:r>
            <a:r>
              <a:rPr lang="en-US" altLang="zh-CN" sz="2000" dirty="0" err="1">
                <a:cs typeface="+mn-ea"/>
                <a:sym typeface="+mn-lt"/>
              </a:rPr>
              <a:t>IoU</a:t>
            </a:r>
            <a:r>
              <a:rPr lang="zh-CN" altLang="en-US" sz="2000" dirty="0">
                <a:cs typeface="+mn-ea"/>
                <a:sym typeface="+mn-lt"/>
              </a:rPr>
              <a:t>小于</a:t>
            </a:r>
            <a:r>
              <a:rPr lang="en-US" altLang="zh-CN" sz="2000" dirty="0">
                <a:cs typeface="+mn-ea"/>
                <a:sym typeface="+mn-lt"/>
              </a:rPr>
              <a:t>0.5</a:t>
            </a:r>
            <a:r>
              <a:rPr lang="zh-CN" altLang="en-US" sz="2000" dirty="0">
                <a:cs typeface="+mn-ea"/>
                <a:sym typeface="+mn-lt"/>
              </a:rPr>
              <a:t>的候选框作为负样本。因为图像中的目标数量有限，负样本的数量要远大于正样本的数量，所以在训练时要控制好正样本和负样本的比例。训练完成后，去掉用于分类的全连接层，就得到了一个特征提取网络。</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61493" y="4182055"/>
            <a:ext cx="8869013" cy="208460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b="1" dirty="0">
                <a:cs typeface="+mn-ea"/>
                <a:sym typeface="+mn-lt"/>
              </a:rPr>
              <a:t>3</a:t>
            </a:r>
            <a:r>
              <a:rPr lang="zh-CN" altLang="en-US" sz="2000" b="1" dirty="0">
                <a:cs typeface="+mn-ea"/>
                <a:sym typeface="+mn-lt"/>
              </a:rPr>
              <a:t>）分类器设计</a:t>
            </a:r>
            <a:endParaRPr lang="en-US" altLang="zh-CN" sz="2000" b="1" dirty="0">
              <a:cs typeface="+mn-ea"/>
              <a:sym typeface="+mn-lt"/>
            </a:endParaRPr>
          </a:p>
          <a:p>
            <a:pPr marL="0" indent="0">
              <a:buNone/>
            </a:pPr>
            <a:r>
              <a:rPr lang="zh-CN" altLang="en-US" sz="2000" dirty="0">
                <a:cs typeface="+mn-ea"/>
                <a:sym typeface="+mn-lt"/>
              </a:rPr>
              <a:t>为了将这些特征正确分类，</a:t>
            </a:r>
            <a:r>
              <a:rPr lang="en-US" altLang="zh-CN" sz="2000" dirty="0">
                <a:cs typeface="+mn-ea"/>
                <a:sym typeface="+mn-lt"/>
              </a:rPr>
              <a:t>R-CNN</a:t>
            </a:r>
            <a:r>
              <a:rPr lang="zh-CN" altLang="en-US" sz="2000" dirty="0">
                <a:cs typeface="+mn-ea"/>
                <a:sym typeface="+mn-lt"/>
              </a:rPr>
              <a:t>对数据集的</a:t>
            </a:r>
            <a:r>
              <a:rPr lang="zh-CN" altLang="en-US" sz="2000" b="1" dirty="0">
                <a:cs typeface="+mn-ea"/>
                <a:sym typeface="+mn-lt"/>
              </a:rPr>
              <a:t>每个类别</a:t>
            </a:r>
            <a:r>
              <a:rPr lang="zh-CN" altLang="en-US" sz="2000" dirty="0">
                <a:cs typeface="+mn-ea"/>
                <a:sym typeface="+mn-lt"/>
              </a:rPr>
              <a:t>都训练了一个</a:t>
            </a:r>
            <a:r>
              <a:rPr lang="en-US" altLang="zh-CN" sz="2000" b="1" dirty="0">
                <a:cs typeface="+mn-ea"/>
                <a:sym typeface="+mn-lt"/>
              </a:rPr>
              <a:t>SVM</a:t>
            </a:r>
            <a:r>
              <a:rPr lang="zh-CN" altLang="en-US" sz="2000" b="1" dirty="0">
                <a:cs typeface="+mn-ea"/>
                <a:sym typeface="+mn-lt"/>
              </a:rPr>
              <a:t>二分类器</a:t>
            </a:r>
            <a:r>
              <a:rPr lang="zh-CN" altLang="en-US" sz="2000" dirty="0">
                <a:cs typeface="+mn-ea"/>
                <a:sym typeface="+mn-lt"/>
              </a:rPr>
              <a:t>，判断候选框是否正确的框选目标。在划分正负样本时，不仅要考虑到候选框的类别还要考虑到候选框与目标的</a:t>
            </a:r>
            <a:r>
              <a:rPr lang="en-US" altLang="zh-CN" sz="2000" dirty="0" err="1">
                <a:cs typeface="+mn-ea"/>
                <a:sym typeface="+mn-lt"/>
              </a:rPr>
              <a:t>IoU</a:t>
            </a:r>
            <a:r>
              <a:rPr lang="en-US" altLang="zh-CN" sz="2000" dirty="0">
                <a:cs typeface="+mn-ea"/>
                <a:sym typeface="+mn-lt"/>
              </a:rPr>
              <a:t>, R-CNN</a:t>
            </a:r>
            <a:r>
              <a:rPr lang="zh-CN" altLang="en-US" sz="2000" dirty="0">
                <a:cs typeface="+mn-ea"/>
                <a:sym typeface="+mn-lt"/>
              </a:rPr>
              <a:t>把与真值框的</a:t>
            </a:r>
            <a:r>
              <a:rPr lang="en-US" altLang="zh-CN" sz="2000" b="1" dirty="0" err="1">
                <a:cs typeface="+mn-ea"/>
                <a:sym typeface="+mn-lt"/>
              </a:rPr>
              <a:t>IoU</a:t>
            </a:r>
            <a:r>
              <a:rPr lang="zh-CN" altLang="en-US" sz="2000" b="1" dirty="0">
                <a:cs typeface="+mn-ea"/>
                <a:sym typeface="+mn-lt"/>
              </a:rPr>
              <a:t>大于</a:t>
            </a:r>
            <a:r>
              <a:rPr lang="en-US" altLang="zh-CN" sz="2000" b="1" dirty="0">
                <a:cs typeface="+mn-ea"/>
                <a:sym typeface="+mn-lt"/>
              </a:rPr>
              <a:t>0.7</a:t>
            </a:r>
            <a:r>
              <a:rPr lang="zh-CN" altLang="en-US" sz="2000" dirty="0">
                <a:cs typeface="+mn-ea"/>
                <a:sym typeface="+mn-lt"/>
              </a:rPr>
              <a:t>的样本当作</a:t>
            </a:r>
            <a:r>
              <a:rPr lang="zh-CN" altLang="en-US" sz="2000" b="1" dirty="0">
                <a:cs typeface="+mn-ea"/>
                <a:sym typeface="+mn-lt"/>
              </a:rPr>
              <a:t>正样本</a:t>
            </a:r>
            <a:r>
              <a:rPr lang="zh-CN" altLang="en-US" sz="2000" dirty="0">
                <a:cs typeface="+mn-ea"/>
                <a:sym typeface="+mn-lt"/>
              </a:rPr>
              <a:t>，将</a:t>
            </a:r>
            <a:r>
              <a:rPr lang="zh-CN" altLang="en-US" sz="2000" b="1" dirty="0">
                <a:cs typeface="+mn-ea"/>
                <a:sym typeface="+mn-lt"/>
              </a:rPr>
              <a:t>小于</a:t>
            </a:r>
            <a:r>
              <a:rPr lang="en-US" altLang="zh-CN" sz="2000" b="1" dirty="0">
                <a:cs typeface="+mn-ea"/>
                <a:sym typeface="+mn-lt"/>
              </a:rPr>
              <a:t>0.7</a:t>
            </a:r>
            <a:r>
              <a:rPr lang="zh-CN" altLang="en-US" sz="2000" dirty="0">
                <a:cs typeface="+mn-ea"/>
                <a:sym typeface="+mn-lt"/>
              </a:rPr>
              <a:t>的样本当作</a:t>
            </a:r>
            <a:r>
              <a:rPr lang="zh-CN" altLang="en-US" sz="2000" b="1" dirty="0">
                <a:cs typeface="+mn-ea"/>
                <a:sym typeface="+mn-lt"/>
              </a:rPr>
              <a:t>负样本</a:t>
            </a:r>
            <a:r>
              <a:rPr lang="zh-CN" altLang="en-US" sz="2000" dirty="0">
                <a:cs typeface="+mn-ea"/>
                <a:sym typeface="+mn-lt"/>
              </a:rPr>
              <a:t>，如图所示。</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3337172" y="3108450"/>
            <a:ext cx="5816631" cy="324789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825625"/>
            <a:ext cx="7870794" cy="4351338"/>
          </a:xfrm>
        </p:spPr>
        <p:txBody>
          <a:bodyPr>
            <a:normAutofit/>
          </a:bodyPr>
          <a:lstStyle/>
          <a:p>
            <a:pPr marL="0" indent="0">
              <a:buNone/>
            </a:pPr>
            <a:r>
              <a:rPr lang="en-US" altLang="zh-CN" sz="2000" b="1" dirty="0">
                <a:cs typeface="+mn-ea"/>
                <a:sym typeface="+mn-lt"/>
              </a:rPr>
              <a:t>4</a:t>
            </a:r>
            <a:r>
              <a:rPr lang="zh-CN" altLang="en-US" sz="2000" b="1" dirty="0">
                <a:cs typeface="+mn-ea"/>
                <a:sym typeface="+mn-lt"/>
              </a:rPr>
              <a:t>）位置修正</a:t>
            </a:r>
            <a:endParaRPr lang="en-US" altLang="zh-CN" sz="2000" b="1" dirty="0">
              <a:cs typeface="+mn-ea"/>
              <a:sym typeface="+mn-lt"/>
            </a:endParaRPr>
          </a:p>
          <a:p>
            <a:pPr marL="0" indent="0">
              <a:buNone/>
            </a:pPr>
            <a:r>
              <a:rPr lang="zh-CN" altLang="en-US" sz="2000" dirty="0">
                <a:cs typeface="+mn-ea"/>
                <a:sym typeface="+mn-lt"/>
              </a:rPr>
              <a:t>生成的候选框一般很难准确的定位目标，为了得到更准确的目标位置，</a:t>
            </a:r>
            <a:r>
              <a:rPr lang="en-US" altLang="zh-CN" sz="2000" dirty="0">
                <a:cs typeface="+mn-ea"/>
                <a:sym typeface="+mn-lt"/>
              </a:rPr>
              <a:t>R-CNN</a:t>
            </a:r>
            <a:r>
              <a:rPr lang="zh-CN" altLang="en-US" sz="2000" dirty="0">
                <a:cs typeface="+mn-ea"/>
                <a:sym typeface="+mn-lt"/>
              </a:rPr>
              <a:t>中最后的边框回归层，以</a:t>
            </a:r>
            <a:r>
              <a:rPr lang="zh-CN" altLang="en-US" sz="2000" b="1" dirty="0">
                <a:cs typeface="+mn-ea"/>
                <a:sym typeface="+mn-lt"/>
              </a:rPr>
              <a:t>候选区域</a:t>
            </a:r>
            <a:r>
              <a:rPr lang="en-US" altLang="zh-CN" sz="2000" dirty="0">
                <a:cs typeface="+mn-ea"/>
                <a:sym typeface="+mn-lt"/>
              </a:rPr>
              <a:t>(region proposal)</a:t>
            </a:r>
            <a:r>
              <a:rPr lang="zh-CN" altLang="en-US" sz="2000" dirty="0">
                <a:cs typeface="+mn-ea"/>
                <a:sym typeface="+mn-lt"/>
              </a:rPr>
              <a:t>为输入，回归真值框相对于候选框的</a:t>
            </a:r>
            <a:r>
              <a:rPr lang="zh-CN" altLang="en-US" sz="2000" b="1" dirty="0">
                <a:cs typeface="+mn-ea"/>
                <a:sym typeface="+mn-lt"/>
              </a:rPr>
              <a:t>位置</a:t>
            </a:r>
            <a:r>
              <a:rPr lang="zh-CN" altLang="en-US" sz="2000" dirty="0">
                <a:cs typeface="+mn-ea"/>
                <a:sym typeface="+mn-lt"/>
              </a:rPr>
              <a:t>和</a:t>
            </a:r>
            <a:r>
              <a:rPr lang="zh-CN" altLang="en-US" sz="2000" b="1" dirty="0">
                <a:cs typeface="+mn-ea"/>
                <a:sym typeface="+mn-lt"/>
              </a:rPr>
              <a:t>尺度偏差</a:t>
            </a:r>
            <a:r>
              <a:rPr lang="zh-CN" altLang="en-US" sz="2000" dirty="0">
                <a:cs typeface="+mn-ea"/>
                <a:sym typeface="+mn-lt"/>
              </a:rPr>
              <a:t>。</a:t>
            </a:r>
            <a:endParaRPr lang="en-US" altLang="zh-CN" sz="2000" dirty="0">
              <a:cs typeface="+mn-ea"/>
              <a:sym typeface="+mn-lt"/>
            </a:endParaRPr>
          </a:p>
          <a:p>
            <a:pPr marL="0" indent="0">
              <a:buNone/>
            </a:pPr>
            <a:r>
              <a:rPr lang="zh-CN" altLang="en-US" sz="2000" dirty="0">
                <a:cs typeface="+mn-ea"/>
                <a:sym typeface="+mn-lt"/>
              </a:rPr>
              <a:t>如右图所示，虚线边框是行人的真值框，实线框的是候选框，虽然候选框中包含了目标，但是其定位却并不准确，这就需要对候选区域的边框进行修正，调整其位置和大小，以使其能够更为接近真值框。</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8867889" y="2721475"/>
            <a:ext cx="2485911" cy="295984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pPr marL="0" indent="0">
                  <a:buNone/>
                </a:pPr>
                <a:r>
                  <a:rPr lang="zh-CN" altLang="en-US" sz="2000" dirty="0">
                    <a:cs typeface="+mn-ea"/>
                    <a:sym typeface="+mn-lt"/>
                  </a:rPr>
                  <a:t>下面将详细介绍候选框的位置修正方法。</a:t>
                </a:r>
                <a:endParaRPr lang="en-US" altLang="zh-CN" sz="2000" dirty="0">
                  <a:cs typeface="+mn-ea"/>
                  <a:sym typeface="+mn-lt"/>
                </a:endParaRPr>
              </a:p>
              <a:p>
                <a:pPr marL="0" indent="0">
                  <a:buNone/>
                </a:pPr>
                <a:r>
                  <a:rPr lang="zh-CN" altLang="en-US" sz="2000" dirty="0">
                    <a:cs typeface="+mn-ea"/>
                    <a:sym typeface="+mn-lt"/>
                  </a:rPr>
                  <a:t>候选框和真值框都可以使用一个</a:t>
                </a:r>
                <a:r>
                  <a:rPr lang="zh-CN" altLang="en-US" sz="2000" b="1" dirty="0">
                    <a:cs typeface="+mn-ea"/>
                    <a:sym typeface="+mn-lt"/>
                  </a:rPr>
                  <a:t>四元组 </a:t>
                </a:r>
                <a:r>
                  <a:rPr lang="en-US" altLang="zh-CN" sz="2000" b="1" dirty="0">
                    <a:cs typeface="+mn-ea"/>
                    <a:sym typeface="+mn-lt"/>
                  </a:rPr>
                  <a:t>(</a:t>
                </a:r>
                <a:r>
                  <a:rPr lang="en-US" altLang="zh-CN" sz="2000" b="1" dirty="0" err="1">
                    <a:cs typeface="+mn-ea"/>
                    <a:sym typeface="+mn-lt"/>
                  </a:rPr>
                  <a:t>x,y,w,h</a:t>
                </a:r>
                <a:r>
                  <a:rPr lang="en-US" altLang="zh-CN" sz="2000" b="1" dirty="0">
                    <a:cs typeface="+mn-ea"/>
                    <a:sym typeface="+mn-lt"/>
                  </a:rPr>
                  <a:t>) </a:t>
                </a:r>
                <a:r>
                  <a:rPr lang="zh-CN" altLang="en-US" sz="2000" dirty="0">
                    <a:cs typeface="+mn-ea"/>
                    <a:sym typeface="+mn-lt"/>
                  </a:rPr>
                  <a:t>来表示。其中</a:t>
                </a:r>
                <a:r>
                  <a:rPr lang="en-US" altLang="zh-CN" sz="2000" dirty="0">
                    <a:cs typeface="+mn-ea"/>
                    <a:sym typeface="+mn-lt"/>
                  </a:rPr>
                  <a:t>, (</a:t>
                </a:r>
                <a:r>
                  <a:rPr lang="en-US" altLang="zh-CN" sz="2000" dirty="0" err="1">
                    <a:cs typeface="+mn-ea"/>
                    <a:sym typeface="+mn-lt"/>
                  </a:rPr>
                  <a:t>x,y</a:t>
                </a:r>
                <a:r>
                  <a:rPr lang="en-US" altLang="zh-CN" sz="2000" dirty="0">
                    <a:cs typeface="+mn-ea"/>
                    <a:sym typeface="+mn-lt"/>
                  </a:rPr>
                  <a:t>) </a:t>
                </a:r>
                <a:r>
                  <a:rPr lang="zh-CN" altLang="en-US" sz="2000" dirty="0">
                    <a:cs typeface="+mn-ea"/>
                    <a:sym typeface="+mn-lt"/>
                  </a:rPr>
                  <a:t>表示边框的中心位置</a:t>
                </a:r>
                <a:r>
                  <a:rPr lang="en-US" altLang="zh-CN" sz="2000" dirty="0">
                    <a:cs typeface="+mn-ea"/>
                    <a:sym typeface="+mn-lt"/>
                  </a:rPr>
                  <a:t>, (</a:t>
                </a:r>
                <a:r>
                  <a:rPr lang="en-US" altLang="zh-CN" sz="2000" dirty="0" err="1">
                    <a:cs typeface="+mn-ea"/>
                    <a:sym typeface="+mn-lt"/>
                  </a:rPr>
                  <a:t>w,h</a:t>
                </a:r>
                <a:r>
                  <a:rPr lang="en-US" altLang="zh-CN" sz="2000" dirty="0">
                    <a:cs typeface="+mn-ea"/>
                    <a:sym typeface="+mn-lt"/>
                  </a:rPr>
                  <a:t>) </a:t>
                </a:r>
                <a:r>
                  <a:rPr lang="zh-CN" altLang="en-US" sz="2000" dirty="0">
                    <a:cs typeface="+mn-ea"/>
                    <a:sym typeface="+mn-lt"/>
                  </a:rPr>
                  <a:t>表示边框的宽和高。边框回归实际上就是确定一种</a:t>
                </a:r>
                <a:r>
                  <a:rPr lang="zh-CN" altLang="en-US" sz="2000" b="1" dirty="0">
                    <a:cs typeface="+mn-ea"/>
                    <a:sym typeface="+mn-lt"/>
                  </a:rPr>
                  <a:t>变换</a:t>
                </a:r>
                <a:r>
                  <a:rPr lang="en-US" altLang="zh-CN" sz="2000" dirty="0">
                    <a:cs typeface="+mn-ea"/>
                    <a:sym typeface="+mn-lt"/>
                  </a:rPr>
                  <a:t>, </a:t>
                </a:r>
                <a:r>
                  <a:rPr lang="zh-CN" altLang="en-US" sz="2000" dirty="0">
                    <a:cs typeface="+mn-ea"/>
                    <a:sym typeface="+mn-lt"/>
                  </a:rPr>
                  <a:t>使修正的后的候选框位置和真值框的位置尽可能的接近</a:t>
                </a:r>
                <a:r>
                  <a:rPr lang="en-US" altLang="zh-CN" sz="2000" dirty="0">
                    <a:cs typeface="+mn-ea"/>
                    <a:sym typeface="+mn-lt"/>
                  </a:rPr>
                  <a:t>, </a:t>
                </a:r>
                <a:r>
                  <a:rPr lang="zh-CN" altLang="en-US" sz="2000" dirty="0">
                    <a:cs typeface="+mn-ea"/>
                    <a:sym typeface="+mn-lt"/>
                  </a:rPr>
                  <a:t>公式表示如下</a:t>
                </a:r>
                <a:r>
                  <a:rPr lang="en-US" altLang="zh-CN" sz="2000" dirty="0">
                    <a:cs typeface="+mn-ea"/>
                    <a:sym typeface="+mn-lt"/>
                  </a:rPr>
                  <a:t>:</a:t>
                </a: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zh-CN" sz="2000" kern="100" dirty="0">
                    <a:solidFill>
                      <a:srgbClr val="0D0D0D"/>
                    </a:solidFill>
                    <a:effectLst/>
                    <a:cs typeface="+mn-ea"/>
                    <a:sym typeface="+mn-lt"/>
                  </a:rPr>
                  <a:t>其中</a:t>
                </a:r>
                <a:r>
                  <a:rPr lang="en-US" altLang="zh-CN" sz="2000" kern="100" dirty="0">
                    <a:solidFill>
                      <a:srgbClr val="0D0D0D"/>
                    </a:solidFill>
                    <a:effectLst/>
                    <a:cs typeface="+mn-ea"/>
                    <a:sym typeface="+mn-lt"/>
                  </a:rPr>
                  <a:t>, </a:t>
                </a:r>
                <a14:m>
                  <m:oMath xmlns:m="http://schemas.openxmlformats.org/officeDocument/2006/math">
                    <m:d>
                      <m:dPr>
                        <m:ctrlPr>
                          <a:rPr lang="zh-CN" altLang="zh-CN" sz="2000" i="1" kern="100">
                            <a:solidFill>
                              <a:srgbClr val="0D0D0D"/>
                            </a:solidFill>
                            <a:effectLst/>
                            <a:latin typeface="Cambria Math" panose="02040503050406030204" pitchFamily="18" charset="0"/>
                            <a:cs typeface="+mn-ea"/>
                            <a:sym typeface="+mn-lt"/>
                          </a:rPr>
                        </m:ctrlPr>
                      </m:dPr>
                      <m:e>
                        <m:sSub>
                          <m:sSubPr>
                            <m:ctrlPr>
                              <a:rPr lang="zh-CN" altLang="zh-CN" sz="2000" i="1" kern="100">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𝑃</m:t>
                            </m:r>
                          </m:e>
                          <m:sub>
                            <m:r>
                              <a:rPr lang="en-US" altLang="zh-CN" sz="2000" i="1" kern="100">
                                <a:solidFill>
                                  <a:srgbClr val="0D0D0D"/>
                                </a:solidFill>
                                <a:effectLst/>
                                <a:latin typeface="Cambria Math" panose="02040503050406030204" pitchFamily="18" charset="0"/>
                                <a:cs typeface="+mn-ea"/>
                                <a:sym typeface="+mn-lt"/>
                              </a:rPr>
                              <m:t>𝑥</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kern="100">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𝑃</m:t>
                            </m:r>
                          </m:e>
                          <m:sub>
                            <m:r>
                              <a:rPr lang="en-US" altLang="zh-CN" sz="2000" i="1" kern="100">
                                <a:solidFill>
                                  <a:srgbClr val="0D0D0D"/>
                                </a:solidFill>
                                <a:effectLst/>
                                <a:latin typeface="Cambria Math" panose="02040503050406030204" pitchFamily="18" charset="0"/>
                                <a:cs typeface="+mn-ea"/>
                                <a:sym typeface="+mn-lt"/>
                              </a:rPr>
                              <m:t>𝑦</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kern="100">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𝑃</m:t>
                            </m:r>
                          </m:e>
                          <m:sub>
                            <m:r>
                              <a:rPr lang="en-US" altLang="zh-CN" sz="2000" i="1" kern="100">
                                <a:solidFill>
                                  <a:srgbClr val="0D0D0D"/>
                                </a:solidFill>
                                <a:effectLst/>
                                <a:latin typeface="Cambria Math" panose="02040503050406030204" pitchFamily="18" charset="0"/>
                                <a:cs typeface="+mn-ea"/>
                                <a:sym typeface="+mn-lt"/>
                              </a:rPr>
                              <m:t>𝑤</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kern="100">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𝑃</m:t>
                            </m:r>
                          </m:e>
                          <m:sub>
                            <m:r>
                              <a:rPr lang="en-US" altLang="zh-CN" sz="2000" i="1" kern="100">
                                <a:solidFill>
                                  <a:srgbClr val="0D0D0D"/>
                                </a:solidFill>
                                <a:effectLst/>
                                <a:latin typeface="Cambria Math" panose="02040503050406030204" pitchFamily="18" charset="0"/>
                                <a:cs typeface="+mn-ea"/>
                                <a:sym typeface="+mn-lt"/>
                              </a:rPr>
                              <m:t>ℎ</m:t>
                            </m:r>
                          </m:sub>
                        </m:sSub>
                      </m:e>
                    </m:d>
                  </m:oMath>
                </a14:m>
                <a:r>
                  <a:rPr lang="en-US" altLang="zh-CN" sz="2000" kern="100" dirty="0">
                    <a:solidFill>
                      <a:srgbClr val="0D0D0D"/>
                    </a:solidFill>
                    <a:effectLst/>
                    <a:cs typeface="+mn-ea"/>
                    <a:sym typeface="+mn-lt"/>
                  </a:rPr>
                  <a:t> </a:t>
                </a:r>
                <a:r>
                  <a:rPr lang="zh-CN" altLang="zh-CN" sz="2000" kern="100" dirty="0">
                    <a:solidFill>
                      <a:srgbClr val="0D0D0D"/>
                    </a:solidFill>
                    <a:effectLst/>
                    <a:cs typeface="+mn-ea"/>
                    <a:sym typeface="+mn-lt"/>
                  </a:rPr>
                  <a:t>表示候选区域的边框</a:t>
                </a:r>
                <a:r>
                  <a:rPr lang="en-US" altLang="zh-CN" sz="2000" kern="100" dirty="0">
                    <a:solidFill>
                      <a:srgbClr val="0D0D0D"/>
                    </a:solidFill>
                    <a:effectLst/>
                    <a:cs typeface="+mn-ea"/>
                    <a:sym typeface="+mn-lt"/>
                  </a:rPr>
                  <a:t>, </a:t>
                </a:r>
                <a14:m>
                  <m:oMath xmlns:m="http://schemas.openxmlformats.org/officeDocument/2006/math">
                    <m:d>
                      <m:dPr>
                        <m:ctrlPr>
                          <a:rPr lang="zh-CN" altLang="zh-CN" sz="2000" i="1" kern="100">
                            <a:solidFill>
                              <a:srgbClr val="0D0D0D"/>
                            </a:solidFill>
                            <a:effectLst/>
                            <a:latin typeface="Cambria Math" panose="02040503050406030204" pitchFamily="18" charset="0"/>
                            <a:cs typeface="+mn-ea"/>
                            <a:sym typeface="+mn-lt"/>
                          </a:rPr>
                        </m:ctrlPr>
                      </m:dPr>
                      <m:e>
                        <m:sSub>
                          <m:sSubPr>
                            <m:ctrlPr>
                              <a:rPr lang="zh-CN" altLang="zh-CN" sz="2000" i="1" kern="100">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𝐺</m:t>
                            </m:r>
                          </m:e>
                          <m:sub>
                            <m:r>
                              <a:rPr lang="en-US" altLang="zh-CN" sz="2000" i="1" kern="100">
                                <a:solidFill>
                                  <a:srgbClr val="0D0D0D"/>
                                </a:solidFill>
                                <a:effectLst/>
                                <a:latin typeface="Cambria Math" panose="02040503050406030204" pitchFamily="18" charset="0"/>
                                <a:cs typeface="+mn-ea"/>
                                <a:sym typeface="+mn-lt"/>
                              </a:rPr>
                              <m:t>𝑥</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kern="100">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𝐺</m:t>
                            </m:r>
                          </m:e>
                          <m:sub>
                            <m:r>
                              <a:rPr lang="en-US" altLang="zh-CN" sz="2000" i="1" kern="100">
                                <a:solidFill>
                                  <a:srgbClr val="0D0D0D"/>
                                </a:solidFill>
                                <a:effectLst/>
                                <a:latin typeface="Cambria Math" panose="02040503050406030204" pitchFamily="18" charset="0"/>
                                <a:cs typeface="+mn-ea"/>
                                <a:sym typeface="+mn-lt"/>
                              </a:rPr>
                              <m:t>𝑦</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kern="100">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𝐺</m:t>
                            </m:r>
                          </m:e>
                          <m:sub>
                            <m:r>
                              <a:rPr lang="en-US" altLang="zh-CN" sz="2000" i="1" kern="100">
                                <a:solidFill>
                                  <a:srgbClr val="0D0D0D"/>
                                </a:solidFill>
                                <a:effectLst/>
                                <a:latin typeface="Cambria Math" panose="02040503050406030204" pitchFamily="18" charset="0"/>
                                <a:cs typeface="+mn-ea"/>
                                <a:sym typeface="+mn-lt"/>
                              </a:rPr>
                              <m:t>𝑤</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kern="100">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𝐺</m:t>
                            </m:r>
                          </m:e>
                          <m:sub>
                            <m:r>
                              <a:rPr lang="en-US" altLang="zh-CN" sz="2000" i="1" kern="100">
                                <a:solidFill>
                                  <a:srgbClr val="0D0D0D"/>
                                </a:solidFill>
                                <a:effectLst/>
                                <a:latin typeface="Cambria Math" panose="02040503050406030204" pitchFamily="18" charset="0"/>
                                <a:cs typeface="+mn-ea"/>
                                <a:sym typeface="+mn-lt"/>
                              </a:rPr>
                              <m:t>ℎ</m:t>
                            </m:r>
                          </m:sub>
                        </m:sSub>
                      </m:e>
                    </m:d>
                  </m:oMath>
                </a14:m>
                <a:r>
                  <a:rPr lang="en-US" altLang="zh-CN" sz="2000" kern="100" dirty="0">
                    <a:solidFill>
                      <a:srgbClr val="0D0D0D"/>
                    </a:solidFill>
                    <a:effectLst/>
                    <a:cs typeface="+mn-ea"/>
                    <a:sym typeface="+mn-lt"/>
                  </a:rPr>
                  <a:t> </a:t>
                </a:r>
                <a:r>
                  <a:rPr lang="zh-CN" altLang="zh-CN" sz="2000" kern="100" dirty="0">
                    <a:solidFill>
                      <a:srgbClr val="0D0D0D"/>
                    </a:solidFill>
                    <a:effectLst/>
                    <a:cs typeface="+mn-ea"/>
                    <a:sym typeface="+mn-lt"/>
                  </a:rPr>
                  <a:t>是目标的边框</a:t>
                </a:r>
                <a:r>
                  <a:rPr lang="zh-CN" altLang="zh-CN" sz="1800" kern="100" dirty="0">
                    <a:solidFill>
                      <a:srgbClr val="0D0D0D"/>
                    </a:solidFill>
                    <a:effectLst/>
                    <a:cs typeface="+mn-ea"/>
                    <a:sym typeface="+mn-lt"/>
                  </a:rPr>
                  <a:t>。</a:t>
                </a:r>
                <a:endParaRPr lang="en-US" altLang="zh-CN" sz="1800" kern="100" dirty="0">
                  <a:solidFill>
                    <a:srgbClr val="0D0D0D"/>
                  </a:solidFill>
                  <a:effectLst/>
                  <a:cs typeface="+mn-ea"/>
                  <a:sym typeface="+mn-lt"/>
                </a:endParaRPr>
              </a:p>
              <a:p>
                <a:pPr marL="0" indent="0">
                  <a:buNone/>
                </a:pPr>
                <a:r>
                  <a:rPr lang="zh-CN" altLang="zh-CN" sz="2000" kern="100" dirty="0">
                    <a:solidFill>
                      <a:srgbClr val="0D0D0D"/>
                    </a:solidFill>
                    <a:effectLst/>
                    <a:cs typeface="+mn-ea"/>
                    <a:sym typeface="+mn-lt"/>
                  </a:rPr>
                  <a:t>在</a:t>
                </a:r>
                <a:r>
                  <a:rPr lang="en-US" altLang="zh-CN" sz="2000" kern="100" dirty="0">
                    <a:solidFill>
                      <a:srgbClr val="0D0D0D"/>
                    </a:solidFill>
                    <a:effectLst/>
                    <a:cs typeface="+mn-ea"/>
                    <a:sym typeface="+mn-lt"/>
                  </a:rPr>
                  <a:t>R-CNN</a:t>
                </a:r>
                <a:r>
                  <a:rPr lang="zh-CN" altLang="zh-CN" sz="2000" kern="100" dirty="0">
                    <a:solidFill>
                      <a:srgbClr val="0D0D0D"/>
                    </a:solidFill>
                    <a:effectLst/>
                    <a:cs typeface="+mn-ea"/>
                    <a:sym typeface="+mn-lt"/>
                  </a:rPr>
                  <a:t>中，这种变换可以表示为对候选框中心位置</a:t>
                </a:r>
                <a14:m>
                  <m:oMath xmlns:m="http://schemas.openxmlformats.org/officeDocument/2006/math">
                    <m:d>
                      <m:dPr>
                        <m:ctrlPr>
                          <a:rPr lang="zh-CN" altLang="zh-CN" sz="2000" i="1" kern="100" smtClean="0">
                            <a:solidFill>
                              <a:srgbClr val="0D0D0D"/>
                            </a:solidFill>
                            <a:effectLst/>
                            <a:latin typeface="Cambria Math" panose="02040503050406030204" pitchFamily="18" charset="0"/>
                            <a:cs typeface="+mn-ea"/>
                            <a:sym typeface="+mn-lt"/>
                          </a:rPr>
                        </m:ctrlPr>
                      </m:dPr>
                      <m:e>
                        <m:r>
                          <a:rPr lang="en-US" altLang="zh-CN" sz="2000" i="1" kern="100">
                            <a:solidFill>
                              <a:srgbClr val="0D0D0D"/>
                            </a:solidFill>
                            <a:effectLst/>
                            <a:latin typeface="Cambria Math" panose="02040503050406030204" pitchFamily="18" charset="0"/>
                            <a:cs typeface="+mn-ea"/>
                            <a:sym typeface="+mn-lt"/>
                          </a:rPr>
                          <m:t>𝑥</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𝑦</m:t>
                        </m:r>
                      </m:e>
                    </m:d>
                  </m:oMath>
                </a14:m>
                <a:r>
                  <a:rPr lang="zh-CN" altLang="zh-CN" sz="2000" kern="100" dirty="0">
                    <a:solidFill>
                      <a:srgbClr val="0D0D0D"/>
                    </a:solidFill>
                    <a:effectLst/>
                    <a:cs typeface="+mn-ea"/>
                    <a:sym typeface="+mn-lt"/>
                  </a:rPr>
                  <a:t>和宽高</a:t>
                </a:r>
                <a14:m>
                  <m:oMath xmlns:m="http://schemas.openxmlformats.org/officeDocument/2006/math">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𝑤</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ℎ</m:t>
                    </m:r>
                    <m:r>
                      <a:rPr lang="en-US" altLang="zh-CN" sz="2000" kern="100">
                        <a:solidFill>
                          <a:srgbClr val="0D0D0D"/>
                        </a:solidFill>
                        <a:effectLst/>
                        <a:latin typeface="Cambria Math" panose="02040503050406030204" pitchFamily="18" charset="0"/>
                        <a:cs typeface="+mn-ea"/>
                        <a:sym typeface="+mn-lt"/>
                      </a:rPr>
                      <m:t>)</m:t>
                    </m:r>
                  </m:oMath>
                </a14:m>
                <a:r>
                  <a:rPr lang="zh-CN" altLang="zh-CN" sz="2000" kern="100" dirty="0">
                    <a:solidFill>
                      <a:srgbClr val="0D0D0D"/>
                    </a:solidFill>
                    <a:effectLst/>
                    <a:cs typeface="+mn-ea"/>
                    <a:sym typeface="+mn-lt"/>
                  </a:rPr>
                  <a:t>相对于真值框的偏移</a:t>
                </a:r>
                <a:r>
                  <a:rPr lang="en-US" altLang="zh-CN" sz="2000" kern="100" dirty="0">
                    <a:solidFill>
                      <a:srgbClr val="0D0D0D"/>
                    </a:solidFill>
                    <a:effectLst/>
                    <a:cs typeface="+mn-ea"/>
                    <a:sym typeface="+mn-lt"/>
                  </a:rPr>
                  <a:t>(Δ𝑥,Δ𝑦)</a:t>
                </a:r>
                <a:r>
                  <a:rPr lang="zh-CN" altLang="zh-CN" sz="2000" kern="100" dirty="0">
                    <a:solidFill>
                      <a:srgbClr val="0D0D0D"/>
                    </a:solidFill>
                    <a:effectLst/>
                    <a:cs typeface="+mn-ea"/>
                    <a:sym typeface="+mn-lt"/>
                  </a:rPr>
                  <a:t>和尺度缩放</a:t>
                </a:r>
                <a:r>
                  <a:rPr lang="en-US" altLang="zh-CN" sz="2000" kern="100" dirty="0">
                    <a:solidFill>
                      <a:srgbClr val="0D0D0D"/>
                    </a:solidFill>
                    <a:effectLst/>
                    <a:cs typeface="+mn-ea"/>
                    <a:sym typeface="+mn-lt"/>
                  </a:rPr>
                  <a:t>(𝑆𝑤,𝑆ℎ)</a:t>
                </a:r>
                <a:r>
                  <a:rPr lang="zh-CN" altLang="zh-CN" sz="2000" kern="100" dirty="0">
                    <a:solidFill>
                      <a:srgbClr val="0D0D0D"/>
                    </a:solidFill>
                    <a:effectLst/>
                    <a:cs typeface="+mn-ea"/>
                    <a:sym typeface="+mn-lt"/>
                  </a:rPr>
                  <a:t>，公式如下：</a:t>
                </a:r>
                <a:endParaRPr lang="zh-CN" altLang="zh-CN" sz="2000" kern="100" dirty="0">
                  <a:effectLst/>
                  <a:cs typeface="+mn-ea"/>
                  <a:sym typeface="+mn-lt"/>
                </a:endParaRPr>
              </a:p>
              <a:p>
                <a:pPr marL="0" indent="0">
                  <a:buNone/>
                </a:pPr>
                <a:endParaRPr lang="zh-CN" altLang="zh-CN" sz="1800" kern="100" dirty="0">
                  <a:effectLst/>
                  <a:cs typeface="+mn-ea"/>
                  <a:sym typeface="+mn-lt"/>
                </a:endParaRPr>
              </a:p>
              <a:p>
                <a:pPr marL="0" indent="0">
                  <a:buNone/>
                </a:pPr>
                <a:endParaRPr lang="en-US" altLang="zh-CN" sz="2000" dirty="0">
                  <a:cs typeface="+mn-ea"/>
                  <a:sym typeface="+mn-lt"/>
                </a:endParaRPr>
              </a:p>
              <a:p>
                <a:pPr marL="0" indent="0">
                  <a:buNone/>
                </a:pPr>
                <a:endParaRPr lang="zh-CN" altLang="en-US" sz="2000" dirty="0">
                  <a:cs typeface="+mn-ea"/>
                  <a:sym typeface="+mn-lt"/>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rotWithShape="1">
          <a:blip r:embed="rId2"/>
          <a:srcRect l="29400" t="-618" r="29455" b="-5942"/>
          <a:stretch>
            <a:fillRect/>
          </a:stretch>
        </p:blipFill>
        <p:spPr>
          <a:xfrm>
            <a:off x="4758431" y="3102747"/>
            <a:ext cx="3691192" cy="448321"/>
          </a:xfrm>
          <a:prstGeom prst="rect">
            <a:avLst/>
          </a:prstGeom>
        </p:spPr>
      </p:pic>
      <p:pic>
        <p:nvPicPr>
          <p:cNvPr id="10" name="图片 9"/>
          <p:cNvPicPr>
            <a:picLocks noChangeAspect="1"/>
          </p:cNvPicPr>
          <p:nvPr/>
        </p:nvPicPr>
        <p:blipFill rotWithShape="1">
          <a:blip r:embed="rId3"/>
          <a:srcRect l="36896" r="37618"/>
          <a:stretch>
            <a:fillRect/>
          </a:stretch>
        </p:blipFill>
        <p:spPr>
          <a:xfrm>
            <a:off x="5459766" y="4606247"/>
            <a:ext cx="2580676" cy="150857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92500"/>
              </a:bodyPr>
              <a:lstStyle/>
              <a:p>
                <a:pPr marL="0" indent="0">
                  <a:buNone/>
                </a:pPr>
                <a:r>
                  <a:rPr lang="zh-CN" altLang="en-US" sz="2000" dirty="0">
                    <a:cs typeface="+mn-ea"/>
                    <a:sym typeface="+mn-lt"/>
                  </a:rPr>
                  <a:t>修正后的边框可以表示为：</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zh-CN" sz="2000" kern="100" dirty="0">
                    <a:solidFill>
                      <a:srgbClr val="0D0D0D"/>
                    </a:solidFill>
                    <a:effectLst/>
                    <a:cs typeface="+mn-ea"/>
                    <a:sym typeface="+mn-lt"/>
                  </a:rPr>
                  <a:t>通过上述公式可以知道</a:t>
                </a:r>
                <a:r>
                  <a:rPr lang="en-US" altLang="zh-CN" sz="2000" kern="100" dirty="0">
                    <a:solidFill>
                      <a:srgbClr val="0D0D0D"/>
                    </a:solidFill>
                    <a:effectLst/>
                    <a:cs typeface="+mn-ea"/>
                    <a:sym typeface="+mn-lt"/>
                  </a:rPr>
                  <a:t>, </a:t>
                </a:r>
                <a:r>
                  <a:rPr lang="zh-CN" altLang="zh-CN" sz="2000" kern="100" dirty="0">
                    <a:solidFill>
                      <a:srgbClr val="0D0D0D"/>
                    </a:solidFill>
                    <a:effectLst/>
                    <a:cs typeface="+mn-ea"/>
                    <a:sym typeface="+mn-lt"/>
                  </a:rPr>
                  <a:t>边框回归的过程实际就是</a:t>
                </a:r>
                <a:r>
                  <a:rPr lang="zh-CN" altLang="zh-CN" sz="2000" b="1" kern="100" dirty="0">
                    <a:solidFill>
                      <a:srgbClr val="0D0D0D"/>
                    </a:solidFill>
                    <a:effectLst/>
                    <a:cs typeface="+mn-ea"/>
                    <a:sym typeface="+mn-lt"/>
                  </a:rPr>
                  <a:t>学习 </a:t>
                </a:r>
                <a14:m>
                  <m:oMath xmlns:m="http://schemas.openxmlformats.org/officeDocument/2006/math">
                    <m:sSub>
                      <m:sSubPr>
                        <m:ctrlPr>
                          <a:rPr lang="zh-CN" altLang="zh-CN" sz="1800" b="1" i="1" kern="100">
                            <a:solidFill>
                              <a:srgbClr val="0D0D0D"/>
                            </a:solidFill>
                            <a:effectLst/>
                            <a:latin typeface="Cambria Math" panose="02040503050406030204" pitchFamily="18" charset="0"/>
                            <a:cs typeface="+mn-ea"/>
                            <a:sym typeface="+mn-lt"/>
                          </a:rPr>
                        </m:ctrlPr>
                      </m:sSubPr>
                      <m:e>
                        <m:r>
                          <a:rPr lang="en-US" altLang="zh-CN" sz="1800" b="1" i="1" kern="100">
                            <a:solidFill>
                              <a:srgbClr val="0D0D0D"/>
                            </a:solidFill>
                            <a:effectLst/>
                            <a:latin typeface="Cambria Math" panose="02040503050406030204" pitchFamily="18" charset="0"/>
                            <a:cs typeface="+mn-ea"/>
                            <a:sym typeface="+mn-lt"/>
                          </a:rPr>
                          <m:t>𝒅</m:t>
                        </m:r>
                      </m:e>
                      <m:sub>
                        <m:r>
                          <a:rPr lang="en-US" altLang="zh-CN" sz="1800" b="1" i="1" kern="100">
                            <a:solidFill>
                              <a:srgbClr val="0D0D0D"/>
                            </a:solidFill>
                            <a:effectLst/>
                            <a:latin typeface="Cambria Math" panose="02040503050406030204" pitchFamily="18" charset="0"/>
                            <a:cs typeface="+mn-ea"/>
                            <a:sym typeface="+mn-lt"/>
                          </a:rPr>
                          <m:t>𝒙</m:t>
                        </m:r>
                      </m:sub>
                    </m:sSub>
                    <m:r>
                      <a:rPr lang="en-US" altLang="zh-CN" sz="1800" b="1" kern="100">
                        <a:solidFill>
                          <a:srgbClr val="0D0D0D"/>
                        </a:solidFill>
                        <a:effectLst/>
                        <a:latin typeface="Cambria Math" panose="02040503050406030204" pitchFamily="18" charset="0"/>
                        <a:cs typeface="+mn-ea"/>
                        <a:sym typeface="+mn-lt"/>
                      </a:rPr>
                      <m:t>(</m:t>
                    </m:r>
                    <m:r>
                      <a:rPr lang="en-US" altLang="zh-CN" sz="1800" b="1" i="1" kern="100">
                        <a:solidFill>
                          <a:srgbClr val="0D0D0D"/>
                        </a:solidFill>
                        <a:effectLst/>
                        <a:latin typeface="Cambria Math" panose="02040503050406030204" pitchFamily="18" charset="0"/>
                        <a:cs typeface="+mn-ea"/>
                        <a:sym typeface="+mn-lt"/>
                      </a:rPr>
                      <m:t>𝑷</m:t>
                    </m:r>
                    <m:r>
                      <a:rPr lang="en-US" altLang="zh-CN" sz="1800" b="1" kern="100">
                        <a:solidFill>
                          <a:srgbClr val="0D0D0D"/>
                        </a:solidFill>
                        <a:effectLst/>
                        <a:latin typeface="Cambria Math" panose="02040503050406030204" pitchFamily="18" charset="0"/>
                        <a:cs typeface="+mn-ea"/>
                        <a:sym typeface="+mn-lt"/>
                      </a:rPr>
                      <m:t>),</m:t>
                    </m:r>
                    <m:sSub>
                      <m:sSubPr>
                        <m:ctrlPr>
                          <a:rPr lang="zh-CN" altLang="zh-CN" sz="1800" b="1" i="1" kern="100">
                            <a:solidFill>
                              <a:srgbClr val="0D0D0D"/>
                            </a:solidFill>
                            <a:effectLst/>
                            <a:latin typeface="Cambria Math" panose="02040503050406030204" pitchFamily="18" charset="0"/>
                            <a:cs typeface="+mn-ea"/>
                            <a:sym typeface="+mn-lt"/>
                          </a:rPr>
                        </m:ctrlPr>
                      </m:sSubPr>
                      <m:e>
                        <m:r>
                          <a:rPr lang="en-US" altLang="zh-CN" sz="1800" b="1" i="1" kern="100">
                            <a:solidFill>
                              <a:srgbClr val="0D0D0D"/>
                            </a:solidFill>
                            <a:effectLst/>
                            <a:latin typeface="Cambria Math" panose="02040503050406030204" pitchFamily="18" charset="0"/>
                            <a:cs typeface="+mn-ea"/>
                            <a:sym typeface="+mn-lt"/>
                          </a:rPr>
                          <m:t>𝒅</m:t>
                        </m:r>
                      </m:e>
                      <m:sub>
                        <m:r>
                          <a:rPr lang="en-US" altLang="zh-CN" sz="1800" b="1" i="1" kern="100">
                            <a:solidFill>
                              <a:srgbClr val="0D0D0D"/>
                            </a:solidFill>
                            <a:effectLst/>
                            <a:latin typeface="Cambria Math" panose="02040503050406030204" pitchFamily="18" charset="0"/>
                            <a:cs typeface="+mn-ea"/>
                            <a:sym typeface="+mn-lt"/>
                          </a:rPr>
                          <m:t>𝒚</m:t>
                        </m:r>
                      </m:sub>
                    </m:sSub>
                    <m:r>
                      <a:rPr lang="en-US" altLang="zh-CN" sz="1800" b="1" kern="100">
                        <a:solidFill>
                          <a:srgbClr val="0D0D0D"/>
                        </a:solidFill>
                        <a:effectLst/>
                        <a:latin typeface="Cambria Math" panose="02040503050406030204" pitchFamily="18" charset="0"/>
                        <a:cs typeface="+mn-ea"/>
                        <a:sym typeface="+mn-lt"/>
                      </a:rPr>
                      <m:t>(</m:t>
                    </m:r>
                    <m:r>
                      <a:rPr lang="en-US" altLang="zh-CN" sz="1800" b="1" i="1" kern="100">
                        <a:solidFill>
                          <a:srgbClr val="0D0D0D"/>
                        </a:solidFill>
                        <a:effectLst/>
                        <a:latin typeface="Cambria Math" panose="02040503050406030204" pitchFamily="18" charset="0"/>
                        <a:cs typeface="+mn-ea"/>
                        <a:sym typeface="+mn-lt"/>
                      </a:rPr>
                      <m:t>𝑷</m:t>
                    </m:r>
                    <m:r>
                      <a:rPr lang="en-US" altLang="zh-CN" sz="1800" b="1" kern="100">
                        <a:solidFill>
                          <a:srgbClr val="0D0D0D"/>
                        </a:solidFill>
                        <a:effectLst/>
                        <a:latin typeface="Cambria Math" panose="02040503050406030204" pitchFamily="18" charset="0"/>
                        <a:cs typeface="+mn-ea"/>
                        <a:sym typeface="+mn-lt"/>
                      </a:rPr>
                      <m:t>),</m:t>
                    </m:r>
                    <m:sSub>
                      <m:sSubPr>
                        <m:ctrlPr>
                          <a:rPr lang="zh-CN" altLang="zh-CN" sz="1800" b="1" i="1" kern="100">
                            <a:solidFill>
                              <a:srgbClr val="0D0D0D"/>
                            </a:solidFill>
                            <a:effectLst/>
                            <a:latin typeface="Cambria Math" panose="02040503050406030204" pitchFamily="18" charset="0"/>
                            <a:cs typeface="+mn-ea"/>
                            <a:sym typeface="+mn-lt"/>
                          </a:rPr>
                        </m:ctrlPr>
                      </m:sSubPr>
                      <m:e>
                        <m:r>
                          <a:rPr lang="en-US" altLang="zh-CN" sz="1800" b="1" i="1" kern="100">
                            <a:solidFill>
                              <a:srgbClr val="0D0D0D"/>
                            </a:solidFill>
                            <a:effectLst/>
                            <a:latin typeface="Cambria Math" panose="02040503050406030204" pitchFamily="18" charset="0"/>
                            <a:cs typeface="+mn-ea"/>
                            <a:sym typeface="+mn-lt"/>
                          </a:rPr>
                          <m:t>𝒅</m:t>
                        </m:r>
                      </m:e>
                      <m:sub>
                        <m:r>
                          <a:rPr lang="en-US" altLang="zh-CN" sz="1800" b="1" i="1" kern="100">
                            <a:solidFill>
                              <a:srgbClr val="0D0D0D"/>
                            </a:solidFill>
                            <a:effectLst/>
                            <a:latin typeface="Cambria Math" panose="02040503050406030204" pitchFamily="18" charset="0"/>
                            <a:cs typeface="+mn-ea"/>
                            <a:sym typeface="+mn-lt"/>
                          </a:rPr>
                          <m:t>𝒘</m:t>
                        </m:r>
                      </m:sub>
                    </m:sSub>
                    <m:r>
                      <a:rPr lang="en-US" altLang="zh-CN" sz="1800" b="1" kern="100">
                        <a:solidFill>
                          <a:srgbClr val="0D0D0D"/>
                        </a:solidFill>
                        <a:effectLst/>
                        <a:latin typeface="Cambria Math" panose="02040503050406030204" pitchFamily="18" charset="0"/>
                        <a:cs typeface="+mn-ea"/>
                        <a:sym typeface="+mn-lt"/>
                      </a:rPr>
                      <m:t>(</m:t>
                    </m:r>
                    <m:r>
                      <a:rPr lang="en-US" altLang="zh-CN" sz="1800" b="1" i="1" kern="100">
                        <a:solidFill>
                          <a:srgbClr val="0D0D0D"/>
                        </a:solidFill>
                        <a:effectLst/>
                        <a:latin typeface="Cambria Math" panose="02040503050406030204" pitchFamily="18" charset="0"/>
                        <a:cs typeface="+mn-ea"/>
                        <a:sym typeface="+mn-lt"/>
                      </a:rPr>
                      <m:t>𝑷</m:t>
                    </m:r>
                    <m:r>
                      <a:rPr lang="en-US" altLang="zh-CN" sz="1800" b="1" kern="100">
                        <a:solidFill>
                          <a:srgbClr val="0D0D0D"/>
                        </a:solidFill>
                        <a:effectLst/>
                        <a:latin typeface="Cambria Math" panose="02040503050406030204" pitchFamily="18" charset="0"/>
                        <a:cs typeface="+mn-ea"/>
                        <a:sym typeface="+mn-lt"/>
                      </a:rPr>
                      <m:t>),</m:t>
                    </m:r>
                    <m:sSub>
                      <m:sSubPr>
                        <m:ctrlPr>
                          <a:rPr lang="zh-CN" altLang="zh-CN" sz="1800" b="1" i="1" kern="100">
                            <a:solidFill>
                              <a:srgbClr val="0D0D0D"/>
                            </a:solidFill>
                            <a:effectLst/>
                            <a:latin typeface="Cambria Math" panose="02040503050406030204" pitchFamily="18" charset="0"/>
                            <a:cs typeface="+mn-ea"/>
                            <a:sym typeface="+mn-lt"/>
                          </a:rPr>
                        </m:ctrlPr>
                      </m:sSubPr>
                      <m:e>
                        <m:r>
                          <a:rPr lang="en-US" altLang="zh-CN" sz="1800" b="1" i="1" kern="100">
                            <a:solidFill>
                              <a:srgbClr val="0D0D0D"/>
                            </a:solidFill>
                            <a:effectLst/>
                            <a:latin typeface="Cambria Math" panose="02040503050406030204" pitchFamily="18" charset="0"/>
                            <a:cs typeface="+mn-ea"/>
                            <a:sym typeface="+mn-lt"/>
                          </a:rPr>
                          <m:t>𝒅</m:t>
                        </m:r>
                      </m:e>
                      <m:sub>
                        <m:r>
                          <a:rPr lang="en-US" altLang="zh-CN" sz="1800" b="1" i="1" kern="100">
                            <a:solidFill>
                              <a:srgbClr val="0D0D0D"/>
                            </a:solidFill>
                            <a:effectLst/>
                            <a:latin typeface="Cambria Math" panose="02040503050406030204" pitchFamily="18" charset="0"/>
                            <a:cs typeface="+mn-ea"/>
                            <a:sym typeface="+mn-lt"/>
                          </a:rPr>
                          <m:t>𝒉</m:t>
                        </m:r>
                      </m:sub>
                    </m:sSub>
                    <m:r>
                      <a:rPr lang="en-US" altLang="zh-CN" sz="1800" b="1" kern="100">
                        <a:solidFill>
                          <a:srgbClr val="0D0D0D"/>
                        </a:solidFill>
                        <a:effectLst/>
                        <a:latin typeface="Cambria Math" panose="02040503050406030204" pitchFamily="18" charset="0"/>
                        <a:cs typeface="+mn-ea"/>
                        <a:sym typeface="+mn-lt"/>
                      </a:rPr>
                      <m:t>(</m:t>
                    </m:r>
                    <m:r>
                      <a:rPr lang="en-US" altLang="zh-CN" sz="1800" b="1" i="1" kern="100">
                        <a:solidFill>
                          <a:srgbClr val="0D0D0D"/>
                        </a:solidFill>
                        <a:effectLst/>
                        <a:latin typeface="Cambria Math" panose="02040503050406030204" pitchFamily="18" charset="0"/>
                        <a:cs typeface="+mn-ea"/>
                        <a:sym typeface="+mn-lt"/>
                      </a:rPr>
                      <m:t>𝑷</m:t>
                    </m:r>
                    <m:r>
                      <a:rPr lang="en-US" altLang="zh-CN" sz="1800" b="1" kern="100">
                        <a:solidFill>
                          <a:srgbClr val="0D0D0D"/>
                        </a:solidFill>
                        <a:effectLst/>
                        <a:latin typeface="Cambria Math" panose="02040503050406030204" pitchFamily="18" charset="0"/>
                        <a:cs typeface="+mn-ea"/>
                        <a:sym typeface="+mn-lt"/>
                      </a:rPr>
                      <m:t>)</m:t>
                    </m:r>
                  </m:oMath>
                </a14:m>
                <a:r>
                  <a:rPr lang="zh-CN" altLang="zh-CN" sz="2000" b="1" kern="100" dirty="0">
                    <a:solidFill>
                      <a:srgbClr val="0D0D0D"/>
                    </a:solidFill>
                    <a:effectLst/>
                    <a:cs typeface="+mn-ea"/>
                    <a:sym typeface="+mn-lt"/>
                  </a:rPr>
                  <a:t>这四个变换</a:t>
                </a:r>
                <a:r>
                  <a:rPr lang="zh-CN" altLang="zh-CN" sz="2000" kern="100" dirty="0">
                    <a:solidFill>
                      <a:srgbClr val="0D0D0D"/>
                    </a:solidFill>
                    <a:effectLst/>
                    <a:cs typeface="+mn-ea"/>
                    <a:sym typeface="+mn-lt"/>
                  </a:rPr>
                  <a:t>。负责回归真值框的全连接层</a:t>
                </a:r>
                <a:r>
                  <a:rPr lang="en-US" altLang="zh-CN" sz="2000" kern="100" dirty="0">
                    <a:solidFill>
                      <a:srgbClr val="0D0D0D"/>
                    </a:solidFill>
                    <a:effectLst/>
                    <a:cs typeface="+mn-ea"/>
                    <a:sym typeface="+mn-lt"/>
                  </a:rPr>
                  <a:t>, </a:t>
                </a:r>
                <a:r>
                  <a:rPr lang="zh-CN" altLang="zh-CN" sz="2000" kern="100" dirty="0">
                    <a:solidFill>
                      <a:srgbClr val="0D0D0D"/>
                    </a:solidFill>
                    <a:effectLst/>
                    <a:cs typeface="+mn-ea"/>
                    <a:sym typeface="+mn-lt"/>
                  </a:rPr>
                  <a:t>输入的是候选区域的特征向量</a:t>
                </a:r>
                <a:r>
                  <a:rPr lang="en-US" altLang="zh-CN" sz="2000" kern="100" dirty="0">
                    <a:solidFill>
                      <a:srgbClr val="0D0D0D"/>
                    </a:solidFill>
                    <a:effectLst/>
                    <a:cs typeface="+mn-ea"/>
                    <a:sym typeface="+mn-lt"/>
                  </a:rPr>
                  <a:t>, </a:t>
                </a:r>
                <a:r>
                  <a:rPr lang="zh-CN" altLang="zh-CN" sz="2000" kern="100" dirty="0">
                    <a:solidFill>
                      <a:srgbClr val="0D0D0D"/>
                    </a:solidFill>
                    <a:effectLst/>
                    <a:cs typeface="+mn-ea"/>
                    <a:sym typeface="+mn-lt"/>
                  </a:rPr>
                  <a:t>输出的是</a:t>
                </a:r>
                <a:r>
                  <a:rPr lang="zh-CN" altLang="zh-CN" sz="1800" kern="100" dirty="0">
                    <a:solidFill>
                      <a:srgbClr val="0D0D0D"/>
                    </a:solidFill>
                    <a:effectLst/>
                    <a:cs typeface="+mn-ea"/>
                    <a:sym typeface="+mn-lt"/>
                  </a:rPr>
                  <a:t> </a:t>
                </a:r>
                <a14:m>
                  <m:oMath xmlns:m="http://schemas.openxmlformats.org/officeDocument/2006/math">
                    <m:sSub>
                      <m:sSubPr>
                        <m:ctrlPr>
                          <a:rPr lang="zh-CN" altLang="zh-CN" sz="1800" i="1" kern="100">
                            <a:solidFill>
                              <a:srgbClr val="0D0D0D"/>
                            </a:solidFill>
                            <a:effectLst/>
                            <a:latin typeface="Cambria Math" panose="02040503050406030204" pitchFamily="18" charset="0"/>
                            <a:cs typeface="+mn-ea"/>
                            <a:sym typeface="+mn-lt"/>
                          </a:rPr>
                        </m:ctrlPr>
                      </m:sSubPr>
                      <m:e>
                        <m:r>
                          <a:rPr lang="en-US" altLang="zh-CN" sz="1800" i="1" kern="100">
                            <a:solidFill>
                              <a:srgbClr val="0D0D0D"/>
                            </a:solidFill>
                            <a:effectLst/>
                            <a:latin typeface="Cambria Math" panose="02040503050406030204" pitchFamily="18" charset="0"/>
                            <a:cs typeface="+mn-ea"/>
                            <a:sym typeface="+mn-lt"/>
                          </a:rPr>
                          <m:t>𝑑</m:t>
                        </m:r>
                      </m:e>
                      <m:sub>
                        <m:r>
                          <a:rPr lang="en-US" altLang="zh-CN" sz="1800" i="1" kern="100">
                            <a:solidFill>
                              <a:srgbClr val="0D0D0D"/>
                            </a:solidFill>
                            <a:effectLst/>
                            <a:latin typeface="Cambria Math" panose="02040503050406030204" pitchFamily="18" charset="0"/>
                            <a:cs typeface="+mn-ea"/>
                            <a:sym typeface="+mn-lt"/>
                          </a:rPr>
                          <m:t>𝑥</m:t>
                        </m:r>
                      </m:sub>
                    </m:sSub>
                    <m:r>
                      <a:rPr lang="en-US" altLang="zh-CN" sz="1800" kern="100">
                        <a:solidFill>
                          <a:srgbClr val="0D0D0D"/>
                        </a:solidFill>
                        <a:effectLst/>
                        <a:latin typeface="Cambria Math" panose="02040503050406030204" pitchFamily="18" charset="0"/>
                        <a:cs typeface="+mn-ea"/>
                        <a:sym typeface="+mn-lt"/>
                      </a:rPr>
                      <m:t>(</m:t>
                    </m:r>
                    <m:r>
                      <a:rPr lang="en-US" altLang="zh-CN" sz="1800" i="1" kern="100">
                        <a:solidFill>
                          <a:srgbClr val="0D0D0D"/>
                        </a:solidFill>
                        <a:effectLst/>
                        <a:latin typeface="Cambria Math" panose="02040503050406030204" pitchFamily="18" charset="0"/>
                        <a:cs typeface="+mn-ea"/>
                        <a:sym typeface="+mn-lt"/>
                      </a:rPr>
                      <m:t>𝑃</m:t>
                    </m:r>
                    <m:r>
                      <a:rPr lang="en-US" altLang="zh-CN" sz="1800" kern="100">
                        <a:solidFill>
                          <a:srgbClr val="0D0D0D"/>
                        </a:solidFill>
                        <a:effectLst/>
                        <a:latin typeface="Cambria Math" panose="02040503050406030204" pitchFamily="18" charset="0"/>
                        <a:cs typeface="+mn-ea"/>
                        <a:sym typeface="+mn-lt"/>
                      </a:rPr>
                      <m:t>),</m:t>
                    </m:r>
                    <m:sSub>
                      <m:sSubPr>
                        <m:ctrlPr>
                          <a:rPr lang="zh-CN" altLang="zh-CN" sz="1800" i="1" kern="100">
                            <a:solidFill>
                              <a:srgbClr val="0D0D0D"/>
                            </a:solidFill>
                            <a:effectLst/>
                            <a:latin typeface="Cambria Math" panose="02040503050406030204" pitchFamily="18" charset="0"/>
                            <a:cs typeface="+mn-ea"/>
                            <a:sym typeface="+mn-lt"/>
                          </a:rPr>
                        </m:ctrlPr>
                      </m:sSubPr>
                      <m:e>
                        <m:r>
                          <a:rPr lang="en-US" altLang="zh-CN" sz="1800" i="1" kern="100">
                            <a:solidFill>
                              <a:srgbClr val="0D0D0D"/>
                            </a:solidFill>
                            <a:effectLst/>
                            <a:latin typeface="Cambria Math" panose="02040503050406030204" pitchFamily="18" charset="0"/>
                            <a:cs typeface="+mn-ea"/>
                            <a:sym typeface="+mn-lt"/>
                          </a:rPr>
                          <m:t>𝑑</m:t>
                        </m:r>
                      </m:e>
                      <m:sub>
                        <m:r>
                          <a:rPr lang="en-US" altLang="zh-CN" sz="1800" i="1" kern="100">
                            <a:solidFill>
                              <a:srgbClr val="0D0D0D"/>
                            </a:solidFill>
                            <a:effectLst/>
                            <a:latin typeface="Cambria Math" panose="02040503050406030204" pitchFamily="18" charset="0"/>
                            <a:cs typeface="+mn-ea"/>
                            <a:sym typeface="+mn-lt"/>
                          </a:rPr>
                          <m:t>𝑦</m:t>
                        </m:r>
                      </m:sub>
                    </m:sSub>
                    <m:r>
                      <a:rPr lang="en-US" altLang="zh-CN" sz="1800" kern="100">
                        <a:solidFill>
                          <a:srgbClr val="0D0D0D"/>
                        </a:solidFill>
                        <a:effectLst/>
                        <a:latin typeface="Cambria Math" panose="02040503050406030204" pitchFamily="18" charset="0"/>
                        <a:cs typeface="+mn-ea"/>
                        <a:sym typeface="+mn-lt"/>
                      </a:rPr>
                      <m:t>(</m:t>
                    </m:r>
                    <m:r>
                      <a:rPr lang="en-US" altLang="zh-CN" sz="1800" i="1" kern="100">
                        <a:solidFill>
                          <a:srgbClr val="0D0D0D"/>
                        </a:solidFill>
                        <a:effectLst/>
                        <a:latin typeface="Cambria Math" panose="02040503050406030204" pitchFamily="18" charset="0"/>
                        <a:cs typeface="+mn-ea"/>
                        <a:sym typeface="+mn-lt"/>
                      </a:rPr>
                      <m:t>𝑃</m:t>
                    </m:r>
                    <m:r>
                      <a:rPr lang="en-US" altLang="zh-CN" sz="1800" kern="100">
                        <a:solidFill>
                          <a:srgbClr val="0D0D0D"/>
                        </a:solidFill>
                        <a:effectLst/>
                        <a:latin typeface="Cambria Math" panose="02040503050406030204" pitchFamily="18" charset="0"/>
                        <a:cs typeface="+mn-ea"/>
                        <a:sym typeface="+mn-lt"/>
                      </a:rPr>
                      <m:t>),</m:t>
                    </m:r>
                    <m:sSub>
                      <m:sSubPr>
                        <m:ctrlPr>
                          <a:rPr lang="zh-CN" altLang="zh-CN" sz="1800" i="1" kern="100">
                            <a:solidFill>
                              <a:srgbClr val="0D0D0D"/>
                            </a:solidFill>
                            <a:effectLst/>
                            <a:latin typeface="Cambria Math" panose="02040503050406030204" pitchFamily="18" charset="0"/>
                            <a:cs typeface="+mn-ea"/>
                            <a:sym typeface="+mn-lt"/>
                          </a:rPr>
                        </m:ctrlPr>
                      </m:sSubPr>
                      <m:e>
                        <m:r>
                          <a:rPr lang="en-US" altLang="zh-CN" sz="1800" i="1" kern="100">
                            <a:solidFill>
                              <a:srgbClr val="0D0D0D"/>
                            </a:solidFill>
                            <a:effectLst/>
                            <a:latin typeface="Cambria Math" panose="02040503050406030204" pitchFamily="18" charset="0"/>
                            <a:cs typeface="+mn-ea"/>
                            <a:sym typeface="+mn-lt"/>
                          </a:rPr>
                          <m:t>𝑑</m:t>
                        </m:r>
                      </m:e>
                      <m:sub>
                        <m:r>
                          <a:rPr lang="en-US" altLang="zh-CN" sz="1800" i="1" kern="100">
                            <a:solidFill>
                              <a:srgbClr val="0D0D0D"/>
                            </a:solidFill>
                            <a:effectLst/>
                            <a:latin typeface="Cambria Math" panose="02040503050406030204" pitchFamily="18" charset="0"/>
                            <a:cs typeface="+mn-ea"/>
                            <a:sym typeface="+mn-lt"/>
                          </a:rPr>
                          <m:t>𝑤</m:t>
                        </m:r>
                      </m:sub>
                    </m:sSub>
                    <m:r>
                      <a:rPr lang="en-US" altLang="zh-CN" sz="1800" kern="100">
                        <a:solidFill>
                          <a:srgbClr val="0D0D0D"/>
                        </a:solidFill>
                        <a:effectLst/>
                        <a:latin typeface="Cambria Math" panose="02040503050406030204" pitchFamily="18" charset="0"/>
                        <a:cs typeface="+mn-ea"/>
                        <a:sym typeface="+mn-lt"/>
                      </a:rPr>
                      <m:t>(</m:t>
                    </m:r>
                    <m:r>
                      <a:rPr lang="en-US" altLang="zh-CN" sz="1800" i="1" kern="100">
                        <a:solidFill>
                          <a:srgbClr val="0D0D0D"/>
                        </a:solidFill>
                        <a:effectLst/>
                        <a:latin typeface="Cambria Math" panose="02040503050406030204" pitchFamily="18" charset="0"/>
                        <a:cs typeface="+mn-ea"/>
                        <a:sym typeface="+mn-lt"/>
                      </a:rPr>
                      <m:t>𝑃</m:t>
                    </m:r>
                    <m:r>
                      <a:rPr lang="en-US" altLang="zh-CN" sz="1800" kern="100">
                        <a:solidFill>
                          <a:srgbClr val="0D0D0D"/>
                        </a:solidFill>
                        <a:effectLst/>
                        <a:latin typeface="Cambria Math" panose="02040503050406030204" pitchFamily="18" charset="0"/>
                        <a:cs typeface="+mn-ea"/>
                        <a:sym typeface="+mn-lt"/>
                      </a:rPr>
                      <m:t>),</m:t>
                    </m:r>
                    <m:sSub>
                      <m:sSubPr>
                        <m:ctrlPr>
                          <a:rPr lang="zh-CN" altLang="zh-CN" sz="1800" i="1" kern="100">
                            <a:solidFill>
                              <a:srgbClr val="0D0D0D"/>
                            </a:solidFill>
                            <a:effectLst/>
                            <a:latin typeface="Cambria Math" panose="02040503050406030204" pitchFamily="18" charset="0"/>
                            <a:cs typeface="+mn-ea"/>
                            <a:sym typeface="+mn-lt"/>
                          </a:rPr>
                        </m:ctrlPr>
                      </m:sSubPr>
                      <m:e>
                        <m:r>
                          <a:rPr lang="en-US" altLang="zh-CN" sz="1800" i="1" kern="100">
                            <a:solidFill>
                              <a:srgbClr val="0D0D0D"/>
                            </a:solidFill>
                            <a:effectLst/>
                            <a:latin typeface="Cambria Math" panose="02040503050406030204" pitchFamily="18" charset="0"/>
                            <a:cs typeface="+mn-ea"/>
                            <a:sym typeface="+mn-lt"/>
                          </a:rPr>
                          <m:t>𝑑</m:t>
                        </m:r>
                      </m:e>
                      <m:sub>
                        <m:r>
                          <a:rPr lang="en-US" altLang="zh-CN" sz="1800" i="1" kern="100">
                            <a:solidFill>
                              <a:srgbClr val="0D0D0D"/>
                            </a:solidFill>
                            <a:effectLst/>
                            <a:latin typeface="Cambria Math" panose="02040503050406030204" pitchFamily="18" charset="0"/>
                            <a:cs typeface="+mn-ea"/>
                            <a:sym typeface="+mn-lt"/>
                          </a:rPr>
                          <m:t>ℎ</m:t>
                        </m:r>
                      </m:sub>
                    </m:sSub>
                    <m:r>
                      <a:rPr lang="en-US" altLang="zh-CN" sz="1800" kern="100">
                        <a:solidFill>
                          <a:srgbClr val="0D0D0D"/>
                        </a:solidFill>
                        <a:effectLst/>
                        <a:latin typeface="Cambria Math" panose="02040503050406030204" pitchFamily="18" charset="0"/>
                        <a:cs typeface="+mn-ea"/>
                        <a:sym typeface="+mn-lt"/>
                      </a:rPr>
                      <m:t>(</m:t>
                    </m:r>
                    <m:r>
                      <a:rPr lang="en-US" altLang="zh-CN" sz="1800" i="1" kern="100">
                        <a:solidFill>
                          <a:srgbClr val="0D0D0D"/>
                        </a:solidFill>
                        <a:effectLst/>
                        <a:latin typeface="Cambria Math" panose="02040503050406030204" pitchFamily="18" charset="0"/>
                        <a:cs typeface="+mn-ea"/>
                        <a:sym typeface="+mn-lt"/>
                      </a:rPr>
                      <m:t>𝑃</m:t>
                    </m:r>
                    <m:r>
                      <a:rPr lang="en-US" altLang="zh-CN" sz="1800" kern="100">
                        <a:solidFill>
                          <a:srgbClr val="0D0D0D"/>
                        </a:solidFill>
                        <a:effectLst/>
                        <a:latin typeface="Cambria Math" panose="02040503050406030204" pitchFamily="18" charset="0"/>
                        <a:cs typeface="+mn-ea"/>
                        <a:sym typeface="+mn-lt"/>
                      </a:rPr>
                      <m:t>)</m:t>
                    </m:r>
                  </m:oMath>
                </a14:m>
                <a:r>
                  <a:rPr lang="en-US" altLang="zh-CN" sz="1800" kern="100" dirty="0">
                    <a:solidFill>
                      <a:srgbClr val="0D0D0D"/>
                    </a:solidFill>
                    <a:effectLst/>
                    <a:cs typeface="+mn-ea"/>
                    <a:sym typeface="+mn-lt"/>
                  </a:rPr>
                  <a:t>, </a:t>
                </a:r>
                <a:r>
                  <a:rPr lang="zh-CN" altLang="zh-CN" sz="2000" kern="100" dirty="0">
                    <a:solidFill>
                      <a:srgbClr val="0D0D0D"/>
                    </a:solidFill>
                    <a:effectLst/>
                    <a:cs typeface="+mn-ea"/>
                    <a:sym typeface="+mn-lt"/>
                  </a:rPr>
                  <a:t>经过上述公式的可以得到平移和缩放修正后的边框 </a:t>
                </a:r>
                <a14:m>
                  <m:oMath xmlns:m="http://schemas.openxmlformats.org/officeDocument/2006/math">
                    <m:d>
                      <m:dPr>
                        <m:ctrlPr>
                          <a:rPr lang="zh-CN" altLang="zh-CN" sz="1800" i="1" kern="100">
                            <a:solidFill>
                              <a:srgbClr val="0D0D0D"/>
                            </a:solidFill>
                            <a:effectLst/>
                            <a:latin typeface="Cambria Math" panose="02040503050406030204" pitchFamily="18" charset="0"/>
                            <a:cs typeface="+mn-ea"/>
                            <a:sym typeface="+mn-lt"/>
                          </a:rPr>
                        </m:ctrlPr>
                      </m:dPr>
                      <m:e>
                        <m:sSub>
                          <m:sSubPr>
                            <m:ctrlPr>
                              <a:rPr lang="zh-CN" altLang="zh-CN" sz="1800" i="1" kern="100">
                                <a:solidFill>
                                  <a:srgbClr val="0D0D0D"/>
                                </a:solidFill>
                                <a:effectLst/>
                                <a:latin typeface="Cambria Math" panose="02040503050406030204" pitchFamily="18" charset="0"/>
                                <a:cs typeface="+mn-ea"/>
                                <a:sym typeface="+mn-lt"/>
                              </a:rPr>
                            </m:ctrlPr>
                          </m:sSubPr>
                          <m:e>
                            <m:acc>
                              <m:accPr>
                                <m:chr m:val="ˆ"/>
                                <m:ctrlPr>
                                  <a:rPr lang="zh-CN" altLang="zh-CN" sz="1800" i="1" kern="100">
                                    <a:solidFill>
                                      <a:srgbClr val="0D0D0D"/>
                                    </a:solidFill>
                                    <a:effectLst/>
                                    <a:latin typeface="Cambria Math" panose="02040503050406030204" pitchFamily="18" charset="0"/>
                                    <a:cs typeface="+mn-ea"/>
                                    <a:sym typeface="+mn-lt"/>
                                  </a:rPr>
                                </m:ctrlPr>
                              </m:accPr>
                              <m:e>
                                <m:r>
                                  <a:rPr lang="en-US" altLang="zh-CN" sz="1800" i="1" kern="100">
                                    <a:solidFill>
                                      <a:srgbClr val="0D0D0D"/>
                                    </a:solidFill>
                                    <a:effectLst/>
                                    <a:latin typeface="Cambria Math" panose="02040503050406030204" pitchFamily="18" charset="0"/>
                                    <a:cs typeface="+mn-ea"/>
                                    <a:sym typeface="+mn-lt"/>
                                  </a:rPr>
                                  <m:t>𝐺</m:t>
                                </m:r>
                              </m:e>
                            </m:acc>
                          </m:e>
                          <m:sub>
                            <m:r>
                              <a:rPr lang="en-US" altLang="zh-CN" sz="1800" i="1" kern="100">
                                <a:solidFill>
                                  <a:srgbClr val="0D0D0D"/>
                                </a:solidFill>
                                <a:effectLst/>
                                <a:latin typeface="Cambria Math" panose="02040503050406030204" pitchFamily="18" charset="0"/>
                                <a:cs typeface="+mn-ea"/>
                                <a:sym typeface="+mn-lt"/>
                              </a:rPr>
                              <m:t>𝑥</m:t>
                            </m:r>
                          </m:sub>
                        </m:sSub>
                        <m:r>
                          <a:rPr lang="en-US" altLang="zh-CN" sz="1800" kern="100">
                            <a:solidFill>
                              <a:srgbClr val="0D0D0D"/>
                            </a:solidFill>
                            <a:effectLst/>
                            <a:latin typeface="Cambria Math" panose="02040503050406030204" pitchFamily="18" charset="0"/>
                            <a:cs typeface="+mn-ea"/>
                            <a:sym typeface="+mn-lt"/>
                          </a:rPr>
                          <m:t>,</m:t>
                        </m:r>
                        <m:sSub>
                          <m:sSubPr>
                            <m:ctrlPr>
                              <a:rPr lang="zh-CN" altLang="zh-CN" sz="1800" i="1" kern="100">
                                <a:solidFill>
                                  <a:srgbClr val="0D0D0D"/>
                                </a:solidFill>
                                <a:effectLst/>
                                <a:latin typeface="Cambria Math" panose="02040503050406030204" pitchFamily="18" charset="0"/>
                                <a:cs typeface="+mn-ea"/>
                                <a:sym typeface="+mn-lt"/>
                              </a:rPr>
                            </m:ctrlPr>
                          </m:sSubPr>
                          <m:e>
                            <m:acc>
                              <m:accPr>
                                <m:chr m:val="ˆ"/>
                                <m:ctrlPr>
                                  <a:rPr lang="zh-CN" altLang="zh-CN" sz="1800" i="1" kern="100">
                                    <a:solidFill>
                                      <a:srgbClr val="0D0D0D"/>
                                    </a:solidFill>
                                    <a:effectLst/>
                                    <a:latin typeface="Cambria Math" panose="02040503050406030204" pitchFamily="18" charset="0"/>
                                    <a:cs typeface="+mn-ea"/>
                                    <a:sym typeface="+mn-lt"/>
                                  </a:rPr>
                                </m:ctrlPr>
                              </m:accPr>
                              <m:e>
                                <m:r>
                                  <a:rPr lang="en-US" altLang="zh-CN" sz="1800" i="1" kern="100">
                                    <a:solidFill>
                                      <a:srgbClr val="0D0D0D"/>
                                    </a:solidFill>
                                    <a:effectLst/>
                                    <a:latin typeface="Cambria Math" panose="02040503050406030204" pitchFamily="18" charset="0"/>
                                    <a:cs typeface="+mn-ea"/>
                                    <a:sym typeface="+mn-lt"/>
                                  </a:rPr>
                                  <m:t>𝐺</m:t>
                                </m:r>
                              </m:e>
                            </m:acc>
                          </m:e>
                          <m:sub>
                            <m:r>
                              <a:rPr lang="en-US" altLang="zh-CN" sz="1800" i="1" kern="100">
                                <a:solidFill>
                                  <a:srgbClr val="0D0D0D"/>
                                </a:solidFill>
                                <a:effectLst/>
                                <a:latin typeface="Cambria Math" panose="02040503050406030204" pitchFamily="18" charset="0"/>
                                <a:cs typeface="+mn-ea"/>
                                <a:sym typeface="+mn-lt"/>
                              </a:rPr>
                              <m:t>𝑦</m:t>
                            </m:r>
                          </m:sub>
                        </m:sSub>
                        <m:r>
                          <a:rPr lang="en-US" altLang="zh-CN" sz="1800" kern="100">
                            <a:solidFill>
                              <a:srgbClr val="0D0D0D"/>
                            </a:solidFill>
                            <a:effectLst/>
                            <a:latin typeface="Cambria Math" panose="02040503050406030204" pitchFamily="18" charset="0"/>
                            <a:cs typeface="+mn-ea"/>
                            <a:sym typeface="+mn-lt"/>
                          </a:rPr>
                          <m:t>,</m:t>
                        </m:r>
                        <m:sSub>
                          <m:sSubPr>
                            <m:ctrlPr>
                              <a:rPr lang="zh-CN" altLang="zh-CN" sz="1800" i="1" kern="100">
                                <a:solidFill>
                                  <a:srgbClr val="0D0D0D"/>
                                </a:solidFill>
                                <a:effectLst/>
                                <a:latin typeface="Cambria Math" panose="02040503050406030204" pitchFamily="18" charset="0"/>
                                <a:cs typeface="+mn-ea"/>
                                <a:sym typeface="+mn-lt"/>
                              </a:rPr>
                            </m:ctrlPr>
                          </m:sSubPr>
                          <m:e>
                            <m:acc>
                              <m:accPr>
                                <m:chr m:val="ˆ"/>
                                <m:ctrlPr>
                                  <a:rPr lang="zh-CN" altLang="zh-CN" sz="1800" i="1" kern="100">
                                    <a:solidFill>
                                      <a:srgbClr val="0D0D0D"/>
                                    </a:solidFill>
                                    <a:effectLst/>
                                    <a:latin typeface="Cambria Math" panose="02040503050406030204" pitchFamily="18" charset="0"/>
                                    <a:cs typeface="+mn-ea"/>
                                    <a:sym typeface="+mn-lt"/>
                                  </a:rPr>
                                </m:ctrlPr>
                              </m:accPr>
                              <m:e>
                                <m:r>
                                  <a:rPr lang="en-US" altLang="zh-CN" sz="1800" i="1" kern="100">
                                    <a:solidFill>
                                      <a:srgbClr val="0D0D0D"/>
                                    </a:solidFill>
                                    <a:effectLst/>
                                    <a:latin typeface="Cambria Math" panose="02040503050406030204" pitchFamily="18" charset="0"/>
                                    <a:cs typeface="+mn-ea"/>
                                    <a:sym typeface="+mn-lt"/>
                                  </a:rPr>
                                  <m:t>𝐺</m:t>
                                </m:r>
                              </m:e>
                            </m:acc>
                          </m:e>
                          <m:sub>
                            <m:r>
                              <a:rPr lang="en-US" altLang="zh-CN" sz="1800" i="1" kern="100">
                                <a:solidFill>
                                  <a:srgbClr val="0D0D0D"/>
                                </a:solidFill>
                                <a:effectLst/>
                                <a:latin typeface="Cambria Math" panose="02040503050406030204" pitchFamily="18" charset="0"/>
                                <a:cs typeface="+mn-ea"/>
                                <a:sym typeface="+mn-lt"/>
                              </a:rPr>
                              <m:t>𝑤</m:t>
                            </m:r>
                          </m:sub>
                        </m:sSub>
                        <m:r>
                          <a:rPr lang="en-US" altLang="zh-CN" sz="1800" kern="100">
                            <a:solidFill>
                              <a:srgbClr val="0D0D0D"/>
                            </a:solidFill>
                            <a:effectLst/>
                            <a:latin typeface="Cambria Math" panose="02040503050406030204" pitchFamily="18" charset="0"/>
                            <a:cs typeface="+mn-ea"/>
                            <a:sym typeface="+mn-lt"/>
                          </a:rPr>
                          <m:t>,</m:t>
                        </m:r>
                        <m:sSub>
                          <m:sSubPr>
                            <m:ctrlPr>
                              <a:rPr lang="zh-CN" altLang="zh-CN" sz="1800" i="1" kern="100">
                                <a:solidFill>
                                  <a:srgbClr val="0D0D0D"/>
                                </a:solidFill>
                                <a:effectLst/>
                                <a:latin typeface="Cambria Math" panose="02040503050406030204" pitchFamily="18" charset="0"/>
                                <a:cs typeface="+mn-ea"/>
                                <a:sym typeface="+mn-lt"/>
                              </a:rPr>
                            </m:ctrlPr>
                          </m:sSubPr>
                          <m:e>
                            <m:acc>
                              <m:accPr>
                                <m:chr m:val="ˆ"/>
                                <m:ctrlPr>
                                  <a:rPr lang="zh-CN" altLang="zh-CN" sz="1800" i="1" kern="100">
                                    <a:solidFill>
                                      <a:srgbClr val="0D0D0D"/>
                                    </a:solidFill>
                                    <a:effectLst/>
                                    <a:latin typeface="Cambria Math" panose="02040503050406030204" pitchFamily="18" charset="0"/>
                                    <a:cs typeface="+mn-ea"/>
                                    <a:sym typeface="+mn-lt"/>
                                  </a:rPr>
                                </m:ctrlPr>
                              </m:accPr>
                              <m:e>
                                <m:r>
                                  <a:rPr lang="en-US" altLang="zh-CN" sz="1800" i="1" kern="100">
                                    <a:solidFill>
                                      <a:srgbClr val="0D0D0D"/>
                                    </a:solidFill>
                                    <a:effectLst/>
                                    <a:latin typeface="Cambria Math" panose="02040503050406030204" pitchFamily="18" charset="0"/>
                                    <a:cs typeface="+mn-ea"/>
                                    <a:sym typeface="+mn-lt"/>
                                  </a:rPr>
                                  <m:t>𝐺</m:t>
                                </m:r>
                              </m:e>
                            </m:acc>
                          </m:e>
                          <m:sub>
                            <m:r>
                              <a:rPr lang="en-US" altLang="zh-CN" sz="1800" i="1" kern="100">
                                <a:solidFill>
                                  <a:srgbClr val="0D0D0D"/>
                                </a:solidFill>
                                <a:effectLst/>
                                <a:latin typeface="Cambria Math" panose="02040503050406030204" pitchFamily="18" charset="0"/>
                                <a:cs typeface="+mn-ea"/>
                                <a:sym typeface="+mn-lt"/>
                              </a:rPr>
                              <m:t>ℎ</m:t>
                            </m:r>
                          </m:sub>
                        </m:sSub>
                      </m:e>
                    </m:d>
                  </m:oMath>
                </a14:m>
                <a:r>
                  <a:rPr lang="en-US" altLang="zh-CN" sz="1800" kern="100" dirty="0">
                    <a:solidFill>
                      <a:srgbClr val="0D0D0D"/>
                    </a:solidFill>
                    <a:effectLst/>
                    <a:cs typeface="+mn-ea"/>
                    <a:sym typeface="+mn-lt"/>
                  </a:rPr>
                  <a:t> </a:t>
                </a:r>
                <a:r>
                  <a:rPr lang="zh-CN" altLang="zh-CN" sz="2000" kern="100" dirty="0">
                    <a:solidFill>
                      <a:srgbClr val="0D0D0D"/>
                    </a:solidFill>
                    <a:effectLst/>
                    <a:cs typeface="+mn-ea"/>
                    <a:sym typeface="+mn-lt"/>
                  </a:rPr>
                  <a:t>，该边框与真值框更为接近。</a:t>
                </a:r>
                <a:endParaRPr lang="zh-CN" altLang="zh-CN" sz="2000" kern="100" dirty="0">
                  <a:effectLst/>
                  <a:cs typeface="+mn-ea"/>
                  <a:sym typeface="+mn-lt"/>
                </a:endParaRPr>
              </a:p>
              <a:p>
                <a:pPr marL="0" indent="0">
                  <a:buNone/>
                </a:pPr>
                <a:r>
                  <a:rPr lang="zh-CN" altLang="en-US" sz="2000" dirty="0">
                    <a:cs typeface="+mn-ea"/>
                    <a:sym typeface="+mn-lt"/>
                  </a:rPr>
                  <a:t>具体地，</a:t>
                </a:r>
                <a:r>
                  <a:rPr lang="en-US" altLang="zh-CN" sz="2000" dirty="0">
                    <a:cs typeface="+mn-ea"/>
                    <a:sym typeface="+mn-lt"/>
                  </a:rPr>
                  <a:t>R-CNN</a:t>
                </a:r>
                <a:r>
                  <a:rPr lang="zh-CN" altLang="en-US" sz="2000" dirty="0">
                    <a:cs typeface="+mn-ea"/>
                    <a:sym typeface="+mn-lt"/>
                  </a:rPr>
                  <a:t>选择把特征提取网络的输出作为全连接层的输入，来回归锚框的中心坐标偏移以及长宽缩放四个参数。采用的损失函数为</a:t>
                </a:r>
                <a:r>
                  <a:rPr lang="zh-CN" altLang="en-US" sz="2000" b="1" dirty="0">
                    <a:cs typeface="+mn-ea"/>
                    <a:sym typeface="+mn-lt"/>
                  </a:rPr>
                  <a:t>平滑</a:t>
                </a:r>
                <a:r>
                  <a:rPr lang="en-US" altLang="zh-CN" sz="2000" b="1" dirty="0">
                    <a:cs typeface="+mn-ea"/>
                    <a:sym typeface="+mn-lt"/>
                  </a:rPr>
                  <a:t>L1</a:t>
                </a:r>
                <a:r>
                  <a:rPr lang="zh-CN" altLang="en-US" sz="2000" b="1" dirty="0">
                    <a:cs typeface="+mn-ea"/>
                    <a:sym typeface="+mn-lt"/>
                  </a:rPr>
                  <a:t>损失</a:t>
                </a:r>
                <a:r>
                  <a:rPr lang="zh-CN" altLang="en-US" sz="2000" dirty="0">
                    <a:cs typeface="+mn-ea"/>
                    <a:sym typeface="+mn-lt"/>
                  </a:rPr>
                  <a:t>，公式如下</a:t>
                </a:r>
                <a:r>
                  <a:rPr lang="en-US" altLang="zh-CN" sz="2000" dirty="0">
                    <a:cs typeface="+mn-ea"/>
                    <a:sym typeface="+mn-lt"/>
                  </a:rPr>
                  <a:t>: </a:t>
                </a:r>
                <a:endParaRPr lang="en-US" altLang="zh-CN" sz="2000" dirty="0">
                  <a:cs typeface="+mn-ea"/>
                  <a:sym typeface="+mn-lt"/>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rotWithShape="1">
          <a:blip r:embed="rId2"/>
          <a:srcRect l="35897" r="34619"/>
          <a:stretch>
            <a:fillRect/>
          </a:stretch>
        </p:blipFill>
        <p:spPr>
          <a:xfrm>
            <a:off x="4109124" y="2059618"/>
            <a:ext cx="2601222" cy="1642370"/>
          </a:xfrm>
          <a:prstGeom prst="rect">
            <a:avLst/>
          </a:prstGeom>
        </p:spPr>
      </p:pic>
      <p:pic>
        <p:nvPicPr>
          <p:cNvPr id="10" name="图片 9"/>
          <p:cNvPicPr>
            <a:picLocks noChangeAspect="1"/>
          </p:cNvPicPr>
          <p:nvPr/>
        </p:nvPicPr>
        <p:blipFill rotWithShape="1">
          <a:blip r:embed="rId3"/>
          <a:srcRect l="25401" t="340" r="25791" b="-1"/>
          <a:stretch>
            <a:fillRect/>
          </a:stretch>
        </p:blipFill>
        <p:spPr>
          <a:xfrm>
            <a:off x="4109124" y="5362575"/>
            <a:ext cx="4160012" cy="6339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b="1" dirty="0">
                <a:cs typeface="+mn-ea"/>
                <a:sym typeface="+mn-lt"/>
              </a:rPr>
              <a:t>5</a:t>
            </a:r>
            <a:r>
              <a:rPr lang="zh-CN" altLang="en-US" sz="2000" b="1" dirty="0">
                <a:cs typeface="+mn-ea"/>
                <a:sym typeface="+mn-lt"/>
              </a:rPr>
              <a:t>）检测过程</a:t>
            </a:r>
            <a:endParaRPr lang="en-US" altLang="zh-CN" sz="2000" b="1" dirty="0">
              <a:cs typeface="+mn-ea"/>
              <a:sym typeface="+mn-lt"/>
            </a:endParaRPr>
          </a:p>
          <a:p>
            <a:pPr marL="0" indent="0">
              <a:buNone/>
            </a:pPr>
            <a:r>
              <a:rPr lang="zh-CN" altLang="en-US" sz="2000" dirty="0">
                <a:cs typeface="+mn-ea"/>
                <a:sym typeface="+mn-lt"/>
              </a:rPr>
              <a:t>特征提取网络、分类器和回归网络等模块训练完成后，就可以执行检测任务了。 给定一张待检测图片，首先使用</a:t>
            </a:r>
            <a:r>
              <a:rPr lang="en-US" altLang="zh-CN" sz="2000" dirty="0">
                <a:cs typeface="+mn-ea"/>
                <a:sym typeface="+mn-lt"/>
              </a:rPr>
              <a:t>Selective Search</a:t>
            </a:r>
            <a:r>
              <a:rPr lang="zh-CN" altLang="en-US" sz="2000" dirty="0">
                <a:cs typeface="+mn-ea"/>
                <a:sym typeface="+mn-lt"/>
              </a:rPr>
              <a:t>生成</a:t>
            </a:r>
            <a:r>
              <a:rPr lang="en-US" altLang="zh-CN" sz="2000" dirty="0">
                <a:cs typeface="+mn-ea"/>
                <a:sym typeface="+mn-lt"/>
              </a:rPr>
              <a:t>2000</a:t>
            </a:r>
            <a:r>
              <a:rPr lang="zh-CN" altLang="en-US" sz="2000" dirty="0">
                <a:cs typeface="+mn-ea"/>
                <a:sym typeface="+mn-lt"/>
              </a:rPr>
              <a:t>个左右的候选框；随后每个候选区域被缩放到相同的尺寸并送入特征提取网络，得到各个候选区域的特征表达；最后这些特征表达被送入</a:t>
            </a:r>
            <a:r>
              <a:rPr lang="en-US" altLang="zh-CN" sz="2000" dirty="0">
                <a:cs typeface="+mn-ea"/>
                <a:sym typeface="+mn-lt"/>
              </a:rPr>
              <a:t>SVM</a:t>
            </a:r>
            <a:r>
              <a:rPr lang="zh-CN" altLang="en-US" sz="2000" dirty="0">
                <a:cs typeface="+mn-ea"/>
                <a:sym typeface="+mn-lt"/>
              </a:rPr>
              <a:t>和全连接层，得到目标的类别和边界框。每个目标附近都会产生大量冗余的预测框，这些框之间类别相同且相互之间</a:t>
            </a:r>
            <a:r>
              <a:rPr lang="en-US" altLang="zh-CN" sz="2000" dirty="0" err="1">
                <a:cs typeface="+mn-ea"/>
                <a:sym typeface="+mn-lt"/>
              </a:rPr>
              <a:t>IoU</a:t>
            </a:r>
            <a:r>
              <a:rPr lang="zh-CN" altLang="en-US" sz="2000" dirty="0">
                <a:cs typeface="+mn-ea"/>
                <a:sym typeface="+mn-lt"/>
              </a:rPr>
              <a:t>很大，需要借助前面介绍的非极大值抑制算法，去除冗余的检测框，得到最终的检测结果。</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r>
              <a:rPr lang="en-US" altLang="zh-CN" sz="2400" b="1" dirty="0">
                <a:cs typeface="+mn-ea"/>
                <a:sym typeface="+mn-lt"/>
              </a:rPr>
              <a:t>Fast R-CNN</a:t>
            </a:r>
            <a:endParaRPr lang="en-US" altLang="zh-CN" sz="2400" b="1" dirty="0">
              <a:cs typeface="+mn-ea"/>
              <a:sym typeface="+mn-lt"/>
            </a:endParaRPr>
          </a:p>
          <a:p>
            <a:pPr marL="0" indent="0">
              <a:buNone/>
            </a:pPr>
            <a:r>
              <a:rPr lang="zh-CN" altLang="en-US" sz="2000" b="1" dirty="0">
                <a:cs typeface="+mn-ea"/>
                <a:sym typeface="+mn-lt"/>
              </a:rPr>
              <a:t>如下图所示</a:t>
            </a:r>
            <a:r>
              <a:rPr lang="zh-CN" altLang="en-US" sz="2000" dirty="0">
                <a:cs typeface="+mn-ea"/>
                <a:sym typeface="+mn-lt"/>
              </a:rPr>
              <a:t>，</a:t>
            </a:r>
            <a:r>
              <a:rPr lang="en-US" altLang="zh-CN" sz="2000" dirty="0">
                <a:cs typeface="+mn-ea"/>
                <a:sym typeface="+mn-lt"/>
              </a:rPr>
              <a:t>Fast R-CNN</a:t>
            </a:r>
            <a:r>
              <a:rPr lang="zh-CN" altLang="en-US" sz="2000" dirty="0">
                <a:cs typeface="+mn-ea"/>
                <a:sym typeface="+mn-lt"/>
              </a:rPr>
              <a:t>不再为每个候选区域单独的提取特征，而是使用特征提取网络直接</a:t>
            </a:r>
            <a:r>
              <a:rPr lang="zh-CN" altLang="en-US" sz="2000" b="1" dirty="0">
                <a:cs typeface="+mn-ea"/>
                <a:sym typeface="+mn-lt"/>
              </a:rPr>
              <a:t>提取整个图像的特征</a:t>
            </a:r>
            <a:r>
              <a:rPr lang="zh-CN" altLang="en-US" sz="2000" dirty="0">
                <a:cs typeface="+mn-ea"/>
                <a:sym typeface="+mn-lt"/>
              </a:rPr>
              <a:t>。算法仍然采用</a:t>
            </a:r>
            <a:r>
              <a:rPr lang="en-US" altLang="zh-CN" sz="2000" dirty="0">
                <a:cs typeface="+mn-ea"/>
                <a:sym typeface="+mn-lt"/>
              </a:rPr>
              <a:t>Selective Search</a:t>
            </a:r>
            <a:r>
              <a:rPr lang="zh-CN" altLang="en-US" sz="2000" dirty="0">
                <a:cs typeface="+mn-ea"/>
                <a:sym typeface="+mn-lt"/>
              </a:rPr>
              <a:t>生成候选框，随后将候选框映射到特征图上得到特征块。这些特征块形状各异，需要使用</a:t>
            </a:r>
            <a:r>
              <a:rPr lang="en-US" altLang="zh-CN" sz="2000" b="1" dirty="0">
                <a:cs typeface="+mn-ea"/>
                <a:sym typeface="+mn-lt"/>
              </a:rPr>
              <a:t>ROI Pooling</a:t>
            </a:r>
            <a:r>
              <a:rPr lang="zh-CN" altLang="en-US" sz="2000" dirty="0">
                <a:cs typeface="+mn-ea"/>
                <a:sym typeface="+mn-lt"/>
              </a:rPr>
              <a:t>模块将特征块处理为相同的尺寸，便于与后面的全连接层连接。由于不再需要重复提取候选区域的特征，</a:t>
            </a:r>
            <a:r>
              <a:rPr lang="en-US" altLang="zh-CN" sz="2000" dirty="0">
                <a:cs typeface="+mn-ea"/>
                <a:sym typeface="+mn-lt"/>
              </a:rPr>
              <a:t>Fast R-CNN </a:t>
            </a:r>
            <a:r>
              <a:rPr lang="zh-CN" altLang="en-US" sz="2000" dirty="0">
                <a:cs typeface="+mn-ea"/>
                <a:sym typeface="+mn-lt"/>
              </a:rPr>
              <a:t>显著减少了处理时间。 此外，除了候选框生成模块，</a:t>
            </a:r>
            <a:r>
              <a:rPr lang="en-US" altLang="zh-CN" sz="2000" dirty="0">
                <a:cs typeface="+mn-ea"/>
                <a:sym typeface="+mn-lt"/>
              </a:rPr>
              <a:t>Fast R-CNN</a:t>
            </a:r>
            <a:r>
              <a:rPr lang="zh-CN" altLang="en-US" sz="2000" dirty="0">
                <a:cs typeface="+mn-ea"/>
                <a:sym typeface="+mn-lt"/>
              </a:rPr>
              <a:t>的其余部分（特征提取器、分类器和边界框回归器）是端到端训练的，具有多任务损失（分类损失和定位损失），这提高了准确性。</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2154110" y="4105155"/>
            <a:ext cx="7069312" cy="194941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91483" y="1523785"/>
                <a:ext cx="6737766" cy="4351338"/>
              </a:xfrm>
            </p:spPr>
            <p:txBody>
              <a:bodyPr>
                <a:normAutofit/>
              </a:bodyPr>
              <a:lstStyle/>
              <a:p>
                <a:pPr marL="0" indent="0">
                  <a:buNone/>
                </a:pPr>
                <a:r>
                  <a:rPr lang="zh-CN" altLang="en-US" sz="2000" dirty="0">
                    <a:cs typeface="+mn-ea"/>
                    <a:sym typeface="+mn-lt"/>
                  </a:rPr>
                  <a:t>下面将对</a:t>
                </a:r>
                <a:r>
                  <a:rPr lang="en-US" altLang="zh-CN" sz="2000" dirty="0">
                    <a:cs typeface="+mn-ea"/>
                    <a:sym typeface="+mn-lt"/>
                  </a:rPr>
                  <a:t>Fast RCNN</a:t>
                </a:r>
                <a:r>
                  <a:rPr lang="zh-CN" altLang="en-US" sz="2000" dirty="0">
                    <a:cs typeface="+mn-ea"/>
                    <a:sym typeface="+mn-lt"/>
                  </a:rPr>
                  <a:t>算法的一些细节进行展开介绍</a:t>
                </a:r>
                <a:r>
                  <a:rPr lang="en-US" altLang="zh-CN" sz="2000" dirty="0">
                    <a:cs typeface="+mn-ea"/>
                    <a:sym typeface="+mn-lt"/>
                  </a:rPr>
                  <a:t>: </a:t>
                </a:r>
                <a:endParaRPr lang="en-US" altLang="zh-CN" sz="2000" dirty="0">
                  <a:cs typeface="+mn-ea"/>
                  <a:sym typeface="+mn-lt"/>
                </a:endParaRPr>
              </a:p>
              <a:p>
                <a:pPr marL="0" indent="0">
                  <a:buNone/>
                </a:pPr>
                <a:r>
                  <a:rPr lang="en-US" altLang="zh-CN" sz="2000" b="1" dirty="0">
                    <a:cs typeface="+mn-ea"/>
                    <a:sym typeface="+mn-lt"/>
                  </a:rPr>
                  <a:t>1</a:t>
                </a:r>
                <a:r>
                  <a:rPr lang="zh-CN" altLang="en-US" sz="2000" b="1" dirty="0">
                    <a:cs typeface="+mn-ea"/>
                    <a:sym typeface="+mn-lt"/>
                  </a:rPr>
                  <a:t>）</a:t>
                </a:r>
                <a:r>
                  <a:rPr lang="en-US" altLang="zh-CN" sz="2000" b="1" dirty="0" err="1">
                    <a:cs typeface="+mn-ea"/>
                    <a:sym typeface="+mn-lt"/>
                  </a:rPr>
                  <a:t>RoI</a:t>
                </a:r>
                <a:r>
                  <a:rPr lang="en-US" altLang="zh-CN" sz="2000" b="1" dirty="0">
                    <a:cs typeface="+mn-ea"/>
                    <a:sym typeface="+mn-lt"/>
                  </a:rPr>
                  <a:t> Projection</a:t>
                </a:r>
                <a:endParaRPr lang="en-US" altLang="zh-CN" sz="2000" b="1" dirty="0">
                  <a:cs typeface="+mn-ea"/>
                  <a:sym typeface="+mn-lt"/>
                </a:endParaRPr>
              </a:p>
              <a:p>
                <a:pPr marL="0" indent="0">
                  <a:buNone/>
                </a:pPr>
                <a:r>
                  <a:rPr lang="en-US" altLang="zh-CN" sz="2000" dirty="0">
                    <a:cs typeface="+mn-ea"/>
                    <a:sym typeface="+mn-lt"/>
                  </a:rPr>
                  <a:t>Fast R-CNN</a:t>
                </a:r>
                <a:r>
                  <a:rPr lang="zh-CN" altLang="en-US" sz="2000" dirty="0">
                    <a:cs typeface="+mn-ea"/>
                    <a:sym typeface="+mn-lt"/>
                  </a:rPr>
                  <a:t>利用特征提取网络得到整张图片的特征图，所有的候选框共享该特征图。每个候选框根据在</a:t>
                </a:r>
                <a:r>
                  <a:rPr lang="zh-CN" altLang="en-US" sz="2000" b="1" dirty="0">
                    <a:cs typeface="+mn-ea"/>
                    <a:sym typeface="+mn-lt"/>
                  </a:rPr>
                  <a:t>原图的坐标值</a:t>
                </a:r>
                <a:r>
                  <a:rPr lang="zh-CN" altLang="en-US" sz="2000" dirty="0">
                    <a:cs typeface="+mn-ea"/>
                    <a:sym typeface="+mn-lt"/>
                  </a:rPr>
                  <a:t>和</a:t>
                </a:r>
                <a:r>
                  <a:rPr lang="zh-CN" altLang="en-US" sz="2000" b="1" dirty="0">
                    <a:cs typeface="+mn-ea"/>
                    <a:sym typeface="+mn-lt"/>
                  </a:rPr>
                  <a:t>特征图相对于原图的下采样率</a:t>
                </a:r>
                <a:r>
                  <a:rPr lang="zh-CN" altLang="en-US" sz="2000" dirty="0">
                    <a:cs typeface="+mn-ea"/>
                    <a:sym typeface="+mn-lt"/>
                  </a:rPr>
                  <a:t>得到在特征图上的坐标值，进而得到了与候选框对应的特征块。这个过程被称为</a:t>
                </a:r>
                <a:r>
                  <a:rPr lang="en-US" altLang="zh-CN" sz="2000" dirty="0" err="1">
                    <a:cs typeface="+mn-ea"/>
                    <a:sym typeface="+mn-lt"/>
                  </a:rPr>
                  <a:t>RoI</a:t>
                </a:r>
                <a:r>
                  <a:rPr lang="en-US" altLang="zh-CN" sz="2000" dirty="0">
                    <a:cs typeface="+mn-ea"/>
                    <a:sym typeface="+mn-lt"/>
                  </a:rPr>
                  <a:t> Projection</a:t>
                </a:r>
                <a:r>
                  <a:rPr lang="zh-CN" altLang="en-US" sz="2000" dirty="0">
                    <a:cs typeface="+mn-ea"/>
                    <a:sym typeface="+mn-lt"/>
                  </a:rPr>
                  <a:t>，</a:t>
                </a:r>
                <a:r>
                  <a:rPr lang="zh-CN" altLang="en-US" sz="2000" b="1" dirty="0">
                    <a:cs typeface="+mn-ea"/>
                    <a:sym typeface="+mn-lt"/>
                  </a:rPr>
                  <a:t>如图所示</a:t>
                </a:r>
                <a:r>
                  <a:rPr lang="zh-CN" altLang="en-US" sz="2000" dirty="0">
                    <a:cs typeface="+mn-ea"/>
                    <a:sym typeface="+mn-lt"/>
                  </a:rPr>
                  <a:t>。</a:t>
                </a:r>
                <a:endParaRPr lang="en-US" altLang="zh-CN" sz="2000" dirty="0">
                  <a:cs typeface="+mn-ea"/>
                  <a:sym typeface="+mn-lt"/>
                </a:endParaRPr>
              </a:p>
              <a:p>
                <a:pPr marL="0" indent="0">
                  <a:buNone/>
                </a:pPr>
                <a:r>
                  <a:rPr lang="zh-CN" altLang="zh-CN" sz="2000" kern="100" dirty="0">
                    <a:solidFill>
                      <a:srgbClr val="0D0D0D"/>
                    </a:solidFill>
                    <a:effectLst/>
                    <a:cs typeface="+mn-ea"/>
                    <a:sym typeface="+mn-lt"/>
                  </a:rPr>
                  <a:t>考虑将大小为</a:t>
                </a:r>
                <a:r>
                  <a:rPr lang="en-US" altLang="zh-CN" sz="2000" kern="100" dirty="0">
                    <a:solidFill>
                      <a:srgbClr val="0D0D0D"/>
                    </a:solidFill>
                    <a:effectLst/>
                    <a:cs typeface="+mn-ea"/>
                    <a:sym typeface="+mn-lt"/>
                  </a:rPr>
                  <a:t> 688 x 920 </a:t>
                </a:r>
                <a:r>
                  <a:rPr lang="zh-CN" altLang="zh-CN" sz="2000" kern="100" dirty="0">
                    <a:solidFill>
                      <a:srgbClr val="0D0D0D"/>
                    </a:solidFill>
                    <a:effectLst/>
                    <a:cs typeface="+mn-ea"/>
                    <a:sym typeface="+mn-lt"/>
                  </a:rPr>
                  <a:t>的图像送到下采样率为</a:t>
                </a:r>
                <a:r>
                  <a:rPr lang="en-US" altLang="zh-CN" sz="2000" kern="100" dirty="0">
                    <a:solidFill>
                      <a:srgbClr val="0D0D0D"/>
                    </a:solidFill>
                    <a:effectLst/>
                    <a:cs typeface="+mn-ea"/>
                    <a:sym typeface="+mn-lt"/>
                  </a:rPr>
                  <a:t> 1/16 </a:t>
                </a:r>
                <a:r>
                  <a:rPr lang="zh-CN" altLang="zh-CN" sz="2000" kern="100" dirty="0">
                    <a:solidFill>
                      <a:srgbClr val="0D0D0D"/>
                    </a:solidFill>
                    <a:effectLst/>
                    <a:cs typeface="+mn-ea"/>
                    <a:sym typeface="+mn-lt"/>
                  </a:rPr>
                  <a:t>的</a:t>
                </a:r>
                <a:r>
                  <a:rPr lang="en-US" altLang="zh-CN" sz="2000" kern="100" dirty="0">
                    <a:solidFill>
                      <a:srgbClr val="0D0D0D"/>
                    </a:solidFill>
                    <a:effectLst/>
                    <a:cs typeface="+mn-ea"/>
                    <a:sym typeface="+mn-lt"/>
                  </a:rPr>
                  <a:t> CNN</a:t>
                </a:r>
                <a:r>
                  <a:rPr lang="zh-CN" altLang="zh-CN" sz="2000" kern="100" dirty="0">
                    <a:solidFill>
                      <a:srgbClr val="0D0D0D"/>
                    </a:solidFill>
                    <a:effectLst/>
                    <a:cs typeface="+mn-ea"/>
                    <a:sym typeface="+mn-lt"/>
                  </a:rPr>
                  <a:t>的特征提取网络。那么得到的特征图的大小为</a:t>
                </a:r>
                <a:r>
                  <a:rPr lang="en-US" altLang="zh-CN" sz="2000" kern="100" dirty="0">
                    <a:solidFill>
                      <a:srgbClr val="0D0D0D"/>
                    </a:solidFill>
                    <a:effectLst/>
                    <a:cs typeface="+mn-ea"/>
                    <a:sym typeface="+mn-lt"/>
                  </a:rPr>
                  <a:t>43 x 58 (688/16 x 920/16)</a:t>
                </a:r>
                <a:r>
                  <a:rPr lang="zh-CN" altLang="zh-CN" sz="2000" kern="100" dirty="0">
                    <a:solidFill>
                      <a:srgbClr val="0D0D0D"/>
                    </a:solidFill>
                    <a:effectLst/>
                    <a:cs typeface="+mn-ea"/>
                    <a:sym typeface="+mn-lt"/>
                  </a:rPr>
                  <a:t>，候选框的大小也从</a:t>
                </a:r>
                <a:r>
                  <a:rPr lang="en-US" altLang="zh-CN" sz="2000" kern="100" dirty="0">
                    <a:solidFill>
                      <a:srgbClr val="0D0D0D"/>
                    </a:solidFill>
                    <a:effectLst/>
                    <a:cs typeface="+mn-ea"/>
                    <a:sym typeface="+mn-lt"/>
                  </a:rPr>
                  <a:t>320 x 128</a:t>
                </a:r>
                <a:r>
                  <a:rPr lang="zh-CN" altLang="zh-CN" sz="2000" kern="100" dirty="0">
                    <a:solidFill>
                      <a:srgbClr val="0D0D0D"/>
                    </a:solidFill>
                    <a:effectLst/>
                    <a:cs typeface="+mn-ea"/>
                    <a:sym typeface="+mn-lt"/>
                  </a:rPr>
                  <a:t>变为</a:t>
                </a:r>
                <a:r>
                  <a:rPr lang="en-US" altLang="zh-CN" sz="2000" kern="100" dirty="0">
                    <a:solidFill>
                      <a:srgbClr val="0D0D0D"/>
                    </a:solidFill>
                    <a:effectLst/>
                    <a:cs typeface="+mn-ea"/>
                    <a:sym typeface="+mn-lt"/>
                  </a:rPr>
                  <a:t>20 x 8</a:t>
                </a:r>
                <a:r>
                  <a:rPr lang="zh-CN" altLang="zh-CN" sz="2000" kern="100" dirty="0">
                    <a:solidFill>
                      <a:srgbClr val="0D0D0D"/>
                    </a:solidFill>
                    <a:effectLst/>
                    <a:cs typeface="+mn-ea"/>
                    <a:sym typeface="+mn-lt"/>
                  </a:rPr>
                  <a:t>。按照同样的方式，我们可以将得到候选框在特征图中坐标</a:t>
                </a:r>
                <a:r>
                  <a:rPr lang="en-US" altLang="zh-CN" sz="2000" b="1" kern="100" dirty="0">
                    <a:solidFill>
                      <a:srgbClr val="0D0D0D"/>
                    </a:solidFill>
                    <a:effectLst/>
                    <a:cs typeface="+mn-ea"/>
                    <a:sym typeface="+mn-lt"/>
                  </a:rPr>
                  <a:t>[</a:t>
                </a:r>
                <a14:m>
                  <m:oMath xmlns:m="http://schemas.openxmlformats.org/officeDocument/2006/math">
                    <m:sSub>
                      <m:sSubPr>
                        <m:ctrlPr>
                          <a:rPr lang="zh-CN" altLang="zh-CN" sz="2000" b="1" i="1" kern="100">
                            <a:solidFill>
                              <a:srgbClr val="0D0D0D"/>
                            </a:solidFill>
                            <a:effectLst/>
                            <a:latin typeface="Cambria Math" panose="02040503050406030204" pitchFamily="18" charset="0"/>
                            <a:cs typeface="+mn-ea"/>
                            <a:sym typeface="+mn-lt"/>
                          </a:rPr>
                        </m:ctrlPr>
                      </m:sSubPr>
                      <m:e>
                        <m:r>
                          <a:rPr lang="en-US" altLang="zh-CN" sz="2000" b="1" i="1" kern="100">
                            <a:solidFill>
                              <a:srgbClr val="0D0D0D"/>
                            </a:solidFill>
                            <a:effectLst/>
                            <a:latin typeface="Cambria Math" panose="02040503050406030204" pitchFamily="18" charset="0"/>
                            <a:cs typeface="+mn-ea"/>
                            <a:sym typeface="+mn-lt"/>
                          </a:rPr>
                          <m:t>𝒙</m:t>
                        </m:r>
                      </m:e>
                      <m:sub>
                        <m:r>
                          <a:rPr lang="en-US" altLang="zh-CN" sz="2000" b="1" i="1" kern="100">
                            <a:solidFill>
                              <a:srgbClr val="0D0D0D"/>
                            </a:solidFill>
                            <a:effectLst/>
                            <a:latin typeface="Cambria Math" panose="02040503050406030204" pitchFamily="18" charset="0"/>
                            <a:cs typeface="+mn-ea"/>
                            <a:sym typeface="+mn-lt"/>
                          </a:rPr>
                          <m:t>𝟏</m:t>
                        </m:r>
                      </m:sub>
                    </m:sSub>
                    <m:r>
                      <a:rPr lang="en-US" altLang="zh-CN" sz="2000" b="1" kern="100">
                        <a:solidFill>
                          <a:srgbClr val="0D0D0D"/>
                        </a:solidFill>
                        <a:effectLst/>
                        <a:latin typeface="Cambria Math" panose="02040503050406030204" pitchFamily="18" charset="0"/>
                        <a:cs typeface="+mn-ea"/>
                        <a:sym typeface="+mn-lt"/>
                      </a:rPr>
                      <m:t>/</m:t>
                    </m:r>
                    <m:r>
                      <a:rPr lang="en-US" altLang="zh-CN" sz="2000" b="1" i="1" kern="100">
                        <a:solidFill>
                          <a:srgbClr val="0D0D0D"/>
                        </a:solidFill>
                        <a:effectLst/>
                        <a:latin typeface="Cambria Math" panose="02040503050406030204" pitchFamily="18" charset="0"/>
                        <a:cs typeface="+mn-ea"/>
                        <a:sym typeface="+mn-lt"/>
                      </a:rPr>
                      <m:t>𝟏𝟔</m:t>
                    </m:r>
                    <m:r>
                      <a:rPr lang="en-US" altLang="zh-CN" sz="2000" b="1" kern="100">
                        <a:solidFill>
                          <a:srgbClr val="0D0D0D"/>
                        </a:solidFill>
                        <a:effectLst/>
                        <a:latin typeface="Cambria Math" panose="02040503050406030204" pitchFamily="18" charset="0"/>
                        <a:cs typeface="+mn-ea"/>
                        <a:sym typeface="+mn-lt"/>
                      </a:rPr>
                      <m:t>,</m:t>
                    </m:r>
                    <m:sSub>
                      <m:sSubPr>
                        <m:ctrlPr>
                          <a:rPr lang="zh-CN" altLang="zh-CN" sz="2000" b="1" i="1" kern="100">
                            <a:solidFill>
                              <a:srgbClr val="0D0D0D"/>
                            </a:solidFill>
                            <a:effectLst/>
                            <a:latin typeface="Cambria Math" panose="02040503050406030204" pitchFamily="18" charset="0"/>
                            <a:cs typeface="+mn-ea"/>
                            <a:sym typeface="+mn-lt"/>
                          </a:rPr>
                        </m:ctrlPr>
                      </m:sSubPr>
                      <m:e>
                        <m:r>
                          <a:rPr lang="en-US" altLang="zh-CN" sz="2000" b="1" i="1" kern="100">
                            <a:solidFill>
                              <a:srgbClr val="0D0D0D"/>
                            </a:solidFill>
                            <a:effectLst/>
                            <a:latin typeface="Cambria Math" panose="02040503050406030204" pitchFamily="18" charset="0"/>
                            <a:cs typeface="+mn-ea"/>
                            <a:sym typeface="+mn-lt"/>
                          </a:rPr>
                          <m:t>𝒚</m:t>
                        </m:r>
                      </m:e>
                      <m:sub>
                        <m:r>
                          <a:rPr lang="en-US" altLang="zh-CN" sz="2000" b="1" i="1" kern="100">
                            <a:solidFill>
                              <a:srgbClr val="0D0D0D"/>
                            </a:solidFill>
                            <a:effectLst/>
                            <a:latin typeface="Cambria Math" panose="02040503050406030204" pitchFamily="18" charset="0"/>
                            <a:cs typeface="+mn-ea"/>
                            <a:sym typeface="+mn-lt"/>
                          </a:rPr>
                          <m:t>𝟏</m:t>
                        </m:r>
                      </m:sub>
                    </m:sSub>
                    <m:r>
                      <a:rPr lang="en-US" altLang="zh-CN" sz="2000" b="1" kern="100">
                        <a:solidFill>
                          <a:srgbClr val="0D0D0D"/>
                        </a:solidFill>
                        <a:effectLst/>
                        <a:latin typeface="Cambria Math" panose="02040503050406030204" pitchFamily="18" charset="0"/>
                        <a:cs typeface="+mn-ea"/>
                        <a:sym typeface="+mn-lt"/>
                      </a:rPr>
                      <m:t>/</m:t>
                    </m:r>
                    <m:r>
                      <a:rPr lang="en-US" altLang="zh-CN" sz="2000" b="1" i="1" kern="100">
                        <a:solidFill>
                          <a:srgbClr val="0D0D0D"/>
                        </a:solidFill>
                        <a:effectLst/>
                        <a:latin typeface="Cambria Math" panose="02040503050406030204" pitchFamily="18" charset="0"/>
                        <a:cs typeface="+mn-ea"/>
                        <a:sym typeface="+mn-lt"/>
                      </a:rPr>
                      <m:t>𝟏𝟔</m:t>
                    </m:r>
                    <m:r>
                      <a:rPr lang="en-US" altLang="zh-CN" sz="2000" b="1" kern="100">
                        <a:solidFill>
                          <a:srgbClr val="0D0D0D"/>
                        </a:solidFill>
                        <a:effectLst/>
                        <a:latin typeface="Cambria Math" panose="02040503050406030204" pitchFamily="18" charset="0"/>
                        <a:cs typeface="+mn-ea"/>
                        <a:sym typeface="+mn-lt"/>
                      </a:rPr>
                      <m:t>,</m:t>
                    </m:r>
                    <m:sSub>
                      <m:sSubPr>
                        <m:ctrlPr>
                          <a:rPr lang="zh-CN" altLang="zh-CN" sz="2000" b="1" i="1" kern="100">
                            <a:solidFill>
                              <a:srgbClr val="0D0D0D"/>
                            </a:solidFill>
                            <a:effectLst/>
                            <a:latin typeface="Cambria Math" panose="02040503050406030204" pitchFamily="18" charset="0"/>
                            <a:cs typeface="+mn-ea"/>
                            <a:sym typeface="+mn-lt"/>
                          </a:rPr>
                        </m:ctrlPr>
                      </m:sSubPr>
                      <m:e>
                        <m:r>
                          <a:rPr lang="en-US" altLang="zh-CN" sz="2000" b="1" i="1" kern="100">
                            <a:solidFill>
                              <a:srgbClr val="0D0D0D"/>
                            </a:solidFill>
                            <a:effectLst/>
                            <a:latin typeface="Cambria Math" panose="02040503050406030204" pitchFamily="18" charset="0"/>
                            <a:cs typeface="+mn-ea"/>
                            <a:sym typeface="+mn-lt"/>
                          </a:rPr>
                          <m:t>𝒙</m:t>
                        </m:r>
                      </m:e>
                      <m:sub>
                        <m:r>
                          <a:rPr lang="en-US" altLang="zh-CN" sz="2000" b="1" i="1" kern="100">
                            <a:solidFill>
                              <a:srgbClr val="0D0D0D"/>
                            </a:solidFill>
                            <a:effectLst/>
                            <a:latin typeface="Cambria Math" panose="02040503050406030204" pitchFamily="18" charset="0"/>
                            <a:cs typeface="+mn-ea"/>
                            <a:sym typeface="+mn-lt"/>
                          </a:rPr>
                          <m:t>𝟐</m:t>
                        </m:r>
                      </m:sub>
                    </m:sSub>
                    <m:r>
                      <a:rPr lang="en-US" altLang="zh-CN" sz="2000" b="1" kern="100">
                        <a:solidFill>
                          <a:srgbClr val="0D0D0D"/>
                        </a:solidFill>
                        <a:effectLst/>
                        <a:latin typeface="Cambria Math" panose="02040503050406030204" pitchFamily="18" charset="0"/>
                        <a:cs typeface="+mn-ea"/>
                        <a:sym typeface="+mn-lt"/>
                      </a:rPr>
                      <m:t>/</m:t>
                    </m:r>
                    <m:r>
                      <a:rPr lang="en-US" altLang="zh-CN" sz="2000" b="1" i="1" kern="100">
                        <a:solidFill>
                          <a:srgbClr val="0D0D0D"/>
                        </a:solidFill>
                        <a:effectLst/>
                        <a:latin typeface="Cambria Math" panose="02040503050406030204" pitchFamily="18" charset="0"/>
                        <a:cs typeface="+mn-ea"/>
                        <a:sym typeface="+mn-lt"/>
                      </a:rPr>
                      <m:t>𝟏𝟔</m:t>
                    </m:r>
                    <m:r>
                      <a:rPr lang="en-US" altLang="zh-CN" sz="2000" b="1" kern="100">
                        <a:solidFill>
                          <a:srgbClr val="0D0D0D"/>
                        </a:solidFill>
                        <a:effectLst/>
                        <a:latin typeface="Cambria Math" panose="02040503050406030204" pitchFamily="18" charset="0"/>
                        <a:cs typeface="+mn-ea"/>
                        <a:sym typeface="+mn-lt"/>
                      </a:rPr>
                      <m:t>,</m:t>
                    </m:r>
                    <m:sSub>
                      <m:sSubPr>
                        <m:ctrlPr>
                          <a:rPr lang="zh-CN" altLang="zh-CN" sz="2000" b="1" i="1" kern="100">
                            <a:solidFill>
                              <a:srgbClr val="0D0D0D"/>
                            </a:solidFill>
                            <a:effectLst/>
                            <a:latin typeface="Cambria Math" panose="02040503050406030204" pitchFamily="18" charset="0"/>
                            <a:cs typeface="+mn-ea"/>
                            <a:sym typeface="+mn-lt"/>
                          </a:rPr>
                        </m:ctrlPr>
                      </m:sSubPr>
                      <m:e>
                        <m:r>
                          <a:rPr lang="en-US" altLang="zh-CN" sz="2000" b="1" i="1" kern="100">
                            <a:solidFill>
                              <a:srgbClr val="0D0D0D"/>
                            </a:solidFill>
                            <a:effectLst/>
                            <a:latin typeface="Cambria Math" panose="02040503050406030204" pitchFamily="18" charset="0"/>
                            <a:cs typeface="+mn-ea"/>
                            <a:sym typeface="+mn-lt"/>
                          </a:rPr>
                          <m:t>𝒚</m:t>
                        </m:r>
                      </m:e>
                      <m:sub>
                        <m:r>
                          <a:rPr lang="en-US" altLang="zh-CN" sz="2000" b="1" i="1" kern="100">
                            <a:solidFill>
                              <a:srgbClr val="0D0D0D"/>
                            </a:solidFill>
                            <a:effectLst/>
                            <a:latin typeface="Cambria Math" panose="02040503050406030204" pitchFamily="18" charset="0"/>
                            <a:cs typeface="+mn-ea"/>
                            <a:sym typeface="+mn-lt"/>
                          </a:rPr>
                          <m:t>𝟐</m:t>
                        </m:r>
                      </m:sub>
                    </m:sSub>
                    <m:r>
                      <a:rPr lang="en-US" altLang="zh-CN" sz="2000" b="1" kern="100">
                        <a:solidFill>
                          <a:srgbClr val="0D0D0D"/>
                        </a:solidFill>
                        <a:effectLst/>
                        <a:latin typeface="Cambria Math" panose="02040503050406030204" pitchFamily="18" charset="0"/>
                        <a:cs typeface="+mn-ea"/>
                        <a:sym typeface="+mn-lt"/>
                      </a:rPr>
                      <m:t>/</m:t>
                    </m:r>
                    <m:r>
                      <a:rPr lang="en-US" altLang="zh-CN" sz="2000" b="1" i="1" kern="100">
                        <a:solidFill>
                          <a:srgbClr val="0D0D0D"/>
                        </a:solidFill>
                        <a:effectLst/>
                        <a:latin typeface="Cambria Math" panose="02040503050406030204" pitchFamily="18" charset="0"/>
                        <a:cs typeface="+mn-ea"/>
                        <a:sym typeface="+mn-lt"/>
                      </a:rPr>
                      <m:t>𝟏𝟔</m:t>
                    </m:r>
                  </m:oMath>
                </a14:m>
                <a:r>
                  <a:rPr lang="en-US" altLang="zh-CN" sz="2000" b="1" kern="100" dirty="0">
                    <a:solidFill>
                      <a:srgbClr val="0D0D0D"/>
                    </a:solidFill>
                    <a:effectLst/>
                    <a:cs typeface="+mn-ea"/>
                    <a:sym typeface="+mn-lt"/>
                  </a:rPr>
                  <a:t>]</a:t>
                </a:r>
                <a:r>
                  <a:rPr lang="zh-CN" altLang="zh-CN" sz="2000" kern="100" dirty="0">
                    <a:solidFill>
                      <a:srgbClr val="0D0D0D"/>
                    </a:solidFill>
                    <a:effectLst/>
                    <a:cs typeface="+mn-ea"/>
                    <a:sym typeface="+mn-lt"/>
                  </a:rPr>
                  <a:t>。</a:t>
                </a:r>
                <a:endParaRPr lang="zh-CN" altLang="zh-CN" sz="2000" kern="100" dirty="0">
                  <a:effectLst/>
                  <a:cs typeface="+mn-ea"/>
                  <a:sym typeface="+mn-lt"/>
                </a:endParaRPr>
              </a:p>
              <a:p>
                <a:pPr marL="0" indent="0">
                  <a:buNone/>
                </a:pPr>
                <a:endParaRPr lang="zh-CN" altLang="en-US" sz="2000" dirty="0">
                  <a:cs typeface="+mn-ea"/>
                  <a:sym typeface="+mn-lt"/>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291483" y="1523785"/>
                <a:ext cx="6737766" cy="4351338"/>
              </a:xfrm>
              <a:blipFill rotWithShape="1">
                <a:blip r:embed="rId1"/>
                <a:stretch>
                  <a:fillRect t="-10" r="6" b="2"/>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dirty="0">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a:blip r:embed="rId2"/>
          <a:stretch>
            <a:fillRect/>
          </a:stretch>
        </p:blipFill>
        <p:spPr>
          <a:xfrm>
            <a:off x="6793993" y="2417130"/>
            <a:ext cx="4559808" cy="261616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b="1" dirty="0">
                <a:cs typeface="+mn-ea"/>
                <a:sym typeface="+mn-lt"/>
              </a:rPr>
              <a:t>2</a:t>
            </a:r>
            <a:r>
              <a:rPr lang="zh-CN" altLang="en-US" sz="2000" b="1" dirty="0">
                <a:cs typeface="+mn-ea"/>
                <a:sym typeface="+mn-lt"/>
              </a:rPr>
              <a:t>）</a:t>
            </a:r>
            <a:r>
              <a:rPr lang="en-US" altLang="zh-CN" sz="2000" b="1" dirty="0" err="1">
                <a:cs typeface="+mn-ea"/>
                <a:sym typeface="+mn-lt"/>
              </a:rPr>
              <a:t>RoI</a:t>
            </a:r>
            <a:r>
              <a:rPr lang="en-US" altLang="zh-CN" sz="2000" b="1" dirty="0">
                <a:cs typeface="+mn-ea"/>
                <a:sym typeface="+mn-lt"/>
              </a:rPr>
              <a:t> </a:t>
            </a:r>
            <a:r>
              <a:rPr lang="zh-CN" altLang="en-US" sz="2000" b="1" dirty="0">
                <a:cs typeface="+mn-ea"/>
                <a:sym typeface="+mn-lt"/>
              </a:rPr>
              <a:t>池化层</a:t>
            </a:r>
            <a:endParaRPr lang="en-US" altLang="zh-CN" sz="2000" b="1" dirty="0">
              <a:cs typeface="+mn-ea"/>
              <a:sym typeface="+mn-lt"/>
            </a:endParaRPr>
          </a:p>
          <a:p>
            <a:pPr marL="0" indent="0">
              <a:buNone/>
            </a:pPr>
            <a:r>
              <a:rPr lang="zh-CN" altLang="en-US" sz="2000" dirty="0">
                <a:cs typeface="+mn-ea"/>
                <a:sym typeface="+mn-lt"/>
              </a:rPr>
              <a:t>由于</a:t>
            </a:r>
            <a:r>
              <a:rPr lang="en-US" altLang="zh-CN" sz="2000" dirty="0">
                <a:cs typeface="+mn-ea"/>
                <a:sym typeface="+mn-lt"/>
              </a:rPr>
              <a:t>Fast R-CNN</a:t>
            </a:r>
            <a:r>
              <a:rPr lang="zh-CN" altLang="en-US" sz="2000" dirty="0">
                <a:cs typeface="+mn-ea"/>
                <a:sym typeface="+mn-lt"/>
              </a:rPr>
              <a:t>引入全连接层对候选框进行分类和回归，而全连接层要求特征块有固定的形状，因此需要采用</a:t>
            </a:r>
            <a:r>
              <a:rPr lang="en-US" altLang="zh-CN" sz="2000" b="1" dirty="0" err="1">
                <a:cs typeface="+mn-ea"/>
                <a:sym typeface="+mn-lt"/>
              </a:rPr>
              <a:t>RoI</a:t>
            </a:r>
            <a:r>
              <a:rPr lang="zh-CN" altLang="en-US" sz="2000" b="1" dirty="0">
                <a:cs typeface="+mn-ea"/>
                <a:sym typeface="+mn-lt"/>
              </a:rPr>
              <a:t>池化</a:t>
            </a:r>
            <a:r>
              <a:rPr lang="zh-CN" altLang="en-US" sz="2000" dirty="0">
                <a:cs typeface="+mn-ea"/>
                <a:sym typeface="+mn-lt"/>
              </a:rPr>
              <a:t>操作将不同形状的候选区域，转换为</a:t>
            </a:r>
            <a:r>
              <a:rPr lang="zh-CN" altLang="en-US" sz="2000" b="1" dirty="0">
                <a:cs typeface="+mn-ea"/>
                <a:sym typeface="+mn-lt"/>
              </a:rPr>
              <a:t>形状相同的特征块</a:t>
            </a:r>
            <a:r>
              <a:rPr lang="zh-CN" altLang="en-US" sz="2000" dirty="0">
                <a:cs typeface="+mn-ea"/>
                <a:sym typeface="+mn-lt"/>
              </a:rPr>
              <a:t>。计算过程</a:t>
            </a:r>
            <a:r>
              <a:rPr lang="zh-CN" altLang="en-US" sz="2000" b="1" dirty="0">
                <a:cs typeface="+mn-ea"/>
                <a:sym typeface="+mn-lt"/>
              </a:rPr>
              <a:t>如下图所示</a:t>
            </a:r>
            <a:r>
              <a:rPr lang="zh-CN" altLang="en-US" sz="2000" dirty="0">
                <a:cs typeface="+mn-ea"/>
                <a:sym typeface="+mn-lt"/>
              </a:rPr>
              <a:t>，首先，在每个</a:t>
            </a:r>
            <a:r>
              <a:rPr lang="en-US" altLang="zh-CN" sz="2000" dirty="0" err="1">
                <a:cs typeface="+mn-ea"/>
                <a:sym typeface="+mn-lt"/>
              </a:rPr>
              <a:t>RoI</a:t>
            </a:r>
            <a:r>
              <a:rPr lang="zh-CN" altLang="en-US" sz="2000" dirty="0">
                <a:cs typeface="+mn-ea"/>
                <a:sym typeface="+mn-lt"/>
              </a:rPr>
              <a:t>区域上划分固定尺寸的均匀网格（如</a:t>
            </a:r>
            <a:r>
              <a:rPr lang="en-US" altLang="zh-CN" sz="2000" dirty="0">
                <a:cs typeface="+mn-ea"/>
                <a:sym typeface="+mn-lt"/>
              </a:rPr>
              <a:t>2x2</a:t>
            </a:r>
            <a:r>
              <a:rPr lang="zh-CN" altLang="en-US" sz="2000" dirty="0">
                <a:cs typeface="+mn-ea"/>
                <a:sym typeface="+mn-lt"/>
              </a:rPr>
              <a:t>），对每个网格进行</a:t>
            </a:r>
            <a:r>
              <a:rPr lang="zh-CN" altLang="en-US" sz="2000" b="1" dirty="0">
                <a:cs typeface="+mn-ea"/>
                <a:sym typeface="+mn-lt"/>
              </a:rPr>
              <a:t>最大值池化</a:t>
            </a:r>
            <a:r>
              <a:rPr lang="zh-CN" altLang="en-US" sz="2000" dirty="0">
                <a:cs typeface="+mn-ea"/>
                <a:sym typeface="+mn-lt"/>
              </a:rPr>
              <a:t>，原来的特征图就被映射成一个较小的固定尺寸（</a:t>
            </a:r>
            <a:r>
              <a:rPr lang="en-US" altLang="zh-CN" sz="2000" dirty="0">
                <a:cs typeface="+mn-ea"/>
                <a:sym typeface="+mn-lt"/>
              </a:rPr>
              <a:t>2x2</a:t>
            </a:r>
            <a:r>
              <a:rPr lang="zh-CN" altLang="en-US" sz="2000" dirty="0">
                <a:cs typeface="+mn-ea"/>
                <a:sym typeface="+mn-lt"/>
              </a:rPr>
              <a:t>）的新特征图。</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3018433" y="3508481"/>
            <a:ext cx="6155133" cy="248394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b="1" dirty="0">
                <a:cs typeface="+mn-ea"/>
                <a:sym typeface="+mn-lt"/>
              </a:rPr>
              <a:t>3</a:t>
            </a:r>
            <a:r>
              <a:rPr lang="zh-CN" altLang="en-US" sz="2000" b="1" dirty="0">
                <a:cs typeface="+mn-ea"/>
                <a:sym typeface="+mn-lt"/>
              </a:rPr>
              <a:t>）模型训练</a:t>
            </a:r>
            <a:endParaRPr lang="en-US" altLang="zh-CN" sz="2000" b="1" dirty="0">
              <a:cs typeface="+mn-ea"/>
              <a:sym typeface="+mn-lt"/>
            </a:endParaRPr>
          </a:p>
          <a:p>
            <a:pPr marL="0" indent="0">
              <a:buNone/>
            </a:pPr>
            <a:r>
              <a:rPr lang="zh-CN" altLang="en-US" sz="2000" dirty="0">
                <a:cs typeface="+mn-ea"/>
                <a:sym typeface="+mn-lt"/>
              </a:rPr>
              <a:t>与</a:t>
            </a:r>
            <a:r>
              <a:rPr lang="en-US" altLang="zh-CN" sz="2000" dirty="0">
                <a:cs typeface="+mn-ea"/>
                <a:sym typeface="+mn-lt"/>
              </a:rPr>
              <a:t>R-CNN</a:t>
            </a:r>
            <a:r>
              <a:rPr lang="zh-CN" altLang="en-US" sz="2000" dirty="0">
                <a:cs typeface="+mn-ea"/>
                <a:sym typeface="+mn-lt"/>
              </a:rPr>
              <a:t>类似，</a:t>
            </a:r>
            <a:r>
              <a:rPr lang="en-US" altLang="zh-CN" sz="2000" dirty="0">
                <a:cs typeface="+mn-ea"/>
                <a:sym typeface="+mn-lt"/>
              </a:rPr>
              <a:t>Fast R-CNN</a:t>
            </a:r>
            <a:r>
              <a:rPr lang="zh-CN" altLang="en-US" sz="2000" dirty="0">
                <a:cs typeface="+mn-ea"/>
                <a:sym typeface="+mn-lt"/>
              </a:rPr>
              <a:t>的骨干网络也使用了在</a:t>
            </a:r>
            <a:r>
              <a:rPr lang="en-US" altLang="zh-CN" sz="2000" b="1" dirty="0">
                <a:cs typeface="+mn-ea"/>
                <a:sym typeface="+mn-lt"/>
              </a:rPr>
              <a:t>ImageNet</a:t>
            </a:r>
            <a:r>
              <a:rPr lang="zh-CN" altLang="en-US" sz="2000" b="1" dirty="0">
                <a:cs typeface="+mn-ea"/>
                <a:sym typeface="+mn-lt"/>
              </a:rPr>
              <a:t>上预训练</a:t>
            </a:r>
            <a:r>
              <a:rPr lang="zh-CN" altLang="en-US" sz="2000" dirty="0">
                <a:cs typeface="+mn-ea"/>
                <a:sym typeface="+mn-lt"/>
              </a:rPr>
              <a:t>过的特征提取网络，并对网络结构作出调整以适应目标检测。具体地，把网络尾部的池化层替换为</a:t>
            </a:r>
            <a:r>
              <a:rPr lang="en-US" altLang="zh-CN" sz="2000" b="1" dirty="0" err="1">
                <a:cs typeface="+mn-ea"/>
                <a:sym typeface="+mn-lt"/>
              </a:rPr>
              <a:t>RoI</a:t>
            </a:r>
            <a:r>
              <a:rPr lang="en-US" altLang="zh-CN" sz="2000" b="1" dirty="0">
                <a:cs typeface="+mn-ea"/>
                <a:sym typeface="+mn-lt"/>
              </a:rPr>
              <a:t> Pooling</a:t>
            </a:r>
            <a:r>
              <a:rPr lang="zh-CN" altLang="en-US" sz="2000" b="1" dirty="0">
                <a:cs typeface="+mn-ea"/>
                <a:sym typeface="+mn-lt"/>
              </a:rPr>
              <a:t>层</a:t>
            </a:r>
            <a:r>
              <a:rPr lang="zh-CN" altLang="en-US" sz="2000" dirty="0">
                <a:cs typeface="+mn-ea"/>
                <a:sym typeface="+mn-lt"/>
              </a:rPr>
              <a:t>，然后连接</a:t>
            </a:r>
            <a:r>
              <a:rPr lang="zh-CN" altLang="en-US" sz="2000" b="1" dirty="0">
                <a:cs typeface="+mn-ea"/>
                <a:sym typeface="+mn-lt"/>
              </a:rPr>
              <a:t>两个并行的全连接层</a:t>
            </a:r>
            <a:r>
              <a:rPr lang="zh-CN" altLang="en-US" sz="2000" dirty="0">
                <a:cs typeface="+mn-ea"/>
                <a:sym typeface="+mn-lt"/>
              </a:rPr>
              <a:t>，分别用于</a:t>
            </a:r>
            <a:r>
              <a:rPr lang="zh-CN" altLang="en-US" sz="2000" b="1" dirty="0">
                <a:cs typeface="+mn-ea"/>
                <a:sym typeface="+mn-lt"/>
              </a:rPr>
              <a:t>判定目标的类别</a:t>
            </a:r>
            <a:r>
              <a:rPr lang="zh-CN" altLang="en-US" sz="2000" dirty="0">
                <a:cs typeface="+mn-ea"/>
                <a:sym typeface="+mn-lt"/>
              </a:rPr>
              <a:t>和</a:t>
            </a:r>
            <a:r>
              <a:rPr lang="zh-CN" altLang="en-US" sz="2000" b="1" dirty="0">
                <a:cs typeface="+mn-ea"/>
                <a:sym typeface="+mn-lt"/>
              </a:rPr>
              <a:t>对候选框进行位置修正</a:t>
            </a:r>
            <a:r>
              <a:rPr lang="zh-CN" altLang="en-US" sz="2000" dirty="0">
                <a:cs typeface="+mn-ea"/>
                <a:sym typeface="+mn-lt"/>
              </a:rPr>
              <a:t>。除了候选框生成模块，</a:t>
            </a:r>
            <a:r>
              <a:rPr lang="en-US" altLang="zh-CN" sz="2000" dirty="0">
                <a:cs typeface="+mn-ea"/>
                <a:sym typeface="+mn-lt"/>
              </a:rPr>
              <a:t>Fast R-CNN</a:t>
            </a:r>
            <a:r>
              <a:rPr lang="zh-CN" altLang="en-US" sz="2000" dirty="0">
                <a:cs typeface="+mn-ea"/>
                <a:sym typeface="+mn-lt"/>
              </a:rPr>
              <a:t>的其余部分（特征提取器、分类器和边界框回归器）是</a:t>
            </a:r>
            <a:r>
              <a:rPr lang="zh-CN" altLang="en-US" sz="2000" b="1" dirty="0">
                <a:cs typeface="+mn-ea"/>
                <a:sym typeface="+mn-lt"/>
              </a:rPr>
              <a:t>端到端</a:t>
            </a:r>
            <a:r>
              <a:rPr lang="zh-CN" altLang="en-US" sz="2000" dirty="0">
                <a:cs typeface="+mn-ea"/>
                <a:sym typeface="+mn-lt"/>
              </a:rPr>
              <a:t>训练的。这部分网络的输入包括两部分，一部分是图像，另一部分是从图像中提取的候选框。</a:t>
            </a:r>
            <a:endParaRPr lang="zh-CN" altLang="en-US" sz="2000" dirty="0">
              <a:cs typeface="+mn-ea"/>
              <a:sym typeface="+mn-lt"/>
            </a:endParaRPr>
          </a:p>
          <a:p>
            <a:pPr marL="0" indent="0">
              <a:buNone/>
            </a:pPr>
            <a:r>
              <a:rPr lang="zh-CN" altLang="en-US" sz="2000" dirty="0">
                <a:cs typeface="+mn-ea"/>
                <a:sym typeface="+mn-lt"/>
              </a:rPr>
              <a:t>对于每张训练图片，使用</a:t>
            </a:r>
            <a:r>
              <a:rPr lang="en-US" altLang="zh-CN" sz="2000" dirty="0">
                <a:cs typeface="+mn-ea"/>
                <a:sym typeface="+mn-lt"/>
              </a:rPr>
              <a:t>Selective Search</a:t>
            </a:r>
            <a:r>
              <a:rPr lang="zh-CN" altLang="en-US" sz="2000" dirty="0">
                <a:cs typeface="+mn-ea"/>
                <a:sym typeface="+mn-lt"/>
              </a:rPr>
              <a:t>算法生成候选框。其中，与真值框的</a:t>
            </a:r>
            <a:r>
              <a:rPr lang="en-US" altLang="zh-CN" sz="2000" b="1" dirty="0" err="1">
                <a:cs typeface="+mn-ea"/>
                <a:sym typeface="+mn-lt"/>
              </a:rPr>
              <a:t>IoU</a:t>
            </a:r>
            <a:r>
              <a:rPr lang="zh-CN" altLang="en-US" sz="2000" b="1" dirty="0">
                <a:cs typeface="+mn-ea"/>
                <a:sym typeface="+mn-lt"/>
              </a:rPr>
              <a:t>大于</a:t>
            </a:r>
            <a:r>
              <a:rPr lang="en-US" altLang="zh-CN" sz="2000" b="1" dirty="0">
                <a:cs typeface="+mn-ea"/>
                <a:sym typeface="+mn-lt"/>
              </a:rPr>
              <a:t>0.5</a:t>
            </a:r>
            <a:r>
              <a:rPr lang="zh-CN" altLang="en-US" sz="2000" dirty="0">
                <a:cs typeface="+mn-ea"/>
                <a:sym typeface="+mn-lt"/>
              </a:rPr>
              <a:t>的候选框作为</a:t>
            </a:r>
            <a:r>
              <a:rPr lang="zh-CN" altLang="en-US" sz="2000" b="1" dirty="0">
                <a:cs typeface="+mn-ea"/>
                <a:sym typeface="+mn-lt"/>
              </a:rPr>
              <a:t>正样本</a:t>
            </a:r>
            <a:r>
              <a:rPr lang="zh-CN" altLang="en-US" sz="2000" dirty="0">
                <a:cs typeface="+mn-ea"/>
                <a:sym typeface="+mn-lt"/>
              </a:rPr>
              <a:t>，</a:t>
            </a:r>
            <a:r>
              <a:rPr lang="en-US" altLang="zh-CN" sz="2000" dirty="0" err="1">
                <a:cs typeface="+mn-ea"/>
                <a:sym typeface="+mn-lt"/>
              </a:rPr>
              <a:t>IoU</a:t>
            </a:r>
            <a:r>
              <a:rPr lang="en-US" altLang="zh-CN" sz="2000" dirty="0">
                <a:cs typeface="+mn-ea"/>
                <a:sym typeface="+mn-lt"/>
              </a:rPr>
              <a:t>∈[0.1, 0.5]</a:t>
            </a:r>
            <a:r>
              <a:rPr lang="zh-CN" altLang="en-US" sz="2000" dirty="0">
                <a:cs typeface="+mn-ea"/>
                <a:sym typeface="+mn-lt"/>
              </a:rPr>
              <a:t>的作为</a:t>
            </a:r>
            <a:r>
              <a:rPr lang="zh-CN" altLang="en-US" sz="2000" b="1" dirty="0">
                <a:cs typeface="+mn-ea"/>
                <a:sym typeface="+mn-lt"/>
              </a:rPr>
              <a:t>负样本</a:t>
            </a:r>
            <a:r>
              <a:rPr lang="zh-CN" altLang="en-US" sz="2000" dirty="0">
                <a:cs typeface="+mn-ea"/>
                <a:sym typeface="+mn-lt"/>
              </a:rPr>
              <a:t>。</a:t>
            </a:r>
            <a:r>
              <a:rPr lang="en-US" altLang="zh-CN" sz="2000" dirty="0" err="1">
                <a:cs typeface="+mn-ea"/>
                <a:sym typeface="+mn-lt"/>
              </a:rPr>
              <a:t>IoU</a:t>
            </a:r>
            <a:r>
              <a:rPr lang="en-US" altLang="zh-CN" sz="2000" dirty="0">
                <a:cs typeface="+mn-ea"/>
                <a:sym typeface="+mn-lt"/>
              </a:rPr>
              <a:t>&lt;0.1</a:t>
            </a:r>
            <a:r>
              <a:rPr lang="zh-CN" altLang="en-US" sz="2000" dirty="0">
                <a:cs typeface="+mn-ea"/>
                <a:sym typeface="+mn-lt"/>
              </a:rPr>
              <a:t>的样本用于</a:t>
            </a:r>
            <a:r>
              <a:rPr lang="zh-CN" altLang="en-US" sz="2000" b="1" dirty="0">
                <a:cs typeface="+mn-ea"/>
                <a:sym typeface="+mn-lt"/>
              </a:rPr>
              <a:t>难例挖掘</a:t>
            </a:r>
            <a:r>
              <a:rPr lang="zh-CN" altLang="en-US" sz="2000" dirty="0">
                <a:cs typeface="+mn-ea"/>
                <a:sym typeface="+mn-lt"/>
              </a:rPr>
              <a:t>，进一步提升模型的性能。每张图片选取</a:t>
            </a:r>
            <a:r>
              <a:rPr lang="en-US" altLang="zh-CN" sz="2000" dirty="0">
                <a:cs typeface="+mn-ea"/>
                <a:sym typeface="+mn-lt"/>
              </a:rPr>
              <a:t>64</a:t>
            </a:r>
            <a:r>
              <a:rPr lang="zh-CN" altLang="en-US" sz="2000" dirty="0">
                <a:cs typeface="+mn-ea"/>
                <a:sym typeface="+mn-lt"/>
              </a:rPr>
              <a:t>个候选框，其中正样本和负样本之比为</a:t>
            </a:r>
            <a:r>
              <a:rPr lang="en-US" altLang="zh-CN" sz="2000" dirty="0">
                <a:cs typeface="+mn-ea"/>
                <a:sym typeface="+mn-lt"/>
              </a:rPr>
              <a:t>1:3</a:t>
            </a:r>
            <a:r>
              <a:rPr lang="zh-CN" altLang="en-US" sz="2000" dirty="0">
                <a:cs typeface="+mn-ea"/>
                <a:sym typeface="+mn-lt"/>
              </a:rPr>
              <a:t>。训练时，</a:t>
            </a:r>
            <a:r>
              <a:rPr lang="en-US" altLang="zh-CN" sz="2000" dirty="0">
                <a:cs typeface="+mn-ea"/>
                <a:sym typeface="+mn-lt"/>
              </a:rPr>
              <a:t>batch size</a:t>
            </a:r>
            <a:r>
              <a:rPr lang="zh-CN" altLang="en-US" sz="2000" dirty="0">
                <a:cs typeface="+mn-ea"/>
                <a:sym typeface="+mn-lt"/>
              </a:rPr>
              <a:t>为</a:t>
            </a:r>
            <a:r>
              <a:rPr lang="en-US" altLang="zh-CN" sz="2000" dirty="0">
                <a:cs typeface="+mn-ea"/>
                <a:sym typeface="+mn-lt"/>
              </a:rPr>
              <a:t>2</a:t>
            </a:r>
            <a:r>
              <a:rPr lang="zh-CN" altLang="en-US" sz="2000" dirty="0">
                <a:cs typeface="+mn-ea"/>
                <a:sym typeface="+mn-lt"/>
              </a:rPr>
              <a:t>，即每次输入两张图片以及</a:t>
            </a:r>
            <a:r>
              <a:rPr lang="en-US" altLang="zh-CN" sz="2000" dirty="0">
                <a:cs typeface="+mn-ea"/>
                <a:sym typeface="+mn-lt"/>
              </a:rPr>
              <a:t>128</a:t>
            </a:r>
            <a:r>
              <a:rPr lang="zh-CN" altLang="en-US" sz="2000" dirty="0">
                <a:cs typeface="+mn-ea"/>
                <a:sym typeface="+mn-lt"/>
              </a:rPr>
              <a:t>个候选框，网络输出这</a:t>
            </a:r>
            <a:r>
              <a:rPr lang="en-US" altLang="zh-CN" sz="2000" dirty="0">
                <a:cs typeface="+mn-ea"/>
                <a:sym typeface="+mn-lt"/>
              </a:rPr>
              <a:t>128</a:t>
            </a:r>
            <a:r>
              <a:rPr lang="zh-CN" altLang="en-US" sz="2000" dirty="0">
                <a:cs typeface="+mn-ea"/>
                <a:sym typeface="+mn-lt"/>
              </a:rPr>
              <a:t>个候选区域的类别和坐标。</a:t>
            </a:r>
            <a:endParaRPr lang="zh-CN" altLang="en-US"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b="1" dirty="0">
                <a:cs typeface="+mn-ea"/>
                <a:sym typeface="+mn-lt"/>
              </a:rPr>
              <a:t>4</a:t>
            </a:r>
            <a:r>
              <a:rPr lang="zh-CN" altLang="en-US" sz="2000" b="1" dirty="0">
                <a:cs typeface="+mn-ea"/>
                <a:sym typeface="+mn-lt"/>
              </a:rPr>
              <a:t>）模型测试</a:t>
            </a:r>
            <a:endParaRPr lang="en-US" altLang="zh-CN" sz="2000" b="1" dirty="0">
              <a:cs typeface="+mn-ea"/>
              <a:sym typeface="+mn-lt"/>
            </a:endParaRPr>
          </a:p>
          <a:p>
            <a:pPr marL="0" indent="0">
              <a:buNone/>
            </a:pPr>
            <a:r>
              <a:rPr lang="en-US" altLang="zh-CN" sz="2000" dirty="0">
                <a:cs typeface="+mn-ea"/>
                <a:sym typeface="+mn-lt"/>
              </a:rPr>
              <a:t>Fast R-CNN</a:t>
            </a:r>
            <a:r>
              <a:rPr lang="zh-CN" altLang="en-US" sz="2000" dirty="0">
                <a:cs typeface="+mn-ea"/>
                <a:sym typeface="+mn-lt"/>
              </a:rPr>
              <a:t>在进行推理的时候，首先通过</a:t>
            </a:r>
            <a:r>
              <a:rPr lang="en-US" altLang="zh-CN" sz="2000" dirty="0">
                <a:cs typeface="+mn-ea"/>
                <a:sym typeface="+mn-lt"/>
              </a:rPr>
              <a:t>Selective Search</a:t>
            </a:r>
            <a:r>
              <a:rPr lang="zh-CN" altLang="en-US" sz="2000" dirty="0">
                <a:cs typeface="+mn-ea"/>
                <a:sym typeface="+mn-lt"/>
              </a:rPr>
              <a:t>方法生成大量的候选框，每个候选框通过</a:t>
            </a:r>
            <a:r>
              <a:rPr lang="en-US" altLang="zh-CN" sz="2000" dirty="0" err="1">
                <a:cs typeface="+mn-ea"/>
                <a:sym typeface="+mn-lt"/>
              </a:rPr>
              <a:t>RoI</a:t>
            </a:r>
            <a:r>
              <a:rPr lang="en-US" altLang="zh-CN" sz="2000" dirty="0">
                <a:cs typeface="+mn-ea"/>
                <a:sym typeface="+mn-lt"/>
              </a:rPr>
              <a:t> Projection</a:t>
            </a:r>
            <a:r>
              <a:rPr lang="zh-CN" altLang="en-US" sz="2000" dirty="0">
                <a:cs typeface="+mn-ea"/>
                <a:sym typeface="+mn-lt"/>
              </a:rPr>
              <a:t>映射到特征图上得到形状各异的特征块；这些特征块通过</a:t>
            </a:r>
            <a:r>
              <a:rPr lang="en-US" altLang="zh-CN" sz="2000" dirty="0" err="1">
                <a:cs typeface="+mn-ea"/>
                <a:sym typeface="+mn-lt"/>
              </a:rPr>
              <a:t>RoI</a:t>
            </a:r>
            <a:r>
              <a:rPr lang="en-US" altLang="zh-CN" sz="2000" dirty="0">
                <a:cs typeface="+mn-ea"/>
                <a:sym typeface="+mn-lt"/>
              </a:rPr>
              <a:t> Pooling</a:t>
            </a:r>
            <a:r>
              <a:rPr lang="zh-CN" altLang="en-US" sz="2000" dirty="0">
                <a:cs typeface="+mn-ea"/>
                <a:sym typeface="+mn-lt"/>
              </a:rPr>
              <a:t>操作后，连接两个全连接层分别预测候选区域对应目标的类别以及目标的坐标。当左右的候选框都预测完毕之后，会得到大量的预测框，随后使用</a:t>
            </a:r>
            <a:r>
              <a:rPr lang="en-US" altLang="zh-CN" sz="2000" dirty="0">
                <a:cs typeface="+mn-ea"/>
                <a:sym typeface="+mn-lt"/>
              </a:rPr>
              <a:t>NMS</a:t>
            </a:r>
            <a:r>
              <a:rPr lang="zh-CN" altLang="en-US" sz="2000" dirty="0">
                <a:cs typeface="+mn-ea"/>
                <a:sym typeface="+mn-lt"/>
              </a:rPr>
              <a:t>操作去除冗余框得到最终的检测结果。</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lstStyle/>
          <a:p>
            <a:r>
              <a:rPr lang="en-US" altLang="zh-CN" sz="2400" b="1" dirty="0">
                <a:cs typeface="+mn-ea"/>
                <a:sym typeface="+mn-lt"/>
              </a:rPr>
              <a:t>Faster R-CNN</a:t>
            </a:r>
            <a:endParaRPr lang="en-US" altLang="zh-CN" sz="2400" b="1" dirty="0">
              <a:cs typeface="+mn-ea"/>
              <a:sym typeface="+mn-lt"/>
            </a:endParaRPr>
          </a:p>
          <a:p>
            <a:pPr marL="0" indent="0">
              <a:buNone/>
            </a:pPr>
            <a:r>
              <a:rPr lang="en-US" altLang="zh-CN" sz="2000" dirty="0">
                <a:cs typeface="+mn-ea"/>
                <a:sym typeface="+mn-lt"/>
              </a:rPr>
              <a:t>Fast R-CNN</a:t>
            </a:r>
            <a:r>
              <a:rPr lang="zh-CN" altLang="en-US" sz="2000" dirty="0">
                <a:cs typeface="+mn-ea"/>
                <a:sym typeface="+mn-lt"/>
              </a:rPr>
              <a:t>仍然存在一个性能瓶颈，即候选框生成模块使用</a:t>
            </a:r>
            <a:r>
              <a:rPr lang="en-US" altLang="zh-CN" sz="2000" dirty="0">
                <a:cs typeface="+mn-ea"/>
                <a:sym typeface="+mn-lt"/>
              </a:rPr>
              <a:t>Selective Search</a:t>
            </a:r>
            <a:r>
              <a:rPr lang="zh-CN" altLang="en-US" sz="2000" dirty="0">
                <a:cs typeface="+mn-ea"/>
                <a:sym typeface="+mn-lt"/>
              </a:rPr>
              <a:t>等非神经网络算法。这些算法运行在</a:t>
            </a:r>
            <a:r>
              <a:rPr lang="en-US" altLang="zh-CN" sz="2000" dirty="0">
                <a:cs typeface="+mn-ea"/>
                <a:sym typeface="+mn-lt"/>
              </a:rPr>
              <a:t>CPU</a:t>
            </a:r>
            <a:r>
              <a:rPr lang="zh-CN" altLang="en-US" sz="2000" dirty="0">
                <a:cs typeface="+mn-ea"/>
                <a:sym typeface="+mn-lt"/>
              </a:rPr>
              <a:t>上，</a:t>
            </a:r>
            <a:r>
              <a:rPr lang="zh-CN" altLang="en-US" sz="2000" b="1" dirty="0">
                <a:cs typeface="+mn-ea"/>
                <a:sym typeface="+mn-lt"/>
              </a:rPr>
              <a:t>推理速度很慢</a:t>
            </a:r>
            <a:r>
              <a:rPr lang="zh-CN" altLang="en-US" sz="2000" dirty="0">
                <a:cs typeface="+mn-ea"/>
                <a:sym typeface="+mn-lt"/>
              </a:rPr>
              <a:t>。针对这一问题，</a:t>
            </a:r>
            <a:r>
              <a:rPr lang="en-US" altLang="zh-CN" sz="2000" dirty="0">
                <a:cs typeface="+mn-ea"/>
                <a:sym typeface="+mn-lt"/>
              </a:rPr>
              <a:t>Ren</a:t>
            </a:r>
            <a:r>
              <a:rPr lang="zh-CN" altLang="en-US" sz="2000" dirty="0">
                <a:cs typeface="+mn-ea"/>
                <a:sym typeface="+mn-lt"/>
              </a:rPr>
              <a:t>等人</a:t>
            </a:r>
            <a:r>
              <a:rPr lang="en-US" altLang="zh-CN" sz="2000" dirty="0">
                <a:cs typeface="+mn-ea"/>
                <a:sym typeface="+mn-lt"/>
              </a:rPr>
              <a:t>(2018)</a:t>
            </a:r>
            <a:r>
              <a:rPr lang="zh-CN" altLang="en-US" sz="2000" dirty="0">
                <a:cs typeface="+mn-ea"/>
                <a:sym typeface="+mn-lt"/>
              </a:rPr>
              <a:t>提出了</a:t>
            </a:r>
            <a:r>
              <a:rPr lang="en-US" altLang="zh-CN" sz="2000" dirty="0">
                <a:cs typeface="+mn-ea"/>
                <a:sym typeface="+mn-lt"/>
              </a:rPr>
              <a:t>Faster R-CNN</a:t>
            </a:r>
            <a:r>
              <a:rPr lang="zh-CN" altLang="en-US" sz="2000" dirty="0">
                <a:cs typeface="+mn-ea"/>
                <a:sym typeface="+mn-lt"/>
              </a:rPr>
              <a:t>算法，在</a:t>
            </a:r>
            <a:r>
              <a:rPr lang="en-US" altLang="zh-CN" sz="2000" dirty="0">
                <a:cs typeface="+mn-ea"/>
                <a:sym typeface="+mn-lt"/>
              </a:rPr>
              <a:t>Fast R-CNN</a:t>
            </a:r>
            <a:r>
              <a:rPr lang="zh-CN" altLang="en-US" sz="2000" dirty="0">
                <a:cs typeface="+mn-ea"/>
                <a:sym typeface="+mn-lt"/>
              </a:rPr>
              <a:t>的基础上用</a:t>
            </a:r>
            <a:r>
              <a:rPr lang="zh-CN" altLang="en-US" sz="2000" b="1" dirty="0">
                <a:cs typeface="+mn-ea"/>
                <a:sym typeface="+mn-lt"/>
              </a:rPr>
              <a:t>区域提议网络</a:t>
            </a:r>
            <a:r>
              <a:rPr lang="zh-CN" altLang="en-US" sz="2000" dirty="0">
                <a:cs typeface="+mn-ea"/>
                <a:sym typeface="+mn-lt"/>
              </a:rPr>
              <a:t>（</a:t>
            </a:r>
            <a:r>
              <a:rPr lang="en-US" altLang="zh-CN" sz="2000" dirty="0">
                <a:cs typeface="+mn-ea"/>
                <a:sym typeface="+mn-lt"/>
              </a:rPr>
              <a:t>region proposal network</a:t>
            </a:r>
            <a:r>
              <a:rPr lang="zh-CN" altLang="en-US" sz="2000" dirty="0">
                <a:cs typeface="+mn-ea"/>
                <a:sym typeface="+mn-lt"/>
              </a:rPr>
              <a:t>，</a:t>
            </a:r>
            <a:r>
              <a:rPr lang="en-US" altLang="zh-CN" sz="2000" dirty="0">
                <a:cs typeface="+mn-ea"/>
                <a:sym typeface="+mn-lt"/>
              </a:rPr>
              <a:t>RPN</a:t>
            </a:r>
            <a:r>
              <a:rPr lang="zh-CN" altLang="en-US" sz="2000" dirty="0">
                <a:cs typeface="+mn-ea"/>
                <a:sym typeface="+mn-lt"/>
              </a:rPr>
              <a:t>）替代</a:t>
            </a:r>
            <a:r>
              <a:rPr lang="en-US" altLang="zh-CN" sz="2000" dirty="0">
                <a:cs typeface="+mn-ea"/>
                <a:sym typeface="+mn-lt"/>
              </a:rPr>
              <a:t>Selective Search</a:t>
            </a:r>
            <a:r>
              <a:rPr lang="zh-CN" altLang="en-US" sz="2000" dirty="0">
                <a:cs typeface="+mn-ea"/>
                <a:sym typeface="+mn-lt"/>
              </a:rPr>
              <a:t>算法，显著提升了候选框的生成速度，能够更好地适应数据集。</a:t>
            </a:r>
            <a:r>
              <a:rPr lang="en-US" altLang="zh-CN" sz="2000" dirty="0">
                <a:cs typeface="+mn-ea"/>
                <a:sym typeface="+mn-lt"/>
              </a:rPr>
              <a:t>Faster R-CNN</a:t>
            </a:r>
            <a:r>
              <a:rPr lang="zh-CN" altLang="en-US" sz="2000" dirty="0">
                <a:cs typeface="+mn-ea"/>
                <a:sym typeface="+mn-lt"/>
              </a:rPr>
              <a:t>算法主要由两个模块组成，第一个模块是用于提取候选框的</a:t>
            </a:r>
            <a:r>
              <a:rPr lang="zh-CN" altLang="en-US" sz="2000" b="1" dirty="0">
                <a:cs typeface="+mn-ea"/>
                <a:sym typeface="+mn-lt"/>
              </a:rPr>
              <a:t>区域提取网络</a:t>
            </a:r>
            <a:r>
              <a:rPr lang="zh-CN" altLang="en-US" sz="2000" dirty="0">
                <a:cs typeface="+mn-ea"/>
                <a:sym typeface="+mn-lt"/>
              </a:rPr>
              <a:t>（</a:t>
            </a:r>
            <a:r>
              <a:rPr lang="en-US" altLang="zh-CN" sz="2000" dirty="0">
                <a:cs typeface="+mn-ea"/>
                <a:sym typeface="+mn-lt"/>
              </a:rPr>
              <a:t>RPN</a:t>
            </a:r>
            <a:r>
              <a:rPr lang="zh-CN" altLang="en-US" sz="2000" dirty="0">
                <a:cs typeface="+mn-ea"/>
                <a:sym typeface="+mn-lt"/>
              </a:rPr>
              <a:t>）；第二个模块是</a:t>
            </a:r>
            <a:r>
              <a:rPr lang="zh-CN" altLang="en-US" sz="2000" b="1" dirty="0">
                <a:cs typeface="+mn-ea"/>
                <a:sym typeface="+mn-lt"/>
              </a:rPr>
              <a:t>基于候选框的目标检测器</a:t>
            </a:r>
            <a:r>
              <a:rPr lang="zh-CN" altLang="en-US" sz="2000" dirty="0">
                <a:cs typeface="+mn-ea"/>
                <a:sym typeface="+mn-lt"/>
              </a:rPr>
              <a:t>，与</a:t>
            </a:r>
            <a:r>
              <a:rPr lang="en-US" altLang="zh-CN" sz="2000" dirty="0">
                <a:cs typeface="+mn-ea"/>
                <a:sym typeface="+mn-lt"/>
              </a:rPr>
              <a:t>Fast R-CNN</a:t>
            </a:r>
            <a:r>
              <a:rPr lang="zh-CN" altLang="en-US" sz="2000" dirty="0">
                <a:cs typeface="+mn-ea"/>
                <a:sym typeface="+mn-lt"/>
              </a:rPr>
              <a:t>一致（又被称为</a:t>
            </a:r>
            <a:r>
              <a:rPr lang="en-US" altLang="zh-CN" sz="2000" dirty="0" err="1">
                <a:cs typeface="+mn-ea"/>
                <a:sym typeface="+mn-lt"/>
              </a:rPr>
              <a:t>RoI</a:t>
            </a:r>
            <a:r>
              <a:rPr lang="en-US" altLang="zh-CN" sz="2000" dirty="0">
                <a:cs typeface="+mn-ea"/>
                <a:sym typeface="+mn-lt"/>
              </a:rPr>
              <a:t> Head</a:t>
            </a:r>
            <a:r>
              <a:rPr lang="zh-CN" altLang="en-US" sz="2000" dirty="0">
                <a:cs typeface="+mn-ea"/>
                <a:sym typeface="+mn-lt"/>
              </a:rPr>
              <a:t>）。</a:t>
            </a:r>
            <a:r>
              <a:rPr lang="en-US" altLang="zh-CN" sz="2000" dirty="0">
                <a:cs typeface="+mn-ea"/>
                <a:sym typeface="+mn-lt"/>
              </a:rPr>
              <a:t>Faster R-CNN</a:t>
            </a:r>
            <a:r>
              <a:rPr lang="zh-CN" altLang="en-US" sz="2000" dirty="0">
                <a:cs typeface="+mn-ea"/>
                <a:sym typeface="+mn-lt"/>
              </a:rPr>
              <a:t>整个流程都基于深度学习算法，实现了端到端的训练，可以充分利用</a:t>
            </a:r>
            <a:r>
              <a:rPr lang="en-US" altLang="zh-CN" sz="2000" b="1" dirty="0">
                <a:cs typeface="+mn-ea"/>
                <a:sym typeface="+mn-lt"/>
              </a:rPr>
              <a:t>GPU</a:t>
            </a:r>
            <a:r>
              <a:rPr lang="zh-CN" altLang="en-US" sz="2000" b="1" dirty="0">
                <a:cs typeface="+mn-ea"/>
                <a:sym typeface="+mn-lt"/>
              </a:rPr>
              <a:t>并行</a:t>
            </a:r>
            <a:r>
              <a:rPr lang="zh-CN" altLang="en-US" sz="2000" dirty="0">
                <a:cs typeface="+mn-ea"/>
                <a:sym typeface="+mn-lt"/>
              </a:rPr>
              <a:t>计算的优势，极大的提升了算法的推理速度。</a:t>
            </a:r>
            <a:endParaRPr lang="en-US" altLang="zh-CN" sz="2000" dirty="0">
              <a:cs typeface="+mn-ea"/>
              <a:sym typeface="+mn-lt"/>
            </a:endParaRPr>
          </a:p>
          <a:p>
            <a:pPr marL="0" indent="0">
              <a:buNone/>
            </a:pPr>
            <a:r>
              <a:rPr lang="zh-CN" altLang="en-US" sz="2000" b="1" dirty="0">
                <a:cs typeface="+mn-ea"/>
                <a:sym typeface="+mn-lt"/>
              </a:rPr>
              <a:t>右图为</a:t>
            </a:r>
            <a:r>
              <a:rPr lang="en-US" altLang="zh-CN" sz="2000" b="1" dirty="0">
                <a:cs typeface="+mn-ea"/>
                <a:sym typeface="+mn-lt"/>
              </a:rPr>
              <a:t>Faster R-CNN</a:t>
            </a:r>
            <a:r>
              <a:rPr lang="zh-CN" altLang="en-US" sz="2000" b="1" dirty="0">
                <a:cs typeface="+mn-ea"/>
                <a:sym typeface="+mn-lt"/>
              </a:rPr>
              <a:t>的网络结构</a:t>
            </a:r>
            <a:r>
              <a:rPr lang="zh-CN" altLang="en-US" sz="2000" dirty="0">
                <a:cs typeface="+mn-ea"/>
                <a:sym typeface="+mn-lt"/>
              </a:rPr>
              <a:t>。</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4834136" y="4341181"/>
            <a:ext cx="6519664" cy="201516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a:xfrm>
            <a:off x="838199" y="1825625"/>
            <a:ext cx="10515599" cy="4351338"/>
          </a:xfrm>
        </p:spPr>
        <p:txBody>
          <a:bodyPr>
            <a:normAutofit/>
          </a:bodyPr>
          <a:lstStyle/>
          <a:p>
            <a:pPr marL="0" indent="0">
              <a:buNone/>
            </a:pPr>
            <a:r>
              <a:rPr lang="zh-CN" altLang="en-US" sz="2000" dirty="0">
                <a:cs typeface="+mn-ea"/>
                <a:sym typeface="+mn-lt"/>
              </a:rPr>
              <a:t>区域提议网络</a:t>
            </a:r>
            <a:r>
              <a:rPr lang="en-US" altLang="zh-CN" sz="2000" dirty="0">
                <a:cs typeface="+mn-ea"/>
                <a:sym typeface="+mn-lt"/>
              </a:rPr>
              <a:t>(RPN)</a:t>
            </a:r>
            <a:r>
              <a:rPr lang="zh-CN" altLang="en-US" sz="2000" dirty="0">
                <a:cs typeface="+mn-ea"/>
                <a:sym typeface="+mn-lt"/>
              </a:rPr>
              <a:t>在特征提取网络（</a:t>
            </a:r>
            <a:r>
              <a:rPr lang="en-US" altLang="zh-CN" sz="2000" dirty="0">
                <a:cs typeface="+mn-ea"/>
                <a:sym typeface="+mn-lt"/>
              </a:rPr>
              <a:t>VGG</a:t>
            </a:r>
            <a:r>
              <a:rPr lang="zh-CN" altLang="en-US" sz="2000" dirty="0">
                <a:cs typeface="+mn-ea"/>
                <a:sym typeface="+mn-lt"/>
              </a:rPr>
              <a:t>、</a:t>
            </a:r>
            <a:r>
              <a:rPr lang="en-US" altLang="zh-CN" sz="2000" dirty="0">
                <a:cs typeface="+mn-ea"/>
                <a:sym typeface="+mn-lt"/>
              </a:rPr>
              <a:t>Resnet</a:t>
            </a:r>
            <a:r>
              <a:rPr lang="zh-CN" altLang="en-US" sz="2000" dirty="0">
                <a:cs typeface="+mn-ea"/>
                <a:sym typeface="+mn-lt"/>
              </a:rPr>
              <a:t>等）提取的特征图上应用了</a:t>
            </a:r>
            <a:r>
              <a:rPr lang="zh-CN" altLang="en-US" sz="2000" b="1" dirty="0">
                <a:cs typeface="+mn-ea"/>
                <a:sym typeface="+mn-lt"/>
              </a:rPr>
              <a:t>滑动窗口</a:t>
            </a:r>
            <a:r>
              <a:rPr lang="zh-CN" altLang="en-US" sz="2000" dirty="0">
                <a:cs typeface="+mn-ea"/>
                <a:sym typeface="+mn-lt"/>
              </a:rPr>
              <a:t>，并在每个窗口上设置了</a:t>
            </a:r>
            <a:r>
              <a:rPr lang="en-US" altLang="zh-CN" sz="2000" dirty="0">
                <a:cs typeface="+mn-ea"/>
                <a:sym typeface="+mn-lt"/>
              </a:rPr>
              <a:t>k</a:t>
            </a:r>
            <a:r>
              <a:rPr lang="zh-CN" altLang="en-US" sz="2000" dirty="0">
                <a:cs typeface="+mn-ea"/>
                <a:sym typeface="+mn-lt"/>
              </a:rPr>
              <a:t>个不同宽高比和尺寸的</a:t>
            </a:r>
            <a:r>
              <a:rPr lang="zh-CN" altLang="en-US" sz="2000" b="1" dirty="0">
                <a:cs typeface="+mn-ea"/>
                <a:sym typeface="+mn-lt"/>
              </a:rPr>
              <a:t>锚框</a:t>
            </a:r>
            <a:r>
              <a:rPr lang="zh-CN" altLang="en-US" sz="2000" dirty="0">
                <a:cs typeface="+mn-ea"/>
                <a:sym typeface="+mn-lt"/>
              </a:rPr>
              <a:t>，以预测不同宽高比、尺寸的目标，</a:t>
            </a:r>
            <a:r>
              <a:rPr lang="zh-CN" altLang="en-US" sz="2000" b="1" dirty="0">
                <a:cs typeface="+mn-ea"/>
                <a:sym typeface="+mn-lt"/>
              </a:rPr>
              <a:t>如下图所示</a:t>
            </a:r>
            <a:r>
              <a:rPr lang="zh-CN" altLang="en-US" sz="2000" dirty="0">
                <a:cs typeface="+mn-ea"/>
                <a:sym typeface="+mn-lt"/>
              </a:rPr>
              <a:t>。随后，预测这些锚框包含目标的概率并回归目标框以更好的与目标匹配。 接下来这些候选框作为</a:t>
            </a:r>
            <a:r>
              <a:rPr lang="en-US" altLang="zh-CN" sz="2000" dirty="0" err="1">
                <a:cs typeface="+mn-ea"/>
                <a:sym typeface="+mn-lt"/>
              </a:rPr>
              <a:t>RoI</a:t>
            </a:r>
            <a:r>
              <a:rPr lang="en-US" altLang="zh-CN" sz="2000" dirty="0">
                <a:cs typeface="+mn-ea"/>
                <a:sym typeface="+mn-lt"/>
              </a:rPr>
              <a:t> Head</a:t>
            </a:r>
            <a:r>
              <a:rPr lang="zh-CN" altLang="en-US" sz="2000" dirty="0">
                <a:cs typeface="+mn-ea"/>
                <a:sym typeface="+mn-lt"/>
              </a:rPr>
              <a:t>的输入，得到目标的类别和坐标。</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descr="图示&#10;&#10;描述已自动生成"/>
          <p:cNvPicPr/>
          <p:nvPr/>
        </p:nvPicPr>
        <p:blipFill>
          <a:blip r:embed="rId1"/>
          <a:stretch>
            <a:fillRect/>
          </a:stretch>
        </p:blipFill>
        <p:spPr>
          <a:xfrm>
            <a:off x="3506679" y="3140380"/>
            <a:ext cx="4350059" cy="290861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lnSpcReduction="10000"/>
          </a:bodyPr>
          <a:lstStyle/>
          <a:p>
            <a:pPr marL="0" indent="0">
              <a:buNone/>
            </a:pPr>
            <a:r>
              <a:rPr lang="zh-CN" altLang="en-US" sz="2000" dirty="0">
                <a:cs typeface="+mn-ea"/>
                <a:sym typeface="+mn-lt"/>
              </a:rPr>
              <a:t>算法细节介绍：</a:t>
            </a:r>
            <a:endParaRPr lang="en-US" altLang="zh-CN" sz="2000" dirty="0">
              <a:cs typeface="+mn-ea"/>
              <a:sym typeface="+mn-lt"/>
            </a:endParaRPr>
          </a:p>
          <a:p>
            <a:pPr marL="0" indent="0">
              <a:buNone/>
            </a:pPr>
            <a:r>
              <a:rPr lang="en-US" altLang="zh-CN" sz="2000" b="1" dirty="0">
                <a:cs typeface="+mn-ea"/>
                <a:sym typeface="+mn-lt"/>
              </a:rPr>
              <a:t>1</a:t>
            </a:r>
            <a:r>
              <a:rPr lang="zh-CN" altLang="en-US" sz="2000" b="1" dirty="0">
                <a:cs typeface="+mn-ea"/>
                <a:sym typeface="+mn-lt"/>
              </a:rPr>
              <a:t>）滑动窗口</a:t>
            </a:r>
            <a:endParaRPr lang="en-US" altLang="zh-CN" sz="2000" b="1" dirty="0">
              <a:cs typeface="+mn-ea"/>
              <a:sym typeface="+mn-lt"/>
            </a:endParaRPr>
          </a:p>
          <a:p>
            <a:pPr marL="0" indent="0">
              <a:buNone/>
            </a:pPr>
            <a:r>
              <a:rPr lang="en-US" altLang="zh-CN" sz="2000" dirty="0">
                <a:cs typeface="+mn-ea"/>
                <a:sym typeface="+mn-lt"/>
              </a:rPr>
              <a:t>Faster R-CNN</a:t>
            </a:r>
            <a:r>
              <a:rPr lang="zh-CN" altLang="en-US" sz="2000" dirty="0">
                <a:cs typeface="+mn-ea"/>
                <a:sym typeface="+mn-lt"/>
              </a:rPr>
              <a:t>在卷积网络输出的特征图上进行滑动窗口操作，</a:t>
            </a:r>
            <a:r>
              <a:rPr lang="zh-CN" altLang="en-US" sz="2000" b="1" dirty="0">
                <a:cs typeface="+mn-ea"/>
                <a:sym typeface="+mn-lt"/>
              </a:rPr>
              <a:t>每次窗口滑动</a:t>
            </a:r>
            <a:r>
              <a:rPr lang="zh-CN" altLang="en-US" sz="2000" dirty="0">
                <a:cs typeface="+mn-ea"/>
                <a:sym typeface="+mn-lt"/>
              </a:rPr>
              <a:t>就得到一个</a:t>
            </a:r>
            <a:r>
              <a:rPr lang="en-US" altLang="zh-CN" sz="2000" dirty="0" err="1">
                <a:cs typeface="+mn-ea"/>
                <a:sym typeface="+mn-lt"/>
              </a:rPr>
              <a:t>n×n×c</a:t>
            </a:r>
            <a:r>
              <a:rPr lang="zh-CN" altLang="en-US" sz="2000" dirty="0">
                <a:cs typeface="+mn-ea"/>
                <a:sym typeface="+mn-lt"/>
              </a:rPr>
              <a:t>（其中，</a:t>
            </a:r>
            <a:r>
              <a:rPr lang="en-US" altLang="zh-CN" sz="2000" dirty="0">
                <a:cs typeface="+mn-ea"/>
                <a:sym typeface="+mn-lt"/>
              </a:rPr>
              <a:t>n</a:t>
            </a:r>
            <a:r>
              <a:rPr lang="zh-CN" altLang="en-US" sz="2000" dirty="0">
                <a:cs typeface="+mn-ea"/>
                <a:sym typeface="+mn-lt"/>
              </a:rPr>
              <a:t>代表窗口的宽和高，</a:t>
            </a:r>
            <a:r>
              <a:rPr lang="en-US" altLang="zh-CN" sz="2000" dirty="0">
                <a:cs typeface="+mn-ea"/>
                <a:sym typeface="+mn-lt"/>
              </a:rPr>
              <a:t>c</a:t>
            </a:r>
            <a:r>
              <a:rPr lang="zh-CN" altLang="en-US" sz="2000" dirty="0">
                <a:cs typeface="+mn-ea"/>
                <a:sym typeface="+mn-lt"/>
              </a:rPr>
              <a:t>代表特征图的通道数）大小的</a:t>
            </a:r>
            <a:r>
              <a:rPr lang="zh-CN" altLang="en-US" sz="2000" b="1" dirty="0">
                <a:cs typeface="+mn-ea"/>
                <a:sym typeface="+mn-lt"/>
              </a:rPr>
              <a:t>特征块</a:t>
            </a:r>
            <a:r>
              <a:rPr lang="zh-CN" altLang="en-US" sz="2000" dirty="0">
                <a:cs typeface="+mn-ea"/>
                <a:sym typeface="+mn-lt"/>
              </a:rPr>
              <a:t>。这些特征块作为</a:t>
            </a:r>
            <a:r>
              <a:rPr lang="zh-CN" altLang="en-US" sz="2000" b="1" dirty="0">
                <a:cs typeface="+mn-ea"/>
                <a:sym typeface="+mn-lt"/>
              </a:rPr>
              <a:t>候选区域的特征</a:t>
            </a:r>
            <a:r>
              <a:rPr lang="zh-CN" altLang="en-US" sz="2000" dirty="0">
                <a:cs typeface="+mn-ea"/>
                <a:sym typeface="+mn-lt"/>
              </a:rPr>
              <a:t>，再经过</a:t>
            </a:r>
            <a:r>
              <a:rPr lang="en-US" altLang="zh-CN" sz="2000" dirty="0" err="1">
                <a:cs typeface="+mn-ea"/>
                <a:sym typeface="+mn-lt"/>
              </a:rPr>
              <a:t>RoI</a:t>
            </a:r>
            <a:r>
              <a:rPr lang="en-US" altLang="zh-CN" sz="2000" dirty="0">
                <a:cs typeface="+mn-ea"/>
                <a:sym typeface="+mn-lt"/>
              </a:rPr>
              <a:t> Pooling</a:t>
            </a:r>
            <a:r>
              <a:rPr lang="zh-CN" altLang="en-US" sz="2000" dirty="0">
                <a:cs typeface="+mn-ea"/>
                <a:sym typeface="+mn-lt"/>
              </a:rPr>
              <a:t>和线性层映射之后分别送入两个并联的全连接层分支，其中一个全连接层分支用于</a:t>
            </a:r>
            <a:r>
              <a:rPr lang="zh-CN" altLang="en-US" sz="2000" b="1" dirty="0">
                <a:cs typeface="+mn-ea"/>
                <a:sym typeface="+mn-lt"/>
              </a:rPr>
              <a:t>二分类</a:t>
            </a:r>
            <a:r>
              <a:rPr lang="zh-CN" altLang="en-US" sz="2000" dirty="0">
                <a:cs typeface="+mn-ea"/>
                <a:sym typeface="+mn-lt"/>
              </a:rPr>
              <a:t>，判断候选框</a:t>
            </a:r>
            <a:r>
              <a:rPr lang="zh-CN" altLang="en-US" sz="2000" b="1" dirty="0">
                <a:cs typeface="+mn-ea"/>
                <a:sym typeface="+mn-lt"/>
              </a:rPr>
              <a:t>是否框中目标</a:t>
            </a:r>
            <a:r>
              <a:rPr lang="zh-CN" altLang="en-US" sz="2000" dirty="0">
                <a:cs typeface="+mn-ea"/>
                <a:sym typeface="+mn-lt"/>
              </a:rPr>
              <a:t>，另外一个全连接层则用于</a:t>
            </a:r>
            <a:r>
              <a:rPr lang="zh-CN" altLang="en-US" sz="2000" b="1" dirty="0">
                <a:cs typeface="+mn-ea"/>
                <a:sym typeface="+mn-lt"/>
              </a:rPr>
              <a:t>回归目标框的位置</a:t>
            </a:r>
            <a:r>
              <a:rPr lang="zh-CN" altLang="en-US" sz="2000" dirty="0">
                <a:cs typeface="+mn-ea"/>
                <a:sym typeface="+mn-lt"/>
              </a:rPr>
              <a:t>。</a:t>
            </a:r>
            <a:endParaRPr lang="en-US" altLang="zh-CN" sz="2000" dirty="0">
              <a:cs typeface="+mn-ea"/>
              <a:sym typeface="+mn-lt"/>
            </a:endParaRPr>
          </a:p>
          <a:p>
            <a:pPr marL="0" indent="0">
              <a:buNone/>
            </a:pPr>
            <a:r>
              <a:rPr lang="en-US" altLang="zh-CN" sz="2000" b="1" dirty="0">
                <a:cs typeface="+mn-ea"/>
                <a:sym typeface="+mn-lt"/>
              </a:rPr>
              <a:t>2</a:t>
            </a:r>
            <a:r>
              <a:rPr lang="zh-CN" altLang="en-US" sz="2000" b="1" dirty="0">
                <a:cs typeface="+mn-ea"/>
                <a:sym typeface="+mn-lt"/>
              </a:rPr>
              <a:t>）锚框</a:t>
            </a:r>
            <a:endParaRPr lang="en-US" altLang="zh-CN" sz="2000" b="1" dirty="0">
              <a:cs typeface="+mn-ea"/>
              <a:sym typeface="+mn-lt"/>
            </a:endParaRPr>
          </a:p>
          <a:p>
            <a:pPr marL="0" indent="0">
              <a:buNone/>
            </a:pPr>
            <a:r>
              <a:rPr lang="zh-CN" altLang="en-US" sz="2000" dirty="0">
                <a:cs typeface="+mn-ea"/>
                <a:sym typeface="+mn-lt"/>
              </a:rPr>
              <a:t>图像中目标的尺度和宽高比变化范围比较大，直接回归目标框的绝对坐标会导致模型难以收敛，</a:t>
            </a:r>
            <a:r>
              <a:rPr lang="en-US" altLang="zh-CN" sz="2000" dirty="0">
                <a:cs typeface="+mn-ea"/>
                <a:sym typeface="+mn-lt"/>
              </a:rPr>
              <a:t>Faster R-CNN</a:t>
            </a:r>
            <a:r>
              <a:rPr lang="zh-CN" altLang="en-US" sz="2000" dirty="0">
                <a:cs typeface="+mn-ea"/>
                <a:sym typeface="+mn-lt"/>
              </a:rPr>
              <a:t>在每个滑动窗口的中心放置若干锚框来解决这一问题，通过回归</a:t>
            </a:r>
            <a:r>
              <a:rPr lang="zh-CN" altLang="en-US" sz="2000" b="1" dirty="0">
                <a:cs typeface="+mn-ea"/>
                <a:sym typeface="+mn-lt"/>
              </a:rPr>
              <a:t>目标相对于锚框的相对位置偏移</a:t>
            </a:r>
            <a:r>
              <a:rPr lang="zh-CN" altLang="en-US" sz="2000" dirty="0">
                <a:cs typeface="+mn-ea"/>
                <a:sym typeface="+mn-lt"/>
              </a:rPr>
              <a:t>和</a:t>
            </a:r>
            <a:r>
              <a:rPr lang="zh-CN" altLang="en-US" sz="2000" b="1" dirty="0">
                <a:cs typeface="+mn-ea"/>
                <a:sym typeface="+mn-lt"/>
              </a:rPr>
              <a:t>尺度缩放</a:t>
            </a:r>
            <a:r>
              <a:rPr lang="zh-CN" altLang="en-US" sz="2000" dirty="0">
                <a:cs typeface="+mn-ea"/>
                <a:sym typeface="+mn-lt"/>
              </a:rPr>
              <a:t>来确定目标的准确位置，这样模型的学习难度降低，训练更容易收敛。通常情况下，每个窗口处所放置的</a:t>
            </a:r>
            <a:r>
              <a:rPr lang="en-US" altLang="zh-CN" sz="2000" dirty="0">
                <a:cs typeface="+mn-ea"/>
                <a:sym typeface="+mn-lt"/>
              </a:rPr>
              <a:t>Anchor</a:t>
            </a:r>
            <a:r>
              <a:rPr lang="zh-CN" altLang="en-US" sz="2000" dirty="0">
                <a:cs typeface="+mn-ea"/>
                <a:sym typeface="+mn-lt"/>
              </a:rPr>
              <a:t>具有的</a:t>
            </a:r>
            <a:r>
              <a:rPr lang="zh-CN" altLang="en-US" sz="2000" b="1" dirty="0">
                <a:cs typeface="+mn-ea"/>
                <a:sym typeface="+mn-lt"/>
              </a:rPr>
              <a:t>不同尺度和宽高比</a:t>
            </a:r>
            <a:r>
              <a:rPr lang="zh-CN" altLang="en-US" sz="2000" dirty="0">
                <a:cs typeface="+mn-ea"/>
                <a:sym typeface="+mn-lt"/>
              </a:rPr>
              <a:t>，以适应尺度多样，形状各异的目标，如图所示。假设在每个滑动窗口处设置</a:t>
            </a:r>
            <a:r>
              <a:rPr lang="en-US" altLang="zh-CN" sz="2000" dirty="0">
                <a:cs typeface="+mn-ea"/>
                <a:sym typeface="+mn-lt"/>
              </a:rPr>
              <a:t>k</a:t>
            </a:r>
            <a:r>
              <a:rPr lang="zh-CN" altLang="en-US" sz="2000" dirty="0">
                <a:cs typeface="+mn-ea"/>
                <a:sym typeface="+mn-lt"/>
              </a:rPr>
              <a:t>个</a:t>
            </a:r>
            <a:r>
              <a:rPr lang="en-US" altLang="zh-CN" sz="2000" dirty="0">
                <a:cs typeface="+mn-ea"/>
                <a:sym typeface="+mn-lt"/>
              </a:rPr>
              <a:t>Anchor</a:t>
            </a:r>
            <a:r>
              <a:rPr lang="zh-CN" altLang="en-US" sz="2000" dirty="0">
                <a:cs typeface="+mn-ea"/>
                <a:sym typeface="+mn-lt"/>
              </a:rPr>
              <a:t>，则用于回归候选框位置的全连接层有</a:t>
            </a:r>
            <a:r>
              <a:rPr lang="en-US" altLang="zh-CN" sz="2000" dirty="0">
                <a:cs typeface="+mn-ea"/>
                <a:sym typeface="+mn-lt"/>
              </a:rPr>
              <a:t>4k</a:t>
            </a:r>
            <a:r>
              <a:rPr lang="zh-CN" altLang="en-US" sz="2000" dirty="0">
                <a:cs typeface="+mn-ea"/>
                <a:sym typeface="+mn-lt"/>
              </a:rPr>
              <a:t>个输出，分别表示目标相对</a:t>
            </a:r>
            <a:r>
              <a:rPr lang="en-US" altLang="zh-CN" sz="2000" dirty="0">
                <a:cs typeface="+mn-ea"/>
                <a:sym typeface="+mn-lt"/>
              </a:rPr>
              <a:t>k</a:t>
            </a:r>
            <a:r>
              <a:rPr lang="zh-CN" altLang="en-US" sz="2000" dirty="0">
                <a:cs typeface="+mn-ea"/>
                <a:sym typeface="+mn-lt"/>
              </a:rPr>
              <a:t>个</a:t>
            </a:r>
            <a:r>
              <a:rPr lang="en-US" altLang="zh-CN" sz="2000" dirty="0">
                <a:cs typeface="+mn-ea"/>
                <a:sym typeface="+mn-lt"/>
              </a:rPr>
              <a:t>Anchor</a:t>
            </a:r>
            <a:r>
              <a:rPr lang="zh-CN" altLang="en-US" sz="2000" dirty="0">
                <a:cs typeface="+mn-ea"/>
                <a:sym typeface="+mn-lt"/>
              </a:rPr>
              <a:t>中心点的偏移量和尺度缩放；判定候选框是否包含目标的分类器有</a:t>
            </a:r>
            <a:r>
              <a:rPr lang="en-US" altLang="zh-CN" sz="2000" dirty="0">
                <a:cs typeface="+mn-ea"/>
                <a:sym typeface="+mn-lt"/>
              </a:rPr>
              <a:t>2k</a:t>
            </a:r>
            <a:r>
              <a:rPr lang="zh-CN" altLang="en-US" sz="2000" dirty="0">
                <a:cs typeface="+mn-ea"/>
                <a:sym typeface="+mn-lt"/>
              </a:rPr>
              <a:t>个输出，分别表示这</a:t>
            </a:r>
            <a:r>
              <a:rPr lang="en-US" altLang="zh-CN" sz="2000" dirty="0">
                <a:cs typeface="+mn-ea"/>
                <a:sym typeface="+mn-lt"/>
              </a:rPr>
              <a:t>k</a:t>
            </a:r>
            <a:r>
              <a:rPr lang="zh-CN" altLang="en-US" sz="2000" dirty="0">
                <a:cs typeface="+mn-ea"/>
                <a:sym typeface="+mn-lt"/>
              </a:rPr>
              <a:t>个</a:t>
            </a:r>
            <a:r>
              <a:rPr lang="en-US" altLang="zh-CN" sz="2000" dirty="0">
                <a:cs typeface="+mn-ea"/>
                <a:sym typeface="+mn-lt"/>
              </a:rPr>
              <a:t>Anchor</a:t>
            </a:r>
            <a:r>
              <a:rPr lang="zh-CN" altLang="en-US" sz="2000" dirty="0">
                <a:cs typeface="+mn-ea"/>
                <a:sym typeface="+mn-lt"/>
              </a:rPr>
              <a:t>中包含目标的概率。</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dirty="0">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descr="图示&#10;&#10;描述已自动生成"/>
          <p:cNvPicPr/>
          <p:nvPr/>
        </p:nvPicPr>
        <p:blipFill>
          <a:blip r:embed="rId1"/>
          <a:stretch>
            <a:fillRect/>
          </a:stretch>
        </p:blipFill>
        <p:spPr>
          <a:xfrm>
            <a:off x="6037555" y="1466765"/>
            <a:ext cx="5078767" cy="3199928"/>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b="1" dirty="0">
                <a:cs typeface="+mn-ea"/>
                <a:sym typeface="+mn-lt"/>
              </a:rPr>
              <a:t>3</a:t>
            </a:r>
            <a:r>
              <a:rPr lang="zh-CN" altLang="en-US" sz="2000" b="1" dirty="0">
                <a:cs typeface="+mn-ea"/>
                <a:sym typeface="+mn-lt"/>
              </a:rPr>
              <a:t>）模型训练</a:t>
            </a:r>
            <a:endParaRPr lang="en-US" altLang="zh-CN" sz="2000" b="1" dirty="0">
              <a:cs typeface="+mn-ea"/>
              <a:sym typeface="+mn-lt"/>
            </a:endParaRPr>
          </a:p>
          <a:p>
            <a:pPr marL="0" indent="0">
              <a:buNone/>
            </a:pPr>
            <a:r>
              <a:rPr lang="zh-CN" altLang="en-US" sz="2000" dirty="0">
                <a:cs typeface="+mn-ea"/>
                <a:sym typeface="+mn-lt"/>
              </a:rPr>
              <a:t>在训练</a:t>
            </a:r>
            <a:r>
              <a:rPr lang="en-US" altLang="zh-CN" sz="2000" dirty="0">
                <a:cs typeface="+mn-ea"/>
                <a:sym typeface="+mn-lt"/>
              </a:rPr>
              <a:t>RPN</a:t>
            </a:r>
            <a:r>
              <a:rPr lang="zh-CN" altLang="en-US" sz="2000" dirty="0">
                <a:cs typeface="+mn-ea"/>
                <a:sym typeface="+mn-lt"/>
              </a:rPr>
              <a:t>网络时，根据锚框与真值框的</a:t>
            </a:r>
            <a:r>
              <a:rPr lang="en-US" altLang="zh-CN" sz="2000" dirty="0" err="1">
                <a:cs typeface="+mn-ea"/>
                <a:sym typeface="+mn-lt"/>
              </a:rPr>
              <a:t>IoU</a:t>
            </a:r>
            <a:r>
              <a:rPr lang="zh-CN" altLang="en-US" sz="2000" dirty="0">
                <a:cs typeface="+mn-ea"/>
                <a:sym typeface="+mn-lt"/>
              </a:rPr>
              <a:t>将</a:t>
            </a:r>
            <a:r>
              <a:rPr lang="zh-CN" altLang="en-US" sz="2000" b="1" dirty="0">
                <a:cs typeface="+mn-ea"/>
                <a:sym typeface="+mn-lt"/>
              </a:rPr>
              <a:t>锚框</a:t>
            </a:r>
            <a:r>
              <a:rPr lang="zh-CN" altLang="en-US" sz="2000" dirty="0">
                <a:cs typeface="+mn-ea"/>
                <a:sym typeface="+mn-lt"/>
              </a:rPr>
              <a:t>分为</a:t>
            </a:r>
            <a:r>
              <a:rPr lang="zh-CN" altLang="en-US" sz="2000" b="1" dirty="0">
                <a:cs typeface="+mn-ea"/>
                <a:sym typeface="+mn-lt"/>
              </a:rPr>
              <a:t>两类</a:t>
            </a:r>
            <a:r>
              <a:rPr lang="zh-CN" altLang="en-US" sz="2000" dirty="0">
                <a:cs typeface="+mn-ea"/>
                <a:sym typeface="+mn-lt"/>
              </a:rPr>
              <a:t>。如果锚框与某个真值框的</a:t>
            </a:r>
            <a:r>
              <a:rPr lang="en-US" altLang="zh-CN" sz="2000" dirty="0" err="1">
                <a:cs typeface="+mn-ea"/>
                <a:sym typeface="+mn-lt"/>
              </a:rPr>
              <a:t>IoU</a:t>
            </a:r>
            <a:r>
              <a:rPr lang="zh-CN" altLang="en-US" sz="2000" dirty="0">
                <a:cs typeface="+mn-ea"/>
                <a:sym typeface="+mn-lt"/>
              </a:rPr>
              <a:t>大于</a:t>
            </a:r>
            <a:r>
              <a:rPr lang="en-US" altLang="zh-CN" sz="2000" dirty="0">
                <a:cs typeface="+mn-ea"/>
                <a:sym typeface="+mn-lt"/>
              </a:rPr>
              <a:t>0.7</a:t>
            </a:r>
            <a:r>
              <a:rPr lang="zh-CN" altLang="en-US" sz="2000" dirty="0">
                <a:cs typeface="+mn-ea"/>
                <a:sym typeface="+mn-lt"/>
              </a:rPr>
              <a:t>，那么该锚框会被判定为</a:t>
            </a:r>
            <a:r>
              <a:rPr lang="zh-CN" altLang="en-US" sz="2000" b="1" dirty="0">
                <a:cs typeface="+mn-ea"/>
                <a:sym typeface="+mn-lt"/>
              </a:rPr>
              <a:t>正样本</a:t>
            </a:r>
            <a:r>
              <a:rPr lang="zh-CN" altLang="en-US" sz="2000" dirty="0">
                <a:cs typeface="+mn-ea"/>
                <a:sym typeface="+mn-lt"/>
              </a:rPr>
              <a:t>；如果该锚框与真值框的</a:t>
            </a:r>
            <a:r>
              <a:rPr lang="en-US" altLang="zh-CN" sz="2000" dirty="0" err="1">
                <a:cs typeface="+mn-ea"/>
                <a:sym typeface="+mn-lt"/>
              </a:rPr>
              <a:t>IoU</a:t>
            </a:r>
            <a:r>
              <a:rPr lang="zh-CN" altLang="en-US" sz="2000" dirty="0">
                <a:cs typeface="+mn-ea"/>
                <a:sym typeface="+mn-lt"/>
              </a:rPr>
              <a:t>小于</a:t>
            </a:r>
            <a:r>
              <a:rPr lang="en-US" altLang="zh-CN" sz="2000" dirty="0">
                <a:cs typeface="+mn-ea"/>
                <a:sym typeface="+mn-lt"/>
              </a:rPr>
              <a:t>0.3</a:t>
            </a:r>
            <a:r>
              <a:rPr lang="zh-CN" altLang="en-US" sz="2000" dirty="0">
                <a:cs typeface="+mn-ea"/>
                <a:sym typeface="+mn-lt"/>
              </a:rPr>
              <a:t>，那么该锚框会标记为</a:t>
            </a:r>
            <a:r>
              <a:rPr lang="zh-CN" altLang="en-US" sz="2000" b="1" dirty="0">
                <a:cs typeface="+mn-ea"/>
                <a:sym typeface="+mn-lt"/>
              </a:rPr>
              <a:t>负样本</a:t>
            </a:r>
            <a:r>
              <a:rPr lang="zh-CN" altLang="en-US" sz="2000" dirty="0">
                <a:cs typeface="+mn-ea"/>
                <a:sym typeface="+mn-lt"/>
              </a:rPr>
              <a:t>。其余的锚框被标记为忽略样本，不参与模型的训练。训练时，需要保证训练样本数量均衡，论文的作者设置正样本和负样本数量之比为</a:t>
            </a:r>
            <a:r>
              <a:rPr lang="en-US" altLang="zh-CN" sz="2000" dirty="0">
                <a:cs typeface="+mn-ea"/>
                <a:sym typeface="+mn-lt"/>
              </a:rPr>
              <a:t>1:1</a:t>
            </a:r>
            <a:r>
              <a:rPr lang="zh-CN" altLang="en-US" sz="2000" dirty="0">
                <a:cs typeface="+mn-ea"/>
                <a:sym typeface="+mn-lt"/>
              </a:rPr>
              <a:t>。由于图像中的目标有限，如果无法取到足够的正样本，再使用负样本来补齐。</a:t>
            </a:r>
            <a:endParaRPr lang="zh-CN" altLang="en-US" sz="2000" dirty="0">
              <a:cs typeface="+mn-ea"/>
              <a:sym typeface="+mn-lt"/>
            </a:endParaRPr>
          </a:p>
          <a:p>
            <a:pPr marL="0" indent="0">
              <a:buNone/>
            </a:pPr>
            <a:r>
              <a:rPr lang="en-US" altLang="zh-CN" sz="2000" dirty="0">
                <a:cs typeface="+mn-ea"/>
                <a:sym typeface="+mn-lt"/>
              </a:rPr>
              <a:t>Faster R-CNN</a:t>
            </a:r>
            <a:r>
              <a:rPr lang="zh-CN" altLang="en-US" sz="2000" dirty="0">
                <a:cs typeface="+mn-ea"/>
                <a:sym typeface="+mn-lt"/>
              </a:rPr>
              <a:t>是端到端训练的，在训练</a:t>
            </a:r>
            <a:r>
              <a:rPr lang="en-US" altLang="zh-CN" sz="2000" dirty="0">
                <a:cs typeface="+mn-ea"/>
                <a:sym typeface="+mn-lt"/>
              </a:rPr>
              <a:t>RPN</a:t>
            </a:r>
            <a:r>
              <a:rPr lang="zh-CN" altLang="en-US" sz="2000" dirty="0">
                <a:cs typeface="+mn-ea"/>
                <a:sym typeface="+mn-lt"/>
              </a:rPr>
              <a:t>网络的同时，</a:t>
            </a:r>
            <a:r>
              <a:rPr lang="en-US" altLang="zh-CN" sz="2000" dirty="0">
                <a:cs typeface="+mn-ea"/>
                <a:sym typeface="+mn-lt"/>
              </a:rPr>
              <a:t>RPN</a:t>
            </a:r>
            <a:r>
              <a:rPr lang="zh-CN" altLang="en-US" sz="2000" dirty="0">
                <a:cs typeface="+mn-ea"/>
                <a:sym typeface="+mn-lt"/>
              </a:rPr>
              <a:t>网络还会生成候选框，作为</a:t>
            </a:r>
            <a:r>
              <a:rPr lang="en-US" altLang="zh-CN" sz="2000" dirty="0" err="1">
                <a:cs typeface="+mn-ea"/>
                <a:sym typeface="+mn-lt"/>
              </a:rPr>
              <a:t>RoI</a:t>
            </a:r>
            <a:r>
              <a:rPr lang="en-US" altLang="zh-CN" sz="2000" dirty="0">
                <a:cs typeface="+mn-ea"/>
                <a:sym typeface="+mn-lt"/>
              </a:rPr>
              <a:t> Head</a:t>
            </a:r>
            <a:r>
              <a:rPr lang="zh-CN" altLang="en-US" sz="2000" dirty="0">
                <a:cs typeface="+mn-ea"/>
                <a:sym typeface="+mn-lt"/>
              </a:rPr>
              <a:t>的训练样本。根据预测得到的每个</a:t>
            </a:r>
            <a:r>
              <a:rPr lang="en-US" altLang="zh-CN" sz="2000" dirty="0">
                <a:cs typeface="+mn-ea"/>
                <a:sym typeface="+mn-lt"/>
              </a:rPr>
              <a:t>Anchor</a:t>
            </a:r>
            <a:r>
              <a:rPr lang="zh-CN" altLang="en-US" sz="2000" dirty="0">
                <a:cs typeface="+mn-ea"/>
                <a:sym typeface="+mn-lt"/>
              </a:rPr>
              <a:t>包含目标的概率，对</a:t>
            </a:r>
            <a:r>
              <a:rPr lang="en-US" altLang="zh-CN" sz="2000" dirty="0">
                <a:cs typeface="+mn-ea"/>
                <a:sym typeface="+mn-lt"/>
              </a:rPr>
              <a:t>Anchor</a:t>
            </a:r>
            <a:r>
              <a:rPr lang="zh-CN" altLang="en-US" sz="2000" dirty="0">
                <a:cs typeface="+mn-ea"/>
                <a:sym typeface="+mn-lt"/>
              </a:rPr>
              <a:t>进行排序，选取概率较大的</a:t>
            </a:r>
            <a:r>
              <a:rPr lang="en-US" altLang="zh-CN" sz="2000" dirty="0">
                <a:cs typeface="+mn-ea"/>
                <a:sym typeface="+mn-lt"/>
              </a:rPr>
              <a:t>12000</a:t>
            </a:r>
            <a:r>
              <a:rPr lang="zh-CN" altLang="en-US" sz="2000" dirty="0">
                <a:cs typeface="+mn-ea"/>
                <a:sym typeface="+mn-lt"/>
              </a:rPr>
              <a:t>个</a:t>
            </a:r>
            <a:r>
              <a:rPr lang="en-US" altLang="zh-CN" sz="2000" dirty="0">
                <a:cs typeface="+mn-ea"/>
                <a:sym typeface="+mn-lt"/>
              </a:rPr>
              <a:t>Anchor</a:t>
            </a:r>
            <a:r>
              <a:rPr lang="zh-CN" altLang="en-US" sz="2000" dirty="0">
                <a:cs typeface="+mn-ea"/>
                <a:sym typeface="+mn-lt"/>
              </a:rPr>
              <a:t>，用</a:t>
            </a:r>
            <a:r>
              <a:rPr lang="en-US" altLang="zh-CN" sz="2000" dirty="0">
                <a:cs typeface="+mn-ea"/>
                <a:sym typeface="+mn-lt"/>
              </a:rPr>
              <a:t>RPN</a:t>
            </a:r>
            <a:r>
              <a:rPr lang="zh-CN" altLang="en-US" sz="2000" dirty="0">
                <a:cs typeface="+mn-ea"/>
                <a:sym typeface="+mn-lt"/>
              </a:rPr>
              <a:t>回归的位置参数修正这些</a:t>
            </a:r>
            <a:r>
              <a:rPr lang="en-US" altLang="zh-CN" sz="2000" dirty="0">
                <a:cs typeface="+mn-ea"/>
                <a:sym typeface="+mn-lt"/>
              </a:rPr>
              <a:t>Anchor</a:t>
            </a:r>
            <a:r>
              <a:rPr lang="zh-CN" altLang="en-US" sz="2000" dirty="0">
                <a:cs typeface="+mn-ea"/>
                <a:sym typeface="+mn-lt"/>
              </a:rPr>
              <a:t>的坐标得到候选框，接着利用非极大值抑制（</a:t>
            </a:r>
            <a:r>
              <a:rPr lang="en-US" altLang="zh-CN" sz="2000" dirty="0">
                <a:cs typeface="+mn-ea"/>
                <a:sym typeface="+mn-lt"/>
              </a:rPr>
              <a:t>Non-maximum suppression, NMS</a:t>
            </a:r>
            <a:r>
              <a:rPr lang="zh-CN" altLang="en-US" sz="2000" dirty="0">
                <a:cs typeface="+mn-ea"/>
                <a:sym typeface="+mn-lt"/>
              </a:rPr>
              <a:t>）去除冗余的候选框，最终保留概率最大</a:t>
            </a:r>
            <a:r>
              <a:rPr lang="en-US" altLang="zh-CN" sz="2000" dirty="0">
                <a:cs typeface="+mn-ea"/>
                <a:sym typeface="+mn-lt"/>
              </a:rPr>
              <a:t>2000</a:t>
            </a:r>
            <a:r>
              <a:rPr lang="zh-CN" altLang="en-US" sz="2000" dirty="0">
                <a:cs typeface="+mn-ea"/>
                <a:sym typeface="+mn-lt"/>
              </a:rPr>
              <a:t>个候选框。</a:t>
            </a:r>
            <a:endParaRPr lang="zh-CN" altLang="en-US"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b="1" dirty="0">
                <a:cs typeface="+mn-ea"/>
                <a:sym typeface="+mn-lt"/>
              </a:rPr>
              <a:t>4</a:t>
            </a:r>
            <a:r>
              <a:rPr lang="zh-CN" altLang="en-US" sz="2000" b="1" dirty="0">
                <a:cs typeface="+mn-ea"/>
                <a:sym typeface="+mn-lt"/>
              </a:rPr>
              <a:t>）模型测试</a:t>
            </a:r>
            <a:endParaRPr lang="en-US" altLang="zh-CN" sz="2000" b="1" dirty="0">
              <a:cs typeface="+mn-ea"/>
              <a:sym typeface="+mn-lt"/>
            </a:endParaRPr>
          </a:p>
          <a:p>
            <a:pPr marL="0" indent="0">
              <a:buNone/>
            </a:pPr>
            <a:r>
              <a:rPr lang="zh-CN" altLang="en-US" sz="2000" dirty="0">
                <a:cs typeface="+mn-ea"/>
                <a:sym typeface="+mn-lt"/>
              </a:rPr>
              <a:t>与训练过程基本一致，</a:t>
            </a:r>
            <a:r>
              <a:rPr lang="en-US" altLang="zh-CN" sz="2000" dirty="0">
                <a:cs typeface="+mn-ea"/>
                <a:sym typeface="+mn-lt"/>
              </a:rPr>
              <a:t>Faster R-CNN</a:t>
            </a:r>
            <a:r>
              <a:rPr lang="zh-CN" altLang="en-US" sz="2000" dirty="0">
                <a:cs typeface="+mn-ea"/>
                <a:sym typeface="+mn-lt"/>
              </a:rPr>
              <a:t>在进行推理的时候，利用</a:t>
            </a:r>
            <a:r>
              <a:rPr lang="en-US" altLang="zh-CN" sz="2000" dirty="0">
                <a:cs typeface="+mn-ea"/>
                <a:sym typeface="+mn-lt"/>
              </a:rPr>
              <a:t>RPN</a:t>
            </a:r>
            <a:r>
              <a:rPr lang="zh-CN" altLang="en-US" sz="2000" dirty="0">
                <a:cs typeface="+mn-ea"/>
                <a:sym typeface="+mn-lt"/>
              </a:rPr>
              <a:t>网络计算所有</a:t>
            </a:r>
            <a:r>
              <a:rPr lang="en-US" altLang="zh-CN" sz="2000" dirty="0">
                <a:cs typeface="+mn-ea"/>
                <a:sym typeface="+mn-lt"/>
              </a:rPr>
              <a:t>Anchor</a:t>
            </a:r>
            <a:r>
              <a:rPr lang="zh-CN" altLang="en-US" sz="2000" dirty="0">
                <a:cs typeface="+mn-ea"/>
                <a:sym typeface="+mn-lt"/>
              </a:rPr>
              <a:t>包含目标的概率。选取概率较大的</a:t>
            </a:r>
            <a:r>
              <a:rPr lang="en-US" altLang="zh-CN" sz="2000" dirty="0">
                <a:cs typeface="+mn-ea"/>
                <a:sym typeface="+mn-lt"/>
              </a:rPr>
              <a:t>6000</a:t>
            </a:r>
            <a:r>
              <a:rPr lang="zh-CN" altLang="en-US" sz="2000" dirty="0">
                <a:cs typeface="+mn-ea"/>
                <a:sym typeface="+mn-lt"/>
              </a:rPr>
              <a:t>个</a:t>
            </a:r>
            <a:r>
              <a:rPr lang="en-US" altLang="zh-CN" sz="2000" dirty="0">
                <a:cs typeface="+mn-ea"/>
                <a:sym typeface="+mn-lt"/>
              </a:rPr>
              <a:t>Anchor</a:t>
            </a:r>
            <a:r>
              <a:rPr lang="zh-CN" altLang="en-US" sz="2000" dirty="0">
                <a:cs typeface="+mn-ea"/>
                <a:sym typeface="+mn-lt"/>
              </a:rPr>
              <a:t>，并利用回归的位置和尺度参数，修正这</a:t>
            </a:r>
            <a:r>
              <a:rPr lang="en-US" altLang="zh-CN" sz="2000" dirty="0">
                <a:cs typeface="+mn-ea"/>
                <a:sym typeface="+mn-lt"/>
              </a:rPr>
              <a:t>6000</a:t>
            </a:r>
            <a:r>
              <a:rPr lang="zh-CN" altLang="en-US" sz="2000" dirty="0">
                <a:cs typeface="+mn-ea"/>
                <a:sym typeface="+mn-lt"/>
              </a:rPr>
              <a:t>个</a:t>
            </a:r>
            <a:r>
              <a:rPr lang="en-US" altLang="zh-CN" sz="2000" dirty="0">
                <a:cs typeface="+mn-ea"/>
                <a:sym typeface="+mn-lt"/>
              </a:rPr>
              <a:t>Anchor</a:t>
            </a:r>
            <a:r>
              <a:rPr lang="zh-CN" altLang="en-US" sz="2000" dirty="0">
                <a:cs typeface="+mn-ea"/>
                <a:sym typeface="+mn-lt"/>
              </a:rPr>
              <a:t>的位置和长宽，得到候选框。 然后利用非极大值抑制（</a:t>
            </a:r>
            <a:r>
              <a:rPr lang="en-US" altLang="zh-CN" sz="2000" dirty="0">
                <a:cs typeface="+mn-ea"/>
                <a:sym typeface="+mn-lt"/>
              </a:rPr>
              <a:t>NMS</a:t>
            </a:r>
            <a:r>
              <a:rPr lang="zh-CN" altLang="en-US" sz="2000" dirty="0">
                <a:cs typeface="+mn-ea"/>
                <a:sym typeface="+mn-lt"/>
              </a:rPr>
              <a:t>），选出概率最大的</a:t>
            </a:r>
            <a:r>
              <a:rPr lang="en-US" altLang="zh-CN" sz="2000" dirty="0">
                <a:cs typeface="+mn-ea"/>
                <a:sym typeface="+mn-lt"/>
              </a:rPr>
              <a:t>300</a:t>
            </a:r>
            <a:r>
              <a:rPr lang="zh-CN" altLang="en-US" sz="2000" dirty="0">
                <a:cs typeface="+mn-ea"/>
                <a:sym typeface="+mn-lt"/>
              </a:rPr>
              <a:t>个候选框。这些候选框作为</a:t>
            </a:r>
            <a:r>
              <a:rPr lang="en-US" altLang="zh-CN" sz="2000" dirty="0" err="1">
                <a:cs typeface="+mn-ea"/>
                <a:sym typeface="+mn-lt"/>
              </a:rPr>
              <a:t>RoI</a:t>
            </a:r>
            <a:r>
              <a:rPr lang="en-US" altLang="zh-CN" sz="2000" dirty="0">
                <a:cs typeface="+mn-ea"/>
                <a:sym typeface="+mn-lt"/>
              </a:rPr>
              <a:t> Head</a:t>
            </a:r>
            <a:r>
              <a:rPr lang="zh-CN" altLang="en-US" sz="2000" dirty="0">
                <a:cs typeface="+mn-ea"/>
                <a:sym typeface="+mn-lt"/>
              </a:rPr>
              <a:t>的输入进行类别判定和进一步的位置回归。</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lstStyle/>
          <a:p>
            <a:r>
              <a:rPr lang="zh-CN" altLang="en-US" sz="2400" b="1" dirty="0">
                <a:cs typeface="+mn-ea"/>
                <a:sym typeface="+mn-lt"/>
              </a:rPr>
              <a:t>算法对比</a:t>
            </a:r>
            <a:endParaRPr lang="en-US" altLang="zh-CN" sz="2400" b="1"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a:blip r:embed="rId1"/>
          <a:stretch>
            <a:fillRect/>
          </a:stretch>
        </p:blipFill>
        <p:spPr>
          <a:xfrm>
            <a:off x="2882138" y="2046674"/>
            <a:ext cx="6427724" cy="449223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400" b="1" dirty="0">
                <a:cs typeface="+mn-ea"/>
                <a:sym typeface="+mn-lt"/>
              </a:rPr>
              <a:t>6.2.2 YOLO</a:t>
            </a:r>
            <a:r>
              <a:rPr lang="zh-CN" altLang="en-US" sz="2400" b="1" dirty="0">
                <a:cs typeface="+mn-ea"/>
                <a:sym typeface="+mn-lt"/>
              </a:rPr>
              <a:t>系列</a:t>
            </a:r>
            <a:endParaRPr lang="en-US" altLang="zh-CN" sz="2400" b="1" dirty="0">
              <a:cs typeface="+mn-ea"/>
              <a:sym typeface="+mn-lt"/>
            </a:endParaRPr>
          </a:p>
          <a:p>
            <a:r>
              <a:rPr lang="en-US" altLang="zh-CN" sz="2000" b="1" dirty="0">
                <a:cs typeface="+mn-ea"/>
                <a:sym typeface="+mn-lt"/>
              </a:rPr>
              <a:t>YOLOv1</a:t>
            </a:r>
            <a:endParaRPr lang="en-US" altLang="zh-CN" sz="2000" b="1" dirty="0">
              <a:cs typeface="+mn-ea"/>
              <a:sym typeface="+mn-lt"/>
            </a:endParaRPr>
          </a:p>
          <a:p>
            <a:pPr marL="0" indent="0">
              <a:buNone/>
            </a:pPr>
            <a:r>
              <a:rPr lang="en-US" altLang="zh-CN" sz="2000" dirty="0">
                <a:cs typeface="+mn-ea"/>
                <a:sym typeface="+mn-lt"/>
              </a:rPr>
              <a:t>YOLOv1</a:t>
            </a:r>
            <a:r>
              <a:rPr lang="zh-CN" altLang="en-US" sz="2000" dirty="0">
                <a:cs typeface="+mn-ea"/>
                <a:sym typeface="+mn-lt"/>
              </a:rPr>
              <a:t>由</a:t>
            </a:r>
            <a:r>
              <a:rPr lang="en-US" altLang="zh-CN" sz="2000" dirty="0" err="1">
                <a:cs typeface="+mn-ea"/>
                <a:sym typeface="+mn-lt"/>
              </a:rPr>
              <a:t>R.Joseph</a:t>
            </a:r>
            <a:r>
              <a:rPr lang="en-US" altLang="zh-CN" sz="2000" dirty="0">
                <a:cs typeface="+mn-ea"/>
                <a:sym typeface="+mn-lt"/>
              </a:rPr>
              <a:t> </a:t>
            </a:r>
            <a:r>
              <a:rPr lang="zh-CN" altLang="en-US" sz="2000" dirty="0">
                <a:cs typeface="+mn-ea"/>
                <a:sym typeface="+mn-lt"/>
              </a:rPr>
              <a:t>等人提出，是 </a:t>
            </a:r>
            <a:r>
              <a:rPr lang="en-US" altLang="zh-CN" sz="2000" dirty="0">
                <a:cs typeface="+mn-ea"/>
                <a:sym typeface="+mn-lt"/>
              </a:rPr>
              <a:t>YOLOv1 </a:t>
            </a:r>
            <a:r>
              <a:rPr lang="zh-CN" altLang="en-US" sz="2000" dirty="0">
                <a:cs typeface="+mn-ea"/>
                <a:sym typeface="+mn-lt"/>
              </a:rPr>
              <a:t>系列的开山之作，也是目标检测领域第一个一阶段算法。它的推理速度很快，在</a:t>
            </a:r>
            <a:r>
              <a:rPr lang="en-US" altLang="zh-CN" sz="2000" dirty="0">
                <a:cs typeface="+mn-ea"/>
                <a:sym typeface="+mn-lt"/>
              </a:rPr>
              <a:t>VOC</a:t>
            </a:r>
            <a:r>
              <a:rPr lang="zh-CN" altLang="en-US" sz="2000" dirty="0">
                <a:cs typeface="+mn-ea"/>
                <a:sym typeface="+mn-lt"/>
              </a:rPr>
              <a:t>上保证 </a:t>
            </a:r>
            <a:r>
              <a:rPr lang="en-US" altLang="zh-CN" sz="2000" dirty="0" err="1">
                <a:cs typeface="+mn-ea"/>
                <a:sym typeface="+mn-lt"/>
              </a:rPr>
              <a:t>mAP</a:t>
            </a:r>
            <a:r>
              <a:rPr lang="en-US" altLang="zh-CN" sz="2000" dirty="0">
                <a:cs typeface="+mn-ea"/>
                <a:sym typeface="+mn-lt"/>
              </a:rPr>
              <a:t>=52.7%</a:t>
            </a:r>
            <a:r>
              <a:rPr lang="zh-CN" altLang="en-US" sz="2000" dirty="0">
                <a:cs typeface="+mn-ea"/>
                <a:sym typeface="+mn-lt"/>
              </a:rPr>
              <a:t>的情况下，能达到</a:t>
            </a:r>
            <a:r>
              <a:rPr lang="en-US" altLang="zh-CN" sz="2000" dirty="0">
                <a:cs typeface="+mn-ea"/>
                <a:sym typeface="+mn-lt"/>
              </a:rPr>
              <a:t>155FPS</a:t>
            </a:r>
            <a:r>
              <a:rPr lang="zh-CN" altLang="en-US" sz="2000" dirty="0">
                <a:cs typeface="+mn-ea"/>
                <a:sym typeface="+mn-lt"/>
              </a:rPr>
              <a:t>（每秒检测</a:t>
            </a:r>
            <a:r>
              <a:rPr lang="en-US" altLang="zh-CN" sz="2000" dirty="0">
                <a:cs typeface="+mn-ea"/>
                <a:sym typeface="+mn-lt"/>
              </a:rPr>
              <a:t>155</a:t>
            </a:r>
            <a:r>
              <a:rPr lang="zh-CN" altLang="en-US" sz="2000" dirty="0">
                <a:cs typeface="+mn-ea"/>
                <a:sym typeface="+mn-lt"/>
              </a:rPr>
              <a:t>张图片）。</a:t>
            </a: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dirty="0">
                <a:cs typeface="+mn-ea"/>
                <a:sym typeface="+mn-lt"/>
              </a:rPr>
              <a:t>作为一个一阶段目标检测算法，</a:t>
            </a:r>
            <a:r>
              <a:rPr lang="en-US" altLang="zh-CN" sz="2000" dirty="0">
                <a:cs typeface="+mn-ea"/>
                <a:sym typeface="+mn-lt"/>
              </a:rPr>
              <a:t>YOLOv1 </a:t>
            </a:r>
            <a:r>
              <a:rPr lang="zh-CN" altLang="en-US" sz="2000" b="1" dirty="0">
                <a:cs typeface="+mn-ea"/>
                <a:sym typeface="+mn-lt"/>
              </a:rPr>
              <a:t>没有生成候选框</a:t>
            </a:r>
            <a:r>
              <a:rPr lang="zh-CN" altLang="en-US" sz="2000" dirty="0">
                <a:cs typeface="+mn-ea"/>
                <a:sym typeface="+mn-lt"/>
              </a:rPr>
              <a:t>这一步骤，而是将图片划分为</a:t>
            </a:r>
            <a:r>
              <a:rPr lang="en-US" altLang="zh-CN" sz="2000" dirty="0" err="1">
                <a:cs typeface="+mn-ea"/>
                <a:sym typeface="+mn-lt"/>
              </a:rPr>
              <a:t>SxS</a:t>
            </a:r>
            <a:r>
              <a:rPr lang="zh-CN" altLang="en-US" sz="2000" dirty="0">
                <a:cs typeface="+mn-ea"/>
                <a:sym typeface="+mn-lt"/>
              </a:rPr>
              <a:t>的网格，每个网格对中心点落入其中的目标进行检测，具备端到端训练和推理的能力。下面将针对</a:t>
            </a:r>
            <a:r>
              <a:rPr lang="en-US" altLang="zh-CN" sz="2000" dirty="0">
                <a:cs typeface="+mn-ea"/>
                <a:sym typeface="+mn-lt"/>
              </a:rPr>
              <a:t>YOLOv1</a:t>
            </a:r>
            <a:r>
              <a:rPr lang="zh-CN" altLang="en-US" sz="2000" dirty="0">
                <a:cs typeface="+mn-ea"/>
                <a:sym typeface="+mn-lt"/>
              </a:rPr>
              <a:t>进行详细的介绍。</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825625"/>
                <a:ext cx="10515600" cy="1965140"/>
              </a:xfrm>
            </p:spPr>
            <p:txBody>
              <a:bodyPr>
                <a:normAutofit fontScale="92500"/>
              </a:bodyPr>
              <a:lstStyle/>
              <a:p>
                <a:pPr marL="0" indent="0">
                  <a:buNone/>
                </a:pPr>
                <a:r>
                  <a:rPr lang="en-US" altLang="zh-CN" sz="2200" b="1" dirty="0">
                    <a:cs typeface="+mn-ea"/>
                    <a:sym typeface="+mn-lt"/>
                  </a:rPr>
                  <a:t>1</a:t>
                </a:r>
                <a:r>
                  <a:rPr lang="zh-CN" altLang="en-US" sz="2200" b="1" dirty="0">
                    <a:cs typeface="+mn-ea"/>
                    <a:sym typeface="+mn-lt"/>
                  </a:rPr>
                  <a:t>）网络结构</a:t>
                </a:r>
                <a:endParaRPr lang="en-US" altLang="zh-CN" sz="2200" b="1" dirty="0">
                  <a:cs typeface="+mn-ea"/>
                  <a:sym typeface="+mn-lt"/>
                </a:endParaRPr>
              </a:p>
              <a:p>
                <a:pPr marL="0" indent="0">
                  <a:buNone/>
                </a:pPr>
                <a:r>
                  <a:rPr lang="en-US" altLang="zh-CN" sz="2200" kern="100" dirty="0">
                    <a:solidFill>
                      <a:srgbClr val="0D0D0D"/>
                    </a:solidFill>
                    <a:effectLst/>
                    <a:cs typeface="+mn-ea"/>
                    <a:sym typeface="+mn-lt"/>
                  </a:rPr>
                  <a:t>YOLOv1</a:t>
                </a:r>
                <a:r>
                  <a:rPr lang="zh-CN" altLang="zh-CN" sz="2200" kern="100" dirty="0">
                    <a:solidFill>
                      <a:srgbClr val="0D0D0D"/>
                    </a:solidFill>
                    <a:effectLst/>
                    <a:cs typeface="+mn-ea"/>
                    <a:sym typeface="+mn-lt"/>
                  </a:rPr>
                  <a:t>首先使用</a:t>
                </a:r>
                <a:r>
                  <a:rPr lang="en-US" altLang="zh-CN" sz="2200" b="1" kern="100" dirty="0">
                    <a:solidFill>
                      <a:srgbClr val="0D0D0D"/>
                    </a:solidFill>
                    <a:effectLst/>
                    <a:cs typeface="+mn-ea"/>
                    <a:sym typeface="+mn-lt"/>
                  </a:rPr>
                  <a:t>24</a:t>
                </a:r>
                <a:r>
                  <a:rPr lang="zh-CN" altLang="zh-CN" sz="2200" b="1" kern="100" dirty="0">
                    <a:solidFill>
                      <a:srgbClr val="0D0D0D"/>
                    </a:solidFill>
                    <a:effectLst/>
                    <a:cs typeface="+mn-ea"/>
                    <a:sym typeface="+mn-lt"/>
                  </a:rPr>
                  <a:t>个卷积层提取图像特征</a:t>
                </a:r>
                <a:r>
                  <a:rPr lang="zh-CN" altLang="zh-CN" sz="2200" kern="100" dirty="0">
                    <a:solidFill>
                      <a:srgbClr val="0D0D0D"/>
                    </a:solidFill>
                    <a:effectLst/>
                    <a:cs typeface="+mn-ea"/>
                    <a:sym typeface="+mn-lt"/>
                  </a:rPr>
                  <a:t>，然后使用两层全连接层回归目标的框的坐标、置信度（是否包含目标）以及类别概率，网络结构</a:t>
                </a:r>
                <a:r>
                  <a:rPr lang="zh-CN" altLang="zh-CN" sz="2200" b="1" kern="100" dirty="0">
                    <a:solidFill>
                      <a:srgbClr val="0D0D0D"/>
                    </a:solidFill>
                    <a:effectLst/>
                    <a:cs typeface="+mn-ea"/>
                    <a:sym typeface="+mn-lt"/>
                  </a:rPr>
                  <a:t>如</a:t>
                </a:r>
                <a:r>
                  <a:rPr lang="zh-CN" altLang="en-US" sz="2200" b="1" kern="100" dirty="0">
                    <a:solidFill>
                      <a:srgbClr val="0D0D0D"/>
                    </a:solidFill>
                    <a:cs typeface="+mn-ea"/>
                    <a:sym typeface="+mn-lt"/>
                  </a:rPr>
                  <a:t>下图</a:t>
                </a:r>
                <a:r>
                  <a:rPr lang="zh-CN" altLang="zh-CN" sz="2200" b="1" kern="100" dirty="0">
                    <a:solidFill>
                      <a:srgbClr val="0D0D0D"/>
                    </a:solidFill>
                    <a:effectLst/>
                    <a:cs typeface="+mn-ea"/>
                    <a:sym typeface="+mn-lt"/>
                  </a:rPr>
                  <a:t>所示</a:t>
                </a:r>
                <a:r>
                  <a:rPr lang="zh-CN" altLang="zh-CN" sz="2200" kern="100" dirty="0">
                    <a:solidFill>
                      <a:srgbClr val="0D0D0D"/>
                    </a:solidFill>
                    <a:effectLst/>
                    <a:cs typeface="+mn-ea"/>
                    <a:sym typeface="+mn-lt"/>
                  </a:rPr>
                  <a:t>。</a:t>
                </a:r>
                <a:r>
                  <a:rPr lang="en-US" altLang="zh-CN" sz="2200" kern="100" dirty="0">
                    <a:solidFill>
                      <a:srgbClr val="0D0D0D"/>
                    </a:solidFill>
                    <a:effectLst/>
                    <a:cs typeface="+mn-ea"/>
                    <a:sym typeface="+mn-lt"/>
                  </a:rPr>
                  <a:t>YOLOv1</a:t>
                </a:r>
                <a:r>
                  <a:rPr lang="zh-CN" altLang="zh-CN" sz="2200" kern="100" dirty="0">
                    <a:solidFill>
                      <a:srgbClr val="0D0D0D"/>
                    </a:solidFill>
                    <a:effectLst/>
                    <a:cs typeface="+mn-ea"/>
                    <a:sym typeface="+mn-lt"/>
                  </a:rPr>
                  <a:t>交替的使用</a:t>
                </a:r>
                <a14:m>
                  <m:oMath xmlns:m="http://schemas.openxmlformats.org/officeDocument/2006/math">
                    <m:r>
                      <a:rPr lang="en-US" altLang="zh-CN" sz="2200" kern="100">
                        <a:solidFill>
                          <a:srgbClr val="0D0D0D"/>
                        </a:solidFill>
                        <a:effectLst/>
                        <a:latin typeface="Cambria Math" panose="02040503050406030204" pitchFamily="18" charset="0"/>
                        <a:cs typeface="+mn-ea"/>
                        <a:sym typeface="+mn-lt"/>
                      </a:rPr>
                      <m:t>1</m:t>
                    </m:r>
                    <m:r>
                      <a:rPr lang="en-US" altLang="zh-CN" sz="2200" kern="100">
                        <a:solidFill>
                          <a:srgbClr val="0D0D0D"/>
                        </a:solidFill>
                        <a:effectLst/>
                        <a:latin typeface="Cambria Math" panose="02040503050406030204" pitchFamily="18" charset="0"/>
                        <a:cs typeface="+mn-ea"/>
                        <a:sym typeface="+mn-lt"/>
                      </a:rPr>
                      <m:t>×</m:t>
                    </m:r>
                    <m:r>
                      <a:rPr lang="en-US" altLang="zh-CN" sz="2200" kern="100">
                        <a:solidFill>
                          <a:srgbClr val="0D0D0D"/>
                        </a:solidFill>
                        <a:effectLst/>
                        <a:latin typeface="Cambria Math" panose="02040503050406030204" pitchFamily="18" charset="0"/>
                        <a:cs typeface="+mn-ea"/>
                        <a:sym typeface="+mn-lt"/>
                      </a:rPr>
                      <m:t>1</m:t>
                    </m:r>
                  </m:oMath>
                </a14:m>
                <a:r>
                  <a:rPr lang="zh-CN" altLang="zh-CN" sz="2200" kern="100" dirty="0">
                    <a:solidFill>
                      <a:srgbClr val="0D0D0D"/>
                    </a:solidFill>
                    <a:effectLst/>
                    <a:cs typeface="+mn-ea"/>
                    <a:sym typeface="+mn-lt"/>
                  </a:rPr>
                  <a:t>卷积减少特征通道的数量，最后一个卷积层输出形状为</a:t>
                </a:r>
                <a14:m>
                  <m:oMath xmlns:m="http://schemas.openxmlformats.org/officeDocument/2006/math">
                    <m:r>
                      <a:rPr lang="en-US" altLang="zh-CN" sz="2200" kern="100">
                        <a:solidFill>
                          <a:srgbClr val="0D0D0D"/>
                        </a:solidFill>
                        <a:effectLst/>
                        <a:latin typeface="Cambria Math" panose="02040503050406030204" pitchFamily="18" charset="0"/>
                        <a:cs typeface="+mn-ea"/>
                        <a:sym typeface="+mn-lt"/>
                      </a:rPr>
                      <m:t>(</m:t>
                    </m:r>
                    <m:r>
                      <a:rPr lang="en-US" altLang="zh-CN" sz="2200" kern="100">
                        <a:solidFill>
                          <a:srgbClr val="0D0D0D"/>
                        </a:solidFill>
                        <a:effectLst/>
                        <a:latin typeface="Cambria Math" panose="02040503050406030204" pitchFamily="18" charset="0"/>
                        <a:cs typeface="+mn-ea"/>
                        <a:sym typeface="+mn-lt"/>
                      </a:rPr>
                      <m:t>7</m:t>
                    </m:r>
                    <m:r>
                      <a:rPr lang="en-US" altLang="zh-CN" sz="2200" kern="100">
                        <a:solidFill>
                          <a:srgbClr val="0D0D0D"/>
                        </a:solidFill>
                        <a:effectLst/>
                        <a:latin typeface="Cambria Math" panose="02040503050406030204" pitchFamily="18" charset="0"/>
                        <a:cs typeface="+mn-ea"/>
                        <a:sym typeface="+mn-lt"/>
                      </a:rPr>
                      <m:t>,</m:t>
                    </m:r>
                    <m:r>
                      <a:rPr lang="en-US" altLang="zh-CN" sz="2200" kern="100">
                        <a:solidFill>
                          <a:srgbClr val="0D0D0D"/>
                        </a:solidFill>
                        <a:effectLst/>
                        <a:latin typeface="Cambria Math" panose="02040503050406030204" pitchFamily="18" charset="0"/>
                        <a:cs typeface="+mn-ea"/>
                        <a:sym typeface="+mn-lt"/>
                      </a:rPr>
                      <m:t>7</m:t>
                    </m:r>
                    <m:r>
                      <a:rPr lang="en-US" altLang="zh-CN" sz="2200" kern="100">
                        <a:solidFill>
                          <a:srgbClr val="0D0D0D"/>
                        </a:solidFill>
                        <a:effectLst/>
                        <a:latin typeface="Cambria Math" panose="02040503050406030204" pitchFamily="18" charset="0"/>
                        <a:cs typeface="+mn-ea"/>
                        <a:sym typeface="+mn-lt"/>
                      </a:rPr>
                      <m:t>,</m:t>
                    </m:r>
                    <m:r>
                      <a:rPr lang="en-US" altLang="zh-CN" sz="2200" kern="100">
                        <a:solidFill>
                          <a:srgbClr val="0D0D0D"/>
                        </a:solidFill>
                        <a:effectLst/>
                        <a:latin typeface="Cambria Math" panose="02040503050406030204" pitchFamily="18" charset="0"/>
                        <a:cs typeface="+mn-ea"/>
                        <a:sym typeface="+mn-lt"/>
                      </a:rPr>
                      <m:t>1024</m:t>
                    </m:r>
                    <m:r>
                      <a:rPr lang="en-US" altLang="zh-CN" sz="2200" kern="100">
                        <a:solidFill>
                          <a:srgbClr val="0D0D0D"/>
                        </a:solidFill>
                        <a:effectLst/>
                        <a:latin typeface="Cambria Math" panose="02040503050406030204" pitchFamily="18" charset="0"/>
                        <a:cs typeface="+mn-ea"/>
                        <a:sym typeface="+mn-lt"/>
                      </a:rPr>
                      <m:t>)</m:t>
                    </m:r>
                  </m:oMath>
                </a14:m>
                <a:r>
                  <a:rPr lang="zh-CN" altLang="zh-CN" sz="2200" kern="100" dirty="0">
                    <a:solidFill>
                      <a:srgbClr val="0D0D0D"/>
                    </a:solidFill>
                    <a:effectLst/>
                    <a:cs typeface="+mn-ea"/>
                    <a:sym typeface="+mn-lt"/>
                  </a:rPr>
                  <a:t>的特征图。然后该特征图被展开为向量。使用</a:t>
                </a:r>
                <a:r>
                  <a:rPr lang="en-US" altLang="zh-CN" sz="2200" kern="100" dirty="0">
                    <a:solidFill>
                      <a:srgbClr val="0D0D0D"/>
                    </a:solidFill>
                    <a:effectLst/>
                    <a:cs typeface="+mn-ea"/>
                    <a:sym typeface="+mn-lt"/>
                  </a:rPr>
                  <a:t>2</a:t>
                </a:r>
                <a:r>
                  <a:rPr lang="zh-CN" altLang="zh-CN" sz="2200" kern="100" dirty="0">
                    <a:solidFill>
                      <a:srgbClr val="0D0D0D"/>
                    </a:solidFill>
                    <a:effectLst/>
                    <a:cs typeface="+mn-ea"/>
                    <a:sym typeface="+mn-lt"/>
                  </a:rPr>
                  <a:t>个全连接层输出</a:t>
                </a:r>
                <a14:m>
                  <m:oMath xmlns:m="http://schemas.openxmlformats.org/officeDocument/2006/math">
                    <m:r>
                      <a:rPr lang="en-US" altLang="zh-CN" sz="2200" kern="100">
                        <a:solidFill>
                          <a:srgbClr val="0D0D0D"/>
                        </a:solidFill>
                        <a:effectLst/>
                        <a:latin typeface="Cambria Math" panose="02040503050406030204" pitchFamily="18" charset="0"/>
                        <a:cs typeface="+mn-ea"/>
                        <a:sym typeface="+mn-lt"/>
                      </a:rPr>
                      <m:t>7</m:t>
                    </m:r>
                    <m:r>
                      <a:rPr lang="en-US" altLang="zh-CN" sz="2200" kern="100">
                        <a:solidFill>
                          <a:srgbClr val="0D0D0D"/>
                        </a:solidFill>
                        <a:effectLst/>
                        <a:latin typeface="Cambria Math" panose="02040503050406030204" pitchFamily="18" charset="0"/>
                        <a:cs typeface="+mn-ea"/>
                        <a:sym typeface="+mn-lt"/>
                      </a:rPr>
                      <m:t>×</m:t>
                    </m:r>
                    <m:r>
                      <a:rPr lang="en-US" altLang="zh-CN" sz="2200" kern="100">
                        <a:solidFill>
                          <a:srgbClr val="0D0D0D"/>
                        </a:solidFill>
                        <a:effectLst/>
                        <a:latin typeface="Cambria Math" panose="02040503050406030204" pitchFamily="18" charset="0"/>
                        <a:cs typeface="+mn-ea"/>
                        <a:sym typeface="+mn-lt"/>
                      </a:rPr>
                      <m:t>7</m:t>
                    </m:r>
                    <m:r>
                      <a:rPr lang="en-US" altLang="zh-CN" sz="2200" kern="100">
                        <a:solidFill>
                          <a:srgbClr val="0D0D0D"/>
                        </a:solidFill>
                        <a:effectLst/>
                        <a:latin typeface="Cambria Math" panose="02040503050406030204" pitchFamily="18" charset="0"/>
                        <a:cs typeface="+mn-ea"/>
                        <a:sym typeface="+mn-lt"/>
                      </a:rPr>
                      <m:t>×</m:t>
                    </m:r>
                    <m:r>
                      <a:rPr lang="en-US" altLang="zh-CN" sz="2200" kern="100">
                        <a:solidFill>
                          <a:srgbClr val="0D0D0D"/>
                        </a:solidFill>
                        <a:effectLst/>
                        <a:latin typeface="Cambria Math" panose="02040503050406030204" pitchFamily="18" charset="0"/>
                        <a:cs typeface="+mn-ea"/>
                        <a:sym typeface="+mn-lt"/>
                      </a:rPr>
                      <m:t>30</m:t>
                    </m:r>
                  </m:oMath>
                </a14:m>
                <a:r>
                  <a:rPr lang="zh-CN" altLang="zh-CN" sz="2200" kern="100" dirty="0">
                    <a:solidFill>
                      <a:srgbClr val="0D0D0D"/>
                    </a:solidFill>
                    <a:effectLst/>
                    <a:cs typeface="+mn-ea"/>
                    <a:sym typeface="+mn-lt"/>
                  </a:rPr>
                  <a:t>个参数，然后将其重塑为</a:t>
                </a:r>
                <a:r>
                  <a:rPr lang="en-US" altLang="zh-CN" sz="2200" kern="100" dirty="0">
                    <a:solidFill>
                      <a:srgbClr val="0D0D0D"/>
                    </a:solidFill>
                    <a:effectLst/>
                    <a:cs typeface="+mn-ea"/>
                    <a:sym typeface="+mn-lt"/>
                  </a:rPr>
                  <a:t>(7,7,30)</a:t>
                </a:r>
                <a:r>
                  <a:rPr lang="zh-CN" altLang="zh-CN" sz="2200" kern="100" dirty="0">
                    <a:solidFill>
                      <a:srgbClr val="0D0D0D"/>
                    </a:solidFill>
                    <a:effectLst/>
                    <a:cs typeface="+mn-ea"/>
                    <a:sym typeface="+mn-lt"/>
                  </a:rPr>
                  <a:t>，其中</a:t>
                </a:r>
                <a:r>
                  <a:rPr lang="en-US" altLang="zh-CN" sz="2200" kern="100" dirty="0">
                    <a:solidFill>
                      <a:srgbClr val="0D0D0D"/>
                    </a:solidFill>
                    <a:effectLst/>
                    <a:cs typeface="+mn-ea"/>
                    <a:sym typeface="+mn-lt"/>
                  </a:rPr>
                  <a:t>(7,7)</a:t>
                </a:r>
                <a:r>
                  <a:rPr lang="zh-CN" altLang="zh-CN" sz="2200" kern="100" dirty="0">
                    <a:solidFill>
                      <a:srgbClr val="0D0D0D"/>
                    </a:solidFill>
                    <a:effectLst/>
                    <a:cs typeface="+mn-ea"/>
                    <a:sym typeface="+mn-lt"/>
                  </a:rPr>
                  <a:t>表示将图像划分为</a:t>
                </a:r>
                <a14:m>
                  <m:oMath xmlns:m="http://schemas.openxmlformats.org/officeDocument/2006/math">
                    <m:r>
                      <a:rPr lang="en-US" altLang="zh-CN" sz="2200" kern="100">
                        <a:solidFill>
                          <a:srgbClr val="0D0D0D"/>
                        </a:solidFill>
                        <a:effectLst/>
                        <a:latin typeface="Cambria Math" panose="02040503050406030204" pitchFamily="18" charset="0"/>
                        <a:cs typeface="+mn-ea"/>
                        <a:sym typeface="+mn-lt"/>
                      </a:rPr>
                      <m:t>7</m:t>
                    </m:r>
                    <m:r>
                      <a:rPr lang="en-US" altLang="zh-CN" sz="2200" kern="100">
                        <a:solidFill>
                          <a:srgbClr val="0D0D0D"/>
                        </a:solidFill>
                        <a:effectLst/>
                        <a:latin typeface="Cambria Math" panose="02040503050406030204" pitchFamily="18" charset="0"/>
                        <a:cs typeface="+mn-ea"/>
                        <a:sym typeface="+mn-lt"/>
                      </a:rPr>
                      <m:t>×</m:t>
                    </m:r>
                    <m:r>
                      <a:rPr lang="en-US" altLang="zh-CN" sz="2200" kern="100">
                        <a:solidFill>
                          <a:srgbClr val="0D0D0D"/>
                        </a:solidFill>
                        <a:effectLst/>
                        <a:latin typeface="Cambria Math" panose="02040503050406030204" pitchFamily="18" charset="0"/>
                        <a:cs typeface="+mn-ea"/>
                        <a:sym typeface="+mn-lt"/>
                      </a:rPr>
                      <m:t>7</m:t>
                    </m:r>
                  </m:oMath>
                </a14:m>
                <a:r>
                  <a:rPr lang="zh-CN" altLang="zh-CN" sz="2200" kern="100" dirty="0">
                    <a:solidFill>
                      <a:srgbClr val="0D0D0D"/>
                    </a:solidFill>
                    <a:effectLst/>
                    <a:cs typeface="+mn-ea"/>
                    <a:sym typeface="+mn-lt"/>
                  </a:rPr>
                  <a:t>个网格，</a:t>
                </a:r>
                <a:r>
                  <a:rPr lang="en-US" altLang="zh-CN" sz="2200" kern="100" dirty="0">
                    <a:solidFill>
                      <a:srgbClr val="0D0D0D"/>
                    </a:solidFill>
                    <a:effectLst/>
                    <a:cs typeface="+mn-ea"/>
                    <a:sym typeface="+mn-lt"/>
                  </a:rPr>
                  <a:t>30</a:t>
                </a:r>
                <a:r>
                  <a:rPr lang="zh-CN" altLang="zh-CN" sz="2200" kern="100" dirty="0">
                    <a:solidFill>
                      <a:srgbClr val="0D0D0D"/>
                    </a:solidFill>
                    <a:effectLst/>
                    <a:cs typeface="+mn-ea"/>
                    <a:sym typeface="+mn-lt"/>
                  </a:rPr>
                  <a:t>表示每个网格的预测结果，下面将详细展开介绍。</a:t>
                </a:r>
                <a:endParaRPr lang="zh-CN" altLang="zh-CN" sz="2200" kern="100" dirty="0">
                  <a:effectLst/>
                  <a:cs typeface="+mn-ea"/>
                  <a:sym typeface="+mn-lt"/>
                </a:endParaRPr>
              </a:p>
              <a:p>
                <a:pPr marL="0" indent="0">
                  <a:buNone/>
                </a:pPr>
                <a:endParaRPr lang="en-US" altLang="zh-CN" sz="2000" dirty="0">
                  <a:cs typeface="+mn-ea"/>
                  <a:sym typeface="+mn-lt"/>
                </a:endParaRPr>
              </a:p>
              <a:p>
                <a:pPr marL="0" indent="0">
                  <a:buNone/>
                </a:pPr>
                <a:endParaRPr lang="zh-CN" altLang="en-US" sz="2000" dirty="0">
                  <a:cs typeface="+mn-ea"/>
                  <a:sym typeface="+mn-lt"/>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825625"/>
                <a:ext cx="10515600" cy="1965140"/>
              </a:xfrm>
              <a:blipFill rotWithShape="1">
                <a:blip r:embed="rId1"/>
                <a:stretch>
                  <a:fillRect b="-3196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descr="图示, 工程绘图&#10;&#10;描述已自动生成"/>
          <p:cNvPicPr/>
          <p:nvPr/>
        </p:nvPicPr>
        <p:blipFill rotWithShape="1">
          <a:blip r:embed="rId2"/>
          <a:srcRect l="1187" r="4388"/>
          <a:stretch>
            <a:fillRect/>
          </a:stretch>
        </p:blipFill>
        <p:spPr>
          <a:xfrm>
            <a:off x="2789067" y="3622089"/>
            <a:ext cx="6097481" cy="27342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b="1" dirty="0">
                <a:cs typeface="+mn-ea"/>
                <a:sym typeface="+mn-lt"/>
              </a:rPr>
              <a:t>2</a:t>
            </a:r>
            <a:r>
              <a:rPr lang="zh-CN" altLang="en-US" sz="2000" b="1" dirty="0">
                <a:cs typeface="+mn-ea"/>
                <a:sym typeface="+mn-lt"/>
              </a:rPr>
              <a:t>）算法原理</a:t>
            </a:r>
            <a:endParaRPr lang="en-US" altLang="zh-CN" sz="2000" b="1" dirty="0">
              <a:cs typeface="+mn-ea"/>
              <a:sym typeface="+mn-lt"/>
            </a:endParaRPr>
          </a:p>
          <a:p>
            <a:pPr marL="0" indent="0">
              <a:buNone/>
            </a:pPr>
            <a:r>
              <a:rPr lang="en-US" altLang="zh-CN" sz="2000" dirty="0">
                <a:cs typeface="+mn-ea"/>
                <a:sym typeface="+mn-lt"/>
              </a:rPr>
              <a:t>YOLOv1</a:t>
            </a:r>
            <a:r>
              <a:rPr lang="zh-CN" altLang="en-US" sz="2000" dirty="0">
                <a:cs typeface="+mn-ea"/>
                <a:sym typeface="+mn-lt"/>
              </a:rPr>
              <a:t>的网络结十分的简单，其核心思想在于如何预测目标的位置和类别，下面将针对</a:t>
            </a:r>
            <a:r>
              <a:rPr lang="en-US" altLang="zh-CN" sz="2000" dirty="0">
                <a:cs typeface="+mn-ea"/>
                <a:sym typeface="+mn-lt"/>
              </a:rPr>
              <a:t>YOLOv1</a:t>
            </a:r>
            <a:r>
              <a:rPr lang="zh-CN" altLang="en-US" sz="2000" dirty="0">
                <a:cs typeface="+mn-ea"/>
                <a:sym typeface="+mn-lt"/>
              </a:rPr>
              <a:t>算法的原理进行详细的介绍。</a:t>
            </a:r>
            <a:r>
              <a:rPr lang="zh-CN" altLang="en-US" sz="2000" b="1" dirty="0">
                <a:cs typeface="+mn-ea"/>
                <a:sym typeface="+mn-lt"/>
              </a:rPr>
              <a:t>如左图所示</a:t>
            </a:r>
            <a:r>
              <a:rPr lang="zh-CN" altLang="en-US" sz="2000" dirty="0">
                <a:cs typeface="+mn-ea"/>
                <a:sym typeface="+mn-lt"/>
              </a:rPr>
              <a:t>，</a:t>
            </a:r>
            <a:r>
              <a:rPr lang="en-US" altLang="zh-CN" sz="2000" dirty="0">
                <a:cs typeface="+mn-ea"/>
                <a:sym typeface="+mn-lt"/>
              </a:rPr>
              <a:t>YOLOv1</a:t>
            </a:r>
            <a:r>
              <a:rPr lang="zh-CN" altLang="en-US" sz="2000" dirty="0">
                <a:cs typeface="+mn-ea"/>
                <a:sym typeface="+mn-lt"/>
              </a:rPr>
              <a:t>通过一个</a:t>
            </a:r>
            <a:r>
              <a:rPr lang="en-US" altLang="zh-CN" sz="2000" dirty="0" err="1">
                <a:cs typeface="+mn-ea"/>
                <a:sym typeface="+mn-lt"/>
              </a:rPr>
              <a:t>SxS</a:t>
            </a:r>
            <a:r>
              <a:rPr lang="zh-CN" altLang="en-US" sz="2000" dirty="0">
                <a:cs typeface="+mn-ea"/>
                <a:sym typeface="+mn-lt"/>
              </a:rPr>
              <a:t>的均匀网格，将一张输入的图像均匀分成</a:t>
            </a:r>
            <a:r>
              <a:rPr lang="en-US" altLang="zh-CN" sz="2000" dirty="0" err="1">
                <a:cs typeface="+mn-ea"/>
                <a:sym typeface="+mn-lt"/>
              </a:rPr>
              <a:t>SxS</a:t>
            </a:r>
            <a:r>
              <a:rPr lang="zh-CN" altLang="en-US" sz="2000" dirty="0">
                <a:cs typeface="+mn-ea"/>
                <a:sym typeface="+mn-lt"/>
              </a:rPr>
              <a:t>个图像子块，每个图像子块内会预测</a:t>
            </a:r>
            <a:r>
              <a:rPr lang="en-US" altLang="zh-CN" sz="2000" dirty="0">
                <a:cs typeface="+mn-ea"/>
                <a:sym typeface="+mn-lt"/>
              </a:rPr>
              <a:t>B</a:t>
            </a:r>
            <a:r>
              <a:rPr lang="zh-CN" altLang="en-US" sz="2000" dirty="0">
                <a:cs typeface="+mn-ea"/>
                <a:sym typeface="+mn-lt"/>
              </a:rPr>
              <a:t>个预测框的坐标和置信度（预测框框中目标的概率）以及目标属于</a:t>
            </a:r>
            <a:r>
              <a:rPr lang="en-US" altLang="zh-CN" sz="2000" dirty="0">
                <a:cs typeface="+mn-ea"/>
                <a:sym typeface="+mn-lt"/>
              </a:rPr>
              <a:t>C</a:t>
            </a:r>
            <a:r>
              <a:rPr lang="zh-CN" altLang="en-US" sz="2000" dirty="0">
                <a:cs typeface="+mn-ea"/>
                <a:sym typeface="+mn-lt"/>
              </a:rPr>
              <a:t>个类别的概率，输出结构</a:t>
            </a:r>
            <a:r>
              <a:rPr lang="zh-CN" altLang="en-US" sz="2000" b="1" dirty="0">
                <a:cs typeface="+mn-ea"/>
                <a:sym typeface="+mn-lt"/>
              </a:rPr>
              <a:t>如右图所示</a:t>
            </a:r>
            <a:r>
              <a:rPr lang="zh-CN" altLang="en-US" sz="2000" dirty="0">
                <a:cs typeface="+mn-ea"/>
                <a:sym typeface="+mn-lt"/>
              </a:rPr>
              <a:t>。</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descr="一群人站在巴士前&#10;&#10;中度可信度描述已自动生成"/>
          <p:cNvPicPr/>
          <p:nvPr/>
        </p:nvPicPr>
        <p:blipFill>
          <a:blip r:embed="rId1"/>
          <a:stretch>
            <a:fillRect/>
          </a:stretch>
        </p:blipFill>
        <p:spPr>
          <a:xfrm>
            <a:off x="1458620" y="3761899"/>
            <a:ext cx="2332145" cy="2415064"/>
          </a:xfrm>
          <a:prstGeom prst="rect">
            <a:avLst/>
          </a:prstGeom>
        </p:spPr>
      </p:pic>
      <p:pic>
        <p:nvPicPr>
          <p:cNvPr id="8" name="图片 7" descr="日程表, 瀑布图&#10;&#10;描述已自动生成"/>
          <p:cNvPicPr/>
          <p:nvPr/>
        </p:nvPicPr>
        <p:blipFill>
          <a:blip r:embed="rId2"/>
          <a:stretch>
            <a:fillRect/>
          </a:stretch>
        </p:blipFill>
        <p:spPr>
          <a:xfrm>
            <a:off x="5974516" y="4030462"/>
            <a:ext cx="4357768" cy="1656890"/>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pPr marL="0" indent="0">
                  <a:buNone/>
                </a:pPr>
                <a:r>
                  <a:rPr lang="zh-CN" altLang="en-US" sz="2000" b="1" dirty="0">
                    <a:cs typeface="+mn-ea"/>
                    <a:sym typeface="+mn-lt"/>
                  </a:rPr>
                  <a:t>置信度</a:t>
                </a:r>
                <a:r>
                  <a:rPr lang="zh-CN" altLang="en-US" sz="2000" dirty="0">
                    <a:cs typeface="+mn-ea"/>
                    <a:sym typeface="+mn-lt"/>
                  </a:rPr>
                  <a:t>考虑了当前预测框中包含目标的概率以及预测框位置的准确程度。计算公式如下：</a:t>
                </a: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zh-CN" sz="2000" kern="100" dirty="0">
                    <a:solidFill>
                      <a:srgbClr val="0D0D0D"/>
                    </a:solidFill>
                    <a:effectLst/>
                    <a:cs typeface="+mn-ea"/>
                    <a:sym typeface="+mn-lt"/>
                  </a:rPr>
                  <a:t>如果</a:t>
                </a:r>
                <a:r>
                  <a:rPr lang="zh-CN" altLang="zh-CN" sz="2000" b="1" kern="100" dirty="0">
                    <a:solidFill>
                      <a:srgbClr val="0D0D0D"/>
                    </a:solidFill>
                    <a:effectLst/>
                    <a:cs typeface="+mn-ea"/>
                    <a:sym typeface="+mn-lt"/>
                  </a:rPr>
                  <a:t>网格中不包含目标</a:t>
                </a:r>
                <a:r>
                  <a:rPr lang="zh-CN" altLang="zh-CN" sz="2000" kern="100" dirty="0">
                    <a:solidFill>
                      <a:srgbClr val="0D0D0D"/>
                    </a:solidFill>
                    <a:effectLst/>
                    <a:cs typeface="+mn-ea"/>
                    <a:sym typeface="+mn-lt"/>
                  </a:rPr>
                  <a:t>（即目标的中心点未落在该网格中），则</a:t>
                </a:r>
                <a14:m>
                  <m:oMath xmlns:m="http://schemas.openxmlformats.org/officeDocument/2006/math">
                    <m:func>
                      <m:funcPr>
                        <m:ctrlPr>
                          <a:rPr lang="zh-CN" altLang="zh-CN" sz="2000" i="1" kern="100">
                            <a:solidFill>
                              <a:srgbClr val="0D0D0D"/>
                            </a:solidFill>
                            <a:effectLst/>
                            <a:latin typeface="Cambria Math" panose="02040503050406030204" pitchFamily="18" charset="0"/>
                            <a:cs typeface="+mn-ea"/>
                            <a:sym typeface="+mn-lt"/>
                          </a:rPr>
                        </m:ctrlPr>
                      </m:funcPr>
                      <m:fName>
                        <m:r>
                          <m:rPr>
                            <m:sty m:val="p"/>
                          </m:rPr>
                          <a:rPr lang="en-US" altLang="zh-CN" sz="2000" kern="100">
                            <a:solidFill>
                              <a:srgbClr val="0D0D0D"/>
                            </a:solidFill>
                            <a:effectLst/>
                            <a:latin typeface="Cambria Math" panose="02040503050406030204" pitchFamily="18" charset="0"/>
                            <a:cs typeface="+mn-ea"/>
                            <a:sym typeface="+mn-lt"/>
                          </a:rPr>
                          <m:t>Pr</m:t>
                        </m:r>
                      </m:fName>
                      <m:e>
                        <m:d>
                          <m:dPr>
                            <m:ctrlPr>
                              <a:rPr lang="zh-CN" altLang="zh-CN" sz="2000" i="1" kern="100">
                                <a:solidFill>
                                  <a:srgbClr val="0D0D0D"/>
                                </a:solidFill>
                                <a:effectLst/>
                                <a:latin typeface="Cambria Math" panose="02040503050406030204" pitchFamily="18" charset="0"/>
                                <a:cs typeface="+mn-ea"/>
                                <a:sym typeface="+mn-lt"/>
                              </a:rPr>
                            </m:ctrlPr>
                          </m:dPr>
                          <m:e>
                            <m:r>
                              <a:rPr lang="en-US" altLang="zh-CN" sz="2000" i="1" kern="100">
                                <a:solidFill>
                                  <a:srgbClr val="0D0D0D"/>
                                </a:solidFill>
                                <a:effectLst/>
                                <a:latin typeface="Cambria Math" panose="02040503050406030204" pitchFamily="18" charset="0"/>
                                <a:cs typeface="+mn-ea"/>
                                <a:sym typeface="+mn-lt"/>
                              </a:rPr>
                              <m:t>𝑂𝑏𝑗𝑒𝑐𝑡</m:t>
                            </m:r>
                          </m:e>
                        </m:d>
                      </m:e>
                    </m:func>
                    <m:r>
                      <a:rPr lang="en-US" altLang="zh-CN" sz="2000" kern="100">
                        <a:solidFill>
                          <a:srgbClr val="0D0D0D"/>
                        </a:solidFill>
                        <a:effectLst/>
                        <a:latin typeface="Cambria Math" panose="02040503050406030204" pitchFamily="18" charset="0"/>
                        <a:cs typeface="+mn-ea"/>
                        <a:sym typeface="+mn-lt"/>
                      </a:rPr>
                      <m:t>=</m:t>
                    </m:r>
                    <m:r>
                      <a:rPr lang="en-US" altLang="zh-CN" sz="2000" kern="100">
                        <a:solidFill>
                          <a:srgbClr val="0D0D0D"/>
                        </a:solidFill>
                        <a:effectLst/>
                        <a:latin typeface="Cambria Math" panose="02040503050406030204" pitchFamily="18" charset="0"/>
                        <a:cs typeface="+mn-ea"/>
                        <a:sym typeface="+mn-lt"/>
                      </a:rPr>
                      <m:t>0</m:t>
                    </m:r>
                  </m:oMath>
                </a14:m>
                <a:r>
                  <a:rPr lang="zh-CN" altLang="zh-CN" sz="2000" kern="100" dirty="0">
                    <a:solidFill>
                      <a:srgbClr val="0D0D0D"/>
                    </a:solidFill>
                    <a:effectLst/>
                    <a:cs typeface="+mn-ea"/>
                    <a:sym typeface="+mn-lt"/>
                  </a:rPr>
                  <a:t>；如果，</a:t>
                </a:r>
                <a:r>
                  <a:rPr lang="zh-CN" altLang="zh-CN" sz="2000" b="1" kern="100" dirty="0">
                    <a:solidFill>
                      <a:srgbClr val="0D0D0D"/>
                    </a:solidFill>
                    <a:effectLst/>
                    <a:cs typeface="+mn-ea"/>
                    <a:sym typeface="+mn-lt"/>
                  </a:rPr>
                  <a:t>预测框框中了目标</a:t>
                </a:r>
                <a:r>
                  <a:rPr lang="zh-CN" altLang="zh-CN" sz="2000" kern="100" dirty="0">
                    <a:solidFill>
                      <a:srgbClr val="0D0D0D"/>
                    </a:solidFill>
                    <a:effectLst/>
                    <a:cs typeface="+mn-ea"/>
                    <a:sym typeface="+mn-lt"/>
                  </a:rPr>
                  <a:t>（即目标的中心点落在该网格中），则</a:t>
                </a:r>
                <a14:m>
                  <m:oMath xmlns:m="http://schemas.openxmlformats.org/officeDocument/2006/math">
                    <m:func>
                      <m:funcPr>
                        <m:ctrlPr>
                          <a:rPr lang="zh-CN" altLang="zh-CN" sz="2000" i="1" kern="100">
                            <a:solidFill>
                              <a:srgbClr val="0D0D0D"/>
                            </a:solidFill>
                            <a:effectLst/>
                            <a:latin typeface="Cambria Math" panose="02040503050406030204" pitchFamily="18" charset="0"/>
                            <a:cs typeface="+mn-ea"/>
                            <a:sym typeface="+mn-lt"/>
                          </a:rPr>
                        </m:ctrlPr>
                      </m:funcPr>
                      <m:fName>
                        <m:r>
                          <m:rPr>
                            <m:sty m:val="p"/>
                          </m:rPr>
                          <a:rPr lang="en-US" altLang="zh-CN" sz="2000" kern="100">
                            <a:solidFill>
                              <a:srgbClr val="0D0D0D"/>
                            </a:solidFill>
                            <a:effectLst/>
                            <a:latin typeface="Cambria Math" panose="02040503050406030204" pitchFamily="18" charset="0"/>
                            <a:cs typeface="+mn-ea"/>
                            <a:sym typeface="+mn-lt"/>
                          </a:rPr>
                          <m:t>Pr</m:t>
                        </m:r>
                      </m:fName>
                      <m:e>
                        <m:d>
                          <m:dPr>
                            <m:ctrlPr>
                              <a:rPr lang="zh-CN" altLang="zh-CN" sz="2000" i="1" kern="100">
                                <a:solidFill>
                                  <a:srgbClr val="0D0D0D"/>
                                </a:solidFill>
                                <a:effectLst/>
                                <a:latin typeface="Cambria Math" panose="02040503050406030204" pitchFamily="18" charset="0"/>
                                <a:cs typeface="+mn-ea"/>
                                <a:sym typeface="+mn-lt"/>
                              </a:rPr>
                            </m:ctrlPr>
                          </m:dPr>
                          <m:e>
                            <m:r>
                              <a:rPr lang="en-US" altLang="zh-CN" sz="2000" i="1" kern="100">
                                <a:solidFill>
                                  <a:srgbClr val="0D0D0D"/>
                                </a:solidFill>
                                <a:effectLst/>
                                <a:latin typeface="Cambria Math" panose="02040503050406030204" pitchFamily="18" charset="0"/>
                                <a:cs typeface="+mn-ea"/>
                                <a:sym typeface="+mn-lt"/>
                              </a:rPr>
                              <m:t>𝑂𝑏𝑗𝑒𝑐𝑡</m:t>
                            </m:r>
                          </m:e>
                        </m:d>
                      </m:e>
                    </m:func>
                    <m:r>
                      <a:rPr lang="en-US" altLang="zh-CN" sz="2000" kern="100">
                        <a:solidFill>
                          <a:srgbClr val="0D0D0D"/>
                        </a:solidFill>
                        <a:effectLst/>
                        <a:latin typeface="Cambria Math" panose="02040503050406030204" pitchFamily="18" charset="0"/>
                        <a:cs typeface="+mn-ea"/>
                        <a:sym typeface="+mn-lt"/>
                      </a:rPr>
                      <m:t>=</m:t>
                    </m:r>
                    <m:r>
                      <a:rPr lang="en-US" altLang="zh-CN" sz="2000" kern="100">
                        <a:solidFill>
                          <a:srgbClr val="0D0D0D"/>
                        </a:solidFill>
                        <a:effectLst/>
                        <a:latin typeface="Cambria Math" panose="02040503050406030204" pitchFamily="18" charset="0"/>
                        <a:cs typeface="+mn-ea"/>
                        <a:sym typeface="+mn-lt"/>
                      </a:rPr>
                      <m:t>1</m:t>
                    </m:r>
                  </m:oMath>
                </a14:m>
                <a:r>
                  <a:rPr lang="zh-CN" altLang="zh-CN" sz="2000" kern="100" dirty="0">
                    <a:solidFill>
                      <a:srgbClr val="0D0D0D"/>
                    </a:solidFill>
                    <a:effectLst/>
                    <a:cs typeface="+mn-ea"/>
                    <a:sym typeface="+mn-lt"/>
                  </a:rPr>
                  <a:t>。</a:t>
                </a:r>
                <a14:m>
                  <m:oMath xmlns:m="http://schemas.openxmlformats.org/officeDocument/2006/math">
                    <m:sSubSup>
                      <m:sSubSupPr>
                        <m:ctrlPr>
                          <a:rPr lang="zh-CN" altLang="zh-CN" sz="2000" i="1" kern="100">
                            <a:solidFill>
                              <a:srgbClr val="0D0D0D"/>
                            </a:solidFill>
                            <a:effectLst/>
                            <a:latin typeface="Cambria Math" panose="02040503050406030204" pitchFamily="18" charset="0"/>
                            <a:cs typeface="+mn-ea"/>
                            <a:sym typeface="+mn-lt"/>
                          </a:rPr>
                        </m:ctrlPr>
                      </m:sSubSupPr>
                      <m:e>
                        <m:r>
                          <a:rPr lang="en-US" altLang="zh-CN" sz="2000" i="1" kern="100">
                            <a:solidFill>
                              <a:srgbClr val="0D0D0D"/>
                            </a:solidFill>
                            <a:effectLst/>
                            <a:latin typeface="Cambria Math" panose="02040503050406030204" pitchFamily="18" charset="0"/>
                            <a:cs typeface="+mn-ea"/>
                            <a:sym typeface="+mn-lt"/>
                          </a:rPr>
                          <m:t>𝐼𝑜𝑈</m:t>
                        </m:r>
                      </m:e>
                      <m:sub>
                        <m:r>
                          <a:rPr lang="en-US" altLang="zh-CN" sz="2000" i="1" kern="100">
                            <a:solidFill>
                              <a:srgbClr val="0D0D0D"/>
                            </a:solidFill>
                            <a:effectLst/>
                            <a:latin typeface="Cambria Math" panose="02040503050406030204" pitchFamily="18" charset="0"/>
                            <a:cs typeface="+mn-ea"/>
                            <a:sym typeface="+mn-lt"/>
                          </a:rPr>
                          <m:t>𝑃𝑟𝑒𝑑</m:t>
                        </m:r>
                      </m:sub>
                      <m:sup>
                        <m:r>
                          <a:rPr lang="en-US" altLang="zh-CN" sz="2000" i="1" kern="100">
                            <a:solidFill>
                              <a:srgbClr val="0D0D0D"/>
                            </a:solidFill>
                            <a:effectLst/>
                            <a:latin typeface="Cambria Math" panose="02040503050406030204" pitchFamily="18" charset="0"/>
                            <a:cs typeface="+mn-ea"/>
                            <a:sym typeface="+mn-lt"/>
                          </a:rPr>
                          <m:t>𝑇𝑟𝑢𝑡ℎ</m:t>
                        </m:r>
                      </m:sup>
                    </m:sSubSup>
                  </m:oMath>
                </a14:m>
                <a:r>
                  <a:rPr lang="zh-CN" altLang="zh-CN" sz="2000" kern="100" dirty="0">
                    <a:solidFill>
                      <a:srgbClr val="0D0D0D"/>
                    </a:solidFill>
                    <a:effectLst/>
                    <a:cs typeface="+mn-ea"/>
                    <a:sym typeface="+mn-lt"/>
                  </a:rPr>
                  <a:t>是预测框和真值框的交并比，反映了预测框和真值框之间的重合程度</a:t>
                </a:r>
                <a:r>
                  <a:rPr lang="en-US" altLang="zh-CN" sz="2000" kern="100" dirty="0">
                    <a:solidFill>
                      <a:srgbClr val="0D0D0D"/>
                    </a:solidFill>
                    <a:effectLst/>
                    <a:cs typeface="+mn-ea"/>
                    <a:sym typeface="+mn-lt"/>
                  </a:rPr>
                  <a:t>;</a:t>
                </a:r>
                <a:endParaRPr lang="zh-CN" altLang="zh-CN" sz="2000" kern="100" dirty="0">
                  <a:effectLst/>
                  <a:cs typeface="+mn-ea"/>
                  <a:sym typeface="+mn-lt"/>
                </a:endParaRPr>
              </a:p>
              <a:p>
                <a:pPr marL="0" indent="0">
                  <a:buNone/>
                </a:pPr>
                <a:r>
                  <a:rPr lang="zh-CN" altLang="zh-CN" sz="2000" kern="100" dirty="0">
                    <a:solidFill>
                      <a:srgbClr val="0D0D0D"/>
                    </a:solidFill>
                    <a:effectLst/>
                    <a:cs typeface="+mn-ea"/>
                    <a:sym typeface="+mn-lt"/>
                  </a:rPr>
                  <a:t>每一个预测框都需要回归目标的中心坐标</a:t>
                </a:r>
                <a14:m>
                  <m:oMath xmlns:m="http://schemas.openxmlformats.org/officeDocument/2006/math">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𝑥</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𝑦</m:t>
                    </m:r>
                    <m:r>
                      <a:rPr lang="en-US" altLang="zh-CN" sz="2000" kern="100">
                        <a:solidFill>
                          <a:srgbClr val="0D0D0D"/>
                        </a:solidFill>
                        <a:effectLst/>
                        <a:latin typeface="Cambria Math" panose="02040503050406030204" pitchFamily="18" charset="0"/>
                        <a:cs typeface="+mn-ea"/>
                        <a:sym typeface="+mn-lt"/>
                      </a:rPr>
                      <m:t>)</m:t>
                    </m:r>
                  </m:oMath>
                </a14:m>
                <a:r>
                  <a:rPr lang="zh-CN" altLang="zh-CN" sz="2000" kern="100" dirty="0">
                    <a:solidFill>
                      <a:srgbClr val="0D0D0D"/>
                    </a:solidFill>
                    <a:effectLst/>
                    <a:cs typeface="+mn-ea"/>
                    <a:sym typeface="+mn-lt"/>
                  </a:rPr>
                  <a:t>和目标的宽、高</a:t>
                </a:r>
                <a14:m>
                  <m:oMath xmlns:m="http://schemas.openxmlformats.org/officeDocument/2006/math">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𝑤</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ℎ</m:t>
                    </m:r>
                    <m:r>
                      <a:rPr lang="en-US" altLang="zh-CN" sz="2000" kern="100">
                        <a:solidFill>
                          <a:srgbClr val="0D0D0D"/>
                        </a:solidFill>
                        <a:effectLst/>
                        <a:latin typeface="Cambria Math" panose="02040503050406030204" pitchFamily="18" charset="0"/>
                        <a:cs typeface="+mn-ea"/>
                        <a:sym typeface="+mn-lt"/>
                      </a:rPr>
                      <m:t>)</m:t>
                    </m:r>
                  </m:oMath>
                </a14:m>
                <a:r>
                  <a:rPr lang="zh-CN" altLang="zh-CN" sz="2000" kern="100" dirty="0">
                    <a:solidFill>
                      <a:srgbClr val="0D0D0D"/>
                    </a:solidFill>
                    <a:effectLst/>
                    <a:cs typeface="+mn-ea"/>
                    <a:sym typeface="+mn-lt"/>
                  </a:rPr>
                  <a:t>。由于这四个数值的变化区间比较大，如果直接让模型回归这四个数值，模型难以收敛。为了使模型更容易收敛。</a:t>
                </a:r>
                <a14:m>
                  <m:oMath xmlns:m="http://schemas.openxmlformats.org/officeDocument/2006/math">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𝑥</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𝑦</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𝑤</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ℎ</m:t>
                    </m:r>
                    <m:r>
                      <a:rPr lang="en-US" altLang="zh-CN" sz="2000" kern="100">
                        <a:solidFill>
                          <a:srgbClr val="0D0D0D"/>
                        </a:solidFill>
                        <a:effectLst/>
                        <a:latin typeface="Cambria Math" panose="02040503050406030204" pitchFamily="18" charset="0"/>
                        <a:cs typeface="+mn-ea"/>
                        <a:sym typeface="+mn-lt"/>
                      </a:rPr>
                      <m:t>)</m:t>
                    </m:r>
                  </m:oMath>
                </a14:m>
                <a:r>
                  <a:rPr lang="zh-CN" altLang="zh-CN" sz="2000" kern="100" dirty="0">
                    <a:solidFill>
                      <a:srgbClr val="0D0D0D"/>
                    </a:solidFill>
                    <a:effectLst/>
                    <a:cs typeface="+mn-ea"/>
                    <a:sym typeface="+mn-lt"/>
                  </a:rPr>
                  <a:t>需要除以图像的宽和高进行</a:t>
                </a:r>
                <a:r>
                  <a:rPr lang="zh-CN" altLang="zh-CN" sz="2000" b="1" kern="100" dirty="0">
                    <a:solidFill>
                      <a:srgbClr val="0D0D0D"/>
                    </a:solidFill>
                    <a:effectLst/>
                    <a:cs typeface="+mn-ea"/>
                    <a:sym typeface="+mn-lt"/>
                  </a:rPr>
                  <a:t>归一化处理</a:t>
                </a:r>
                <a:r>
                  <a:rPr lang="zh-CN" altLang="zh-CN" sz="2000" kern="100" dirty="0">
                    <a:solidFill>
                      <a:srgbClr val="0D0D0D"/>
                    </a:solidFill>
                    <a:effectLst/>
                    <a:cs typeface="+mn-ea"/>
                    <a:sym typeface="+mn-lt"/>
                  </a:rPr>
                  <a:t>，同时</a:t>
                </a:r>
                <a14:m>
                  <m:oMath xmlns:m="http://schemas.openxmlformats.org/officeDocument/2006/math">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𝑥</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𝑦</m:t>
                    </m:r>
                    <m:r>
                      <a:rPr lang="en-US" altLang="zh-CN" sz="2000" kern="100">
                        <a:solidFill>
                          <a:srgbClr val="0D0D0D"/>
                        </a:solidFill>
                        <a:effectLst/>
                        <a:latin typeface="Cambria Math" panose="02040503050406030204" pitchFamily="18" charset="0"/>
                        <a:cs typeface="+mn-ea"/>
                        <a:sym typeface="+mn-lt"/>
                      </a:rPr>
                      <m:t>)</m:t>
                    </m:r>
                  </m:oMath>
                </a14:m>
                <a:r>
                  <a:rPr lang="zh-CN" altLang="zh-CN" sz="2000" kern="100" dirty="0">
                    <a:solidFill>
                      <a:srgbClr val="0D0D0D"/>
                    </a:solidFill>
                    <a:effectLst/>
                    <a:cs typeface="+mn-ea"/>
                    <a:sym typeface="+mn-lt"/>
                  </a:rPr>
                  <a:t>采用了以当前网格的</a:t>
                </a:r>
                <a:r>
                  <a:rPr lang="zh-CN" altLang="zh-CN" sz="2000" b="1" kern="100" dirty="0">
                    <a:solidFill>
                      <a:srgbClr val="0D0D0D"/>
                    </a:solidFill>
                    <a:effectLst/>
                    <a:cs typeface="+mn-ea"/>
                    <a:sym typeface="+mn-lt"/>
                  </a:rPr>
                  <a:t>左上角为坐标原点</a:t>
                </a:r>
                <a:r>
                  <a:rPr lang="zh-CN" altLang="zh-CN" sz="2000" kern="100" dirty="0">
                    <a:solidFill>
                      <a:srgbClr val="0D0D0D"/>
                    </a:solidFill>
                    <a:effectLst/>
                    <a:cs typeface="+mn-ea"/>
                    <a:sym typeface="+mn-lt"/>
                  </a:rPr>
                  <a:t>的相对坐标系。</a:t>
                </a:r>
                <a:endParaRPr lang="zh-CN" altLang="zh-CN" sz="2000" kern="100" dirty="0">
                  <a:effectLst/>
                  <a:cs typeface="+mn-ea"/>
                  <a:sym typeface="+mn-lt"/>
                </a:endParaRPr>
              </a:p>
              <a:p>
                <a:pPr marL="0" indent="0">
                  <a:buNone/>
                </a:pPr>
                <a:r>
                  <a:rPr lang="zh-CN" altLang="zh-CN" sz="2000" kern="100" dirty="0">
                    <a:solidFill>
                      <a:srgbClr val="0D0D0D"/>
                    </a:solidFill>
                    <a:effectLst/>
                    <a:cs typeface="+mn-ea"/>
                    <a:sym typeface="+mn-lt"/>
                  </a:rPr>
                  <a:t>另外，每个子块都会回归</a:t>
                </a:r>
                <a:r>
                  <a:rPr lang="en-US" altLang="zh-CN" sz="2000" kern="100" dirty="0">
                    <a:solidFill>
                      <a:srgbClr val="0D0D0D"/>
                    </a:solidFill>
                    <a:effectLst/>
                    <a:cs typeface="+mn-ea"/>
                    <a:sym typeface="+mn-lt"/>
                  </a:rPr>
                  <a:t>C</a:t>
                </a:r>
                <a:r>
                  <a:rPr lang="zh-CN" altLang="zh-CN" sz="2000" kern="100" dirty="0">
                    <a:solidFill>
                      <a:srgbClr val="0D0D0D"/>
                    </a:solidFill>
                    <a:effectLst/>
                    <a:cs typeface="+mn-ea"/>
                    <a:sym typeface="+mn-lt"/>
                  </a:rPr>
                  <a:t>个条件概率，被称为</a:t>
                </a:r>
                <a:r>
                  <a:rPr lang="zh-CN" altLang="zh-CN" sz="2000" b="1" kern="100" dirty="0">
                    <a:solidFill>
                      <a:srgbClr val="0D0D0D"/>
                    </a:solidFill>
                    <a:effectLst/>
                    <a:cs typeface="+mn-ea"/>
                    <a:sym typeface="+mn-lt"/>
                  </a:rPr>
                  <a:t>条件类别概率</a:t>
                </a:r>
                <a:r>
                  <a:rPr lang="zh-CN" altLang="zh-CN" sz="2000" kern="100" dirty="0">
                    <a:solidFill>
                      <a:srgbClr val="0D0D0D"/>
                    </a:solidFill>
                    <a:effectLst/>
                    <a:cs typeface="+mn-ea"/>
                    <a:sym typeface="+mn-lt"/>
                  </a:rPr>
                  <a:t>，用</a:t>
                </a:r>
                <a14:m>
                  <m:oMath xmlns:m="http://schemas.openxmlformats.org/officeDocument/2006/math">
                    <m:func>
                      <m:funcPr>
                        <m:ctrlPr>
                          <a:rPr lang="zh-CN" altLang="zh-CN" sz="2000" i="1" kern="100">
                            <a:solidFill>
                              <a:srgbClr val="0D0D0D"/>
                            </a:solidFill>
                            <a:effectLst/>
                            <a:latin typeface="Cambria Math" panose="02040503050406030204" pitchFamily="18" charset="0"/>
                            <a:cs typeface="+mn-ea"/>
                            <a:sym typeface="+mn-lt"/>
                          </a:rPr>
                        </m:ctrlPr>
                      </m:funcPr>
                      <m:fName>
                        <m:r>
                          <m:rPr>
                            <m:sty m:val="p"/>
                          </m:rPr>
                          <a:rPr lang="en-US" altLang="zh-CN" sz="2000" kern="100">
                            <a:solidFill>
                              <a:srgbClr val="0D0D0D"/>
                            </a:solidFill>
                            <a:effectLst/>
                            <a:latin typeface="Cambria Math" panose="02040503050406030204" pitchFamily="18" charset="0"/>
                            <a:cs typeface="+mn-ea"/>
                            <a:sym typeface="+mn-lt"/>
                          </a:rPr>
                          <m:t>Pr</m:t>
                        </m:r>
                      </m:fName>
                      <m:e>
                        <m:d>
                          <m:dPr>
                            <m:ctrlPr>
                              <a:rPr lang="zh-CN" altLang="zh-CN" sz="2000" i="1" kern="100">
                                <a:solidFill>
                                  <a:srgbClr val="0D0D0D"/>
                                </a:solidFill>
                                <a:effectLst/>
                                <a:latin typeface="Cambria Math" panose="02040503050406030204" pitchFamily="18" charset="0"/>
                                <a:cs typeface="+mn-ea"/>
                                <a:sym typeface="+mn-lt"/>
                              </a:rPr>
                            </m:ctrlPr>
                          </m:dPr>
                          <m:e>
                            <m:sSub>
                              <m:sSubPr>
                                <m:ctrlPr>
                                  <a:rPr lang="zh-CN" altLang="zh-CN" sz="2000" i="1" kern="100">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𝐶𝑙𝑎𝑠𝑠</m:t>
                                </m:r>
                              </m:e>
                              <m:sub>
                                <m:r>
                                  <a:rPr lang="en-US" altLang="zh-CN" sz="2000" i="1" kern="100">
                                    <a:solidFill>
                                      <a:srgbClr val="0D0D0D"/>
                                    </a:solidFill>
                                    <a:effectLst/>
                                    <a:latin typeface="Cambria Math" panose="02040503050406030204" pitchFamily="18" charset="0"/>
                                    <a:cs typeface="+mn-ea"/>
                                    <a:sym typeface="+mn-lt"/>
                                  </a:rPr>
                                  <m:t>𝑖</m:t>
                                </m:r>
                              </m:sub>
                            </m:sSub>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𝑂𝑏𝑗𝑒𝑐𝑡</m:t>
                            </m:r>
                          </m:e>
                        </m:d>
                      </m:e>
                    </m:func>
                  </m:oMath>
                </a14:m>
                <a:r>
                  <a:rPr lang="zh-CN" altLang="zh-CN" sz="2000" kern="100" dirty="0">
                    <a:solidFill>
                      <a:srgbClr val="0D0D0D"/>
                    </a:solidFill>
                    <a:effectLst/>
                    <a:cs typeface="+mn-ea"/>
                    <a:sym typeface="+mn-lt"/>
                  </a:rPr>
                  <a:t>表示，表示在该网格框中目标的前提下，目标属于某个类别的概率。因为</a:t>
                </a:r>
                <a:r>
                  <a:rPr lang="en-US" altLang="zh-CN" sz="2000" kern="100" dirty="0">
                    <a:solidFill>
                      <a:srgbClr val="0D0D0D"/>
                    </a:solidFill>
                    <a:effectLst/>
                    <a:cs typeface="+mn-ea"/>
                    <a:sym typeface="+mn-lt"/>
                  </a:rPr>
                  <a:t>YOLO</a:t>
                </a:r>
                <a:r>
                  <a:rPr lang="zh-CN" altLang="zh-CN" sz="2000" kern="100" dirty="0">
                    <a:solidFill>
                      <a:srgbClr val="0D0D0D"/>
                    </a:solidFill>
                    <a:effectLst/>
                    <a:cs typeface="+mn-ea"/>
                    <a:sym typeface="+mn-lt"/>
                  </a:rPr>
                  <a:t>默认每个子图只只包含一个目标，所以无论预测多少个目标框，只需要回归一组条件概率。</a:t>
                </a:r>
                <a:endParaRPr lang="zh-CN" altLang="zh-CN" sz="2000" kern="100" dirty="0">
                  <a:effectLst/>
                  <a:cs typeface="+mn-ea"/>
                  <a:sym typeface="+mn-lt"/>
                </a:endParaRPr>
              </a:p>
              <a:p>
                <a:pPr marL="0" indent="0">
                  <a:buNone/>
                </a:pPr>
                <a:endParaRPr lang="en-US" altLang="zh-CN" sz="2000" dirty="0">
                  <a:cs typeface="+mn-ea"/>
                  <a:sym typeface="+mn-lt"/>
                </a:endParaRPr>
              </a:p>
              <a:p>
                <a:pPr marL="0" indent="0">
                  <a:buNone/>
                </a:pPr>
                <a:endParaRPr lang="zh-CN" altLang="en-US" sz="2000" dirty="0">
                  <a:cs typeface="+mn-ea"/>
                  <a:sym typeface="+mn-lt"/>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6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rotWithShape="1">
          <a:blip r:embed="rId2"/>
          <a:srcRect l="34062" t="4840" r="33795" b="-1630"/>
          <a:stretch>
            <a:fillRect/>
          </a:stretch>
        </p:blipFill>
        <p:spPr>
          <a:xfrm>
            <a:off x="4038600" y="2228296"/>
            <a:ext cx="3234432" cy="45676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b="1" dirty="0">
                <a:cs typeface="+mn-ea"/>
                <a:sym typeface="+mn-lt"/>
              </a:rPr>
              <a:t>3</a:t>
            </a:r>
            <a:r>
              <a:rPr lang="zh-CN" altLang="en-US" sz="2000" b="1" dirty="0">
                <a:cs typeface="+mn-ea"/>
                <a:sym typeface="+mn-lt"/>
              </a:rPr>
              <a:t>）训练过程</a:t>
            </a:r>
            <a:endParaRPr lang="en-US" altLang="zh-CN" sz="2000" b="1" dirty="0">
              <a:cs typeface="+mn-ea"/>
              <a:sym typeface="+mn-lt"/>
            </a:endParaRPr>
          </a:p>
          <a:p>
            <a:pPr marL="0" indent="0">
              <a:buNone/>
            </a:pPr>
            <a:r>
              <a:rPr lang="zh-CN" altLang="en-US" sz="2000" dirty="0">
                <a:cs typeface="+mn-ea"/>
                <a:sym typeface="+mn-lt"/>
              </a:rPr>
              <a:t>在将</a:t>
            </a:r>
            <a:r>
              <a:rPr lang="en-US" altLang="zh-CN" sz="2000" dirty="0">
                <a:cs typeface="+mn-ea"/>
                <a:sym typeface="+mn-lt"/>
              </a:rPr>
              <a:t>YOLOv1</a:t>
            </a:r>
            <a:r>
              <a:rPr lang="zh-CN" altLang="en-US" sz="2000" dirty="0">
                <a:cs typeface="+mn-ea"/>
                <a:sym typeface="+mn-lt"/>
              </a:rPr>
              <a:t>放在检测数据集上进行训练之前，首先需要基于</a:t>
            </a:r>
            <a:r>
              <a:rPr lang="en-US" altLang="zh-CN" sz="2000" b="1" dirty="0">
                <a:cs typeface="+mn-ea"/>
                <a:sym typeface="+mn-lt"/>
              </a:rPr>
              <a:t>ImageNet</a:t>
            </a:r>
            <a:r>
              <a:rPr lang="zh-CN" altLang="en-US" sz="2000" b="1" dirty="0">
                <a:cs typeface="+mn-ea"/>
                <a:sym typeface="+mn-lt"/>
              </a:rPr>
              <a:t>数据集</a:t>
            </a:r>
            <a:r>
              <a:rPr lang="en-US" altLang="zh-CN" sz="2000" dirty="0">
                <a:cs typeface="+mn-ea"/>
                <a:sym typeface="+mn-lt"/>
              </a:rPr>
              <a:t>[13]</a:t>
            </a:r>
            <a:r>
              <a:rPr lang="zh-CN" altLang="en-US" sz="2000" dirty="0">
                <a:cs typeface="+mn-ea"/>
                <a:sym typeface="+mn-lt"/>
              </a:rPr>
              <a:t>针对图像分类任务进行预训练。预训练时，取网络的</a:t>
            </a:r>
            <a:r>
              <a:rPr lang="zh-CN" altLang="en-US" sz="2000" b="1" dirty="0">
                <a:cs typeface="+mn-ea"/>
                <a:sym typeface="+mn-lt"/>
              </a:rPr>
              <a:t>前</a:t>
            </a:r>
            <a:r>
              <a:rPr lang="en-US" altLang="zh-CN" sz="2000" b="1" dirty="0">
                <a:cs typeface="+mn-ea"/>
                <a:sym typeface="+mn-lt"/>
              </a:rPr>
              <a:t>20</a:t>
            </a:r>
            <a:r>
              <a:rPr lang="zh-CN" altLang="en-US" sz="2000" b="1" dirty="0">
                <a:cs typeface="+mn-ea"/>
                <a:sym typeface="+mn-lt"/>
              </a:rPr>
              <a:t>个卷积层</a:t>
            </a:r>
            <a:r>
              <a:rPr lang="zh-CN" altLang="en-US" sz="2000" dirty="0">
                <a:cs typeface="+mn-ea"/>
                <a:sym typeface="+mn-lt"/>
              </a:rPr>
              <a:t>，</a:t>
            </a:r>
            <a:r>
              <a:rPr lang="zh-CN" altLang="en-US" sz="2000" b="1" dirty="0">
                <a:cs typeface="+mn-ea"/>
                <a:sym typeface="+mn-lt"/>
              </a:rPr>
              <a:t>后面接一个全连接层</a:t>
            </a:r>
            <a:r>
              <a:rPr lang="zh-CN" altLang="en-US" sz="2000" dirty="0">
                <a:cs typeface="+mn-ea"/>
                <a:sym typeface="+mn-lt"/>
              </a:rPr>
              <a:t>构造一个分类模型。预训练完成后，在</a:t>
            </a:r>
            <a:r>
              <a:rPr lang="en-US" altLang="zh-CN" sz="2000" dirty="0">
                <a:cs typeface="+mn-ea"/>
                <a:sym typeface="+mn-lt"/>
              </a:rPr>
              <a:t>20</a:t>
            </a:r>
            <a:r>
              <a:rPr lang="zh-CN" altLang="en-US" sz="2000" dirty="0">
                <a:cs typeface="+mn-ea"/>
                <a:sym typeface="+mn-lt"/>
              </a:rPr>
              <a:t>个卷积层之后</a:t>
            </a:r>
            <a:r>
              <a:rPr lang="zh-CN" altLang="en-US" sz="2000" b="1" dirty="0">
                <a:cs typeface="+mn-ea"/>
                <a:sym typeface="+mn-lt"/>
              </a:rPr>
              <a:t>加上</a:t>
            </a:r>
            <a:r>
              <a:rPr lang="en-US" altLang="zh-CN" sz="2000" b="1" dirty="0">
                <a:cs typeface="+mn-ea"/>
                <a:sym typeface="+mn-lt"/>
              </a:rPr>
              <a:t>4</a:t>
            </a:r>
            <a:r>
              <a:rPr lang="zh-CN" altLang="en-US" sz="2000" b="1" dirty="0">
                <a:cs typeface="+mn-ea"/>
                <a:sym typeface="+mn-lt"/>
              </a:rPr>
              <a:t>个新的卷积层</a:t>
            </a:r>
            <a:r>
              <a:rPr lang="zh-CN" altLang="en-US" sz="2000" dirty="0">
                <a:cs typeface="+mn-ea"/>
                <a:sym typeface="+mn-lt"/>
              </a:rPr>
              <a:t>和</a:t>
            </a:r>
            <a:r>
              <a:rPr lang="en-US" altLang="zh-CN" sz="2000" b="1" dirty="0">
                <a:cs typeface="+mn-ea"/>
                <a:sym typeface="+mn-lt"/>
              </a:rPr>
              <a:t>2</a:t>
            </a:r>
            <a:r>
              <a:rPr lang="zh-CN" altLang="en-US" sz="2000" b="1" dirty="0">
                <a:cs typeface="+mn-ea"/>
                <a:sym typeface="+mn-lt"/>
              </a:rPr>
              <a:t>个全连接层</a:t>
            </a:r>
            <a:r>
              <a:rPr lang="zh-CN" altLang="en-US" sz="2000" dirty="0">
                <a:cs typeface="+mn-ea"/>
                <a:sym typeface="+mn-lt"/>
              </a:rPr>
              <a:t>得到</a:t>
            </a:r>
            <a:r>
              <a:rPr lang="en-US" altLang="zh-CN" sz="2000" dirty="0">
                <a:cs typeface="+mn-ea"/>
                <a:sym typeface="+mn-lt"/>
              </a:rPr>
              <a:t>YOLOv1</a:t>
            </a:r>
            <a:r>
              <a:rPr lang="zh-CN" altLang="en-US" sz="2000" dirty="0">
                <a:cs typeface="+mn-ea"/>
                <a:sym typeface="+mn-lt"/>
              </a:rPr>
              <a:t>网络模型。</a:t>
            </a: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dirty="0">
                <a:cs typeface="+mn-ea"/>
                <a:sym typeface="+mn-lt"/>
              </a:rPr>
              <a:t>在算法原理部分得知，给定一张图片，</a:t>
            </a:r>
            <a:r>
              <a:rPr lang="en-US" altLang="zh-CN" sz="2000" dirty="0">
                <a:cs typeface="+mn-ea"/>
                <a:sym typeface="+mn-lt"/>
              </a:rPr>
              <a:t>YOLOv1</a:t>
            </a:r>
            <a:r>
              <a:rPr lang="zh-CN" altLang="en-US" sz="2000" dirty="0">
                <a:cs typeface="+mn-ea"/>
                <a:sym typeface="+mn-lt"/>
              </a:rPr>
              <a:t>会输出</a:t>
            </a:r>
            <a:r>
              <a:rPr lang="en-US" altLang="zh-CN" sz="2000" dirty="0">
                <a:cs typeface="+mn-ea"/>
                <a:sym typeface="+mn-lt"/>
              </a:rPr>
              <a:t>(7,7,30)</a:t>
            </a:r>
            <a:r>
              <a:rPr lang="zh-CN" altLang="en-US" sz="2000" dirty="0">
                <a:cs typeface="+mn-ea"/>
                <a:sym typeface="+mn-lt"/>
              </a:rPr>
              <a:t>的张量，其中</a:t>
            </a:r>
            <a:r>
              <a:rPr lang="en-US" altLang="zh-CN" sz="2000" dirty="0">
                <a:cs typeface="+mn-ea"/>
                <a:sym typeface="+mn-lt"/>
              </a:rPr>
              <a:t>30</a:t>
            </a:r>
            <a:r>
              <a:rPr lang="zh-CN" altLang="en-US" sz="2000" dirty="0">
                <a:cs typeface="+mn-ea"/>
                <a:sym typeface="+mn-lt"/>
              </a:rPr>
              <a:t>表示每个网格的预测结果，包括预测框的位置，置信度以及分类概率。未经训练的</a:t>
            </a:r>
            <a:r>
              <a:rPr lang="en-US" altLang="zh-CN" sz="2000" dirty="0">
                <a:cs typeface="+mn-ea"/>
                <a:sym typeface="+mn-lt"/>
              </a:rPr>
              <a:t>YOLOv1</a:t>
            </a:r>
            <a:r>
              <a:rPr lang="zh-CN" altLang="en-US" sz="2000" dirty="0">
                <a:cs typeface="+mn-ea"/>
                <a:sym typeface="+mn-lt"/>
              </a:rPr>
              <a:t>网络，在每个网格所输出的</a:t>
            </a:r>
            <a:r>
              <a:rPr lang="en-US" altLang="zh-CN" sz="2000" dirty="0">
                <a:cs typeface="+mn-ea"/>
                <a:sym typeface="+mn-lt"/>
              </a:rPr>
              <a:t>30</a:t>
            </a:r>
            <a:r>
              <a:rPr lang="zh-CN" altLang="en-US" sz="2000" dirty="0">
                <a:cs typeface="+mn-ea"/>
                <a:sym typeface="+mn-lt"/>
              </a:rPr>
              <a:t>个元素不包含任何信息，只有提供合适的监督信号，并把损失函数作为目标函数优化神经网络，才能让网络的输出变得有意义。</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825625"/>
                <a:ext cx="5846685" cy="4351338"/>
              </a:xfrm>
            </p:spPr>
            <p:txBody>
              <a:bodyPr>
                <a:normAutofit/>
              </a:bodyPr>
              <a:lstStyle/>
              <a:p>
                <a:pPr marL="0" indent="0">
                  <a:buNone/>
                </a:pPr>
                <a:r>
                  <a:rPr lang="zh-CN" altLang="en-US" sz="2000" dirty="0">
                    <a:cs typeface="+mn-ea"/>
                    <a:sym typeface="+mn-lt"/>
                  </a:rPr>
                  <a:t>下面将介绍一下，</a:t>
                </a:r>
                <a:r>
                  <a:rPr lang="en-US" altLang="zh-CN" sz="2000" dirty="0">
                    <a:cs typeface="+mn-ea"/>
                    <a:sym typeface="+mn-lt"/>
                  </a:rPr>
                  <a:t>YOLOv1</a:t>
                </a:r>
                <a:r>
                  <a:rPr lang="zh-CN" altLang="en-US" sz="2000" dirty="0">
                    <a:cs typeface="+mn-ea"/>
                    <a:sym typeface="+mn-lt"/>
                  </a:rPr>
                  <a:t>的损失函数：</a:t>
                </a: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b="1" dirty="0">
                    <a:cs typeface="+mn-ea"/>
                    <a:sym typeface="+mn-lt"/>
                  </a:rPr>
                  <a:t>分类损失</a:t>
                </a:r>
                <a:r>
                  <a:rPr lang="en-US" altLang="zh-CN" sz="2000" b="1" dirty="0">
                    <a:cs typeface="+mn-ea"/>
                    <a:sym typeface="+mn-lt"/>
                  </a:rPr>
                  <a:t>: </a:t>
                </a:r>
                <a:r>
                  <a:rPr lang="zh-CN" altLang="en-US" sz="2000" dirty="0">
                    <a:cs typeface="+mn-ea"/>
                    <a:sym typeface="+mn-lt"/>
                  </a:rPr>
                  <a:t>如果</a:t>
                </a:r>
                <a:r>
                  <a:rPr lang="zh-CN" altLang="en-US" sz="2000" b="1" dirty="0">
                    <a:cs typeface="+mn-ea"/>
                    <a:sym typeface="+mn-lt"/>
                  </a:rPr>
                  <a:t>网格内包含目标</a:t>
                </a:r>
                <a:r>
                  <a:rPr lang="zh-CN" altLang="en-US" sz="2000" dirty="0">
                    <a:cs typeface="+mn-ea"/>
                    <a:sym typeface="+mn-lt"/>
                  </a:rPr>
                  <a:t>，那么该网格内的分类损失是所有类别的条件类别概率和真值之间的平方误差之和。</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zh-CN" sz="2000" kern="100" dirty="0">
                    <a:solidFill>
                      <a:srgbClr val="0D0D0D"/>
                    </a:solidFill>
                    <a:effectLst/>
                    <a:cs typeface="+mn-ea"/>
                    <a:sym typeface="+mn-lt"/>
                  </a:rPr>
                  <a:t>其中，如果网格内包含目标</a:t>
                </a:r>
                <a14:m>
                  <m:oMath xmlns:m="http://schemas.openxmlformats.org/officeDocument/2006/math">
                    <m:sSubSup>
                      <m:sSubSupPr>
                        <m:ctrlPr>
                          <a:rPr lang="zh-CN" altLang="zh-CN" sz="2000" i="1" kern="100">
                            <a:solidFill>
                              <a:srgbClr val="0D0D0D"/>
                            </a:solidFill>
                            <a:effectLst/>
                            <a:latin typeface="Cambria Math" panose="02040503050406030204" pitchFamily="18" charset="0"/>
                            <a:cs typeface="+mn-ea"/>
                            <a:sym typeface="+mn-lt"/>
                          </a:rPr>
                        </m:ctrlPr>
                      </m:sSubSupPr>
                      <m:e>
                        <m:r>
                          <a:rPr lang="en-US" altLang="zh-CN" sz="2000" i="1" kern="100">
                            <a:solidFill>
                              <a:srgbClr val="0D0D0D"/>
                            </a:solidFill>
                            <a:effectLst/>
                            <a:latin typeface="Cambria Math" panose="02040503050406030204" pitchFamily="18" charset="0"/>
                            <a:cs typeface="+mn-ea"/>
                            <a:sym typeface="+mn-lt"/>
                          </a:rPr>
                          <m:t>𝟙</m:t>
                        </m:r>
                      </m:e>
                      <m:sub>
                        <m:r>
                          <a:rPr lang="en-US" altLang="zh-CN" sz="2000" i="1" kern="100">
                            <a:solidFill>
                              <a:srgbClr val="0D0D0D"/>
                            </a:solidFill>
                            <a:effectLst/>
                            <a:latin typeface="Cambria Math" panose="02040503050406030204" pitchFamily="18" charset="0"/>
                            <a:cs typeface="+mn-ea"/>
                            <a:sym typeface="+mn-lt"/>
                          </a:rPr>
                          <m:t>𝑖</m:t>
                        </m:r>
                      </m:sub>
                      <m:sup>
                        <m:r>
                          <a:rPr lang="en-US" altLang="zh-CN" sz="2000" i="1" kern="100">
                            <a:solidFill>
                              <a:srgbClr val="0D0D0D"/>
                            </a:solidFill>
                            <a:effectLst/>
                            <a:latin typeface="Cambria Math" panose="02040503050406030204" pitchFamily="18" charset="0"/>
                            <a:cs typeface="+mn-ea"/>
                            <a:sym typeface="+mn-lt"/>
                          </a:rPr>
                          <m:t>𝑜𝑏𝑗</m:t>
                        </m:r>
                      </m:sup>
                    </m:sSubSup>
                    <m:r>
                      <a:rPr lang="en-US" altLang="zh-CN" sz="2000" kern="100">
                        <a:solidFill>
                          <a:srgbClr val="0D0D0D"/>
                        </a:solidFill>
                        <a:effectLst/>
                        <a:latin typeface="Cambria Math" panose="02040503050406030204" pitchFamily="18" charset="0"/>
                        <a:cs typeface="+mn-ea"/>
                        <a:sym typeface="+mn-lt"/>
                      </a:rPr>
                      <m:t>=</m:t>
                    </m:r>
                    <m:r>
                      <a:rPr lang="en-US" altLang="zh-CN" sz="2000" kern="100">
                        <a:solidFill>
                          <a:srgbClr val="0D0D0D"/>
                        </a:solidFill>
                        <a:effectLst/>
                        <a:latin typeface="Cambria Math" panose="02040503050406030204" pitchFamily="18" charset="0"/>
                        <a:cs typeface="+mn-ea"/>
                        <a:sym typeface="+mn-lt"/>
                      </a:rPr>
                      <m:t>1</m:t>
                    </m:r>
                  </m:oMath>
                </a14:m>
                <a:r>
                  <a:rPr lang="zh-CN" altLang="zh-CN" sz="2000" kern="100" dirty="0">
                    <a:solidFill>
                      <a:srgbClr val="0D0D0D"/>
                    </a:solidFill>
                    <a:effectLst/>
                    <a:cs typeface="+mn-ea"/>
                    <a:sym typeface="+mn-lt"/>
                  </a:rPr>
                  <a:t>，否则</a:t>
                </a:r>
                <a14:m>
                  <m:oMath xmlns:m="http://schemas.openxmlformats.org/officeDocument/2006/math">
                    <m:sSubSup>
                      <m:sSubSupPr>
                        <m:ctrlPr>
                          <a:rPr lang="zh-CN" altLang="zh-CN" sz="2000" i="1" kern="100">
                            <a:solidFill>
                              <a:srgbClr val="0D0D0D"/>
                            </a:solidFill>
                            <a:effectLst/>
                            <a:latin typeface="Cambria Math" panose="02040503050406030204" pitchFamily="18" charset="0"/>
                            <a:cs typeface="+mn-ea"/>
                            <a:sym typeface="+mn-lt"/>
                          </a:rPr>
                        </m:ctrlPr>
                      </m:sSubSupPr>
                      <m:e>
                        <m:r>
                          <a:rPr lang="en-US" altLang="zh-CN" sz="2000" i="1" kern="100">
                            <a:solidFill>
                              <a:srgbClr val="0D0D0D"/>
                            </a:solidFill>
                            <a:effectLst/>
                            <a:latin typeface="Cambria Math" panose="02040503050406030204" pitchFamily="18" charset="0"/>
                            <a:cs typeface="+mn-ea"/>
                            <a:sym typeface="+mn-lt"/>
                          </a:rPr>
                          <m:t>𝟙</m:t>
                        </m:r>
                      </m:e>
                      <m:sub>
                        <m:r>
                          <a:rPr lang="en-US" altLang="zh-CN" sz="2000" i="1" kern="100">
                            <a:solidFill>
                              <a:srgbClr val="0D0D0D"/>
                            </a:solidFill>
                            <a:effectLst/>
                            <a:latin typeface="Cambria Math" panose="02040503050406030204" pitchFamily="18" charset="0"/>
                            <a:cs typeface="+mn-ea"/>
                            <a:sym typeface="+mn-lt"/>
                          </a:rPr>
                          <m:t>𝑖</m:t>
                        </m:r>
                      </m:sub>
                      <m:sup>
                        <m:r>
                          <a:rPr lang="en-US" altLang="zh-CN" sz="2000" i="1" kern="100">
                            <a:solidFill>
                              <a:srgbClr val="0D0D0D"/>
                            </a:solidFill>
                            <a:effectLst/>
                            <a:latin typeface="Cambria Math" panose="02040503050406030204" pitchFamily="18" charset="0"/>
                            <a:cs typeface="+mn-ea"/>
                            <a:sym typeface="+mn-lt"/>
                          </a:rPr>
                          <m:t>𝑜𝑏𝑗</m:t>
                        </m:r>
                      </m:sup>
                    </m:sSubSup>
                    <m:r>
                      <a:rPr lang="en-US" altLang="zh-CN" sz="2000" kern="100">
                        <a:solidFill>
                          <a:srgbClr val="0D0D0D"/>
                        </a:solidFill>
                        <a:effectLst/>
                        <a:latin typeface="Cambria Math" panose="02040503050406030204" pitchFamily="18" charset="0"/>
                        <a:cs typeface="+mn-ea"/>
                        <a:sym typeface="+mn-lt"/>
                      </a:rPr>
                      <m:t>=</m:t>
                    </m:r>
                    <m:r>
                      <a:rPr lang="en-US" altLang="zh-CN" sz="2000" kern="100">
                        <a:solidFill>
                          <a:srgbClr val="0D0D0D"/>
                        </a:solidFill>
                        <a:effectLst/>
                        <a:latin typeface="Cambria Math" panose="02040503050406030204" pitchFamily="18" charset="0"/>
                        <a:cs typeface="+mn-ea"/>
                        <a:sym typeface="+mn-lt"/>
                      </a:rPr>
                      <m:t>0</m:t>
                    </m:r>
                  </m:oMath>
                </a14:m>
                <a:r>
                  <a:rPr lang="en-US" altLang="zh-CN" sz="2000" kern="100" dirty="0">
                    <a:solidFill>
                      <a:srgbClr val="0D0D0D"/>
                    </a:solidFill>
                    <a:effectLst/>
                    <a:cs typeface="+mn-ea"/>
                    <a:sym typeface="+mn-lt"/>
                  </a:rPr>
                  <a:t>; </a:t>
                </a:r>
                <a14:m>
                  <m:oMath xmlns:m="http://schemas.openxmlformats.org/officeDocument/2006/math">
                    <m:sSub>
                      <m:sSubPr>
                        <m:ctrlPr>
                          <a:rPr lang="zh-CN" altLang="zh-CN" sz="2000" i="1" kern="100">
                            <a:solidFill>
                              <a:srgbClr val="0D0D0D"/>
                            </a:solidFill>
                            <a:effectLst/>
                            <a:latin typeface="Cambria Math" panose="02040503050406030204" pitchFamily="18" charset="0"/>
                            <a:cs typeface="+mn-ea"/>
                            <a:sym typeface="+mn-lt"/>
                          </a:rPr>
                        </m:ctrlPr>
                      </m:sSubPr>
                      <m:e>
                        <m:acc>
                          <m:accPr>
                            <m:ctrlPr>
                              <a:rPr lang="zh-CN" altLang="zh-CN" sz="2000" i="1" kern="100">
                                <a:solidFill>
                                  <a:srgbClr val="0D0D0D"/>
                                </a:solidFill>
                                <a:effectLst/>
                                <a:latin typeface="Cambria Math" panose="02040503050406030204" pitchFamily="18" charset="0"/>
                                <a:cs typeface="+mn-ea"/>
                                <a:sym typeface="+mn-lt"/>
                              </a:rPr>
                            </m:ctrlPr>
                          </m:accPr>
                          <m:e>
                            <m:r>
                              <a:rPr lang="en-US" altLang="zh-CN" sz="2000" i="1" kern="100">
                                <a:solidFill>
                                  <a:srgbClr val="0D0D0D"/>
                                </a:solidFill>
                                <a:effectLst/>
                                <a:latin typeface="Cambria Math" panose="02040503050406030204" pitchFamily="18" charset="0"/>
                                <a:cs typeface="+mn-ea"/>
                                <a:sym typeface="+mn-lt"/>
                              </a:rPr>
                              <m:t>𝑝</m:t>
                            </m:r>
                          </m:e>
                        </m:acc>
                      </m:e>
                      <m:sub>
                        <m:r>
                          <a:rPr lang="en-US" altLang="zh-CN" sz="2000" i="1" kern="100">
                            <a:solidFill>
                              <a:srgbClr val="0D0D0D"/>
                            </a:solidFill>
                            <a:effectLst/>
                            <a:latin typeface="Cambria Math" panose="02040503050406030204" pitchFamily="18" charset="0"/>
                            <a:cs typeface="+mn-ea"/>
                            <a:sym typeface="+mn-lt"/>
                          </a:rPr>
                          <m:t>𝑖</m:t>
                        </m:r>
                      </m:sub>
                    </m:sSub>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𝑐</m:t>
                    </m:r>
                    <m:r>
                      <a:rPr lang="en-US" altLang="zh-CN" sz="2000" kern="100">
                        <a:solidFill>
                          <a:srgbClr val="0D0D0D"/>
                        </a:solidFill>
                        <a:effectLst/>
                        <a:latin typeface="Cambria Math" panose="02040503050406030204" pitchFamily="18" charset="0"/>
                        <a:cs typeface="+mn-ea"/>
                        <a:sym typeface="+mn-lt"/>
                      </a:rPr>
                      <m:t>)</m:t>
                    </m:r>
                  </m:oMath>
                </a14:m>
                <a:r>
                  <a:rPr lang="en-US" altLang="zh-CN" sz="2000" kern="100" dirty="0">
                    <a:solidFill>
                      <a:srgbClr val="0D0D0D"/>
                    </a:solidFill>
                    <a:effectLst/>
                    <a:cs typeface="+mn-ea"/>
                    <a:sym typeface="+mn-lt"/>
                  </a:rPr>
                  <a:t> </a:t>
                </a:r>
                <a:r>
                  <a:rPr lang="zh-CN" altLang="zh-CN" sz="2000" kern="100" dirty="0">
                    <a:solidFill>
                      <a:srgbClr val="0D0D0D"/>
                    </a:solidFill>
                    <a:effectLst/>
                    <a:cs typeface="+mn-ea"/>
                    <a:sym typeface="+mn-lt"/>
                  </a:rPr>
                  <a:t>表示类别标签，目标对应类别处的数值为</a:t>
                </a:r>
                <a:r>
                  <a:rPr lang="en-US" altLang="zh-CN" sz="2000" kern="100" dirty="0">
                    <a:solidFill>
                      <a:srgbClr val="0D0D0D"/>
                    </a:solidFill>
                    <a:effectLst/>
                    <a:cs typeface="+mn-ea"/>
                    <a:sym typeface="+mn-lt"/>
                  </a:rPr>
                  <a:t>1</a:t>
                </a:r>
                <a:r>
                  <a:rPr lang="zh-CN" altLang="zh-CN" sz="2000" kern="100" dirty="0">
                    <a:solidFill>
                      <a:srgbClr val="0D0D0D"/>
                    </a:solidFill>
                    <a:effectLst/>
                    <a:cs typeface="+mn-ea"/>
                    <a:sym typeface="+mn-lt"/>
                  </a:rPr>
                  <a:t>，其余位置为</a:t>
                </a:r>
                <a:r>
                  <a:rPr lang="en-US" altLang="zh-CN" sz="2000" kern="100" dirty="0">
                    <a:solidFill>
                      <a:srgbClr val="0D0D0D"/>
                    </a:solidFill>
                    <a:effectLst/>
                    <a:cs typeface="+mn-ea"/>
                    <a:sym typeface="+mn-lt"/>
                  </a:rPr>
                  <a:t>0</a:t>
                </a:r>
                <a:r>
                  <a:rPr lang="zh-CN" altLang="en-US" sz="2000" kern="100" dirty="0">
                    <a:solidFill>
                      <a:srgbClr val="0D0D0D"/>
                    </a:solidFill>
                    <a:cs typeface="+mn-ea"/>
                    <a:sym typeface="+mn-lt"/>
                  </a:rPr>
                  <a:t>。</a:t>
                </a:r>
                <a:endParaRPr lang="en-US" altLang="zh-CN" sz="2000" kern="100" dirty="0">
                  <a:solidFill>
                    <a:srgbClr val="0D0D0D"/>
                  </a:solidFill>
                  <a:cs typeface="+mn-ea"/>
                  <a:sym typeface="+mn-lt"/>
                </a:endParaRPr>
              </a:p>
              <a:p>
                <a:pPr marL="0" indent="0">
                  <a:buNone/>
                </a:pPr>
                <a:endParaRPr lang="zh-CN" altLang="en-US" sz="2000" dirty="0">
                  <a:cs typeface="+mn-ea"/>
                  <a:sym typeface="+mn-lt"/>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825625"/>
                <a:ext cx="5846685" cy="4351338"/>
              </a:xfrm>
              <a:blipFill rotWithShape="1">
                <a:blip r:embed="rId1"/>
                <a:stretch>
                  <a:fillRect r="4" b="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rotWithShape="1">
          <a:blip r:embed="rId2"/>
          <a:srcRect l="31463" r="30759"/>
          <a:stretch>
            <a:fillRect/>
          </a:stretch>
        </p:blipFill>
        <p:spPr>
          <a:xfrm>
            <a:off x="2446647" y="3396161"/>
            <a:ext cx="3379213" cy="1000118"/>
          </a:xfrm>
          <a:prstGeom prst="rect">
            <a:avLst/>
          </a:prstGeom>
        </p:spPr>
      </p:pic>
      <p:sp>
        <p:nvSpPr>
          <p:cNvPr id="9" name="文本框 8"/>
          <p:cNvSpPr txBox="1"/>
          <p:nvPr/>
        </p:nvSpPr>
        <p:spPr>
          <a:xfrm>
            <a:off x="6684885" y="1831594"/>
            <a:ext cx="4668915" cy="1323439"/>
          </a:xfrm>
          <a:prstGeom prst="rect">
            <a:avLst/>
          </a:prstGeom>
          <a:noFill/>
        </p:spPr>
        <p:txBody>
          <a:bodyPr wrap="square" rtlCol="0">
            <a:spAutoFit/>
          </a:bodyPr>
          <a:lstStyle/>
          <a:p>
            <a:pPr algn="just"/>
            <a:r>
              <a:rPr lang="zh-CN" altLang="en-US" sz="2000" b="1" dirty="0">
                <a:cs typeface="+mn-ea"/>
                <a:sym typeface="+mn-lt"/>
              </a:rPr>
              <a:t>定位损失</a:t>
            </a:r>
            <a:r>
              <a:rPr lang="en-US" altLang="zh-CN" sz="2000" b="1" dirty="0">
                <a:cs typeface="+mn-ea"/>
                <a:sym typeface="+mn-lt"/>
              </a:rPr>
              <a:t>: </a:t>
            </a:r>
            <a:r>
              <a:rPr lang="zh-CN" altLang="en-US" sz="2000" dirty="0">
                <a:cs typeface="+mn-ea"/>
                <a:sym typeface="+mn-lt"/>
              </a:rPr>
              <a:t>计算的是预测框的位置和尺寸相对于真值框的</a:t>
            </a:r>
            <a:r>
              <a:rPr lang="zh-CN" altLang="en-US" sz="2000" b="1" dirty="0">
                <a:cs typeface="+mn-ea"/>
                <a:sym typeface="+mn-lt"/>
              </a:rPr>
              <a:t>误差</a:t>
            </a:r>
            <a:r>
              <a:rPr lang="zh-CN" altLang="en-US" sz="2000" dirty="0">
                <a:cs typeface="+mn-ea"/>
                <a:sym typeface="+mn-lt"/>
              </a:rPr>
              <a:t>，这里只计算负责检测物体的预测框（即与真值框有最大的</a:t>
            </a:r>
            <a:r>
              <a:rPr lang="en-US" altLang="zh-CN" sz="2000" dirty="0" err="1">
                <a:cs typeface="+mn-ea"/>
                <a:sym typeface="+mn-lt"/>
              </a:rPr>
              <a:t>IoU</a:t>
            </a:r>
            <a:r>
              <a:rPr lang="zh-CN" altLang="en-US" sz="2000" dirty="0">
                <a:cs typeface="+mn-ea"/>
                <a:sym typeface="+mn-lt"/>
              </a:rPr>
              <a:t>的预测框）所产生的损失。</a:t>
            </a:r>
            <a:endParaRPr lang="zh-CN" altLang="en-US" sz="2000" dirty="0">
              <a:cs typeface="+mn-ea"/>
              <a:sym typeface="+mn-lt"/>
            </a:endParaRPr>
          </a:p>
        </p:txBody>
      </p:sp>
      <p:pic>
        <p:nvPicPr>
          <p:cNvPr id="11" name="图片 10"/>
          <p:cNvPicPr>
            <a:picLocks noChangeAspect="1"/>
          </p:cNvPicPr>
          <p:nvPr/>
        </p:nvPicPr>
        <p:blipFill rotWithShape="1">
          <a:blip r:embed="rId3"/>
          <a:srcRect l="20378" r="20320"/>
          <a:stretch>
            <a:fillRect/>
          </a:stretch>
        </p:blipFill>
        <p:spPr>
          <a:xfrm>
            <a:off x="6877265" y="2988354"/>
            <a:ext cx="4342423" cy="1635382"/>
          </a:xfrm>
          <a:prstGeom prst="rect">
            <a:avLst/>
          </a:prstGeom>
        </p:spPr>
      </p:pic>
      <mc:AlternateContent xmlns:mc="http://schemas.openxmlformats.org/markup-compatibility/2006">
        <mc:Choice xmlns:a14="http://schemas.microsoft.com/office/drawing/2010/main" Requires="a14">
          <p:sp>
            <p:nvSpPr>
              <p:cNvPr id="13" name="文本框 12"/>
              <p:cNvSpPr txBox="1"/>
              <p:nvPr/>
            </p:nvSpPr>
            <p:spPr>
              <a:xfrm>
                <a:off x="6684885" y="4396279"/>
                <a:ext cx="4617164" cy="2343270"/>
              </a:xfrm>
              <a:prstGeom prst="rect">
                <a:avLst/>
              </a:prstGeom>
              <a:noFill/>
            </p:spPr>
            <p:txBody>
              <a:bodyPr wrap="square" rtlCol="0">
                <a:spAutoFit/>
              </a:bodyPr>
              <a:lstStyle/>
              <a:p>
                <a:pPr algn="just"/>
                <a:r>
                  <a:rPr lang="zh-CN" altLang="zh-CN" sz="1800" kern="100" dirty="0">
                    <a:solidFill>
                      <a:srgbClr val="0D0D0D"/>
                    </a:solidFill>
                    <a:effectLst/>
                    <a:cs typeface="+mn-ea"/>
                    <a:sym typeface="+mn-lt"/>
                  </a:rPr>
                  <a:t>其中，</a:t>
                </a:r>
                <a14:m>
                  <m:oMath xmlns:m="http://schemas.openxmlformats.org/officeDocument/2006/math">
                    <m:sSub>
                      <m:sSubPr>
                        <m:ctrlPr>
                          <a:rPr lang="zh-CN" altLang="zh-CN" sz="1800" i="1" kern="100">
                            <a:solidFill>
                              <a:srgbClr val="0D0D0D"/>
                            </a:solidFill>
                            <a:effectLst/>
                            <a:latin typeface="Cambria Math" panose="02040503050406030204" pitchFamily="18" charset="0"/>
                            <a:cs typeface="+mn-ea"/>
                            <a:sym typeface="+mn-lt"/>
                          </a:rPr>
                        </m:ctrlPr>
                      </m:sSubPr>
                      <m:e>
                        <m:r>
                          <a:rPr lang="en-US" altLang="zh-CN" sz="1800" i="1" kern="100">
                            <a:solidFill>
                              <a:srgbClr val="0D0D0D"/>
                            </a:solidFill>
                            <a:effectLst/>
                            <a:latin typeface="Cambria Math" panose="02040503050406030204" pitchFamily="18" charset="0"/>
                            <a:cs typeface="+mn-ea"/>
                            <a:sym typeface="+mn-lt"/>
                          </a:rPr>
                          <m:t>𝜆</m:t>
                        </m:r>
                      </m:e>
                      <m:sub>
                        <m:r>
                          <m:rPr>
                            <m:nor/>
                          </m:rPr>
                          <a:rPr lang="en-US" altLang="zh-CN" sz="1800" kern="100">
                            <a:solidFill>
                              <a:srgbClr val="0D0D0D"/>
                            </a:solidFill>
                            <a:effectLst/>
                            <a:latin typeface="Cambria Math" panose="02040503050406030204" pitchFamily="18" charset="0"/>
                            <a:cs typeface="+mn-ea"/>
                            <a:sym typeface="+mn-lt"/>
                          </a:rPr>
                          <m:t>coord</m:t>
                        </m:r>
                        <m:r>
                          <m:rPr>
                            <m:nor/>
                          </m:rPr>
                          <a:rPr lang="en-US" altLang="zh-CN" sz="1800" kern="100">
                            <a:solidFill>
                              <a:srgbClr val="0D0D0D"/>
                            </a:solidFill>
                            <a:effectLst/>
                            <a:latin typeface="Cambria Math" panose="02040503050406030204" pitchFamily="18" charset="0"/>
                            <a:cs typeface="+mn-ea"/>
                            <a:sym typeface="+mn-lt"/>
                          </a:rPr>
                          <m:t> </m:t>
                        </m:r>
                      </m:sub>
                    </m:sSub>
                  </m:oMath>
                </a14:m>
                <a:r>
                  <a:rPr lang="zh-CN" altLang="zh-CN" sz="1800" kern="100" dirty="0">
                    <a:solidFill>
                      <a:srgbClr val="0D0D0D"/>
                    </a:solidFill>
                    <a:effectLst/>
                    <a:cs typeface="+mn-ea"/>
                    <a:sym typeface="+mn-lt"/>
                  </a:rPr>
                  <a:t>表示该损失占总损失的权重，</a:t>
                </a:r>
                <a14:m>
                  <m:oMath xmlns:m="http://schemas.openxmlformats.org/officeDocument/2006/math">
                    <m:r>
                      <a:rPr lang="en-US" altLang="zh-CN" sz="1800" kern="100">
                        <a:solidFill>
                          <a:srgbClr val="0D0D0D"/>
                        </a:solidFill>
                        <a:effectLst/>
                        <a:latin typeface="Cambria Math" panose="02040503050406030204" pitchFamily="18" charset="0"/>
                        <a:cs typeface="+mn-ea"/>
                        <a:sym typeface="+mn-lt"/>
                      </a:rPr>
                      <m:t>(</m:t>
                    </m:r>
                    <m:sSub>
                      <m:sSubPr>
                        <m:ctrlPr>
                          <a:rPr lang="zh-CN" altLang="zh-CN" sz="1800" i="1" kern="100">
                            <a:solidFill>
                              <a:srgbClr val="0D0D0D"/>
                            </a:solidFill>
                            <a:effectLst/>
                            <a:latin typeface="Cambria Math" panose="02040503050406030204" pitchFamily="18" charset="0"/>
                            <a:cs typeface="+mn-ea"/>
                            <a:sym typeface="+mn-lt"/>
                          </a:rPr>
                        </m:ctrlPr>
                      </m:sSubPr>
                      <m:e>
                        <m:r>
                          <a:rPr lang="en-US" altLang="zh-CN" sz="1800" i="1" kern="100">
                            <a:solidFill>
                              <a:srgbClr val="0D0D0D"/>
                            </a:solidFill>
                            <a:effectLst/>
                            <a:latin typeface="Cambria Math" panose="02040503050406030204" pitchFamily="18" charset="0"/>
                            <a:cs typeface="+mn-ea"/>
                            <a:sym typeface="+mn-lt"/>
                          </a:rPr>
                          <m:t>𝑥</m:t>
                        </m:r>
                      </m:e>
                      <m:sub>
                        <m:r>
                          <a:rPr lang="en-US" altLang="zh-CN" sz="1800" i="1" kern="100">
                            <a:solidFill>
                              <a:srgbClr val="0D0D0D"/>
                            </a:solidFill>
                            <a:effectLst/>
                            <a:latin typeface="Cambria Math" panose="02040503050406030204" pitchFamily="18" charset="0"/>
                            <a:cs typeface="+mn-ea"/>
                            <a:sym typeface="+mn-lt"/>
                          </a:rPr>
                          <m:t>𝑖</m:t>
                        </m:r>
                      </m:sub>
                    </m:sSub>
                    <m:r>
                      <a:rPr lang="en-US" altLang="zh-CN" sz="1800" kern="100">
                        <a:solidFill>
                          <a:srgbClr val="0D0D0D"/>
                        </a:solidFill>
                        <a:effectLst/>
                        <a:latin typeface="Cambria Math" panose="02040503050406030204" pitchFamily="18" charset="0"/>
                        <a:cs typeface="+mn-ea"/>
                        <a:sym typeface="+mn-lt"/>
                      </a:rPr>
                      <m:t>,</m:t>
                    </m:r>
                    <m:sSub>
                      <m:sSubPr>
                        <m:ctrlPr>
                          <a:rPr lang="zh-CN" altLang="zh-CN" sz="1800" i="1" kern="100">
                            <a:solidFill>
                              <a:srgbClr val="0D0D0D"/>
                            </a:solidFill>
                            <a:effectLst/>
                            <a:latin typeface="Cambria Math" panose="02040503050406030204" pitchFamily="18" charset="0"/>
                            <a:cs typeface="+mn-ea"/>
                            <a:sym typeface="+mn-lt"/>
                          </a:rPr>
                        </m:ctrlPr>
                      </m:sSubPr>
                      <m:e>
                        <m:r>
                          <a:rPr lang="en-US" altLang="zh-CN" sz="1800" i="1" kern="100">
                            <a:solidFill>
                              <a:srgbClr val="0D0D0D"/>
                            </a:solidFill>
                            <a:effectLst/>
                            <a:latin typeface="Cambria Math" panose="02040503050406030204" pitchFamily="18" charset="0"/>
                            <a:cs typeface="+mn-ea"/>
                            <a:sym typeface="+mn-lt"/>
                          </a:rPr>
                          <m:t>𝑦</m:t>
                        </m:r>
                      </m:e>
                      <m:sub>
                        <m:r>
                          <a:rPr lang="en-US" altLang="zh-CN" sz="1800" i="1" kern="100">
                            <a:solidFill>
                              <a:srgbClr val="0D0D0D"/>
                            </a:solidFill>
                            <a:effectLst/>
                            <a:latin typeface="Cambria Math" panose="02040503050406030204" pitchFamily="18" charset="0"/>
                            <a:cs typeface="+mn-ea"/>
                            <a:sym typeface="+mn-lt"/>
                          </a:rPr>
                          <m:t>𝑖</m:t>
                        </m:r>
                      </m:sub>
                    </m:sSub>
                    <m:r>
                      <a:rPr lang="en-US" altLang="zh-CN" sz="1800" kern="100">
                        <a:solidFill>
                          <a:srgbClr val="0D0D0D"/>
                        </a:solidFill>
                        <a:effectLst/>
                        <a:latin typeface="Cambria Math" panose="02040503050406030204" pitchFamily="18" charset="0"/>
                        <a:cs typeface="+mn-ea"/>
                        <a:sym typeface="+mn-lt"/>
                      </a:rPr>
                      <m:t>,</m:t>
                    </m:r>
                    <m:sSub>
                      <m:sSubPr>
                        <m:ctrlPr>
                          <a:rPr lang="zh-CN" altLang="zh-CN" sz="1800" i="1" kern="100">
                            <a:solidFill>
                              <a:srgbClr val="0D0D0D"/>
                            </a:solidFill>
                            <a:effectLst/>
                            <a:latin typeface="Cambria Math" panose="02040503050406030204" pitchFamily="18" charset="0"/>
                            <a:cs typeface="+mn-ea"/>
                            <a:sym typeface="+mn-lt"/>
                          </a:rPr>
                        </m:ctrlPr>
                      </m:sSubPr>
                      <m:e>
                        <m:r>
                          <a:rPr lang="en-US" altLang="zh-CN" sz="1800" i="1" kern="100">
                            <a:solidFill>
                              <a:srgbClr val="0D0D0D"/>
                            </a:solidFill>
                            <a:effectLst/>
                            <a:latin typeface="Cambria Math" panose="02040503050406030204" pitchFamily="18" charset="0"/>
                            <a:cs typeface="+mn-ea"/>
                            <a:sym typeface="+mn-lt"/>
                          </a:rPr>
                          <m:t>𝑤</m:t>
                        </m:r>
                      </m:e>
                      <m:sub>
                        <m:r>
                          <a:rPr lang="en-US" altLang="zh-CN" sz="1800" i="1" kern="100">
                            <a:solidFill>
                              <a:srgbClr val="0D0D0D"/>
                            </a:solidFill>
                            <a:effectLst/>
                            <a:latin typeface="Cambria Math" panose="02040503050406030204" pitchFamily="18" charset="0"/>
                            <a:cs typeface="+mn-ea"/>
                            <a:sym typeface="+mn-lt"/>
                          </a:rPr>
                          <m:t>𝑖</m:t>
                        </m:r>
                      </m:sub>
                    </m:sSub>
                    <m:r>
                      <a:rPr lang="en-US" altLang="zh-CN" sz="1800" kern="100">
                        <a:solidFill>
                          <a:srgbClr val="0D0D0D"/>
                        </a:solidFill>
                        <a:effectLst/>
                        <a:latin typeface="Cambria Math" panose="02040503050406030204" pitchFamily="18" charset="0"/>
                        <a:cs typeface="+mn-ea"/>
                        <a:sym typeface="+mn-lt"/>
                      </a:rPr>
                      <m:t>,</m:t>
                    </m:r>
                    <m:sSub>
                      <m:sSubPr>
                        <m:ctrlPr>
                          <a:rPr lang="zh-CN" altLang="zh-CN" sz="1800" i="1" kern="100">
                            <a:solidFill>
                              <a:srgbClr val="0D0D0D"/>
                            </a:solidFill>
                            <a:effectLst/>
                            <a:latin typeface="Cambria Math" panose="02040503050406030204" pitchFamily="18" charset="0"/>
                            <a:cs typeface="+mn-ea"/>
                            <a:sym typeface="+mn-lt"/>
                          </a:rPr>
                        </m:ctrlPr>
                      </m:sSubPr>
                      <m:e>
                        <m:r>
                          <a:rPr lang="en-US" altLang="zh-CN" sz="1800" i="1" kern="100">
                            <a:solidFill>
                              <a:srgbClr val="0D0D0D"/>
                            </a:solidFill>
                            <a:effectLst/>
                            <a:latin typeface="Cambria Math" panose="02040503050406030204" pitchFamily="18" charset="0"/>
                            <a:cs typeface="+mn-ea"/>
                            <a:sym typeface="+mn-lt"/>
                          </a:rPr>
                          <m:t>ℎ</m:t>
                        </m:r>
                      </m:e>
                      <m:sub>
                        <m:r>
                          <a:rPr lang="en-US" altLang="zh-CN" sz="1800" i="1" kern="100">
                            <a:solidFill>
                              <a:srgbClr val="0D0D0D"/>
                            </a:solidFill>
                            <a:effectLst/>
                            <a:latin typeface="Cambria Math" panose="02040503050406030204" pitchFamily="18" charset="0"/>
                            <a:cs typeface="+mn-ea"/>
                            <a:sym typeface="+mn-lt"/>
                          </a:rPr>
                          <m:t>𝑖</m:t>
                        </m:r>
                      </m:sub>
                    </m:sSub>
                    <m:r>
                      <a:rPr lang="en-US" altLang="zh-CN" sz="1800" kern="100">
                        <a:solidFill>
                          <a:srgbClr val="0D0D0D"/>
                        </a:solidFill>
                        <a:effectLst/>
                        <a:latin typeface="Cambria Math" panose="02040503050406030204" pitchFamily="18" charset="0"/>
                        <a:cs typeface="+mn-ea"/>
                        <a:sym typeface="+mn-lt"/>
                      </a:rPr>
                      <m:t>)</m:t>
                    </m:r>
                  </m:oMath>
                </a14:m>
                <a:r>
                  <a:rPr lang="en-US" altLang="zh-CN" sz="1800" kern="100" dirty="0">
                    <a:solidFill>
                      <a:srgbClr val="0D0D0D"/>
                    </a:solidFill>
                    <a:effectLst/>
                    <a:cs typeface="+mn-ea"/>
                    <a:sym typeface="+mn-lt"/>
                  </a:rPr>
                  <a:t>, (</a:t>
                </a:r>
                <a14:m>
                  <m:oMath xmlns:m="http://schemas.openxmlformats.org/officeDocument/2006/math">
                    <m:sSub>
                      <m:sSubPr>
                        <m:ctrlPr>
                          <a:rPr lang="zh-CN" altLang="zh-CN" sz="1800" i="1" kern="100">
                            <a:solidFill>
                              <a:srgbClr val="0D0D0D"/>
                            </a:solidFill>
                            <a:effectLst/>
                            <a:latin typeface="Cambria Math" panose="02040503050406030204" pitchFamily="18" charset="0"/>
                            <a:cs typeface="+mn-ea"/>
                            <a:sym typeface="+mn-lt"/>
                          </a:rPr>
                        </m:ctrlPr>
                      </m:sSubPr>
                      <m:e>
                        <m:acc>
                          <m:accPr>
                            <m:ctrlPr>
                              <a:rPr lang="zh-CN" altLang="zh-CN" sz="1800" i="1" kern="100">
                                <a:solidFill>
                                  <a:srgbClr val="0D0D0D"/>
                                </a:solidFill>
                                <a:effectLst/>
                                <a:latin typeface="Cambria Math" panose="02040503050406030204" pitchFamily="18" charset="0"/>
                                <a:cs typeface="+mn-ea"/>
                                <a:sym typeface="+mn-lt"/>
                              </a:rPr>
                            </m:ctrlPr>
                          </m:accPr>
                          <m:e>
                            <m:r>
                              <a:rPr lang="en-US" altLang="zh-CN" sz="1800" i="1" kern="100">
                                <a:solidFill>
                                  <a:srgbClr val="0D0D0D"/>
                                </a:solidFill>
                                <a:effectLst/>
                                <a:latin typeface="Cambria Math" panose="02040503050406030204" pitchFamily="18" charset="0"/>
                                <a:cs typeface="+mn-ea"/>
                                <a:sym typeface="+mn-lt"/>
                              </a:rPr>
                              <m:t>𝑥</m:t>
                            </m:r>
                          </m:e>
                        </m:acc>
                      </m:e>
                      <m:sub>
                        <m:r>
                          <a:rPr lang="en-US" altLang="zh-CN" sz="1800" i="1" kern="100">
                            <a:solidFill>
                              <a:srgbClr val="0D0D0D"/>
                            </a:solidFill>
                            <a:effectLst/>
                            <a:latin typeface="Cambria Math" panose="02040503050406030204" pitchFamily="18" charset="0"/>
                            <a:cs typeface="+mn-ea"/>
                            <a:sym typeface="+mn-lt"/>
                          </a:rPr>
                          <m:t>𝑖</m:t>
                        </m:r>
                      </m:sub>
                    </m:sSub>
                    <m:r>
                      <a:rPr lang="en-US" altLang="zh-CN" sz="1800" kern="100">
                        <a:solidFill>
                          <a:srgbClr val="0D0D0D"/>
                        </a:solidFill>
                        <a:effectLst/>
                        <a:latin typeface="Cambria Math" panose="02040503050406030204" pitchFamily="18" charset="0"/>
                        <a:cs typeface="+mn-ea"/>
                        <a:sym typeface="+mn-lt"/>
                      </a:rPr>
                      <m:t>,</m:t>
                    </m:r>
                    <m:sSub>
                      <m:sSubPr>
                        <m:ctrlPr>
                          <a:rPr lang="zh-CN" altLang="zh-CN" sz="1800" i="1" kern="100">
                            <a:solidFill>
                              <a:srgbClr val="0D0D0D"/>
                            </a:solidFill>
                            <a:effectLst/>
                            <a:latin typeface="Cambria Math" panose="02040503050406030204" pitchFamily="18" charset="0"/>
                            <a:cs typeface="+mn-ea"/>
                            <a:sym typeface="+mn-lt"/>
                          </a:rPr>
                        </m:ctrlPr>
                      </m:sSubPr>
                      <m:e>
                        <m:acc>
                          <m:accPr>
                            <m:ctrlPr>
                              <a:rPr lang="zh-CN" altLang="zh-CN" sz="1800" i="1" kern="100">
                                <a:solidFill>
                                  <a:srgbClr val="0D0D0D"/>
                                </a:solidFill>
                                <a:effectLst/>
                                <a:latin typeface="Cambria Math" panose="02040503050406030204" pitchFamily="18" charset="0"/>
                                <a:cs typeface="+mn-ea"/>
                                <a:sym typeface="+mn-lt"/>
                              </a:rPr>
                            </m:ctrlPr>
                          </m:accPr>
                          <m:e>
                            <m:r>
                              <a:rPr lang="en-US" altLang="zh-CN" sz="1800" i="1" kern="100">
                                <a:solidFill>
                                  <a:srgbClr val="0D0D0D"/>
                                </a:solidFill>
                                <a:effectLst/>
                                <a:latin typeface="Cambria Math" panose="02040503050406030204" pitchFamily="18" charset="0"/>
                                <a:cs typeface="+mn-ea"/>
                                <a:sym typeface="+mn-lt"/>
                              </a:rPr>
                              <m:t>𝑦</m:t>
                            </m:r>
                          </m:e>
                        </m:acc>
                      </m:e>
                      <m:sub>
                        <m:r>
                          <a:rPr lang="en-US" altLang="zh-CN" sz="1800" i="1" kern="100">
                            <a:solidFill>
                              <a:srgbClr val="0D0D0D"/>
                            </a:solidFill>
                            <a:effectLst/>
                            <a:latin typeface="Cambria Math" panose="02040503050406030204" pitchFamily="18" charset="0"/>
                            <a:cs typeface="+mn-ea"/>
                            <a:sym typeface="+mn-lt"/>
                          </a:rPr>
                          <m:t>𝑖</m:t>
                        </m:r>
                      </m:sub>
                    </m:sSub>
                    <m:r>
                      <a:rPr lang="en-US" altLang="zh-CN" sz="1800" kern="100">
                        <a:solidFill>
                          <a:srgbClr val="0D0D0D"/>
                        </a:solidFill>
                        <a:effectLst/>
                        <a:latin typeface="Cambria Math" panose="02040503050406030204" pitchFamily="18" charset="0"/>
                        <a:cs typeface="+mn-ea"/>
                        <a:sym typeface="+mn-lt"/>
                      </a:rPr>
                      <m:t>,</m:t>
                    </m:r>
                    <m:acc>
                      <m:accPr>
                        <m:ctrlPr>
                          <a:rPr lang="zh-CN" altLang="zh-CN" sz="1800" i="1" kern="100">
                            <a:solidFill>
                              <a:srgbClr val="0D0D0D"/>
                            </a:solidFill>
                            <a:effectLst/>
                            <a:latin typeface="Cambria Math" panose="02040503050406030204" pitchFamily="18" charset="0"/>
                            <a:cs typeface="+mn-ea"/>
                            <a:sym typeface="+mn-lt"/>
                          </a:rPr>
                        </m:ctrlPr>
                      </m:accPr>
                      <m:e>
                        <m:r>
                          <a:rPr lang="en-US" altLang="zh-CN" sz="1800" i="1" kern="100">
                            <a:solidFill>
                              <a:srgbClr val="0D0D0D"/>
                            </a:solidFill>
                            <a:effectLst/>
                            <a:latin typeface="Cambria Math" panose="02040503050406030204" pitchFamily="18" charset="0"/>
                            <a:cs typeface="+mn-ea"/>
                            <a:sym typeface="+mn-lt"/>
                          </a:rPr>
                          <m:t>𝑤</m:t>
                        </m:r>
                      </m:e>
                    </m:acc>
                    <m:r>
                      <a:rPr lang="en-US" altLang="zh-CN" sz="1800" kern="100">
                        <a:solidFill>
                          <a:srgbClr val="0D0D0D"/>
                        </a:solidFill>
                        <a:effectLst/>
                        <a:latin typeface="Cambria Math" panose="02040503050406030204" pitchFamily="18" charset="0"/>
                        <a:cs typeface="+mn-ea"/>
                        <a:sym typeface="+mn-lt"/>
                      </a:rPr>
                      <m:t> ,</m:t>
                    </m:r>
                    <m:acc>
                      <m:accPr>
                        <m:ctrlPr>
                          <a:rPr lang="zh-CN" altLang="zh-CN" sz="1800" i="1" kern="100">
                            <a:solidFill>
                              <a:srgbClr val="0D0D0D"/>
                            </a:solidFill>
                            <a:effectLst/>
                            <a:latin typeface="Cambria Math" panose="02040503050406030204" pitchFamily="18" charset="0"/>
                            <a:cs typeface="+mn-ea"/>
                            <a:sym typeface="+mn-lt"/>
                          </a:rPr>
                        </m:ctrlPr>
                      </m:accPr>
                      <m:e>
                        <m:r>
                          <a:rPr lang="en-US" altLang="zh-CN" sz="1800" i="1" kern="100">
                            <a:solidFill>
                              <a:srgbClr val="0D0D0D"/>
                            </a:solidFill>
                            <a:effectLst/>
                            <a:latin typeface="Cambria Math" panose="02040503050406030204" pitchFamily="18" charset="0"/>
                            <a:cs typeface="+mn-ea"/>
                            <a:sym typeface="+mn-lt"/>
                          </a:rPr>
                          <m:t>ℎ</m:t>
                        </m:r>
                      </m:e>
                    </m:acc>
                  </m:oMath>
                </a14:m>
                <a:r>
                  <a:rPr lang="en-US" altLang="zh-CN" sz="1800" kern="100" dirty="0">
                    <a:solidFill>
                      <a:srgbClr val="0D0D0D"/>
                    </a:solidFill>
                    <a:effectLst/>
                    <a:cs typeface="+mn-ea"/>
                    <a:sym typeface="+mn-lt"/>
                  </a:rPr>
                  <a:t>) </a:t>
                </a:r>
                <a:r>
                  <a:rPr lang="zh-CN" altLang="zh-CN" sz="1800" kern="100" dirty="0">
                    <a:solidFill>
                      <a:srgbClr val="0D0D0D"/>
                    </a:solidFill>
                    <a:effectLst/>
                    <a:cs typeface="+mn-ea"/>
                    <a:sym typeface="+mn-lt"/>
                  </a:rPr>
                  <a:t>分别表示预测框和真值框的中心坐标和宽、高。对于不同尺寸的预测框所产生的损失，</a:t>
                </a:r>
                <a:r>
                  <a:rPr lang="en-US" altLang="zh-CN" sz="1800" kern="100" dirty="0">
                    <a:solidFill>
                      <a:srgbClr val="0D0D0D"/>
                    </a:solidFill>
                    <a:effectLst/>
                    <a:cs typeface="+mn-ea"/>
                    <a:sym typeface="+mn-lt"/>
                  </a:rPr>
                  <a:t>YOLOv1</a:t>
                </a:r>
                <a:r>
                  <a:rPr lang="zh-CN" altLang="zh-CN" sz="1800" kern="100" dirty="0">
                    <a:solidFill>
                      <a:srgbClr val="0D0D0D"/>
                    </a:solidFill>
                    <a:effectLst/>
                    <a:cs typeface="+mn-ea"/>
                    <a:sym typeface="+mn-lt"/>
                  </a:rPr>
                  <a:t>希望给予</a:t>
                </a:r>
                <a:r>
                  <a:rPr lang="zh-CN" altLang="zh-CN" sz="1800" b="1" kern="100" dirty="0">
                    <a:solidFill>
                      <a:srgbClr val="0D0D0D"/>
                    </a:solidFill>
                    <a:effectLst/>
                    <a:cs typeface="+mn-ea"/>
                    <a:sym typeface="+mn-lt"/>
                  </a:rPr>
                  <a:t>不同的权重</a:t>
                </a:r>
                <a:r>
                  <a:rPr lang="zh-CN" altLang="zh-CN" sz="1800" kern="100" dirty="0">
                    <a:solidFill>
                      <a:srgbClr val="0D0D0D"/>
                    </a:solidFill>
                    <a:effectLst/>
                    <a:cs typeface="+mn-ea"/>
                    <a:sym typeface="+mn-lt"/>
                  </a:rPr>
                  <a:t>。也就是说，大尺寸的预测框所产生的</a:t>
                </a:r>
                <a:r>
                  <a:rPr lang="en-US" altLang="zh-CN" sz="1800" kern="100" dirty="0">
                    <a:solidFill>
                      <a:srgbClr val="0D0D0D"/>
                    </a:solidFill>
                    <a:effectLst/>
                    <a:cs typeface="+mn-ea"/>
                    <a:sym typeface="+mn-lt"/>
                  </a:rPr>
                  <a:t>2</a:t>
                </a:r>
                <a:r>
                  <a:rPr lang="zh-CN" altLang="zh-CN" sz="1800" kern="100" dirty="0">
                    <a:solidFill>
                      <a:srgbClr val="0D0D0D"/>
                    </a:solidFill>
                    <a:effectLst/>
                    <a:cs typeface="+mn-ea"/>
                    <a:sym typeface="+mn-lt"/>
                  </a:rPr>
                  <a:t>个像素的偏差与小尺寸的预测框所产生的两个尺寸的偏差应该给予不同的权重。</a:t>
                </a:r>
                <a:endParaRPr lang="zh-CN" altLang="zh-CN" sz="1800" kern="100" dirty="0">
                  <a:effectLst/>
                  <a:cs typeface="+mn-ea"/>
                  <a:sym typeface="+mn-lt"/>
                </a:endParaRPr>
              </a:p>
              <a:p>
                <a:endParaRPr lang="zh-CN" altLang="en-US" dirty="0">
                  <a:cs typeface="+mn-ea"/>
                  <a:sym typeface="+mn-lt"/>
                </a:endParaRPr>
              </a:p>
            </p:txBody>
          </p:sp>
        </mc:Choice>
        <mc:Fallback>
          <p:sp>
            <p:nvSpPr>
              <p:cNvPr id="13" name="文本框 12"/>
              <p:cNvSpPr txBox="1">
                <a:spLocks noRot="1" noChangeAspect="1" noMove="1" noResize="1" noEditPoints="1" noAdjustHandles="1" noChangeArrowheads="1" noChangeShapeType="1" noTextEdit="1"/>
              </p:cNvSpPr>
              <p:nvPr/>
            </p:nvSpPr>
            <p:spPr>
              <a:xfrm>
                <a:off x="6684885" y="4396279"/>
                <a:ext cx="4617164" cy="2343270"/>
              </a:xfrm>
              <a:prstGeom prst="rect">
                <a:avLst/>
              </a:prstGeom>
              <a:blipFill rotWithShape="1">
                <a:blip r:embed="rId4"/>
                <a:stretch>
                  <a:fillRect l="-5" t="-7" r="-997" b="13"/>
                </a:stretch>
              </a:blipFill>
            </p:spPr>
            <p:txBody>
              <a:bodyPr/>
              <a:lstStyle/>
              <a:p>
                <a:r>
                  <a:rPr lang="zh-CN" altLang="en-US">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825625"/>
                <a:ext cx="5624744" cy="4351338"/>
              </a:xfrm>
            </p:spPr>
            <p:txBody>
              <a:bodyPr>
                <a:normAutofit/>
              </a:bodyPr>
              <a:lstStyle/>
              <a:p>
                <a:pPr marL="0" indent="0">
                  <a:buNone/>
                </a:pPr>
                <a:r>
                  <a:rPr lang="zh-CN" altLang="en-US" sz="2000" b="1" dirty="0">
                    <a:cs typeface="+mn-ea"/>
                    <a:sym typeface="+mn-lt"/>
                  </a:rPr>
                  <a:t>置信度损失：</a:t>
                </a:r>
                <a:r>
                  <a:rPr lang="zh-CN" altLang="en-US" sz="2000" dirty="0">
                    <a:cs typeface="+mn-ea"/>
                    <a:sym typeface="+mn-lt"/>
                  </a:rPr>
                  <a:t>当网格不包含物体时，置信度标签</a:t>
                </a:r>
                <a:r>
                  <a:rPr lang="en-US" altLang="zh-CN" sz="2000" dirty="0">
                    <a:cs typeface="+mn-ea"/>
                    <a:sym typeface="+mn-lt"/>
                  </a:rPr>
                  <a:t>C ̂_</a:t>
                </a:r>
                <a:r>
                  <a:rPr lang="en-US" altLang="zh-CN" sz="2000" dirty="0" err="1">
                    <a:cs typeface="+mn-ea"/>
                    <a:sym typeface="+mn-lt"/>
                  </a:rPr>
                  <a:t>i</a:t>
                </a:r>
                <a:r>
                  <a:rPr lang="zh-CN" altLang="en-US" sz="2000" dirty="0">
                    <a:cs typeface="+mn-ea"/>
                    <a:sym typeface="+mn-lt"/>
                  </a:rPr>
                  <a:t>为</a:t>
                </a:r>
                <a:r>
                  <a:rPr lang="en-US" altLang="zh-CN" sz="2000" dirty="0">
                    <a:cs typeface="+mn-ea"/>
                    <a:sym typeface="+mn-lt"/>
                  </a:rPr>
                  <a:t>0</a:t>
                </a:r>
                <a:r>
                  <a:rPr lang="zh-CN" altLang="en-US" sz="2000" dirty="0">
                    <a:cs typeface="+mn-ea"/>
                    <a:sym typeface="+mn-lt"/>
                  </a:rPr>
                  <a:t>；若包含物体，该置信度的标签为负责预测框和真值框的</a:t>
                </a:r>
                <a:r>
                  <a:rPr lang="en-US" altLang="zh-CN" sz="2000" dirty="0" err="1">
                    <a:cs typeface="+mn-ea"/>
                    <a:sym typeface="+mn-lt"/>
                  </a:rPr>
                  <a:t>IoU</a:t>
                </a:r>
                <a:r>
                  <a:rPr lang="zh-CN" altLang="en-US" sz="2000" dirty="0">
                    <a:cs typeface="+mn-ea"/>
                    <a:sym typeface="+mn-lt"/>
                  </a:rPr>
                  <a:t>。</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zh-CN" sz="2000" kern="100" dirty="0">
                    <a:solidFill>
                      <a:srgbClr val="0D0D0D"/>
                    </a:solidFill>
                    <a:effectLst/>
                    <a:cs typeface="+mn-ea"/>
                    <a:sym typeface="+mn-lt"/>
                  </a:rPr>
                  <a:t>其中，如果网格内不包含目标</a:t>
                </a:r>
                <a14:m>
                  <m:oMath xmlns:m="http://schemas.openxmlformats.org/officeDocument/2006/math">
                    <m:sSubSup>
                      <m:sSubSupPr>
                        <m:ctrlPr>
                          <a:rPr lang="zh-CN" altLang="zh-CN" sz="1800" i="1" kern="100">
                            <a:solidFill>
                              <a:srgbClr val="0D0D0D"/>
                            </a:solidFill>
                            <a:effectLst/>
                            <a:latin typeface="Cambria Math" panose="02040503050406030204" pitchFamily="18" charset="0"/>
                            <a:cs typeface="+mn-ea"/>
                            <a:sym typeface="+mn-lt"/>
                          </a:rPr>
                        </m:ctrlPr>
                      </m:sSubSupPr>
                      <m:e>
                        <m:r>
                          <a:rPr lang="en-US" altLang="zh-CN" sz="1800" i="1" kern="100">
                            <a:solidFill>
                              <a:srgbClr val="0D0D0D"/>
                            </a:solidFill>
                            <a:effectLst/>
                            <a:latin typeface="Cambria Math" panose="02040503050406030204" pitchFamily="18" charset="0"/>
                            <a:cs typeface="+mn-ea"/>
                            <a:sym typeface="+mn-lt"/>
                          </a:rPr>
                          <m:t>𝟙</m:t>
                        </m:r>
                      </m:e>
                      <m:sub>
                        <m:r>
                          <a:rPr lang="en-US" altLang="zh-CN" sz="1800" i="1" kern="100">
                            <a:solidFill>
                              <a:srgbClr val="0D0D0D"/>
                            </a:solidFill>
                            <a:effectLst/>
                            <a:latin typeface="Cambria Math" panose="02040503050406030204" pitchFamily="18" charset="0"/>
                            <a:cs typeface="+mn-ea"/>
                            <a:sym typeface="+mn-lt"/>
                          </a:rPr>
                          <m:t>𝑖𝑗</m:t>
                        </m:r>
                      </m:sub>
                      <m:sup>
                        <m:r>
                          <m:rPr>
                            <m:nor/>
                          </m:rPr>
                          <a:rPr lang="en-US" altLang="zh-CN" sz="1800" kern="100">
                            <a:solidFill>
                              <a:srgbClr val="0D0D0D"/>
                            </a:solidFill>
                            <a:effectLst/>
                            <a:latin typeface="Cambria Math" panose="02040503050406030204" pitchFamily="18" charset="0"/>
                            <a:cs typeface="+mn-ea"/>
                            <a:sym typeface="+mn-lt"/>
                          </a:rPr>
                          <m:t>noobj</m:t>
                        </m:r>
                        <m:r>
                          <m:rPr>
                            <m:nor/>
                          </m:rPr>
                          <a:rPr lang="en-US" altLang="zh-CN" sz="1800" kern="100">
                            <a:solidFill>
                              <a:srgbClr val="0D0D0D"/>
                            </a:solidFill>
                            <a:effectLst/>
                            <a:latin typeface="Cambria Math" panose="02040503050406030204" pitchFamily="18" charset="0"/>
                            <a:cs typeface="+mn-ea"/>
                            <a:sym typeface="+mn-lt"/>
                          </a:rPr>
                          <m:t> </m:t>
                        </m:r>
                      </m:sup>
                    </m:sSubSup>
                    <m:r>
                      <a:rPr lang="en-US" altLang="zh-CN" sz="1800" kern="100">
                        <a:solidFill>
                          <a:srgbClr val="0D0D0D"/>
                        </a:solidFill>
                        <a:effectLst/>
                        <a:latin typeface="Cambria Math" panose="02040503050406030204" pitchFamily="18" charset="0"/>
                        <a:cs typeface="+mn-ea"/>
                        <a:sym typeface="+mn-lt"/>
                      </a:rPr>
                      <m:t>=</m:t>
                    </m:r>
                    <m:r>
                      <a:rPr lang="en-US" altLang="zh-CN" sz="1800" kern="100">
                        <a:solidFill>
                          <a:srgbClr val="0D0D0D"/>
                        </a:solidFill>
                        <a:effectLst/>
                        <a:latin typeface="Cambria Math" panose="02040503050406030204" pitchFamily="18" charset="0"/>
                        <a:cs typeface="+mn-ea"/>
                        <a:sym typeface="+mn-lt"/>
                      </a:rPr>
                      <m:t>1</m:t>
                    </m:r>
                  </m:oMath>
                </a14:m>
                <a:r>
                  <a:rPr lang="zh-CN" altLang="zh-CN" sz="1800" kern="100" dirty="0">
                    <a:solidFill>
                      <a:srgbClr val="0D0D0D"/>
                    </a:solidFill>
                    <a:effectLst/>
                    <a:cs typeface="+mn-ea"/>
                    <a:sym typeface="+mn-lt"/>
                  </a:rPr>
                  <a:t>，</a:t>
                </a:r>
                <a:r>
                  <a:rPr lang="zh-CN" altLang="zh-CN" sz="2000" kern="100" dirty="0">
                    <a:solidFill>
                      <a:srgbClr val="0D0D0D"/>
                    </a:solidFill>
                    <a:effectLst/>
                    <a:cs typeface="+mn-ea"/>
                    <a:sym typeface="+mn-lt"/>
                  </a:rPr>
                  <a:t>否则</a:t>
                </a:r>
                <a14:m>
                  <m:oMath xmlns:m="http://schemas.openxmlformats.org/officeDocument/2006/math">
                    <m:sSubSup>
                      <m:sSubSupPr>
                        <m:ctrlPr>
                          <a:rPr lang="zh-CN" altLang="zh-CN" sz="1800" i="1" kern="100">
                            <a:solidFill>
                              <a:srgbClr val="0D0D0D"/>
                            </a:solidFill>
                            <a:effectLst/>
                            <a:latin typeface="Cambria Math" panose="02040503050406030204" pitchFamily="18" charset="0"/>
                            <a:cs typeface="+mn-ea"/>
                            <a:sym typeface="+mn-lt"/>
                          </a:rPr>
                        </m:ctrlPr>
                      </m:sSubSupPr>
                      <m:e>
                        <m:r>
                          <a:rPr lang="en-US" altLang="zh-CN" sz="1800" i="1" kern="100">
                            <a:solidFill>
                              <a:srgbClr val="0D0D0D"/>
                            </a:solidFill>
                            <a:effectLst/>
                            <a:latin typeface="Cambria Math" panose="02040503050406030204" pitchFamily="18" charset="0"/>
                            <a:cs typeface="+mn-ea"/>
                            <a:sym typeface="+mn-lt"/>
                          </a:rPr>
                          <m:t>𝟙</m:t>
                        </m:r>
                      </m:e>
                      <m:sub>
                        <m:r>
                          <a:rPr lang="en-US" altLang="zh-CN" sz="1800" i="1" kern="100">
                            <a:solidFill>
                              <a:srgbClr val="0D0D0D"/>
                            </a:solidFill>
                            <a:effectLst/>
                            <a:latin typeface="Cambria Math" panose="02040503050406030204" pitchFamily="18" charset="0"/>
                            <a:cs typeface="+mn-ea"/>
                            <a:sym typeface="+mn-lt"/>
                          </a:rPr>
                          <m:t>𝑖𝑗</m:t>
                        </m:r>
                      </m:sub>
                      <m:sup>
                        <m:r>
                          <m:rPr>
                            <m:nor/>
                          </m:rPr>
                          <a:rPr lang="en-US" altLang="zh-CN" sz="1800" kern="100">
                            <a:solidFill>
                              <a:srgbClr val="0D0D0D"/>
                            </a:solidFill>
                            <a:effectLst/>
                            <a:latin typeface="Cambria Math" panose="02040503050406030204" pitchFamily="18" charset="0"/>
                            <a:cs typeface="+mn-ea"/>
                            <a:sym typeface="+mn-lt"/>
                          </a:rPr>
                          <m:t>noobj</m:t>
                        </m:r>
                        <m:r>
                          <m:rPr>
                            <m:nor/>
                          </m:rPr>
                          <a:rPr lang="en-US" altLang="zh-CN" sz="1800" kern="100">
                            <a:solidFill>
                              <a:srgbClr val="0D0D0D"/>
                            </a:solidFill>
                            <a:effectLst/>
                            <a:latin typeface="Cambria Math" panose="02040503050406030204" pitchFamily="18" charset="0"/>
                            <a:cs typeface="+mn-ea"/>
                            <a:sym typeface="+mn-lt"/>
                          </a:rPr>
                          <m:t> </m:t>
                        </m:r>
                      </m:sup>
                    </m:sSubSup>
                    <m:r>
                      <a:rPr lang="en-US" altLang="zh-CN" sz="1800" kern="100">
                        <a:solidFill>
                          <a:srgbClr val="0D0D0D"/>
                        </a:solidFill>
                        <a:effectLst/>
                        <a:latin typeface="Cambria Math" panose="02040503050406030204" pitchFamily="18" charset="0"/>
                        <a:cs typeface="+mn-ea"/>
                        <a:sym typeface="+mn-lt"/>
                      </a:rPr>
                      <m:t>=</m:t>
                    </m:r>
                    <m:r>
                      <a:rPr lang="en-US" altLang="zh-CN" sz="1800" kern="100">
                        <a:solidFill>
                          <a:srgbClr val="0D0D0D"/>
                        </a:solidFill>
                        <a:effectLst/>
                        <a:latin typeface="Cambria Math" panose="02040503050406030204" pitchFamily="18" charset="0"/>
                        <a:cs typeface="+mn-ea"/>
                        <a:sym typeface="+mn-lt"/>
                      </a:rPr>
                      <m:t>0</m:t>
                    </m:r>
                  </m:oMath>
                </a14:m>
                <a:r>
                  <a:rPr lang="en-US" altLang="zh-CN" sz="1800" kern="100" dirty="0">
                    <a:solidFill>
                      <a:srgbClr val="0D0D0D"/>
                    </a:solidFill>
                    <a:effectLst/>
                    <a:cs typeface="+mn-ea"/>
                    <a:sym typeface="+mn-lt"/>
                  </a:rPr>
                  <a:t>; </a:t>
                </a:r>
                <a14:m>
                  <m:oMath xmlns:m="http://schemas.openxmlformats.org/officeDocument/2006/math">
                    <m:sSub>
                      <m:sSubPr>
                        <m:ctrlPr>
                          <a:rPr lang="zh-CN" altLang="zh-CN" sz="1800" i="1" kern="100">
                            <a:solidFill>
                              <a:srgbClr val="0D0D0D"/>
                            </a:solidFill>
                            <a:effectLst/>
                            <a:latin typeface="Cambria Math" panose="02040503050406030204" pitchFamily="18" charset="0"/>
                            <a:cs typeface="+mn-ea"/>
                            <a:sym typeface="+mn-lt"/>
                          </a:rPr>
                        </m:ctrlPr>
                      </m:sSubPr>
                      <m:e>
                        <m:r>
                          <a:rPr lang="en-US" altLang="zh-CN" sz="1800" i="1" kern="100">
                            <a:solidFill>
                              <a:srgbClr val="0D0D0D"/>
                            </a:solidFill>
                            <a:effectLst/>
                            <a:latin typeface="Cambria Math" panose="02040503050406030204" pitchFamily="18" charset="0"/>
                            <a:cs typeface="+mn-ea"/>
                            <a:sym typeface="+mn-lt"/>
                          </a:rPr>
                          <m:t>𝜆</m:t>
                        </m:r>
                      </m:e>
                      <m:sub>
                        <m:r>
                          <m:rPr>
                            <m:nor/>
                          </m:rPr>
                          <a:rPr lang="en-US" altLang="zh-CN" sz="1800" kern="100">
                            <a:solidFill>
                              <a:srgbClr val="0D0D0D"/>
                            </a:solidFill>
                            <a:effectLst/>
                            <a:latin typeface="Cambria Math" panose="02040503050406030204" pitchFamily="18" charset="0"/>
                            <a:cs typeface="+mn-ea"/>
                            <a:sym typeface="+mn-lt"/>
                          </a:rPr>
                          <m:t>noobj</m:t>
                        </m:r>
                        <m:r>
                          <m:rPr>
                            <m:nor/>
                          </m:rPr>
                          <a:rPr lang="en-US" altLang="zh-CN" sz="1800" kern="100">
                            <a:solidFill>
                              <a:srgbClr val="0D0D0D"/>
                            </a:solidFill>
                            <a:effectLst/>
                            <a:latin typeface="Cambria Math" panose="02040503050406030204" pitchFamily="18" charset="0"/>
                            <a:cs typeface="+mn-ea"/>
                            <a:sym typeface="+mn-lt"/>
                          </a:rPr>
                          <m:t> </m:t>
                        </m:r>
                      </m:sub>
                    </m:sSub>
                  </m:oMath>
                </a14:m>
                <a:r>
                  <a:rPr lang="zh-CN" altLang="zh-CN" sz="2000" kern="100" dirty="0">
                    <a:solidFill>
                      <a:srgbClr val="0D0D0D"/>
                    </a:solidFill>
                    <a:effectLst/>
                    <a:cs typeface="+mn-ea"/>
                    <a:sym typeface="+mn-lt"/>
                  </a:rPr>
                  <a:t>为不包含目标的网格所产生的损失权重。大多数预测框不包含任何对象，这就造成了类别不平衡问题，即对于包含目标的检测框，模型也会输出不高的置信度。为了弥补这一点，这里将对该损失添加一个权重。</a:t>
                </a:r>
                <a:endParaRPr lang="zh-CN" altLang="zh-CN" sz="1800" kern="100" dirty="0">
                  <a:effectLst/>
                  <a:cs typeface="+mn-ea"/>
                  <a:sym typeface="+mn-lt"/>
                </a:endParaRPr>
              </a:p>
              <a:p>
                <a:pPr marL="0" indent="0">
                  <a:buNone/>
                </a:pPr>
                <a:endParaRPr lang="zh-CN" altLang="en-US" sz="2000" dirty="0">
                  <a:cs typeface="+mn-ea"/>
                  <a:sym typeface="+mn-lt"/>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825625"/>
                <a:ext cx="5624744" cy="4351338"/>
              </a:xfrm>
              <a:blipFill rotWithShape="1">
                <a:blip r:embed="rId1"/>
                <a:stretch>
                  <a:fillRect r="10" b="-4093"/>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rotWithShape="1">
          <a:blip r:embed="rId2"/>
          <a:srcRect l="30899" r="31787"/>
          <a:stretch>
            <a:fillRect/>
          </a:stretch>
        </p:blipFill>
        <p:spPr>
          <a:xfrm>
            <a:off x="3240349" y="2547892"/>
            <a:ext cx="2511552" cy="1503250"/>
          </a:xfrm>
          <a:prstGeom prst="rect">
            <a:avLst/>
          </a:prstGeom>
        </p:spPr>
      </p:pic>
      <p:sp>
        <p:nvSpPr>
          <p:cNvPr id="9" name="文本框 8"/>
          <p:cNvSpPr txBox="1"/>
          <p:nvPr/>
        </p:nvSpPr>
        <p:spPr>
          <a:xfrm>
            <a:off x="6693763" y="1997476"/>
            <a:ext cx="4731798" cy="400110"/>
          </a:xfrm>
          <a:prstGeom prst="rect">
            <a:avLst/>
          </a:prstGeom>
          <a:noFill/>
        </p:spPr>
        <p:txBody>
          <a:bodyPr wrap="square" rtlCol="0">
            <a:spAutoFit/>
          </a:bodyPr>
          <a:lstStyle/>
          <a:p>
            <a:r>
              <a:rPr lang="zh-CN" altLang="en-US" sz="2000" dirty="0">
                <a:cs typeface="+mn-ea"/>
                <a:sym typeface="+mn-lt"/>
              </a:rPr>
              <a:t>最终的损失函数为</a:t>
            </a:r>
            <a:r>
              <a:rPr lang="zh-CN" altLang="en-US" sz="2000" b="1" dirty="0">
                <a:cs typeface="+mn-ea"/>
                <a:sym typeface="+mn-lt"/>
              </a:rPr>
              <a:t>三者之和</a:t>
            </a:r>
            <a:r>
              <a:rPr lang="zh-CN" altLang="en-US" sz="2000" dirty="0">
                <a:cs typeface="+mn-ea"/>
                <a:sym typeface="+mn-lt"/>
              </a:rPr>
              <a:t>：</a:t>
            </a:r>
            <a:endParaRPr lang="zh-CN" altLang="en-US" sz="2000" dirty="0">
              <a:cs typeface="+mn-ea"/>
              <a:sym typeface="+mn-lt"/>
            </a:endParaRPr>
          </a:p>
        </p:txBody>
      </p:sp>
      <p:pic>
        <p:nvPicPr>
          <p:cNvPr id="11" name="图片 10"/>
          <p:cNvPicPr>
            <a:picLocks noChangeAspect="1"/>
          </p:cNvPicPr>
          <p:nvPr/>
        </p:nvPicPr>
        <p:blipFill rotWithShape="1">
          <a:blip r:embed="rId3"/>
          <a:srcRect l="25458" r="15740"/>
          <a:stretch>
            <a:fillRect/>
          </a:stretch>
        </p:blipFill>
        <p:spPr>
          <a:xfrm>
            <a:off x="6960095" y="2547892"/>
            <a:ext cx="3980156" cy="327306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b="1" dirty="0">
                <a:cs typeface="+mn-ea"/>
                <a:sym typeface="+mn-lt"/>
              </a:rPr>
              <a:t>4</a:t>
            </a:r>
            <a:r>
              <a:rPr lang="zh-CN" altLang="en-US" sz="2000" b="1" dirty="0">
                <a:cs typeface="+mn-ea"/>
                <a:sym typeface="+mn-lt"/>
              </a:rPr>
              <a:t>）测试过程</a:t>
            </a:r>
            <a:endParaRPr lang="en-US" altLang="zh-CN" sz="2000" b="1"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3236927" y="2216879"/>
            <a:ext cx="6043723" cy="3688621"/>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825625"/>
                <a:ext cx="4781365" cy="4351338"/>
              </a:xfrm>
            </p:spPr>
            <p:txBody>
              <a:bodyPr>
                <a:normAutofit/>
              </a:bodyPr>
              <a:lstStyle/>
              <a:p>
                <a:pPr marL="0" indent="0">
                  <a:buNone/>
                </a:pPr>
                <a:r>
                  <a:rPr lang="zh-CN" altLang="zh-CN" sz="2000" kern="100" dirty="0">
                    <a:solidFill>
                      <a:srgbClr val="0D0D0D"/>
                    </a:solidFill>
                    <a:effectLst/>
                    <a:cs typeface="+mn-ea"/>
                    <a:sym typeface="+mn-lt"/>
                  </a:rPr>
                  <a:t>测试时将图像分为</a:t>
                </a:r>
                <a14:m>
                  <m:oMath xmlns:m="http://schemas.openxmlformats.org/officeDocument/2006/math">
                    <m:r>
                      <m:rPr>
                        <m:sty m:val="p"/>
                      </m:rPr>
                      <a:rPr lang="en-US" altLang="zh-CN" sz="2000" kern="100">
                        <a:solidFill>
                          <a:srgbClr val="0D0D0D"/>
                        </a:solidFill>
                        <a:effectLst/>
                        <a:latin typeface="Cambria Math" panose="02040503050406030204" pitchFamily="18" charset="0"/>
                        <a:cs typeface="+mn-ea"/>
                        <a:sym typeface="+mn-lt"/>
                      </a:rPr>
                      <m:t>S</m:t>
                    </m:r>
                    <m:r>
                      <a:rPr lang="en-US" altLang="zh-CN" sz="2000" kern="100">
                        <a:solidFill>
                          <a:srgbClr val="0D0D0D"/>
                        </a:solidFill>
                        <a:effectLst/>
                        <a:latin typeface="Cambria Math" panose="02040503050406030204" pitchFamily="18" charset="0"/>
                        <a:cs typeface="+mn-ea"/>
                        <a:sym typeface="+mn-lt"/>
                      </a:rPr>
                      <m:t>×</m:t>
                    </m:r>
                    <m:r>
                      <m:rPr>
                        <m:sty m:val="p"/>
                      </m:rPr>
                      <a:rPr lang="en-US" altLang="zh-CN" sz="2000" kern="100">
                        <a:solidFill>
                          <a:srgbClr val="0D0D0D"/>
                        </a:solidFill>
                        <a:effectLst/>
                        <a:latin typeface="Cambria Math" panose="02040503050406030204" pitchFamily="18" charset="0"/>
                        <a:cs typeface="+mn-ea"/>
                        <a:sym typeface="+mn-lt"/>
                      </a:rPr>
                      <m:t>S</m:t>
                    </m:r>
                  </m:oMath>
                </a14:m>
                <a:r>
                  <a:rPr lang="zh-CN" altLang="zh-CN" sz="2000" kern="100" dirty="0">
                    <a:solidFill>
                      <a:srgbClr val="0D0D0D"/>
                    </a:solidFill>
                    <a:effectLst/>
                    <a:cs typeface="+mn-ea"/>
                    <a:sym typeface="+mn-lt"/>
                  </a:rPr>
                  <a:t>个子图像块，总共回归</a:t>
                </a:r>
                <a14:m>
                  <m:oMath xmlns:m="http://schemas.openxmlformats.org/officeDocument/2006/math">
                    <m:r>
                      <m:rPr>
                        <m:sty m:val="p"/>
                      </m:rPr>
                      <a:rPr lang="en-US" altLang="zh-CN" sz="2000" kern="100">
                        <a:solidFill>
                          <a:srgbClr val="0D0D0D"/>
                        </a:solidFill>
                        <a:effectLst/>
                        <a:latin typeface="Cambria Math" panose="02040503050406030204" pitchFamily="18" charset="0"/>
                        <a:cs typeface="+mn-ea"/>
                        <a:sym typeface="+mn-lt"/>
                      </a:rPr>
                      <m:t>S</m:t>
                    </m:r>
                    <m:r>
                      <a:rPr lang="en-US" altLang="zh-CN" sz="2000" kern="100">
                        <a:solidFill>
                          <a:srgbClr val="0D0D0D"/>
                        </a:solidFill>
                        <a:effectLst/>
                        <a:latin typeface="Cambria Math" panose="02040503050406030204" pitchFamily="18" charset="0"/>
                        <a:cs typeface="+mn-ea"/>
                        <a:sym typeface="+mn-lt"/>
                      </a:rPr>
                      <m:t>×</m:t>
                    </m:r>
                    <m:r>
                      <m:rPr>
                        <m:sty m:val="p"/>
                      </m:rPr>
                      <a:rPr lang="en-US" altLang="zh-CN" sz="2000" kern="100">
                        <a:solidFill>
                          <a:srgbClr val="0D0D0D"/>
                        </a:solidFill>
                        <a:effectLst/>
                        <a:latin typeface="Cambria Math" panose="02040503050406030204" pitchFamily="18" charset="0"/>
                        <a:cs typeface="+mn-ea"/>
                        <a:sym typeface="+mn-lt"/>
                      </a:rPr>
                      <m:t>S</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𝐵</m:t>
                    </m:r>
                    <m:r>
                      <a:rPr lang="en-US" altLang="zh-CN" sz="2000" kern="100">
                        <a:solidFill>
                          <a:srgbClr val="0D0D0D"/>
                        </a:solidFill>
                        <a:effectLst/>
                        <a:latin typeface="Cambria Math" panose="02040503050406030204" pitchFamily="18" charset="0"/>
                        <a:cs typeface="+mn-ea"/>
                        <a:sym typeface="+mn-lt"/>
                      </a:rPr>
                      <m:t>×(</m:t>
                    </m:r>
                    <m:r>
                      <a:rPr lang="en-US" altLang="zh-CN" sz="2000" kern="100">
                        <a:solidFill>
                          <a:srgbClr val="0D0D0D"/>
                        </a:solidFill>
                        <a:effectLst/>
                        <a:latin typeface="Cambria Math" panose="02040503050406030204" pitchFamily="18" charset="0"/>
                        <a:cs typeface="+mn-ea"/>
                        <a:sym typeface="+mn-lt"/>
                      </a:rPr>
                      <m:t>4</m:t>
                    </m:r>
                    <m:r>
                      <a:rPr lang="en-US" altLang="zh-CN" sz="2000" kern="100">
                        <a:solidFill>
                          <a:srgbClr val="0D0D0D"/>
                        </a:solidFill>
                        <a:effectLst/>
                        <a:latin typeface="Cambria Math" panose="02040503050406030204" pitchFamily="18" charset="0"/>
                        <a:cs typeface="+mn-ea"/>
                        <a:sym typeface="+mn-lt"/>
                      </a:rPr>
                      <m:t>+</m:t>
                    </m:r>
                    <m:r>
                      <a:rPr lang="en-US" altLang="zh-CN" sz="2000" kern="100">
                        <a:solidFill>
                          <a:srgbClr val="0D0D0D"/>
                        </a:solidFill>
                        <a:effectLst/>
                        <a:latin typeface="Cambria Math" panose="02040503050406030204" pitchFamily="18" charset="0"/>
                        <a:cs typeface="+mn-ea"/>
                        <a:sym typeface="+mn-lt"/>
                      </a:rPr>
                      <m:t>1</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𝐶</m:t>
                    </m:r>
                    <m:r>
                      <a:rPr lang="en-US" altLang="zh-CN" sz="2000" kern="100">
                        <a:solidFill>
                          <a:srgbClr val="0D0D0D"/>
                        </a:solidFill>
                        <a:effectLst/>
                        <a:latin typeface="Cambria Math" panose="02040503050406030204" pitchFamily="18" charset="0"/>
                        <a:cs typeface="+mn-ea"/>
                        <a:sym typeface="+mn-lt"/>
                      </a:rPr>
                      <m:t>)</m:t>
                    </m:r>
                  </m:oMath>
                </a14:m>
                <a:r>
                  <a:rPr lang="zh-CN" altLang="zh-CN" sz="2000" kern="100" dirty="0">
                    <a:solidFill>
                      <a:srgbClr val="0D0D0D"/>
                    </a:solidFill>
                    <a:effectLst/>
                    <a:cs typeface="+mn-ea"/>
                    <a:sym typeface="+mn-lt"/>
                  </a:rPr>
                  <a:t>个参数。其中</a:t>
                </a:r>
                <a:r>
                  <a:rPr lang="en-US" altLang="zh-CN" sz="2000" kern="100" dirty="0">
                    <a:solidFill>
                      <a:srgbClr val="0D0D0D"/>
                    </a:solidFill>
                    <a:effectLst/>
                    <a:cs typeface="+mn-ea"/>
                    <a:sym typeface="+mn-lt"/>
                  </a:rPr>
                  <a:t>B</a:t>
                </a:r>
                <a:r>
                  <a:rPr lang="zh-CN" altLang="zh-CN" sz="2000" kern="100" dirty="0">
                    <a:solidFill>
                      <a:srgbClr val="0D0D0D"/>
                    </a:solidFill>
                    <a:effectLst/>
                    <a:cs typeface="+mn-ea"/>
                    <a:sym typeface="+mn-lt"/>
                  </a:rPr>
                  <a:t>为该网格输出的预测框的数目，每个预测框包含</a:t>
                </a:r>
                <a14:m>
                  <m:oMath xmlns:m="http://schemas.openxmlformats.org/officeDocument/2006/math">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𝑥</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𝑦</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𝑤</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ℎ</m:t>
                    </m:r>
                    <m:r>
                      <a:rPr lang="en-US" altLang="zh-CN" sz="2000" kern="100">
                        <a:solidFill>
                          <a:srgbClr val="0D0D0D"/>
                        </a:solidFill>
                        <a:effectLst/>
                        <a:latin typeface="Cambria Math" panose="02040503050406030204" pitchFamily="18" charset="0"/>
                        <a:cs typeface="+mn-ea"/>
                        <a:sym typeface="+mn-lt"/>
                      </a:rPr>
                      <m:t>)</m:t>
                    </m:r>
                  </m:oMath>
                </a14:m>
                <a:r>
                  <a:rPr lang="zh-CN" altLang="zh-CN" sz="2000" kern="100" dirty="0">
                    <a:solidFill>
                      <a:srgbClr val="0D0D0D"/>
                    </a:solidFill>
                    <a:effectLst/>
                    <a:cs typeface="+mn-ea"/>
                    <a:sym typeface="+mn-lt"/>
                  </a:rPr>
                  <a:t>和置信度五个参数。此外，该网格还输出</a:t>
                </a:r>
                <a:r>
                  <a:rPr lang="en-US" altLang="zh-CN" sz="2000" kern="100" dirty="0">
                    <a:solidFill>
                      <a:srgbClr val="0D0D0D"/>
                    </a:solidFill>
                    <a:effectLst/>
                    <a:cs typeface="+mn-ea"/>
                    <a:sym typeface="+mn-lt"/>
                  </a:rPr>
                  <a:t>C</a:t>
                </a:r>
                <a:r>
                  <a:rPr lang="zh-CN" altLang="zh-CN" sz="2000" kern="100" dirty="0">
                    <a:solidFill>
                      <a:srgbClr val="0D0D0D"/>
                    </a:solidFill>
                    <a:effectLst/>
                    <a:cs typeface="+mn-ea"/>
                    <a:sym typeface="+mn-lt"/>
                  </a:rPr>
                  <a:t>个条件类别概率（即该网格在包含目标的情况下，分别属于</a:t>
                </a:r>
                <a:r>
                  <a:rPr lang="en-US" altLang="zh-CN" sz="2000" kern="100" dirty="0">
                    <a:solidFill>
                      <a:srgbClr val="0D0D0D"/>
                    </a:solidFill>
                    <a:effectLst/>
                    <a:cs typeface="+mn-ea"/>
                    <a:sym typeface="+mn-lt"/>
                  </a:rPr>
                  <a:t>C</a:t>
                </a:r>
                <a:r>
                  <a:rPr lang="zh-CN" altLang="zh-CN" sz="2000" kern="100" dirty="0">
                    <a:solidFill>
                      <a:srgbClr val="0D0D0D"/>
                    </a:solidFill>
                    <a:effectLst/>
                    <a:cs typeface="+mn-ea"/>
                    <a:sym typeface="+mn-lt"/>
                  </a:rPr>
                  <a:t>个类别的概率）。</a:t>
                </a:r>
                <a:endParaRPr lang="zh-CN" altLang="zh-CN" sz="2000" kern="100" dirty="0">
                  <a:effectLst/>
                  <a:cs typeface="+mn-ea"/>
                  <a:sym typeface="+mn-lt"/>
                </a:endParaRPr>
              </a:p>
              <a:p>
                <a:pPr marL="0" indent="0">
                  <a:buNone/>
                </a:pPr>
                <a:r>
                  <a:rPr lang="zh-CN" altLang="zh-CN" sz="2000" kern="100" dirty="0">
                    <a:solidFill>
                      <a:srgbClr val="0D0D0D"/>
                    </a:solidFill>
                    <a:effectLst/>
                    <a:cs typeface="+mn-ea"/>
                    <a:sym typeface="+mn-lt"/>
                  </a:rPr>
                  <a:t>将条件类别概率和置信度相乘得到针对特定类别的类别置信度得分</a:t>
                </a:r>
                <a14:m>
                  <m:oMath xmlns:m="http://schemas.openxmlformats.org/officeDocument/2006/math">
                    <m:func>
                      <m:funcPr>
                        <m:ctrlPr>
                          <a:rPr lang="zh-CN" altLang="zh-CN" sz="1800" i="1" kern="100">
                            <a:solidFill>
                              <a:srgbClr val="0D0D0D"/>
                            </a:solidFill>
                            <a:effectLst/>
                            <a:latin typeface="Cambria Math" panose="02040503050406030204" pitchFamily="18" charset="0"/>
                            <a:cs typeface="+mn-ea"/>
                            <a:sym typeface="+mn-lt"/>
                          </a:rPr>
                        </m:ctrlPr>
                      </m:funcPr>
                      <m:fName>
                        <m:r>
                          <m:rPr>
                            <m:sty m:val="p"/>
                          </m:rPr>
                          <a:rPr lang="en-US" altLang="zh-CN" sz="1800" kern="100">
                            <a:solidFill>
                              <a:srgbClr val="0D0D0D"/>
                            </a:solidFill>
                            <a:effectLst/>
                            <a:latin typeface="Cambria Math" panose="02040503050406030204" pitchFamily="18" charset="0"/>
                            <a:cs typeface="+mn-ea"/>
                            <a:sym typeface="+mn-lt"/>
                          </a:rPr>
                          <m:t>Pr</m:t>
                        </m:r>
                      </m:fName>
                      <m:e>
                        <m:d>
                          <m:dPr>
                            <m:ctrlPr>
                              <a:rPr lang="zh-CN" altLang="zh-CN" sz="1800" i="1" kern="100">
                                <a:solidFill>
                                  <a:srgbClr val="0D0D0D"/>
                                </a:solidFill>
                                <a:effectLst/>
                                <a:latin typeface="Cambria Math" panose="02040503050406030204" pitchFamily="18" charset="0"/>
                                <a:cs typeface="+mn-ea"/>
                                <a:sym typeface="+mn-lt"/>
                              </a:rPr>
                            </m:ctrlPr>
                          </m:dPr>
                          <m:e>
                            <m:sSub>
                              <m:sSubPr>
                                <m:ctrlPr>
                                  <a:rPr lang="zh-CN" altLang="zh-CN" sz="1800" i="1" kern="100">
                                    <a:solidFill>
                                      <a:srgbClr val="0D0D0D"/>
                                    </a:solidFill>
                                    <a:effectLst/>
                                    <a:latin typeface="Cambria Math" panose="02040503050406030204" pitchFamily="18" charset="0"/>
                                    <a:cs typeface="+mn-ea"/>
                                    <a:sym typeface="+mn-lt"/>
                                  </a:rPr>
                                </m:ctrlPr>
                              </m:sSubPr>
                              <m:e>
                                <m:r>
                                  <m:rPr>
                                    <m:nor/>
                                  </m:rPr>
                                  <a:rPr lang="en-US" altLang="zh-CN" sz="1800" kern="100">
                                    <a:solidFill>
                                      <a:srgbClr val="0D0D0D"/>
                                    </a:solidFill>
                                    <a:effectLst/>
                                    <a:latin typeface="Cambria Math" panose="02040503050406030204" pitchFamily="18" charset="0"/>
                                    <a:cs typeface="+mn-ea"/>
                                    <a:sym typeface="+mn-lt"/>
                                  </a:rPr>
                                  <m:t> </m:t>
                                </m:r>
                                <m:r>
                                  <m:rPr>
                                    <m:nor/>
                                  </m:rPr>
                                  <a:rPr lang="en-US" altLang="zh-CN" sz="1800" kern="100">
                                    <a:solidFill>
                                      <a:srgbClr val="0D0D0D"/>
                                    </a:solidFill>
                                    <a:effectLst/>
                                    <a:latin typeface="Cambria Math" panose="02040503050406030204" pitchFamily="18" charset="0"/>
                                    <a:cs typeface="+mn-ea"/>
                                    <a:sym typeface="+mn-lt"/>
                                  </a:rPr>
                                  <m:t>class</m:t>
                                </m:r>
                                <m:r>
                                  <m:rPr>
                                    <m:nor/>
                                  </m:rPr>
                                  <a:rPr lang="en-US" altLang="zh-CN" sz="1800" kern="100">
                                    <a:solidFill>
                                      <a:srgbClr val="0D0D0D"/>
                                    </a:solidFill>
                                    <a:effectLst/>
                                    <a:latin typeface="Cambria Math" panose="02040503050406030204" pitchFamily="18" charset="0"/>
                                    <a:cs typeface="+mn-ea"/>
                                    <a:sym typeface="+mn-lt"/>
                                  </a:rPr>
                                  <m:t> </m:t>
                                </m:r>
                              </m:e>
                              <m:sub>
                                <m:r>
                                  <a:rPr lang="en-US" altLang="zh-CN" sz="1800" i="1" kern="100">
                                    <a:solidFill>
                                      <a:srgbClr val="0D0D0D"/>
                                    </a:solidFill>
                                    <a:effectLst/>
                                    <a:latin typeface="Cambria Math" panose="02040503050406030204" pitchFamily="18" charset="0"/>
                                    <a:cs typeface="+mn-ea"/>
                                    <a:sym typeface="+mn-lt"/>
                                  </a:rPr>
                                  <m:t>𝑖</m:t>
                                </m:r>
                              </m:sub>
                            </m:sSub>
                          </m:e>
                        </m:d>
                      </m:e>
                    </m:func>
                    <m:r>
                      <a:rPr lang="en-US" altLang="zh-CN" sz="1800" i="1" kern="100">
                        <a:solidFill>
                          <a:srgbClr val="0D0D0D"/>
                        </a:solidFill>
                        <a:effectLst/>
                        <a:latin typeface="Cambria Math" panose="02040503050406030204" pitchFamily="18" charset="0"/>
                        <a:cs typeface="+mn-ea"/>
                        <a:sym typeface="+mn-lt"/>
                      </a:rPr>
                      <m:t>∗</m:t>
                    </m:r>
                    <m:sSubSup>
                      <m:sSubSupPr>
                        <m:ctrlPr>
                          <a:rPr lang="zh-CN" altLang="zh-CN" sz="1800" i="1" kern="100">
                            <a:solidFill>
                              <a:srgbClr val="0D0D0D"/>
                            </a:solidFill>
                            <a:effectLst/>
                            <a:latin typeface="Cambria Math" panose="02040503050406030204" pitchFamily="18" charset="0"/>
                            <a:cs typeface="+mn-ea"/>
                            <a:sym typeface="+mn-lt"/>
                          </a:rPr>
                        </m:ctrlPr>
                      </m:sSubSupPr>
                      <m:e>
                        <m:r>
                          <m:rPr>
                            <m:sty m:val="p"/>
                          </m:rPr>
                          <a:rPr lang="en-US" altLang="zh-CN" sz="1800" kern="100">
                            <a:solidFill>
                              <a:srgbClr val="0D0D0D"/>
                            </a:solidFill>
                            <a:effectLst/>
                            <a:latin typeface="Cambria Math" panose="02040503050406030204" pitchFamily="18" charset="0"/>
                            <a:cs typeface="+mn-ea"/>
                            <a:sym typeface="+mn-lt"/>
                          </a:rPr>
                          <m:t>IOU</m:t>
                        </m:r>
                      </m:e>
                      <m:sub>
                        <m:r>
                          <m:rPr>
                            <m:nor/>
                          </m:rPr>
                          <a:rPr lang="en-US" altLang="zh-CN" sz="1800" kern="100">
                            <a:solidFill>
                              <a:srgbClr val="0D0D0D"/>
                            </a:solidFill>
                            <a:effectLst/>
                            <a:latin typeface="Cambria Math" panose="02040503050406030204" pitchFamily="18" charset="0"/>
                            <a:cs typeface="+mn-ea"/>
                            <a:sym typeface="+mn-lt"/>
                          </a:rPr>
                          <m:t>pred</m:t>
                        </m:r>
                        <m:r>
                          <m:rPr>
                            <m:nor/>
                          </m:rPr>
                          <a:rPr lang="en-US" altLang="zh-CN" sz="1800" kern="100">
                            <a:solidFill>
                              <a:srgbClr val="0D0D0D"/>
                            </a:solidFill>
                            <a:effectLst/>
                            <a:latin typeface="Cambria Math" panose="02040503050406030204" pitchFamily="18" charset="0"/>
                            <a:cs typeface="+mn-ea"/>
                            <a:sym typeface="+mn-lt"/>
                          </a:rPr>
                          <m:t> </m:t>
                        </m:r>
                      </m:sub>
                      <m:sup>
                        <m:r>
                          <m:rPr>
                            <m:nor/>
                          </m:rPr>
                          <a:rPr lang="en-US" altLang="zh-CN" sz="1800" kern="100">
                            <a:solidFill>
                              <a:srgbClr val="0D0D0D"/>
                            </a:solidFill>
                            <a:effectLst/>
                            <a:latin typeface="Cambria Math" panose="02040503050406030204" pitchFamily="18" charset="0"/>
                            <a:cs typeface="+mn-ea"/>
                            <a:sym typeface="+mn-lt"/>
                          </a:rPr>
                          <m:t>truth</m:t>
                        </m:r>
                        <m:r>
                          <m:rPr>
                            <m:nor/>
                          </m:rPr>
                          <a:rPr lang="en-US" altLang="zh-CN" sz="1800" kern="100">
                            <a:solidFill>
                              <a:srgbClr val="0D0D0D"/>
                            </a:solidFill>
                            <a:effectLst/>
                            <a:latin typeface="Cambria Math" panose="02040503050406030204" pitchFamily="18" charset="0"/>
                            <a:cs typeface="+mn-ea"/>
                            <a:sym typeface="+mn-lt"/>
                          </a:rPr>
                          <m:t> </m:t>
                        </m:r>
                      </m:sup>
                    </m:sSubSup>
                  </m:oMath>
                </a14:m>
                <a:r>
                  <a:rPr lang="zh-CN" altLang="zh-CN" sz="1800" kern="100" dirty="0">
                    <a:solidFill>
                      <a:srgbClr val="0D0D0D"/>
                    </a:solidFill>
                    <a:effectLst/>
                    <a:cs typeface="+mn-ea"/>
                    <a:sym typeface="+mn-lt"/>
                  </a:rPr>
                  <a:t>，</a:t>
                </a:r>
                <a:r>
                  <a:rPr lang="zh-CN" altLang="zh-CN" sz="2000" kern="100" dirty="0">
                    <a:solidFill>
                      <a:srgbClr val="0D0D0D"/>
                    </a:solidFill>
                    <a:effectLst/>
                    <a:cs typeface="+mn-ea"/>
                    <a:sym typeface="+mn-lt"/>
                  </a:rPr>
                  <a:t>计算公式如下。</a:t>
                </a:r>
                <a:endParaRPr lang="zh-CN" altLang="zh-CN" sz="2000" kern="100" dirty="0">
                  <a:effectLst/>
                  <a:cs typeface="+mn-ea"/>
                  <a:sym typeface="+mn-lt"/>
                </a:endParaRPr>
              </a:p>
              <a:p>
                <a:pPr marL="0" indent="0">
                  <a:buNone/>
                </a:pPr>
                <a:endParaRPr lang="zh-CN" altLang="en-US" sz="2000" dirty="0">
                  <a:cs typeface="+mn-ea"/>
                  <a:sym typeface="+mn-lt"/>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825625"/>
                <a:ext cx="4781365" cy="4351338"/>
              </a:xfrm>
              <a:blipFill rotWithShape="1">
                <a:blip r:embed="rId1"/>
                <a:stretch>
                  <a:fillRect r="9" b="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descr="图片包含 文本&#10;&#10;描述已自动生成"/>
          <p:cNvPicPr/>
          <p:nvPr/>
        </p:nvPicPr>
        <p:blipFill>
          <a:blip r:embed="rId2"/>
          <a:stretch>
            <a:fillRect/>
          </a:stretch>
        </p:blipFill>
        <p:spPr>
          <a:xfrm>
            <a:off x="823595" y="4950311"/>
            <a:ext cx="5272405" cy="877564"/>
          </a:xfrm>
          <a:prstGeom prst="rect">
            <a:avLst/>
          </a:prstGeom>
          <a:noFill/>
          <a:ln w="9525">
            <a:noFill/>
          </a:ln>
        </p:spPr>
      </p:pic>
      <mc:AlternateContent xmlns:mc="http://schemas.openxmlformats.org/markup-compatibility/2006">
        <mc:Choice xmlns:a14="http://schemas.microsoft.com/office/drawing/2010/main" Requires="a14">
          <p:sp>
            <p:nvSpPr>
              <p:cNvPr id="9" name="文本框 8"/>
              <p:cNvSpPr txBox="1"/>
              <p:nvPr/>
            </p:nvSpPr>
            <p:spPr>
              <a:xfrm>
                <a:off x="6572437" y="2201614"/>
                <a:ext cx="4607510" cy="3462423"/>
              </a:xfrm>
              <a:prstGeom prst="rect">
                <a:avLst/>
              </a:prstGeom>
              <a:noFill/>
            </p:spPr>
            <p:txBody>
              <a:bodyPr wrap="square" rtlCol="0">
                <a:spAutoFit/>
              </a:bodyPr>
              <a:lstStyle/>
              <a:p>
                <a:pPr algn="just">
                  <a:lnSpc>
                    <a:spcPct val="125000"/>
                  </a:lnSpc>
                </a:pPr>
                <a:r>
                  <a:rPr lang="zh-CN" altLang="zh-CN" sz="2000" kern="100" dirty="0">
                    <a:solidFill>
                      <a:srgbClr val="0D0D0D"/>
                    </a:solidFill>
                    <a:effectLst/>
                    <a:cs typeface="+mn-ea"/>
                    <a:sym typeface="+mn-lt"/>
                  </a:rPr>
                  <a:t>其中</a:t>
                </a:r>
                <a:r>
                  <a:rPr lang="zh-CN" altLang="en-US" sz="2000" kern="100" dirty="0">
                    <a:solidFill>
                      <a:srgbClr val="0D0D0D"/>
                    </a:solidFill>
                    <a:effectLst/>
                    <a:cs typeface="+mn-ea"/>
                    <a:sym typeface="+mn-lt"/>
                  </a:rPr>
                  <a:t>，</a:t>
                </a:r>
                <a14:m>
                  <m:oMath xmlns:m="http://schemas.openxmlformats.org/officeDocument/2006/math">
                    <m:sSubSup>
                      <m:sSubSupPr>
                        <m:ctrlPr>
                          <a:rPr lang="zh-CN" altLang="zh-CN" sz="1800" i="1" kern="100">
                            <a:solidFill>
                              <a:srgbClr val="0D0D0D"/>
                            </a:solidFill>
                            <a:effectLst/>
                            <a:latin typeface="Cambria Math" panose="02040503050406030204" pitchFamily="18" charset="0"/>
                            <a:cs typeface="+mn-ea"/>
                            <a:sym typeface="+mn-lt"/>
                          </a:rPr>
                        </m:ctrlPr>
                      </m:sSubSupPr>
                      <m:e>
                        <m:r>
                          <m:rPr>
                            <m:sty m:val="p"/>
                          </m:rPr>
                          <a:rPr lang="en-US" altLang="zh-CN" sz="1800" kern="100">
                            <a:solidFill>
                              <a:srgbClr val="0D0D0D"/>
                            </a:solidFill>
                            <a:effectLst/>
                            <a:latin typeface="Cambria Math" panose="02040503050406030204" pitchFamily="18" charset="0"/>
                            <a:cs typeface="+mn-ea"/>
                            <a:sym typeface="+mn-lt"/>
                          </a:rPr>
                          <m:t>IOU</m:t>
                        </m:r>
                      </m:e>
                      <m:sub>
                        <m:r>
                          <m:rPr>
                            <m:nor/>
                          </m:rPr>
                          <a:rPr lang="en-US" altLang="zh-CN" sz="1800" kern="100">
                            <a:solidFill>
                              <a:srgbClr val="0D0D0D"/>
                            </a:solidFill>
                            <a:effectLst/>
                            <a:latin typeface="Cambria Math" panose="02040503050406030204" pitchFamily="18" charset="0"/>
                            <a:cs typeface="+mn-ea"/>
                            <a:sym typeface="+mn-lt"/>
                          </a:rPr>
                          <m:t>pred</m:t>
                        </m:r>
                        <m:r>
                          <m:rPr>
                            <m:nor/>
                          </m:rPr>
                          <a:rPr lang="en-US" altLang="zh-CN" sz="1800" kern="100">
                            <a:solidFill>
                              <a:srgbClr val="0D0D0D"/>
                            </a:solidFill>
                            <a:effectLst/>
                            <a:latin typeface="Cambria Math" panose="02040503050406030204" pitchFamily="18" charset="0"/>
                            <a:cs typeface="+mn-ea"/>
                            <a:sym typeface="+mn-lt"/>
                          </a:rPr>
                          <m:t> </m:t>
                        </m:r>
                      </m:sub>
                      <m:sup>
                        <m:r>
                          <m:rPr>
                            <m:nor/>
                          </m:rPr>
                          <a:rPr lang="en-US" altLang="zh-CN" sz="1800" kern="100">
                            <a:solidFill>
                              <a:srgbClr val="0D0D0D"/>
                            </a:solidFill>
                            <a:effectLst/>
                            <a:latin typeface="Cambria Math" panose="02040503050406030204" pitchFamily="18" charset="0"/>
                            <a:cs typeface="+mn-ea"/>
                            <a:sym typeface="+mn-lt"/>
                          </a:rPr>
                          <m:t>truth</m:t>
                        </m:r>
                        <m:r>
                          <m:rPr>
                            <m:nor/>
                          </m:rPr>
                          <a:rPr lang="en-US" altLang="zh-CN" sz="1800" kern="100">
                            <a:solidFill>
                              <a:srgbClr val="0D0D0D"/>
                            </a:solidFill>
                            <a:effectLst/>
                            <a:latin typeface="Cambria Math" panose="02040503050406030204" pitchFamily="18" charset="0"/>
                            <a:cs typeface="+mn-ea"/>
                            <a:sym typeface="+mn-lt"/>
                          </a:rPr>
                          <m:t> </m:t>
                        </m:r>
                      </m:sup>
                    </m:sSubSup>
                  </m:oMath>
                </a14:m>
                <a:r>
                  <a:rPr lang="zh-CN" altLang="zh-CN" sz="2000" kern="100" dirty="0">
                    <a:solidFill>
                      <a:srgbClr val="0D0D0D"/>
                    </a:solidFill>
                    <a:effectLst/>
                    <a:cs typeface="+mn-ea"/>
                    <a:sym typeface="+mn-lt"/>
                  </a:rPr>
                  <a:t>预测框与真值框之间的</a:t>
                </a:r>
                <a:r>
                  <a:rPr lang="en-US" altLang="zh-CN" sz="2000" kern="100" dirty="0" err="1">
                    <a:solidFill>
                      <a:srgbClr val="0D0D0D"/>
                    </a:solidFill>
                    <a:effectLst/>
                    <a:cs typeface="+mn-ea"/>
                    <a:sym typeface="+mn-lt"/>
                  </a:rPr>
                  <a:t>IoU</a:t>
                </a:r>
                <a:r>
                  <a:rPr lang="zh-CN" altLang="zh-CN" sz="2000" kern="100" dirty="0">
                    <a:solidFill>
                      <a:srgbClr val="0D0D0D"/>
                    </a:solidFill>
                    <a:effectLst/>
                    <a:cs typeface="+mn-ea"/>
                    <a:sym typeface="+mn-lt"/>
                  </a:rPr>
                  <a:t>，即置信度；</a:t>
                </a:r>
                <a14:m>
                  <m:oMath xmlns:m="http://schemas.openxmlformats.org/officeDocument/2006/math">
                    <m:r>
                      <m:rPr>
                        <m:sty m:val="p"/>
                      </m:rPr>
                      <a:rPr lang="en-US" altLang="zh-CN" sz="1800" kern="100">
                        <a:solidFill>
                          <a:srgbClr val="0D0D0D"/>
                        </a:solidFill>
                        <a:effectLst/>
                        <a:latin typeface="Cambria Math" panose="02040503050406030204" pitchFamily="18" charset="0"/>
                        <a:cs typeface="+mn-ea"/>
                        <a:sym typeface="+mn-lt"/>
                      </a:rPr>
                      <m:t>Pr</m:t>
                    </m:r>
                    <m:r>
                      <a:rPr lang="en-US" altLang="zh-CN" sz="1800" kern="100">
                        <a:solidFill>
                          <a:srgbClr val="0D0D0D"/>
                        </a:solidFill>
                        <a:effectLst/>
                        <a:latin typeface="Cambria Math" panose="02040503050406030204" pitchFamily="18" charset="0"/>
                        <a:cs typeface="+mn-ea"/>
                        <a:sym typeface="+mn-lt"/>
                      </a:rPr>
                      <m:t>⁡( </m:t>
                    </m:r>
                    <m:r>
                      <m:rPr>
                        <m:sty m:val="p"/>
                      </m:rPr>
                      <a:rPr lang="en-US" altLang="zh-CN" sz="1800" kern="100">
                        <a:solidFill>
                          <a:srgbClr val="0D0D0D"/>
                        </a:solidFill>
                        <a:effectLst/>
                        <a:latin typeface="Cambria Math" panose="02040503050406030204" pitchFamily="18" charset="0"/>
                        <a:cs typeface="+mn-ea"/>
                        <a:sym typeface="+mn-lt"/>
                      </a:rPr>
                      <m:t>object</m:t>
                    </m:r>
                    <m:r>
                      <a:rPr lang="en-US" altLang="zh-CN" sz="1800" kern="100">
                        <a:solidFill>
                          <a:srgbClr val="0D0D0D"/>
                        </a:solidFill>
                        <a:effectLst/>
                        <a:latin typeface="Cambria Math" panose="02040503050406030204" pitchFamily="18" charset="0"/>
                        <a:cs typeface="+mn-ea"/>
                        <a:sym typeface="+mn-lt"/>
                      </a:rPr>
                      <m:t> )</m:t>
                    </m:r>
                  </m:oMath>
                </a14:m>
                <a:r>
                  <a:rPr lang="zh-CN" altLang="zh-CN" sz="2000" kern="100" dirty="0">
                    <a:solidFill>
                      <a:srgbClr val="0D0D0D"/>
                    </a:solidFill>
                    <a:effectLst/>
                    <a:cs typeface="+mn-ea"/>
                    <a:sym typeface="+mn-lt"/>
                  </a:rPr>
                  <a:t>为边界框包含目标的</a:t>
                </a:r>
                <a:r>
                  <a:rPr lang="zh-CN" altLang="zh-CN" sz="2000" kern="100" dirty="0">
                    <a:solidFill>
                      <a:srgbClr val="0D0D0D"/>
                    </a:solidFill>
                    <a:cs typeface="+mn-ea"/>
                    <a:sym typeface="+mn-lt"/>
                  </a:rPr>
                  <a:t>概率</a:t>
                </a:r>
                <a:r>
                  <a:rPr lang="zh-CN" altLang="zh-CN" sz="2000" kern="100" dirty="0">
                    <a:solidFill>
                      <a:srgbClr val="0D0D0D"/>
                    </a:solidFill>
                    <a:effectLst/>
                    <a:cs typeface="+mn-ea"/>
                    <a:sym typeface="+mn-lt"/>
                  </a:rPr>
                  <a:t>；</a:t>
                </a:r>
                <a14:m>
                  <m:oMath xmlns:m="http://schemas.openxmlformats.org/officeDocument/2006/math">
                    <m:func>
                      <m:funcPr>
                        <m:ctrlPr>
                          <a:rPr lang="zh-CN" altLang="zh-CN" sz="1800" i="1" kern="100">
                            <a:solidFill>
                              <a:srgbClr val="0D0D0D"/>
                            </a:solidFill>
                            <a:effectLst/>
                            <a:latin typeface="Cambria Math" panose="02040503050406030204" pitchFamily="18" charset="0"/>
                            <a:cs typeface="+mn-ea"/>
                            <a:sym typeface="+mn-lt"/>
                          </a:rPr>
                        </m:ctrlPr>
                      </m:funcPr>
                      <m:fName>
                        <m:r>
                          <m:rPr>
                            <m:sty m:val="p"/>
                          </m:rPr>
                          <a:rPr lang="en-US" altLang="zh-CN" sz="1800" kern="100">
                            <a:solidFill>
                              <a:srgbClr val="0D0D0D"/>
                            </a:solidFill>
                            <a:effectLst/>
                            <a:latin typeface="Cambria Math" panose="02040503050406030204" pitchFamily="18" charset="0"/>
                            <a:cs typeface="+mn-ea"/>
                            <a:sym typeface="+mn-lt"/>
                          </a:rPr>
                          <m:t>Pr</m:t>
                        </m:r>
                      </m:fName>
                      <m:e>
                        <m:d>
                          <m:dPr>
                            <m:ctrlPr>
                              <a:rPr lang="zh-CN" altLang="zh-CN" sz="1800" i="1" kern="100">
                                <a:solidFill>
                                  <a:srgbClr val="0D0D0D"/>
                                </a:solidFill>
                                <a:effectLst/>
                                <a:latin typeface="Cambria Math" panose="02040503050406030204" pitchFamily="18" charset="0"/>
                                <a:cs typeface="+mn-ea"/>
                                <a:sym typeface="+mn-lt"/>
                              </a:rPr>
                            </m:ctrlPr>
                          </m:dPr>
                          <m:e>
                            <m:sSub>
                              <m:sSubPr>
                                <m:ctrlPr>
                                  <a:rPr lang="zh-CN" altLang="zh-CN" sz="1800" i="1" kern="100">
                                    <a:solidFill>
                                      <a:srgbClr val="0D0D0D"/>
                                    </a:solidFill>
                                    <a:effectLst/>
                                    <a:latin typeface="Cambria Math" panose="02040503050406030204" pitchFamily="18" charset="0"/>
                                    <a:cs typeface="+mn-ea"/>
                                    <a:sym typeface="+mn-lt"/>
                                  </a:rPr>
                                </m:ctrlPr>
                              </m:sSubPr>
                              <m:e>
                                <m:r>
                                  <m:rPr>
                                    <m:nor/>
                                  </m:rPr>
                                  <a:rPr lang="en-US" altLang="zh-CN" sz="1800" kern="100">
                                    <a:solidFill>
                                      <a:srgbClr val="0D0D0D"/>
                                    </a:solidFill>
                                    <a:effectLst/>
                                    <a:latin typeface="Cambria Math" panose="02040503050406030204" pitchFamily="18" charset="0"/>
                                    <a:cs typeface="+mn-ea"/>
                                    <a:sym typeface="+mn-lt"/>
                                  </a:rPr>
                                  <m:t> </m:t>
                                </m:r>
                                <m:r>
                                  <m:rPr>
                                    <m:nor/>
                                  </m:rPr>
                                  <a:rPr lang="en-US" altLang="zh-CN" sz="1800" kern="100">
                                    <a:solidFill>
                                      <a:srgbClr val="0D0D0D"/>
                                    </a:solidFill>
                                    <a:effectLst/>
                                    <a:latin typeface="Cambria Math" panose="02040503050406030204" pitchFamily="18" charset="0"/>
                                    <a:cs typeface="+mn-ea"/>
                                    <a:sym typeface="+mn-lt"/>
                                  </a:rPr>
                                  <m:t>class</m:t>
                                </m:r>
                                <m:r>
                                  <m:rPr>
                                    <m:nor/>
                                  </m:rPr>
                                  <a:rPr lang="en-US" altLang="zh-CN" sz="1800" kern="100">
                                    <a:solidFill>
                                      <a:srgbClr val="0D0D0D"/>
                                    </a:solidFill>
                                    <a:effectLst/>
                                    <a:latin typeface="Cambria Math" panose="02040503050406030204" pitchFamily="18" charset="0"/>
                                    <a:cs typeface="+mn-ea"/>
                                    <a:sym typeface="+mn-lt"/>
                                  </a:rPr>
                                  <m:t> </m:t>
                                </m:r>
                              </m:e>
                              <m:sub>
                                <m:r>
                                  <a:rPr lang="en-US" altLang="zh-CN" sz="1800" i="1" kern="100">
                                    <a:solidFill>
                                      <a:srgbClr val="0D0D0D"/>
                                    </a:solidFill>
                                    <a:effectLst/>
                                    <a:latin typeface="Cambria Math" panose="02040503050406030204" pitchFamily="18" charset="0"/>
                                    <a:cs typeface="+mn-ea"/>
                                    <a:sym typeface="+mn-lt"/>
                                  </a:rPr>
                                  <m:t>𝑖</m:t>
                                </m:r>
                              </m:sub>
                            </m:sSub>
                            <m:r>
                              <a:rPr lang="en-US" altLang="zh-CN" sz="1800" kern="100">
                                <a:solidFill>
                                  <a:srgbClr val="0D0D0D"/>
                                </a:solidFill>
                                <a:effectLst/>
                                <a:latin typeface="Cambria Math" panose="02040503050406030204" pitchFamily="18" charset="0"/>
                                <a:cs typeface="+mn-ea"/>
                                <a:sym typeface="+mn-lt"/>
                              </a:rPr>
                              <m:t>∣ </m:t>
                            </m:r>
                            <m:r>
                              <m:rPr>
                                <m:sty m:val="p"/>
                              </m:rPr>
                              <a:rPr lang="en-US" altLang="zh-CN" sz="1800" kern="100">
                                <a:solidFill>
                                  <a:srgbClr val="0D0D0D"/>
                                </a:solidFill>
                                <a:effectLst/>
                                <a:latin typeface="Cambria Math" panose="02040503050406030204" pitchFamily="18" charset="0"/>
                                <a:cs typeface="+mn-ea"/>
                                <a:sym typeface="+mn-lt"/>
                              </a:rPr>
                              <m:t>object</m:t>
                            </m:r>
                            <m:r>
                              <a:rPr lang="en-US" altLang="zh-CN" sz="1800" kern="100">
                                <a:solidFill>
                                  <a:srgbClr val="0D0D0D"/>
                                </a:solidFill>
                                <a:effectLst/>
                                <a:latin typeface="Cambria Math" panose="02040503050406030204" pitchFamily="18" charset="0"/>
                                <a:cs typeface="+mn-ea"/>
                                <a:sym typeface="+mn-lt"/>
                              </a:rPr>
                              <m:t> </m:t>
                            </m:r>
                          </m:e>
                        </m:d>
                      </m:e>
                    </m:func>
                  </m:oMath>
                </a14:m>
                <a:r>
                  <a:rPr lang="zh-CN" altLang="zh-CN" sz="2000" kern="100" dirty="0">
                    <a:solidFill>
                      <a:srgbClr val="0D0D0D"/>
                    </a:solidFill>
                    <a:effectLst/>
                    <a:cs typeface="+mn-ea"/>
                    <a:sym typeface="+mn-lt"/>
                  </a:rPr>
                  <a:t>表示在网格包含目标的情况下，该目标属于</a:t>
                </a:r>
                <a14:m>
                  <m:oMath xmlns:m="http://schemas.openxmlformats.org/officeDocument/2006/math">
                    <m:sSub>
                      <m:sSubPr>
                        <m:ctrlPr>
                          <a:rPr lang="zh-CN" altLang="zh-CN" sz="1800" i="1" kern="100">
                            <a:solidFill>
                              <a:srgbClr val="0D0D0D"/>
                            </a:solidFill>
                            <a:effectLst/>
                            <a:latin typeface="Cambria Math" panose="02040503050406030204" pitchFamily="18" charset="0"/>
                            <a:cs typeface="+mn-ea"/>
                            <a:sym typeface="+mn-lt"/>
                          </a:rPr>
                        </m:ctrlPr>
                      </m:sSubPr>
                      <m:e>
                        <m:r>
                          <m:rPr>
                            <m:nor/>
                          </m:rPr>
                          <a:rPr lang="en-US" altLang="zh-CN" sz="1800" kern="100">
                            <a:solidFill>
                              <a:srgbClr val="0D0D0D"/>
                            </a:solidFill>
                            <a:effectLst/>
                            <a:latin typeface="Cambria Math" panose="02040503050406030204" pitchFamily="18" charset="0"/>
                            <a:cs typeface="+mn-ea"/>
                            <a:sym typeface="+mn-lt"/>
                          </a:rPr>
                          <m:t> </m:t>
                        </m:r>
                        <m:r>
                          <m:rPr>
                            <m:nor/>
                          </m:rPr>
                          <a:rPr lang="en-US" altLang="zh-CN" sz="1800" kern="100">
                            <a:solidFill>
                              <a:srgbClr val="0D0D0D"/>
                            </a:solidFill>
                            <a:effectLst/>
                            <a:latin typeface="Cambria Math" panose="02040503050406030204" pitchFamily="18" charset="0"/>
                            <a:cs typeface="+mn-ea"/>
                            <a:sym typeface="+mn-lt"/>
                          </a:rPr>
                          <m:t>class</m:t>
                        </m:r>
                        <m:r>
                          <m:rPr>
                            <m:nor/>
                          </m:rPr>
                          <a:rPr lang="en-US" altLang="zh-CN" sz="1800" kern="100">
                            <a:solidFill>
                              <a:srgbClr val="0D0D0D"/>
                            </a:solidFill>
                            <a:effectLst/>
                            <a:latin typeface="Cambria Math" panose="02040503050406030204" pitchFamily="18" charset="0"/>
                            <a:cs typeface="+mn-ea"/>
                            <a:sym typeface="+mn-lt"/>
                          </a:rPr>
                          <m:t> </m:t>
                        </m:r>
                      </m:e>
                      <m:sub>
                        <m:r>
                          <a:rPr lang="en-US" altLang="zh-CN" sz="1800" i="1" kern="100">
                            <a:solidFill>
                              <a:srgbClr val="0D0D0D"/>
                            </a:solidFill>
                            <a:effectLst/>
                            <a:latin typeface="Cambria Math" panose="02040503050406030204" pitchFamily="18" charset="0"/>
                            <a:cs typeface="+mn-ea"/>
                            <a:sym typeface="+mn-lt"/>
                          </a:rPr>
                          <m:t>𝑖</m:t>
                        </m:r>
                      </m:sub>
                    </m:sSub>
                  </m:oMath>
                </a14:m>
                <a:r>
                  <a:rPr lang="zh-CN" altLang="zh-CN" sz="2000" kern="100" dirty="0">
                    <a:solidFill>
                      <a:srgbClr val="0D0D0D"/>
                    </a:solidFill>
                    <a:effectLst/>
                    <a:cs typeface="+mn-ea"/>
                    <a:sym typeface="+mn-lt"/>
                  </a:rPr>
                  <a:t>的概率</a:t>
                </a:r>
                <a:r>
                  <a:rPr lang="zh-CN" altLang="zh-CN" sz="1800" kern="100" dirty="0">
                    <a:solidFill>
                      <a:srgbClr val="0D0D0D"/>
                    </a:solidFill>
                    <a:effectLst/>
                    <a:cs typeface="+mn-ea"/>
                    <a:sym typeface="+mn-lt"/>
                  </a:rPr>
                  <a:t>；</a:t>
                </a:r>
                <a14:m>
                  <m:oMath xmlns:m="http://schemas.openxmlformats.org/officeDocument/2006/math">
                    <m:r>
                      <m:rPr>
                        <m:sty m:val="p"/>
                      </m:rPr>
                      <a:rPr lang="en-US" altLang="zh-CN" sz="1800" kern="100">
                        <a:solidFill>
                          <a:srgbClr val="0D0D0D"/>
                        </a:solidFill>
                        <a:effectLst/>
                        <a:latin typeface="Cambria Math" panose="02040503050406030204" pitchFamily="18" charset="0"/>
                        <a:cs typeface="+mn-ea"/>
                        <a:sym typeface="+mn-lt"/>
                      </a:rPr>
                      <m:t>Pr</m:t>
                    </m:r>
                    <m:r>
                      <a:rPr lang="en-US" altLang="zh-CN" sz="1800" kern="100">
                        <a:solidFill>
                          <a:srgbClr val="0D0D0D"/>
                        </a:solidFill>
                        <a:effectLst/>
                        <a:latin typeface="Cambria Math" panose="02040503050406030204" pitchFamily="18" charset="0"/>
                        <a:cs typeface="+mn-ea"/>
                        <a:sym typeface="+mn-lt"/>
                      </a:rPr>
                      <m:t>⁡</m:t>
                    </m:r>
                    <m:d>
                      <m:dPr>
                        <m:ctrlPr>
                          <a:rPr lang="zh-CN" altLang="zh-CN" sz="1800" i="1" kern="100">
                            <a:solidFill>
                              <a:srgbClr val="0D0D0D"/>
                            </a:solidFill>
                            <a:effectLst/>
                            <a:latin typeface="Cambria Math" panose="02040503050406030204" pitchFamily="18" charset="0"/>
                            <a:cs typeface="+mn-ea"/>
                            <a:sym typeface="+mn-lt"/>
                          </a:rPr>
                        </m:ctrlPr>
                      </m:dPr>
                      <m:e>
                        <m:sSub>
                          <m:sSubPr>
                            <m:ctrlPr>
                              <a:rPr lang="zh-CN" altLang="zh-CN" sz="1800" i="1" kern="100">
                                <a:solidFill>
                                  <a:srgbClr val="0D0D0D"/>
                                </a:solidFill>
                                <a:effectLst/>
                                <a:latin typeface="Cambria Math" panose="02040503050406030204" pitchFamily="18" charset="0"/>
                                <a:cs typeface="+mn-ea"/>
                                <a:sym typeface="+mn-lt"/>
                              </a:rPr>
                            </m:ctrlPr>
                          </m:sSubPr>
                          <m:e>
                            <m:r>
                              <m:rPr>
                                <m:nor/>
                              </m:rPr>
                              <a:rPr lang="en-US" altLang="zh-CN" sz="1800" kern="100">
                                <a:solidFill>
                                  <a:srgbClr val="0D0D0D"/>
                                </a:solidFill>
                                <a:effectLst/>
                                <a:latin typeface="Cambria Math" panose="02040503050406030204" pitchFamily="18" charset="0"/>
                                <a:cs typeface="+mn-ea"/>
                                <a:sym typeface="+mn-lt"/>
                              </a:rPr>
                              <m:t> </m:t>
                            </m:r>
                            <m:r>
                              <m:rPr>
                                <m:nor/>
                              </m:rPr>
                              <a:rPr lang="en-US" altLang="zh-CN" sz="1800" kern="100">
                                <a:solidFill>
                                  <a:srgbClr val="0D0D0D"/>
                                </a:solidFill>
                                <a:effectLst/>
                                <a:latin typeface="Cambria Math" panose="02040503050406030204" pitchFamily="18" charset="0"/>
                                <a:cs typeface="+mn-ea"/>
                                <a:sym typeface="+mn-lt"/>
                              </a:rPr>
                              <m:t>class</m:t>
                            </m:r>
                            <m:r>
                              <m:rPr>
                                <m:nor/>
                              </m:rPr>
                              <a:rPr lang="en-US" altLang="zh-CN" sz="1800" kern="100">
                                <a:solidFill>
                                  <a:srgbClr val="0D0D0D"/>
                                </a:solidFill>
                                <a:effectLst/>
                                <a:latin typeface="Cambria Math" panose="02040503050406030204" pitchFamily="18" charset="0"/>
                                <a:cs typeface="+mn-ea"/>
                                <a:sym typeface="+mn-lt"/>
                              </a:rPr>
                              <m:t> </m:t>
                            </m:r>
                          </m:e>
                          <m:sub>
                            <m:r>
                              <a:rPr lang="en-US" altLang="zh-CN" sz="1800" i="1" kern="100">
                                <a:solidFill>
                                  <a:srgbClr val="0D0D0D"/>
                                </a:solidFill>
                                <a:effectLst/>
                                <a:latin typeface="Cambria Math" panose="02040503050406030204" pitchFamily="18" charset="0"/>
                                <a:cs typeface="+mn-ea"/>
                                <a:sym typeface="+mn-lt"/>
                              </a:rPr>
                              <m:t>𝑖</m:t>
                            </m:r>
                          </m:sub>
                        </m:sSub>
                      </m:e>
                    </m:d>
                  </m:oMath>
                </a14:m>
                <a:r>
                  <a:rPr lang="zh-CN" altLang="zh-CN" sz="2000" kern="100" dirty="0">
                    <a:solidFill>
                      <a:srgbClr val="0D0D0D"/>
                    </a:solidFill>
                    <a:effectLst/>
                    <a:cs typeface="+mn-ea"/>
                    <a:sym typeface="+mn-lt"/>
                  </a:rPr>
                  <a:t>表示目标属于</a:t>
                </a:r>
                <a14:m>
                  <m:oMath xmlns:m="http://schemas.openxmlformats.org/officeDocument/2006/math">
                    <m:sSub>
                      <m:sSubPr>
                        <m:ctrlPr>
                          <a:rPr lang="zh-CN" altLang="zh-CN" sz="1800" i="1" kern="100">
                            <a:solidFill>
                              <a:srgbClr val="0D0D0D"/>
                            </a:solidFill>
                            <a:effectLst/>
                            <a:latin typeface="Cambria Math" panose="02040503050406030204" pitchFamily="18" charset="0"/>
                            <a:cs typeface="+mn-ea"/>
                            <a:sym typeface="+mn-lt"/>
                          </a:rPr>
                        </m:ctrlPr>
                      </m:sSubPr>
                      <m:e>
                        <m:r>
                          <m:rPr>
                            <m:nor/>
                          </m:rPr>
                          <a:rPr lang="en-US" altLang="zh-CN" sz="1800" kern="100">
                            <a:solidFill>
                              <a:srgbClr val="0D0D0D"/>
                            </a:solidFill>
                            <a:effectLst/>
                            <a:latin typeface="Cambria Math" panose="02040503050406030204" pitchFamily="18" charset="0"/>
                            <a:cs typeface="+mn-ea"/>
                            <a:sym typeface="+mn-lt"/>
                          </a:rPr>
                          <m:t> </m:t>
                        </m:r>
                        <m:r>
                          <m:rPr>
                            <m:nor/>
                          </m:rPr>
                          <a:rPr lang="en-US" altLang="zh-CN" sz="1800" kern="100">
                            <a:solidFill>
                              <a:srgbClr val="0D0D0D"/>
                            </a:solidFill>
                            <a:effectLst/>
                            <a:latin typeface="Cambria Math" panose="02040503050406030204" pitchFamily="18" charset="0"/>
                            <a:cs typeface="+mn-ea"/>
                            <a:sym typeface="+mn-lt"/>
                          </a:rPr>
                          <m:t>class</m:t>
                        </m:r>
                        <m:r>
                          <m:rPr>
                            <m:nor/>
                          </m:rPr>
                          <a:rPr lang="en-US" altLang="zh-CN" sz="1800" kern="100">
                            <a:solidFill>
                              <a:srgbClr val="0D0D0D"/>
                            </a:solidFill>
                            <a:effectLst/>
                            <a:latin typeface="Cambria Math" panose="02040503050406030204" pitchFamily="18" charset="0"/>
                            <a:cs typeface="+mn-ea"/>
                            <a:sym typeface="+mn-lt"/>
                          </a:rPr>
                          <m:t> </m:t>
                        </m:r>
                      </m:e>
                      <m:sub>
                        <m:r>
                          <a:rPr lang="en-US" altLang="zh-CN" sz="1800" i="1" kern="100">
                            <a:solidFill>
                              <a:srgbClr val="0D0D0D"/>
                            </a:solidFill>
                            <a:effectLst/>
                            <a:latin typeface="Cambria Math" panose="02040503050406030204" pitchFamily="18" charset="0"/>
                            <a:cs typeface="+mn-ea"/>
                            <a:sym typeface="+mn-lt"/>
                          </a:rPr>
                          <m:t>𝑖</m:t>
                        </m:r>
                      </m:sub>
                    </m:sSub>
                  </m:oMath>
                </a14:m>
                <a:r>
                  <a:rPr lang="zh-CN" altLang="zh-CN" sz="2000" kern="100" dirty="0">
                    <a:solidFill>
                      <a:srgbClr val="0D0D0D"/>
                    </a:solidFill>
                    <a:effectLst/>
                    <a:cs typeface="+mn-ea"/>
                    <a:sym typeface="+mn-lt"/>
                  </a:rPr>
                  <a:t>的概率。所以说类别置信度得分</a:t>
                </a:r>
                <a14:m>
                  <m:oMath xmlns:m="http://schemas.openxmlformats.org/officeDocument/2006/math">
                    <m:func>
                      <m:funcPr>
                        <m:ctrlPr>
                          <a:rPr lang="zh-CN" altLang="zh-CN" sz="1800" i="1" kern="100">
                            <a:solidFill>
                              <a:srgbClr val="0D0D0D"/>
                            </a:solidFill>
                            <a:effectLst/>
                            <a:latin typeface="Cambria Math" panose="02040503050406030204" pitchFamily="18" charset="0"/>
                            <a:cs typeface="+mn-ea"/>
                            <a:sym typeface="+mn-lt"/>
                          </a:rPr>
                        </m:ctrlPr>
                      </m:funcPr>
                      <m:fName>
                        <m:r>
                          <m:rPr>
                            <m:sty m:val="p"/>
                          </m:rPr>
                          <a:rPr lang="en-US" altLang="zh-CN" sz="1800" kern="100">
                            <a:solidFill>
                              <a:srgbClr val="0D0D0D"/>
                            </a:solidFill>
                            <a:effectLst/>
                            <a:latin typeface="Cambria Math" panose="02040503050406030204" pitchFamily="18" charset="0"/>
                            <a:cs typeface="+mn-ea"/>
                            <a:sym typeface="+mn-lt"/>
                          </a:rPr>
                          <m:t>Pr</m:t>
                        </m:r>
                      </m:fName>
                      <m:e>
                        <m:d>
                          <m:dPr>
                            <m:ctrlPr>
                              <a:rPr lang="zh-CN" altLang="zh-CN" sz="1800" i="1" kern="100">
                                <a:solidFill>
                                  <a:srgbClr val="0D0D0D"/>
                                </a:solidFill>
                                <a:effectLst/>
                                <a:latin typeface="Cambria Math" panose="02040503050406030204" pitchFamily="18" charset="0"/>
                                <a:cs typeface="+mn-ea"/>
                                <a:sym typeface="+mn-lt"/>
                              </a:rPr>
                            </m:ctrlPr>
                          </m:dPr>
                          <m:e>
                            <m:sSub>
                              <m:sSubPr>
                                <m:ctrlPr>
                                  <a:rPr lang="zh-CN" altLang="zh-CN" sz="1800" i="1" kern="100">
                                    <a:solidFill>
                                      <a:srgbClr val="0D0D0D"/>
                                    </a:solidFill>
                                    <a:effectLst/>
                                    <a:latin typeface="Cambria Math" panose="02040503050406030204" pitchFamily="18" charset="0"/>
                                    <a:cs typeface="+mn-ea"/>
                                    <a:sym typeface="+mn-lt"/>
                                  </a:rPr>
                                </m:ctrlPr>
                              </m:sSubPr>
                              <m:e>
                                <m:r>
                                  <m:rPr>
                                    <m:nor/>
                                  </m:rPr>
                                  <a:rPr lang="en-US" altLang="zh-CN" sz="1800" kern="100">
                                    <a:solidFill>
                                      <a:srgbClr val="0D0D0D"/>
                                    </a:solidFill>
                                    <a:effectLst/>
                                    <a:latin typeface="Cambria Math" panose="02040503050406030204" pitchFamily="18" charset="0"/>
                                    <a:cs typeface="+mn-ea"/>
                                    <a:sym typeface="+mn-lt"/>
                                  </a:rPr>
                                  <m:t> </m:t>
                                </m:r>
                                <m:r>
                                  <m:rPr>
                                    <m:nor/>
                                  </m:rPr>
                                  <a:rPr lang="en-US" altLang="zh-CN" sz="1800" kern="100">
                                    <a:solidFill>
                                      <a:srgbClr val="0D0D0D"/>
                                    </a:solidFill>
                                    <a:effectLst/>
                                    <a:latin typeface="Cambria Math" panose="02040503050406030204" pitchFamily="18" charset="0"/>
                                    <a:cs typeface="+mn-ea"/>
                                    <a:sym typeface="+mn-lt"/>
                                  </a:rPr>
                                  <m:t>class</m:t>
                                </m:r>
                                <m:r>
                                  <m:rPr>
                                    <m:nor/>
                                  </m:rPr>
                                  <a:rPr lang="en-US" altLang="zh-CN" sz="1800" kern="100">
                                    <a:solidFill>
                                      <a:srgbClr val="0D0D0D"/>
                                    </a:solidFill>
                                    <a:effectLst/>
                                    <a:latin typeface="Cambria Math" panose="02040503050406030204" pitchFamily="18" charset="0"/>
                                    <a:cs typeface="+mn-ea"/>
                                    <a:sym typeface="+mn-lt"/>
                                  </a:rPr>
                                  <m:t> </m:t>
                                </m:r>
                              </m:e>
                              <m:sub>
                                <m:r>
                                  <a:rPr lang="en-US" altLang="zh-CN" sz="1800" i="1" kern="100">
                                    <a:solidFill>
                                      <a:srgbClr val="0D0D0D"/>
                                    </a:solidFill>
                                    <a:effectLst/>
                                    <a:latin typeface="Cambria Math" panose="02040503050406030204" pitchFamily="18" charset="0"/>
                                    <a:cs typeface="+mn-ea"/>
                                    <a:sym typeface="+mn-lt"/>
                                  </a:rPr>
                                  <m:t>𝑖</m:t>
                                </m:r>
                              </m:sub>
                            </m:sSub>
                          </m:e>
                        </m:d>
                      </m:e>
                    </m:func>
                    <m:r>
                      <a:rPr lang="en-US" altLang="zh-CN" sz="1800" i="1" kern="100">
                        <a:solidFill>
                          <a:srgbClr val="0D0D0D"/>
                        </a:solidFill>
                        <a:effectLst/>
                        <a:latin typeface="Cambria Math" panose="02040503050406030204" pitchFamily="18" charset="0"/>
                        <a:cs typeface="+mn-ea"/>
                        <a:sym typeface="+mn-lt"/>
                      </a:rPr>
                      <m:t>∗</m:t>
                    </m:r>
                    <m:sSubSup>
                      <m:sSubSupPr>
                        <m:ctrlPr>
                          <a:rPr lang="zh-CN" altLang="zh-CN" sz="1800" i="1" kern="100">
                            <a:solidFill>
                              <a:srgbClr val="0D0D0D"/>
                            </a:solidFill>
                            <a:effectLst/>
                            <a:latin typeface="Cambria Math" panose="02040503050406030204" pitchFamily="18" charset="0"/>
                            <a:cs typeface="+mn-ea"/>
                            <a:sym typeface="+mn-lt"/>
                          </a:rPr>
                        </m:ctrlPr>
                      </m:sSubSupPr>
                      <m:e>
                        <m:r>
                          <m:rPr>
                            <m:sty m:val="p"/>
                          </m:rPr>
                          <a:rPr lang="en-US" altLang="zh-CN" sz="1800" kern="100">
                            <a:solidFill>
                              <a:srgbClr val="0D0D0D"/>
                            </a:solidFill>
                            <a:effectLst/>
                            <a:latin typeface="Cambria Math" panose="02040503050406030204" pitchFamily="18" charset="0"/>
                            <a:cs typeface="+mn-ea"/>
                            <a:sym typeface="+mn-lt"/>
                          </a:rPr>
                          <m:t>IOU</m:t>
                        </m:r>
                      </m:e>
                      <m:sub>
                        <m:r>
                          <m:rPr>
                            <m:nor/>
                          </m:rPr>
                          <a:rPr lang="en-US" altLang="zh-CN" sz="1800" kern="100">
                            <a:solidFill>
                              <a:srgbClr val="0D0D0D"/>
                            </a:solidFill>
                            <a:effectLst/>
                            <a:latin typeface="Cambria Math" panose="02040503050406030204" pitchFamily="18" charset="0"/>
                            <a:cs typeface="+mn-ea"/>
                            <a:sym typeface="+mn-lt"/>
                          </a:rPr>
                          <m:t>pred</m:t>
                        </m:r>
                        <m:r>
                          <m:rPr>
                            <m:nor/>
                          </m:rPr>
                          <a:rPr lang="en-US" altLang="zh-CN" sz="1800" kern="100">
                            <a:solidFill>
                              <a:srgbClr val="0D0D0D"/>
                            </a:solidFill>
                            <a:effectLst/>
                            <a:latin typeface="Cambria Math" panose="02040503050406030204" pitchFamily="18" charset="0"/>
                            <a:cs typeface="+mn-ea"/>
                            <a:sym typeface="+mn-lt"/>
                          </a:rPr>
                          <m:t> </m:t>
                        </m:r>
                      </m:sub>
                      <m:sup>
                        <m:r>
                          <m:rPr>
                            <m:nor/>
                          </m:rPr>
                          <a:rPr lang="en-US" altLang="zh-CN" sz="1800" kern="100">
                            <a:solidFill>
                              <a:srgbClr val="0D0D0D"/>
                            </a:solidFill>
                            <a:effectLst/>
                            <a:latin typeface="Cambria Math" panose="02040503050406030204" pitchFamily="18" charset="0"/>
                            <a:cs typeface="+mn-ea"/>
                            <a:sym typeface="+mn-lt"/>
                          </a:rPr>
                          <m:t>truth</m:t>
                        </m:r>
                        <m:r>
                          <m:rPr>
                            <m:nor/>
                          </m:rPr>
                          <a:rPr lang="en-US" altLang="zh-CN" sz="1800" kern="100">
                            <a:solidFill>
                              <a:srgbClr val="0D0D0D"/>
                            </a:solidFill>
                            <a:effectLst/>
                            <a:latin typeface="Cambria Math" panose="02040503050406030204" pitchFamily="18" charset="0"/>
                            <a:cs typeface="+mn-ea"/>
                            <a:sym typeface="+mn-lt"/>
                          </a:rPr>
                          <m:t> </m:t>
                        </m:r>
                      </m:sup>
                    </m:sSubSup>
                  </m:oMath>
                </a14:m>
                <a:r>
                  <a:rPr lang="zh-CN" altLang="zh-CN" sz="2000" kern="100" dirty="0">
                    <a:solidFill>
                      <a:srgbClr val="0D0D0D"/>
                    </a:solidFill>
                    <a:effectLst/>
                    <a:cs typeface="+mn-ea"/>
                    <a:sym typeface="+mn-lt"/>
                  </a:rPr>
                  <a:t>，同时考虑了预测框的分类和定位效果。</a:t>
                </a:r>
                <a:endParaRPr lang="zh-CN" altLang="zh-CN" sz="2000" kern="100" dirty="0">
                  <a:effectLst/>
                  <a:cs typeface="+mn-ea"/>
                  <a:sym typeface="+mn-lt"/>
                </a:endParaRPr>
              </a:p>
            </p:txBody>
          </p:sp>
        </mc:Choice>
        <mc:Fallback>
          <p:sp>
            <p:nvSpPr>
              <p:cNvPr id="9" name="文本框 8"/>
              <p:cNvSpPr txBox="1">
                <a:spLocks noRot="1" noChangeAspect="1" noMove="1" noResize="1" noEditPoints="1" noAdjustHandles="1" noChangeArrowheads="1" noChangeShapeType="1" noTextEdit="1"/>
              </p:cNvSpPr>
              <p:nvPr/>
            </p:nvSpPr>
            <p:spPr>
              <a:xfrm>
                <a:off x="6572437" y="2201614"/>
                <a:ext cx="4607510" cy="3462423"/>
              </a:xfrm>
              <a:prstGeom prst="rect">
                <a:avLst/>
              </a:prstGeom>
              <a:blipFill rotWithShape="1">
                <a:blip r:embed="rId3"/>
                <a:stretch>
                  <a:fillRect l="-4" t="-2" r="3" b="14"/>
                </a:stretch>
              </a:blipFill>
            </p:spPr>
            <p:txBody>
              <a:bodyPr/>
              <a:lstStyle/>
              <a:p>
                <a:r>
                  <a:rPr lang="zh-CN" altLang="en-US">
                    <a:noFill/>
                  </a:rPr>
                  <a:t> </a:t>
                </a:r>
              </a:p>
            </p:txBody>
          </p:sp>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pPr marL="0" indent="0">
                  <a:buNone/>
                </a:pPr>
                <a:r>
                  <a:rPr lang="zh-CN" altLang="zh-CN" sz="2000" kern="100" dirty="0">
                    <a:solidFill>
                      <a:srgbClr val="0D0D0D"/>
                    </a:solidFill>
                    <a:effectLst/>
                    <a:cs typeface="+mn-ea"/>
                    <a:sym typeface="+mn-lt"/>
                  </a:rPr>
                  <a:t>得到</a:t>
                </a:r>
                <a14:m>
                  <m:oMath xmlns:m="http://schemas.openxmlformats.org/officeDocument/2006/math">
                    <m:r>
                      <m:rPr>
                        <m:sty m:val="p"/>
                      </m:rPr>
                      <a:rPr lang="en-US" altLang="zh-CN" sz="2000" kern="100">
                        <a:solidFill>
                          <a:srgbClr val="0D0D0D"/>
                        </a:solidFill>
                        <a:effectLst/>
                        <a:latin typeface="Cambria Math" panose="02040503050406030204" pitchFamily="18" charset="0"/>
                        <a:cs typeface="+mn-ea"/>
                        <a:sym typeface="+mn-lt"/>
                      </a:rPr>
                      <m:t>S</m:t>
                    </m:r>
                    <m:r>
                      <a:rPr lang="en-US" altLang="zh-CN" sz="2000" kern="100">
                        <a:solidFill>
                          <a:srgbClr val="0D0D0D"/>
                        </a:solidFill>
                        <a:effectLst/>
                        <a:latin typeface="Cambria Math" panose="02040503050406030204" pitchFamily="18" charset="0"/>
                        <a:cs typeface="+mn-ea"/>
                        <a:sym typeface="+mn-lt"/>
                      </a:rPr>
                      <m:t>×</m:t>
                    </m:r>
                    <m:r>
                      <m:rPr>
                        <m:sty m:val="p"/>
                      </m:rPr>
                      <a:rPr lang="en-US" altLang="zh-CN" sz="2000" kern="100">
                        <a:solidFill>
                          <a:srgbClr val="0D0D0D"/>
                        </a:solidFill>
                        <a:effectLst/>
                        <a:latin typeface="Cambria Math" panose="02040503050406030204" pitchFamily="18" charset="0"/>
                        <a:cs typeface="+mn-ea"/>
                        <a:sym typeface="+mn-lt"/>
                      </a:rPr>
                      <m:t>S</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𝐵</m:t>
                    </m:r>
                  </m:oMath>
                </a14:m>
                <a:r>
                  <a:rPr lang="zh-CN" altLang="zh-CN" sz="2000" kern="100" dirty="0">
                    <a:solidFill>
                      <a:srgbClr val="0D0D0D"/>
                    </a:solidFill>
                    <a:effectLst/>
                    <a:cs typeface="+mn-ea"/>
                    <a:sym typeface="+mn-lt"/>
                  </a:rPr>
                  <a:t>个预测框之后，需要一些后处理操作，过滤掉一些低置信度以及有较大重叠度的框，从而输出最终的结果。下面举例说明，上面提到卷积神经网络最终会输出</a:t>
                </a:r>
                <a14:m>
                  <m:oMath xmlns:m="http://schemas.openxmlformats.org/officeDocument/2006/math">
                    <m:r>
                      <m:rPr>
                        <m:sty m:val="p"/>
                      </m:rPr>
                      <a:rPr lang="en-US" altLang="zh-CN" sz="2000" kern="100">
                        <a:solidFill>
                          <a:srgbClr val="0D0D0D"/>
                        </a:solidFill>
                        <a:effectLst/>
                        <a:latin typeface="Cambria Math" panose="02040503050406030204" pitchFamily="18" charset="0"/>
                        <a:cs typeface="+mn-ea"/>
                        <a:sym typeface="+mn-lt"/>
                      </a:rPr>
                      <m:t>S</m:t>
                    </m:r>
                    <m:r>
                      <a:rPr lang="en-US" altLang="zh-CN" sz="2000" kern="100">
                        <a:solidFill>
                          <a:srgbClr val="0D0D0D"/>
                        </a:solidFill>
                        <a:effectLst/>
                        <a:latin typeface="Cambria Math" panose="02040503050406030204" pitchFamily="18" charset="0"/>
                        <a:cs typeface="+mn-ea"/>
                        <a:sym typeface="+mn-lt"/>
                      </a:rPr>
                      <m:t>×</m:t>
                    </m:r>
                    <m:r>
                      <m:rPr>
                        <m:sty m:val="p"/>
                      </m:rPr>
                      <a:rPr lang="en-US" altLang="zh-CN" sz="2000" kern="100">
                        <a:solidFill>
                          <a:srgbClr val="0D0D0D"/>
                        </a:solidFill>
                        <a:effectLst/>
                        <a:latin typeface="Cambria Math" panose="02040503050406030204" pitchFamily="18" charset="0"/>
                        <a:cs typeface="+mn-ea"/>
                        <a:sym typeface="+mn-lt"/>
                      </a:rPr>
                      <m:t>S</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𝐵</m:t>
                    </m:r>
                    <m:r>
                      <a:rPr lang="en-US" altLang="zh-CN" sz="2000" kern="100">
                        <a:solidFill>
                          <a:srgbClr val="0D0D0D"/>
                        </a:solidFill>
                        <a:effectLst/>
                        <a:latin typeface="Cambria Math" panose="02040503050406030204" pitchFamily="18" charset="0"/>
                        <a:cs typeface="+mn-ea"/>
                        <a:sym typeface="+mn-lt"/>
                      </a:rPr>
                      <m:t>×(</m:t>
                    </m:r>
                    <m:r>
                      <a:rPr lang="en-US" altLang="zh-CN" sz="2000" kern="100">
                        <a:solidFill>
                          <a:srgbClr val="0D0D0D"/>
                        </a:solidFill>
                        <a:effectLst/>
                        <a:latin typeface="Cambria Math" panose="02040503050406030204" pitchFamily="18" charset="0"/>
                        <a:cs typeface="+mn-ea"/>
                        <a:sym typeface="+mn-lt"/>
                      </a:rPr>
                      <m:t>4</m:t>
                    </m:r>
                    <m:r>
                      <a:rPr lang="en-US" altLang="zh-CN" sz="2000" kern="100">
                        <a:solidFill>
                          <a:srgbClr val="0D0D0D"/>
                        </a:solidFill>
                        <a:effectLst/>
                        <a:latin typeface="Cambria Math" panose="02040503050406030204" pitchFamily="18" charset="0"/>
                        <a:cs typeface="+mn-ea"/>
                        <a:sym typeface="+mn-lt"/>
                      </a:rPr>
                      <m:t>+</m:t>
                    </m:r>
                    <m:r>
                      <a:rPr lang="en-US" altLang="zh-CN" sz="2000" kern="100">
                        <a:solidFill>
                          <a:srgbClr val="0D0D0D"/>
                        </a:solidFill>
                        <a:effectLst/>
                        <a:latin typeface="Cambria Math" panose="02040503050406030204" pitchFamily="18" charset="0"/>
                        <a:cs typeface="+mn-ea"/>
                        <a:sym typeface="+mn-lt"/>
                      </a:rPr>
                      <m:t>1</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𝐶</m:t>
                    </m:r>
                    <m:r>
                      <a:rPr lang="en-US" altLang="zh-CN" sz="2000" kern="100">
                        <a:solidFill>
                          <a:srgbClr val="0D0D0D"/>
                        </a:solidFill>
                        <a:effectLst/>
                        <a:latin typeface="Cambria Math" panose="02040503050406030204" pitchFamily="18" charset="0"/>
                        <a:cs typeface="+mn-ea"/>
                        <a:sym typeface="+mn-lt"/>
                      </a:rPr>
                      <m:t>)</m:t>
                    </m:r>
                  </m:oMath>
                </a14:m>
                <a:r>
                  <a:rPr lang="zh-CN" altLang="zh-CN" sz="2000" kern="100" dirty="0">
                    <a:solidFill>
                      <a:srgbClr val="0D0D0D"/>
                    </a:solidFill>
                    <a:effectLst/>
                    <a:cs typeface="+mn-ea"/>
                    <a:sym typeface="+mn-lt"/>
                  </a:rPr>
                  <a:t>的张量，这里假设</a:t>
                </a:r>
                <a:r>
                  <a:rPr lang="en-US" altLang="zh-CN" sz="2000" kern="100" dirty="0">
                    <a:solidFill>
                      <a:srgbClr val="0D0D0D"/>
                    </a:solidFill>
                    <a:effectLst/>
                    <a:cs typeface="+mn-ea"/>
                    <a:sym typeface="+mn-lt"/>
                  </a:rPr>
                  <a:t>S=9,B=2,C=20</a:t>
                </a:r>
                <a:r>
                  <a:rPr lang="zh-CN" altLang="zh-CN" sz="2000" kern="100" dirty="0">
                    <a:solidFill>
                      <a:srgbClr val="0D0D0D"/>
                    </a:solidFill>
                    <a:effectLst/>
                    <a:cs typeface="+mn-ea"/>
                    <a:sym typeface="+mn-lt"/>
                  </a:rPr>
                  <a:t>。首先，需要将置信度与条件类别概率相乘得到类别置信度（</a:t>
                </a:r>
                <a14:m>
                  <m:oMath xmlns:m="http://schemas.openxmlformats.org/officeDocument/2006/math">
                    <m:r>
                      <a:rPr lang="en-US" altLang="zh-CN" sz="2000" kern="100">
                        <a:solidFill>
                          <a:srgbClr val="0D0D0D"/>
                        </a:solidFill>
                        <a:effectLst/>
                        <a:latin typeface="Cambria Math" panose="02040503050406030204" pitchFamily="18" charset="0"/>
                        <a:cs typeface="+mn-ea"/>
                        <a:sym typeface="+mn-lt"/>
                      </a:rPr>
                      <m:t>98</m:t>
                    </m:r>
                    <m:r>
                      <a:rPr lang="en-US" altLang="zh-CN" sz="2000" kern="100">
                        <a:solidFill>
                          <a:srgbClr val="0D0D0D"/>
                        </a:solidFill>
                        <a:effectLst/>
                        <a:latin typeface="Cambria Math" panose="02040503050406030204" pitchFamily="18" charset="0"/>
                        <a:cs typeface="+mn-ea"/>
                        <a:sym typeface="+mn-lt"/>
                      </a:rPr>
                      <m:t>×</m:t>
                    </m:r>
                    <m:r>
                      <a:rPr lang="en-US" altLang="zh-CN" sz="2000" kern="100">
                        <a:solidFill>
                          <a:srgbClr val="0D0D0D"/>
                        </a:solidFill>
                        <a:effectLst/>
                        <a:latin typeface="Cambria Math" panose="02040503050406030204" pitchFamily="18" charset="0"/>
                        <a:cs typeface="+mn-ea"/>
                        <a:sym typeface="+mn-lt"/>
                      </a:rPr>
                      <m:t>20</m:t>
                    </m:r>
                  </m:oMath>
                </a14:m>
                <a:r>
                  <a:rPr lang="zh-CN" altLang="zh-CN" sz="2000" kern="100" dirty="0">
                    <a:solidFill>
                      <a:srgbClr val="0D0D0D"/>
                    </a:solidFill>
                    <a:effectLst/>
                    <a:cs typeface="+mn-ea"/>
                    <a:sym typeface="+mn-lt"/>
                  </a:rPr>
                  <a:t>）的矩阵，</a:t>
                </a:r>
                <a:r>
                  <a:rPr lang="zh-CN" altLang="zh-CN" sz="2000" b="1" kern="100" dirty="0">
                    <a:solidFill>
                      <a:srgbClr val="0D0D0D"/>
                    </a:solidFill>
                    <a:effectLst/>
                    <a:cs typeface="+mn-ea"/>
                    <a:sym typeface="+mn-lt"/>
                  </a:rPr>
                  <a:t>如下图所示</a:t>
                </a:r>
                <a:r>
                  <a:rPr lang="zh-CN" altLang="zh-CN" sz="2000" kern="100" dirty="0">
                    <a:solidFill>
                      <a:srgbClr val="0D0D0D"/>
                    </a:solidFill>
                    <a:effectLst/>
                    <a:cs typeface="+mn-ea"/>
                    <a:sym typeface="+mn-lt"/>
                  </a:rPr>
                  <a:t>。</a:t>
                </a:r>
                <a:endParaRPr lang="zh-CN" altLang="zh-CN" sz="2000" kern="100" dirty="0">
                  <a:effectLst/>
                  <a:cs typeface="+mn-ea"/>
                  <a:sym typeface="+mn-lt"/>
                </a:endParaRPr>
              </a:p>
              <a:p>
                <a:pPr marL="0" indent="0">
                  <a:buNone/>
                </a:pPr>
                <a:endParaRPr lang="zh-CN" altLang="en-US" sz="2000" dirty="0">
                  <a:cs typeface="+mn-ea"/>
                  <a:sym typeface="+mn-lt"/>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2"/>
          <a:stretch>
            <a:fillRect/>
          </a:stretch>
        </p:blipFill>
        <p:spPr>
          <a:xfrm>
            <a:off x="2957703" y="3071674"/>
            <a:ext cx="6276594" cy="317820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zh-CN" altLang="en-US" sz="2000" dirty="0">
                <a:cs typeface="+mn-ea"/>
                <a:sym typeface="+mn-lt"/>
              </a:rPr>
              <a:t>然后对每一个类别，首先置</a:t>
            </a:r>
            <a:r>
              <a:rPr lang="en-US" altLang="zh-CN" sz="2000" dirty="0">
                <a:cs typeface="+mn-ea"/>
                <a:sym typeface="+mn-lt"/>
              </a:rPr>
              <a:t>0</a:t>
            </a:r>
            <a:r>
              <a:rPr lang="zh-CN" altLang="en-US" sz="2000" dirty="0">
                <a:cs typeface="+mn-ea"/>
                <a:sym typeface="+mn-lt"/>
              </a:rPr>
              <a:t>那些小于阈值的预测框所对应的类别置信度得分（</a:t>
            </a:r>
            <a:r>
              <a:rPr lang="en-US" altLang="zh-CN" sz="2000" dirty="0" err="1">
                <a:cs typeface="+mn-ea"/>
                <a:sym typeface="+mn-lt"/>
              </a:rPr>
              <a:t>a→b</a:t>
            </a:r>
            <a:r>
              <a:rPr lang="zh-CN" altLang="en-US" sz="2000" dirty="0">
                <a:cs typeface="+mn-ea"/>
                <a:sym typeface="+mn-lt"/>
              </a:rPr>
              <a:t>），然后将置信度得分从高到低排序（</a:t>
            </a:r>
            <a:r>
              <a:rPr lang="en-US" altLang="zh-CN" sz="2000" dirty="0">
                <a:cs typeface="+mn-ea"/>
                <a:sym typeface="+mn-lt"/>
              </a:rPr>
              <a:t>c</a:t>
            </a:r>
            <a:r>
              <a:rPr lang="zh-CN" altLang="en-US" sz="2000" dirty="0">
                <a:cs typeface="+mn-ea"/>
                <a:sym typeface="+mn-lt"/>
              </a:rPr>
              <a:t>），利用非极大值抑制（</a:t>
            </a:r>
            <a:r>
              <a:rPr lang="en-US" altLang="zh-CN" sz="2000" dirty="0">
                <a:cs typeface="+mn-ea"/>
                <a:sym typeface="+mn-lt"/>
              </a:rPr>
              <a:t>NMS</a:t>
            </a:r>
            <a:r>
              <a:rPr lang="zh-CN" altLang="en-US" sz="2000" dirty="0">
                <a:cs typeface="+mn-ea"/>
                <a:sym typeface="+mn-lt"/>
              </a:rPr>
              <a:t>）置</a:t>
            </a:r>
            <a:r>
              <a:rPr lang="en-US" altLang="zh-CN" sz="2000" dirty="0">
                <a:cs typeface="+mn-ea"/>
                <a:sym typeface="+mn-lt"/>
              </a:rPr>
              <a:t>0</a:t>
            </a:r>
            <a:r>
              <a:rPr lang="zh-CN" altLang="en-US" sz="2000" dirty="0">
                <a:cs typeface="+mn-ea"/>
                <a:sym typeface="+mn-lt"/>
              </a:rPr>
              <a:t>那些重叠度比较大的预测框所对应的置信度（</a:t>
            </a:r>
            <a:r>
              <a:rPr lang="en-US" altLang="zh-CN" sz="2000" dirty="0">
                <a:cs typeface="+mn-ea"/>
                <a:sym typeface="+mn-lt"/>
              </a:rPr>
              <a:t>d</a:t>
            </a:r>
            <a:r>
              <a:rPr lang="zh-CN" altLang="en-US" sz="2000" dirty="0">
                <a:cs typeface="+mn-ea"/>
                <a:sym typeface="+mn-lt"/>
              </a:rPr>
              <a:t>），</a:t>
            </a:r>
            <a:r>
              <a:rPr lang="zh-CN" altLang="en-US" sz="2000" b="1" dirty="0">
                <a:cs typeface="+mn-ea"/>
                <a:sym typeface="+mn-lt"/>
              </a:rPr>
              <a:t>如下图所示</a:t>
            </a:r>
            <a:r>
              <a:rPr lang="zh-CN" altLang="en-US" sz="2000" dirty="0">
                <a:cs typeface="+mn-ea"/>
                <a:sym typeface="+mn-lt"/>
              </a:rPr>
              <a:t>。</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3004351" y="2826543"/>
            <a:ext cx="5894368" cy="3529807"/>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825625"/>
            <a:ext cx="6303264" cy="4351338"/>
          </a:xfrm>
        </p:spPr>
        <p:txBody>
          <a:bodyPr>
            <a:normAutofit/>
          </a:bodyPr>
          <a:lstStyle/>
          <a:p>
            <a:pPr marL="0" indent="0" algn="just">
              <a:buNone/>
            </a:pPr>
            <a:r>
              <a:rPr lang="zh-CN" altLang="en-US" sz="2000" dirty="0">
                <a:cs typeface="+mn-ea"/>
                <a:sym typeface="+mn-lt"/>
              </a:rPr>
              <a:t>最后，对于每个预测框取最大的得分，作为该预测框的置信度得分，并将该最大值所对应的类别作为该预测框的类别，</a:t>
            </a:r>
            <a:r>
              <a:rPr lang="zh-CN" altLang="en-US" sz="2000" b="1" dirty="0">
                <a:cs typeface="+mn-ea"/>
                <a:sym typeface="+mn-lt"/>
              </a:rPr>
              <a:t>如右图所示</a:t>
            </a:r>
            <a:r>
              <a:rPr lang="zh-CN" altLang="en-US" sz="2000" dirty="0">
                <a:cs typeface="+mn-ea"/>
                <a:sym typeface="+mn-lt"/>
              </a:rPr>
              <a:t>。</a:t>
            </a:r>
            <a:endParaRPr lang="en-US" altLang="zh-CN" sz="2000" dirty="0">
              <a:cs typeface="+mn-ea"/>
              <a:sym typeface="+mn-lt"/>
            </a:endParaRPr>
          </a:p>
          <a:p>
            <a:pPr marL="0" indent="0" algn="just">
              <a:buNone/>
            </a:pPr>
            <a:r>
              <a:rPr lang="en-US" altLang="zh-CN" sz="2000" dirty="0">
                <a:cs typeface="+mn-ea"/>
                <a:sym typeface="+mn-lt"/>
              </a:rPr>
              <a:t>YOLO v1</a:t>
            </a:r>
            <a:r>
              <a:rPr lang="zh-CN" altLang="en-US" sz="2000" dirty="0">
                <a:cs typeface="+mn-ea"/>
                <a:sym typeface="+mn-lt"/>
              </a:rPr>
              <a:t>作为一阶段目标检测算法的开山之作，没有候选框生成这一步骤，直接从特征图预测目标的位置和类别，具有更高的检测速度。此外，由于两阶段算法，生成的候选框中没有足够的上下文信息，检测算法难以区分前景和背景，容易出现更高的背景误检率。但是，</a:t>
            </a:r>
            <a:r>
              <a:rPr lang="en-US" altLang="zh-CN" sz="2000" dirty="0">
                <a:cs typeface="+mn-ea"/>
                <a:sym typeface="+mn-lt"/>
              </a:rPr>
              <a:t>YOLO v1</a:t>
            </a:r>
            <a:r>
              <a:rPr lang="zh-CN" altLang="en-US" sz="2000" dirty="0">
                <a:cs typeface="+mn-ea"/>
                <a:sym typeface="+mn-lt"/>
              </a:rPr>
              <a:t>算法的检测精度仍然弱于两阶段算法。这主要是由于在训练时，虽然每个网格能够产生多个预测框，但是只有与目标的</a:t>
            </a:r>
            <a:r>
              <a:rPr lang="en-US" altLang="zh-CN" sz="2000" dirty="0" err="1">
                <a:cs typeface="+mn-ea"/>
                <a:sym typeface="+mn-lt"/>
              </a:rPr>
              <a:t>IoU</a:t>
            </a:r>
            <a:r>
              <a:rPr lang="zh-CN" altLang="en-US" sz="2000" dirty="0">
                <a:cs typeface="+mn-ea"/>
                <a:sym typeface="+mn-lt"/>
              </a:rPr>
              <a:t>最大的预测框能够产生</a:t>
            </a:r>
            <a:r>
              <a:rPr lang="en-US" altLang="zh-CN" sz="2000" dirty="0">
                <a:cs typeface="+mn-ea"/>
                <a:sym typeface="+mn-lt"/>
              </a:rPr>
              <a:t>Loss</a:t>
            </a:r>
            <a:r>
              <a:rPr lang="zh-CN" altLang="en-US" sz="2000" dirty="0">
                <a:cs typeface="+mn-ea"/>
                <a:sym typeface="+mn-lt"/>
              </a:rPr>
              <a:t>；同时，当一个网格中出现多个目标时，</a:t>
            </a:r>
            <a:r>
              <a:rPr lang="en-US" altLang="zh-CN" sz="2000" dirty="0">
                <a:cs typeface="+mn-ea"/>
                <a:sym typeface="+mn-lt"/>
              </a:rPr>
              <a:t>YOLOv1</a:t>
            </a:r>
            <a:r>
              <a:rPr lang="zh-CN" altLang="en-US" sz="2000" dirty="0">
                <a:cs typeface="+mn-ea"/>
                <a:sym typeface="+mn-lt"/>
              </a:rPr>
              <a:t>也无法处理。这使得模型在</a:t>
            </a:r>
            <a:r>
              <a:rPr lang="zh-CN" altLang="en-US" sz="2000" b="1" dirty="0">
                <a:cs typeface="+mn-ea"/>
                <a:sym typeface="+mn-lt"/>
              </a:rPr>
              <a:t>目标密集分布</a:t>
            </a:r>
            <a:r>
              <a:rPr lang="zh-CN" altLang="en-US" sz="2000" dirty="0">
                <a:cs typeface="+mn-ea"/>
                <a:sym typeface="+mn-lt"/>
              </a:rPr>
              <a:t>的情况下，容易出现</a:t>
            </a:r>
            <a:r>
              <a:rPr lang="zh-CN" altLang="en-US" sz="2000" b="1" dirty="0">
                <a:cs typeface="+mn-ea"/>
                <a:sym typeface="+mn-lt"/>
              </a:rPr>
              <a:t>漏检</a:t>
            </a:r>
            <a:r>
              <a:rPr lang="zh-CN" altLang="en-US" sz="2000" dirty="0">
                <a:cs typeface="+mn-ea"/>
                <a:sym typeface="+mn-lt"/>
              </a:rPr>
              <a:t>。另一方面，</a:t>
            </a:r>
            <a:r>
              <a:rPr lang="en-US" altLang="zh-CN" sz="2000" dirty="0">
                <a:cs typeface="+mn-ea"/>
                <a:sym typeface="+mn-lt"/>
              </a:rPr>
              <a:t>YOLOv1</a:t>
            </a:r>
            <a:r>
              <a:rPr lang="zh-CN" altLang="en-US" sz="2000" dirty="0">
                <a:cs typeface="+mn-ea"/>
                <a:sym typeface="+mn-lt"/>
              </a:rPr>
              <a:t>并没有引入多尺度检测的策略，对</a:t>
            </a:r>
            <a:r>
              <a:rPr lang="zh-CN" altLang="en-US" sz="2000" b="1" dirty="0">
                <a:cs typeface="+mn-ea"/>
                <a:sym typeface="+mn-lt"/>
              </a:rPr>
              <a:t>不同尺度的目标感知能力偏弱</a:t>
            </a:r>
            <a:r>
              <a:rPr lang="zh-CN" altLang="en-US" sz="2000" dirty="0">
                <a:cs typeface="+mn-ea"/>
                <a:sym typeface="+mn-lt"/>
              </a:rPr>
              <a:t>。</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dirty="0">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descr="图示&#10;&#10;描述已自动生成"/>
          <p:cNvPicPr/>
          <p:nvPr/>
        </p:nvPicPr>
        <p:blipFill>
          <a:blip r:embed="rId1"/>
          <a:stretch>
            <a:fillRect/>
          </a:stretch>
        </p:blipFill>
        <p:spPr>
          <a:xfrm>
            <a:off x="7250827" y="1825625"/>
            <a:ext cx="3884968" cy="4040102"/>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825625"/>
            <a:ext cx="5378503" cy="4351338"/>
          </a:xfrm>
        </p:spPr>
        <p:txBody>
          <a:bodyPr>
            <a:normAutofit/>
          </a:bodyPr>
          <a:lstStyle/>
          <a:p>
            <a:r>
              <a:rPr lang="en-US" altLang="zh-CN" sz="2400" b="1" dirty="0">
                <a:cs typeface="+mn-ea"/>
                <a:sym typeface="+mn-lt"/>
              </a:rPr>
              <a:t>YOLOv2</a:t>
            </a:r>
            <a:endParaRPr lang="en-US" altLang="zh-CN" sz="2400" b="1" dirty="0">
              <a:cs typeface="+mn-ea"/>
              <a:sym typeface="+mn-lt"/>
            </a:endParaRPr>
          </a:p>
          <a:p>
            <a:pPr marL="0" indent="0">
              <a:buNone/>
            </a:pPr>
            <a:r>
              <a:rPr lang="zh-CN" altLang="en-US" sz="2000" dirty="0">
                <a:cs typeface="+mn-ea"/>
                <a:sym typeface="+mn-lt"/>
              </a:rPr>
              <a:t>与两阶段算法相比，尽管</a:t>
            </a:r>
            <a:r>
              <a:rPr lang="en-US" altLang="zh-CN" sz="2000" dirty="0">
                <a:cs typeface="+mn-ea"/>
                <a:sym typeface="+mn-lt"/>
              </a:rPr>
              <a:t>YOLOv1</a:t>
            </a:r>
            <a:r>
              <a:rPr lang="zh-CN" altLang="en-US" sz="2000" dirty="0">
                <a:cs typeface="+mn-ea"/>
                <a:sym typeface="+mn-lt"/>
              </a:rPr>
              <a:t>能够以高达</a:t>
            </a:r>
            <a:r>
              <a:rPr lang="en-US" altLang="zh-CN" sz="2000" dirty="0">
                <a:cs typeface="+mn-ea"/>
                <a:sym typeface="+mn-lt"/>
              </a:rPr>
              <a:t>150FPS</a:t>
            </a:r>
            <a:r>
              <a:rPr lang="zh-CN" altLang="en-US" sz="2000" dirty="0">
                <a:cs typeface="+mn-ea"/>
                <a:sym typeface="+mn-lt"/>
              </a:rPr>
              <a:t>的速度识别对象，但是会产生更高的定位误差和更低的召回率（测量定位所有目标的能力），难以在生产环境中应用；</a:t>
            </a:r>
            <a:r>
              <a:rPr lang="en-US" altLang="zh-CN" sz="2000" dirty="0">
                <a:cs typeface="+mn-ea"/>
                <a:sym typeface="+mn-lt"/>
              </a:rPr>
              <a:t>YOLO</a:t>
            </a:r>
            <a:r>
              <a:rPr lang="zh-CN" altLang="en-US" sz="2000" dirty="0">
                <a:cs typeface="+mn-ea"/>
                <a:sym typeface="+mn-lt"/>
              </a:rPr>
              <a:t>的第二版算法</a:t>
            </a:r>
            <a:r>
              <a:rPr lang="en-US" altLang="zh-CN" sz="2000" dirty="0">
                <a:cs typeface="+mn-ea"/>
                <a:sym typeface="+mn-lt"/>
              </a:rPr>
              <a:t>YOLOv2</a:t>
            </a:r>
            <a:r>
              <a:rPr lang="zh-CN" altLang="en-US" sz="2000" dirty="0">
                <a:cs typeface="+mn-ea"/>
                <a:sym typeface="+mn-lt"/>
              </a:rPr>
              <a:t>，在</a:t>
            </a:r>
            <a:r>
              <a:rPr lang="en-US" altLang="zh-CN" sz="2000" dirty="0">
                <a:cs typeface="+mn-ea"/>
                <a:sym typeface="+mn-lt"/>
              </a:rPr>
              <a:t>YOLOv1</a:t>
            </a:r>
            <a:r>
              <a:rPr lang="zh-CN" altLang="en-US" sz="2000" dirty="0">
                <a:cs typeface="+mn-ea"/>
                <a:sym typeface="+mn-lt"/>
              </a:rPr>
              <a:t>的基础上引入</a:t>
            </a:r>
            <a:r>
              <a:rPr lang="zh-CN" altLang="en-US" sz="2000" b="1" dirty="0">
                <a:cs typeface="+mn-ea"/>
                <a:sym typeface="+mn-lt"/>
              </a:rPr>
              <a:t>先验框</a:t>
            </a:r>
            <a:r>
              <a:rPr lang="zh-CN" altLang="en-US" sz="2000" dirty="0">
                <a:cs typeface="+mn-ea"/>
                <a:sym typeface="+mn-lt"/>
              </a:rPr>
              <a:t>（</a:t>
            </a:r>
            <a:r>
              <a:rPr lang="en-US" altLang="zh-CN" sz="2000" dirty="0">
                <a:cs typeface="+mn-ea"/>
                <a:sym typeface="+mn-lt"/>
              </a:rPr>
              <a:t>Anchor</a:t>
            </a:r>
            <a:r>
              <a:rPr lang="zh-CN" altLang="en-US" sz="2000" dirty="0">
                <a:cs typeface="+mn-ea"/>
                <a:sym typeface="+mn-lt"/>
              </a:rPr>
              <a:t>）、</a:t>
            </a:r>
            <a:r>
              <a:rPr lang="zh-CN" altLang="en-US" sz="2000" b="1" dirty="0">
                <a:cs typeface="+mn-ea"/>
                <a:sym typeface="+mn-lt"/>
              </a:rPr>
              <a:t>改进训练策略</a:t>
            </a:r>
            <a:r>
              <a:rPr lang="zh-CN" altLang="en-US" sz="2000" dirty="0">
                <a:cs typeface="+mn-ea"/>
                <a:sym typeface="+mn-lt"/>
              </a:rPr>
              <a:t>、</a:t>
            </a:r>
            <a:r>
              <a:rPr lang="zh-CN" altLang="en-US" sz="2000" b="1" dirty="0">
                <a:cs typeface="+mn-ea"/>
                <a:sym typeface="+mn-lt"/>
              </a:rPr>
              <a:t>网络结构</a:t>
            </a:r>
            <a:r>
              <a:rPr lang="zh-CN" altLang="en-US" sz="2000" dirty="0">
                <a:cs typeface="+mn-ea"/>
                <a:sym typeface="+mn-lt"/>
              </a:rPr>
              <a:t>，保证模型推理速度同时，</a:t>
            </a:r>
            <a:r>
              <a:rPr lang="zh-CN" altLang="en-US" sz="2000" b="1" dirty="0">
                <a:cs typeface="+mn-ea"/>
                <a:sym typeface="+mn-lt"/>
              </a:rPr>
              <a:t>增强了对密集目标以不同尺度目标的检测能力</a:t>
            </a:r>
            <a:r>
              <a:rPr lang="zh-CN" altLang="en-US" sz="2000" dirty="0">
                <a:cs typeface="+mn-ea"/>
                <a:sym typeface="+mn-lt"/>
              </a:rPr>
              <a:t>。算法能够在以</a:t>
            </a:r>
            <a:r>
              <a:rPr lang="en-US" altLang="zh-CN" sz="2000" dirty="0">
                <a:cs typeface="+mn-ea"/>
                <a:sym typeface="+mn-lt"/>
              </a:rPr>
              <a:t>67 FPS</a:t>
            </a:r>
            <a:r>
              <a:rPr lang="zh-CN" altLang="en-US" sz="2000" dirty="0">
                <a:cs typeface="+mn-ea"/>
                <a:sym typeface="+mn-lt"/>
              </a:rPr>
              <a:t>的运行速度，在</a:t>
            </a:r>
            <a:r>
              <a:rPr lang="en-US" altLang="zh-CN" sz="2000" dirty="0">
                <a:cs typeface="+mn-ea"/>
                <a:sym typeface="+mn-lt"/>
              </a:rPr>
              <a:t>VOC 2007</a:t>
            </a:r>
            <a:r>
              <a:rPr lang="zh-CN" altLang="en-US" sz="2000" dirty="0">
                <a:cs typeface="+mn-ea"/>
                <a:sym typeface="+mn-lt"/>
              </a:rPr>
              <a:t>数据集上取得</a:t>
            </a:r>
            <a:r>
              <a:rPr lang="en-US" altLang="zh-CN" sz="2000" dirty="0">
                <a:cs typeface="+mn-ea"/>
                <a:sym typeface="+mn-lt"/>
              </a:rPr>
              <a:t>76.8%</a:t>
            </a:r>
            <a:r>
              <a:rPr lang="zh-CN" altLang="en-US" sz="2000" dirty="0">
                <a:cs typeface="+mn-ea"/>
                <a:sym typeface="+mn-lt"/>
              </a:rPr>
              <a:t>的结果，达到了当时的最好结果。</a:t>
            </a:r>
            <a:endParaRPr lang="en-US" altLang="zh-CN" sz="2000" dirty="0">
              <a:cs typeface="+mn-ea"/>
              <a:sym typeface="+mn-lt"/>
            </a:endParaRPr>
          </a:p>
          <a:p>
            <a:pPr marL="0" indent="0">
              <a:buNone/>
            </a:pPr>
            <a:r>
              <a:rPr lang="zh-CN" altLang="en-US" sz="2000" b="1" dirty="0">
                <a:cs typeface="+mn-ea"/>
                <a:sym typeface="+mn-lt"/>
              </a:rPr>
              <a:t>右图为</a:t>
            </a:r>
            <a:r>
              <a:rPr lang="en-US" altLang="zh-CN" sz="2000" b="1" dirty="0">
                <a:cs typeface="+mn-ea"/>
                <a:sym typeface="+mn-lt"/>
              </a:rPr>
              <a:t>YOLOV2</a:t>
            </a:r>
            <a:r>
              <a:rPr lang="zh-CN" altLang="en-US" sz="2000" b="1" dirty="0">
                <a:cs typeface="+mn-ea"/>
                <a:sym typeface="+mn-lt"/>
              </a:rPr>
              <a:t>的网络结构。</a:t>
            </a:r>
            <a:endParaRPr lang="zh-CN" altLang="en-US" sz="2000" b="1"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6216703" y="2732456"/>
            <a:ext cx="4595399" cy="27717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825625"/>
            <a:ext cx="5740153" cy="4351338"/>
          </a:xfrm>
        </p:spPr>
        <p:txBody>
          <a:bodyPr>
            <a:normAutofit/>
          </a:bodyPr>
          <a:lstStyle/>
          <a:p>
            <a:pPr marL="0" indent="0">
              <a:buNone/>
            </a:pPr>
            <a:r>
              <a:rPr lang="zh-CN" altLang="en-US" sz="2000" dirty="0">
                <a:cs typeface="+mn-ea"/>
                <a:sym typeface="+mn-lt"/>
              </a:rPr>
              <a:t>下面将详细介绍</a:t>
            </a:r>
            <a:r>
              <a:rPr lang="en-US" altLang="zh-CN" sz="2000" dirty="0">
                <a:cs typeface="+mn-ea"/>
                <a:sym typeface="+mn-lt"/>
              </a:rPr>
              <a:t>YOLOv2</a:t>
            </a:r>
            <a:r>
              <a:rPr lang="zh-CN" altLang="en-US" sz="2000" dirty="0">
                <a:cs typeface="+mn-ea"/>
                <a:sym typeface="+mn-lt"/>
              </a:rPr>
              <a:t>所作出的改进。</a:t>
            </a:r>
            <a:endParaRPr lang="en-US" altLang="zh-CN" sz="2000" dirty="0">
              <a:cs typeface="+mn-ea"/>
              <a:sym typeface="+mn-lt"/>
            </a:endParaRPr>
          </a:p>
          <a:p>
            <a:pPr marL="0" indent="0">
              <a:buNone/>
            </a:pPr>
            <a:r>
              <a:rPr lang="en-US" altLang="zh-CN" sz="2000" b="1" dirty="0">
                <a:cs typeface="+mn-ea"/>
                <a:sym typeface="+mn-lt"/>
              </a:rPr>
              <a:t>1</a:t>
            </a:r>
            <a:r>
              <a:rPr lang="zh-CN" altLang="en-US" sz="2000" b="1" dirty="0">
                <a:cs typeface="+mn-ea"/>
                <a:sym typeface="+mn-lt"/>
              </a:rPr>
              <a:t>）</a:t>
            </a:r>
            <a:r>
              <a:rPr lang="en-US" altLang="zh-CN" sz="2000" b="1" dirty="0">
                <a:cs typeface="+mn-ea"/>
                <a:sym typeface="+mn-lt"/>
              </a:rPr>
              <a:t>DarkNet-19</a:t>
            </a:r>
            <a:endParaRPr lang="en-US" altLang="zh-CN" sz="2000" b="1" dirty="0">
              <a:cs typeface="+mn-ea"/>
              <a:sym typeface="+mn-lt"/>
            </a:endParaRPr>
          </a:p>
          <a:p>
            <a:pPr marL="0" indent="0">
              <a:buNone/>
            </a:pPr>
            <a:r>
              <a:rPr lang="en-US" altLang="zh-CN" sz="2000" dirty="0">
                <a:cs typeface="+mn-ea"/>
                <a:sym typeface="+mn-lt"/>
              </a:rPr>
              <a:t>YOLOv2</a:t>
            </a:r>
            <a:r>
              <a:rPr lang="zh-CN" altLang="en-US" sz="2000" dirty="0">
                <a:cs typeface="+mn-ea"/>
                <a:sym typeface="+mn-lt"/>
              </a:rPr>
              <a:t>舍弃了传统的骨干网络架构，而是设计了一种新的网络架构</a:t>
            </a:r>
            <a:r>
              <a:rPr lang="en-US" altLang="zh-CN" sz="2000" dirty="0" err="1">
                <a:cs typeface="+mn-ea"/>
                <a:sym typeface="+mn-lt"/>
              </a:rPr>
              <a:t>DarkNet</a:t>
            </a:r>
            <a:r>
              <a:rPr lang="zh-CN" altLang="en-US" sz="2000" dirty="0">
                <a:cs typeface="+mn-ea"/>
                <a:sym typeface="+mn-lt"/>
              </a:rPr>
              <a:t>，由于网络总共包含</a:t>
            </a:r>
            <a:r>
              <a:rPr lang="en-US" altLang="zh-CN" sz="2000" dirty="0">
                <a:cs typeface="+mn-ea"/>
                <a:sym typeface="+mn-lt"/>
              </a:rPr>
              <a:t>19</a:t>
            </a:r>
            <a:r>
              <a:rPr lang="zh-CN" altLang="en-US" sz="2000" dirty="0">
                <a:cs typeface="+mn-ea"/>
                <a:sym typeface="+mn-lt"/>
              </a:rPr>
              <a:t>个卷积层，该网络也被称为</a:t>
            </a:r>
            <a:r>
              <a:rPr lang="en-US" altLang="zh-CN" sz="2000" dirty="0">
                <a:cs typeface="+mn-ea"/>
                <a:sym typeface="+mn-lt"/>
              </a:rPr>
              <a:t>DarkNet-19</a:t>
            </a:r>
            <a:r>
              <a:rPr lang="zh-CN" altLang="en-US" sz="2000" dirty="0">
                <a:cs typeface="+mn-ea"/>
                <a:sym typeface="+mn-lt"/>
              </a:rPr>
              <a:t>，如图</a:t>
            </a:r>
            <a:r>
              <a:rPr lang="en-US" altLang="zh-CN" sz="2000" dirty="0">
                <a:cs typeface="+mn-ea"/>
                <a:sym typeface="+mn-lt"/>
              </a:rPr>
              <a:t>6-32</a:t>
            </a:r>
            <a:r>
              <a:rPr lang="zh-CN" altLang="en-US" sz="2000" dirty="0">
                <a:cs typeface="+mn-ea"/>
                <a:sym typeface="+mn-lt"/>
              </a:rPr>
              <a:t>所示。</a:t>
            </a:r>
            <a:r>
              <a:rPr lang="en-US" altLang="zh-CN" sz="2000" dirty="0">
                <a:cs typeface="+mn-ea"/>
                <a:sym typeface="+mn-lt"/>
              </a:rPr>
              <a:t>Darknet-19</a:t>
            </a:r>
            <a:r>
              <a:rPr lang="zh-CN" altLang="en-US" sz="2000" dirty="0">
                <a:cs typeface="+mn-ea"/>
                <a:sym typeface="+mn-lt"/>
              </a:rPr>
              <a:t>采用</a:t>
            </a:r>
            <a:r>
              <a:rPr lang="zh-CN" altLang="en-US" sz="2000" b="1" dirty="0">
                <a:cs typeface="+mn-ea"/>
                <a:sym typeface="+mn-lt"/>
              </a:rPr>
              <a:t>全卷积网络</a:t>
            </a:r>
            <a:r>
              <a:rPr lang="zh-CN" altLang="en-US" sz="2000" dirty="0">
                <a:cs typeface="+mn-ea"/>
                <a:sym typeface="+mn-lt"/>
              </a:rPr>
              <a:t>的架构，主要采用</a:t>
            </a:r>
            <a:r>
              <a:rPr lang="en-US" altLang="zh-CN" sz="2000" dirty="0">
                <a:cs typeface="+mn-ea"/>
                <a:sym typeface="+mn-lt"/>
              </a:rPr>
              <a:t>3*3</a:t>
            </a:r>
            <a:r>
              <a:rPr lang="zh-CN" altLang="en-US" sz="2000" dirty="0">
                <a:cs typeface="+mn-ea"/>
                <a:sym typeface="+mn-lt"/>
              </a:rPr>
              <a:t>的卷积核，并且在每个池化操作后，将</a:t>
            </a:r>
            <a:r>
              <a:rPr lang="zh-CN" altLang="en-US" sz="2000" b="1" dirty="0">
                <a:cs typeface="+mn-ea"/>
                <a:sym typeface="+mn-lt"/>
              </a:rPr>
              <a:t>通道数量加倍</a:t>
            </a:r>
            <a:r>
              <a:rPr lang="zh-CN" altLang="en-US" sz="2000" dirty="0">
                <a:cs typeface="+mn-ea"/>
                <a:sym typeface="+mn-lt"/>
              </a:rPr>
              <a:t>，然后使用</a:t>
            </a:r>
            <a:r>
              <a:rPr lang="en-US" altLang="zh-CN" sz="2000" b="1" dirty="0">
                <a:cs typeface="+mn-ea"/>
                <a:sym typeface="+mn-lt"/>
              </a:rPr>
              <a:t>1*1</a:t>
            </a:r>
            <a:r>
              <a:rPr lang="zh-CN" altLang="en-US" sz="2000" b="1" dirty="0">
                <a:cs typeface="+mn-ea"/>
                <a:sym typeface="+mn-lt"/>
              </a:rPr>
              <a:t>卷积来压缩特征</a:t>
            </a:r>
            <a:r>
              <a:rPr lang="zh-CN" altLang="en-US" sz="2000" dirty="0">
                <a:cs typeface="+mn-ea"/>
                <a:sym typeface="+mn-lt"/>
              </a:rPr>
              <a:t>。</a:t>
            </a:r>
            <a:r>
              <a:rPr lang="en-US" altLang="zh-CN" sz="2000" dirty="0">
                <a:cs typeface="+mn-ea"/>
                <a:sym typeface="+mn-lt"/>
              </a:rPr>
              <a:t>Darknet</a:t>
            </a:r>
            <a:r>
              <a:rPr lang="zh-CN" altLang="en-US" sz="2000" dirty="0">
                <a:cs typeface="+mn-ea"/>
                <a:sym typeface="+mn-lt"/>
              </a:rPr>
              <a:t>在相同条件下，计算量要远低于其他网络。另外，</a:t>
            </a:r>
            <a:r>
              <a:rPr lang="en-US" altLang="zh-CN" sz="2000" dirty="0">
                <a:cs typeface="+mn-ea"/>
                <a:sym typeface="+mn-lt"/>
              </a:rPr>
              <a:t>Darknet-19</a:t>
            </a:r>
            <a:r>
              <a:rPr lang="zh-CN" altLang="en-US" sz="2000" dirty="0">
                <a:cs typeface="+mn-ea"/>
                <a:sym typeface="+mn-lt"/>
              </a:rPr>
              <a:t>在卷积层和神经网络之间引入</a:t>
            </a:r>
            <a:r>
              <a:rPr lang="zh-CN" altLang="en-US" sz="2000" b="1" dirty="0">
                <a:cs typeface="+mn-ea"/>
                <a:sym typeface="+mn-lt"/>
              </a:rPr>
              <a:t>批次归一化</a:t>
            </a:r>
            <a:r>
              <a:rPr lang="zh-CN" altLang="en-US" sz="2000" dirty="0">
                <a:cs typeface="+mn-ea"/>
                <a:sym typeface="+mn-lt"/>
              </a:rPr>
              <a:t>（</a:t>
            </a:r>
            <a:r>
              <a:rPr lang="en-US" altLang="zh-CN" sz="2000" dirty="0">
                <a:cs typeface="+mn-ea"/>
                <a:sym typeface="+mn-lt"/>
              </a:rPr>
              <a:t>Batch Normalization</a:t>
            </a:r>
            <a:r>
              <a:rPr lang="zh-CN" altLang="en-US" sz="2000" dirty="0">
                <a:cs typeface="+mn-ea"/>
                <a:sym typeface="+mn-lt"/>
              </a:rPr>
              <a:t>，</a:t>
            </a:r>
            <a:r>
              <a:rPr lang="en-US" altLang="zh-CN" sz="2000" dirty="0">
                <a:cs typeface="+mn-ea"/>
                <a:sym typeface="+mn-lt"/>
              </a:rPr>
              <a:t>BN</a:t>
            </a:r>
            <a:r>
              <a:rPr lang="zh-CN" altLang="en-US" sz="2000" dirty="0">
                <a:cs typeface="+mn-ea"/>
                <a:sym typeface="+mn-lt"/>
              </a:rPr>
              <a:t>）层，能够加速收敛，增加模型的泛化能力。</a:t>
            </a:r>
            <a:endParaRPr lang="en-US" altLang="zh-CN" sz="2000" dirty="0">
              <a:cs typeface="+mn-ea"/>
              <a:sym typeface="+mn-lt"/>
            </a:endParaRPr>
          </a:p>
          <a:p>
            <a:pPr marL="0" indent="0">
              <a:buNone/>
            </a:pPr>
            <a:r>
              <a:rPr lang="zh-CN" altLang="en-US" sz="2000" b="1" dirty="0">
                <a:cs typeface="+mn-ea"/>
                <a:sym typeface="+mn-lt"/>
              </a:rPr>
              <a:t>右图为</a:t>
            </a:r>
            <a:r>
              <a:rPr lang="en-US" altLang="zh-CN" sz="2000" b="1" dirty="0">
                <a:cs typeface="+mn-ea"/>
                <a:sym typeface="+mn-lt"/>
              </a:rPr>
              <a:t>DarkNet-19</a:t>
            </a:r>
            <a:r>
              <a:rPr lang="zh-CN" altLang="en-US" sz="2000" b="1" dirty="0">
                <a:cs typeface="+mn-ea"/>
                <a:sym typeface="+mn-lt"/>
              </a:rPr>
              <a:t>的网络结构。</a:t>
            </a:r>
            <a:endParaRPr lang="zh-CN" altLang="en-US" sz="2000" b="1"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descr="表格&#10;&#10;描述已自动生成"/>
          <p:cNvPicPr/>
          <p:nvPr/>
        </p:nvPicPr>
        <p:blipFill>
          <a:blip r:embed="rId1"/>
          <a:stretch>
            <a:fillRect/>
          </a:stretch>
        </p:blipFill>
        <p:spPr>
          <a:xfrm>
            <a:off x="7542920" y="1426834"/>
            <a:ext cx="3527534" cy="484625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825625"/>
            <a:ext cx="4807998" cy="4351338"/>
          </a:xfrm>
        </p:spPr>
        <p:txBody>
          <a:bodyPr>
            <a:normAutofit/>
          </a:bodyPr>
          <a:lstStyle/>
          <a:p>
            <a:pPr marL="0" indent="0">
              <a:buNone/>
            </a:pPr>
            <a:r>
              <a:rPr lang="en-US" altLang="zh-CN" sz="2000" b="1" dirty="0">
                <a:cs typeface="+mn-ea"/>
                <a:sym typeface="+mn-lt"/>
              </a:rPr>
              <a:t>2</a:t>
            </a:r>
            <a:r>
              <a:rPr lang="zh-CN" altLang="en-US" sz="2000" b="1" dirty="0">
                <a:cs typeface="+mn-ea"/>
                <a:sym typeface="+mn-lt"/>
              </a:rPr>
              <a:t>）输出网络</a:t>
            </a:r>
            <a:endParaRPr lang="en-US" altLang="zh-CN" sz="2000" b="1" dirty="0">
              <a:cs typeface="+mn-ea"/>
              <a:sym typeface="+mn-lt"/>
            </a:endParaRPr>
          </a:p>
          <a:p>
            <a:pPr marL="0" indent="0">
              <a:buNone/>
            </a:pPr>
            <a:r>
              <a:rPr lang="zh-CN" altLang="en-US" sz="2000" dirty="0">
                <a:cs typeface="+mn-ea"/>
                <a:sym typeface="+mn-lt"/>
              </a:rPr>
              <a:t>在</a:t>
            </a:r>
            <a:r>
              <a:rPr lang="en-US" altLang="zh-CN" sz="2000" dirty="0" err="1">
                <a:cs typeface="+mn-ea"/>
                <a:sym typeface="+mn-lt"/>
              </a:rPr>
              <a:t>DarkNet</a:t>
            </a:r>
            <a:r>
              <a:rPr lang="zh-CN" altLang="en-US" sz="2000" dirty="0">
                <a:cs typeface="+mn-ea"/>
                <a:sym typeface="+mn-lt"/>
              </a:rPr>
              <a:t>输出图像的特征特征图之后，还需要输出网络从特征图上解码出目标的位置和类别，</a:t>
            </a:r>
            <a:r>
              <a:rPr lang="en-US" altLang="zh-CN" sz="2000" dirty="0">
                <a:cs typeface="+mn-ea"/>
                <a:sym typeface="+mn-lt"/>
              </a:rPr>
              <a:t>YOLOv2</a:t>
            </a:r>
            <a:r>
              <a:rPr lang="zh-CN" altLang="en-US" sz="2000" dirty="0">
                <a:cs typeface="+mn-ea"/>
                <a:sym typeface="+mn-lt"/>
              </a:rPr>
              <a:t>的输出网络由</a:t>
            </a:r>
            <a:r>
              <a:rPr lang="en-US" altLang="zh-CN" sz="2000" dirty="0">
                <a:cs typeface="+mn-ea"/>
                <a:sym typeface="+mn-lt"/>
              </a:rPr>
              <a:t>v1</a:t>
            </a:r>
            <a:r>
              <a:rPr lang="zh-CN" altLang="en-US" sz="2000" dirty="0">
                <a:cs typeface="+mn-ea"/>
                <a:sym typeface="+mn-lt"/>
              </a:rPr>
              <a:t>的全连接网络，直接替换成了卷积网络，</a:t>
            </a:r>
            <a:r>
              <a:rPr lang="zh-CN" altLang="en-US" sz="2000" b="1" dirty="0">
                <a:cs typeface="+mn-ea"/>
                <a:sym typeface="+mn-lt"/>
              </a:rPr>
              <a:t>网络图如右图所示</a:t>
            </a:r>
            <a:r>
              <a:rPr lang="zh-CN" altLang="en-US" sz="2000" dirty="0">
                <a:cs typeface="+mn-ea"/>
                <a:sym typeface="+mn-lt"/>
              </a:rPr>
              <a:t>。其中</a:t>
            </a:r>
            <a:r>
              <a:rPr lang="en-US" altLang="zh-CN" sz="2000" dirty="0">
                <a:cs typeface="+mn-ea"/>
                <a:sym typeface="+mn-lt"/>
              </a:rPr>
              <a:t>Concatenate</a:t>
            </a:r>
            <a:r>
              <a:rPr lang="zh-CN" altLang="en-US" sz="2000" dirty="0">
                <a:cs typeface="+mn-ea"/>
                <a:sym typeface="+mn-lt"/>
              </a:rPr>
              <a:t>层实现了</a:t>
            </a:r>
            <a:r>
              <a:rPr lang="zh-CN" altLang="en-US" sz="2000" b="1" dirty="0">
                <a:cs typeface="+mn-ea"/>
                <a:sym typeface="+mn-lt"/>
              </a:rPr>
              <a:t>深层的粗粒度特征</a:t>
            </a:r>
            <a:r>
              <a:rPr lang="zh-CN" altLang="en-US" sz="2000" dirty="0">
                <a:cs typeface="+mn-ea"/>
                <a:sym typeface="+mn-lt"/>
              </a:rPr>
              <a:t>和</a:t>
            </a:r>
            <a:r>
              <a:rPr lang="zh-CN" altLang="en-US" sz="2000" b="1" dirty="0">
                <a:cs typeface="+mn-ea"/>
                <a:sym typeface="+mn-lt"/>
              </a:rPr>
              <a:t>浅层的像素特征</a:t>
            </a:r>
            <a:r>
              <a:rPr lang="zh-CN" altLang="en-US" sz="2000" dirty="0">
                <a:cs typeface="+mn-ea"/>
                <a:sym typeface="+mn-lt"/>
              </a:rPr>
              <a:t>的拼接，增强了算法对</a:t>
            </a:r>
            <a:r>
              <a:rPr lang="zh-CN" altLang="en-US" sz="2000" b="1" dirty="0">
                <a:cs typeface="+mn-ea"/>
                <a:sym typeface="+mn-lt"/>
              </a:rPr>
              <a:t>不同尺度目标</a:t>
            </a:r>
            <a:r>
              <a:rPr lang="zh-CN" altLang="en-US" sz="2000" dirty="0">
                <a:cs typeface="+mn-ea"/>
                <a:sym typeface="+mn-lt"/>
              </a:rPr>
              <a:t>的检测能力。</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6418541" y="1961966"/>
            <a:ext cx="4106174" cy="367346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825625"/>
            <a:ext cx="6929761" cy="4351338"/>
          </a:xfrm>
        </p:spPr>
        <p:txBody>
          <a:bodyPr>
            <a:normAutofit/>
          </a:bodyPr>
          <a:lstStyle/>
          <a:p>
            <a:pPr marL="0" indent="0">
              <a:buNone/>
            </a:pPr>
            <a:r>
              <a:rPr lang="zh-CN" altLang="en-US" sz="2000" dirty="0">
                <a:cs typeface="+mn-ea"/>
                <a:sym typeface="+mn-lt"/>
              </a:rPr>
              <a:t>下面将详细介绍输出网络的一些细节：</a:t>
            </a:r>
            <a:endParaRPr lang="en-US" altLang="zh-CN" sz="2000" dirty="0">
              <a:cs typeface="+mn-ea"/>
              <a:sym typeface="+mn-lt"/>
            </a:endParaRPr>
          </a:p>
          <a:p>
            <a:pPr marL="457200" indent="-457200">
              <a:buAutoNum type="arabicParenR"/>
            </a:pPr>
            <a:r>
              <a:rPr lang="zh-CN" altLang="en-US" sz="2000" b="1" dirty="0">
                <a:cs typeface="+mn-ea"/>
                <a:sym typeface="+mn-lt"/>
              </a:rPr>
              <a:t>基于先验框进行预测</a:t>
            </a:r>
            <a:endParaRPr lang="en-US" altLang="zh-CN" sz="2000" b="1" dirty="0">
              <a:cs typeface="+mn-ea"/>
              <a:sym typeface="+mn-lt"/>
            </a:endParaRPr>
          </a:p>
          <a:p>
            <a:pPr marL="0" indent="0">
              <a:buNone/>
            </a:pPr>
            <a:r>
              <a:rPr lang="en-US" altLang="zh-CN" sz="2000" dirty="0">
                <a:cs typeface="+mn-ea"/>
                <a:sym typeface="+mn-lt"/>
              </a:rPr>
              <a:t>YOLOv1 </a:t>
            </a:r>
            <a:r>
              <a:rPr lang="zh-CN" altLang="en-US" sz="2000" dirty="0">
                <a:cs typeface="+mn-ea"/>
                <a:sym typeface="+mn-lt"/>
              </a:rPr>
              <a:t>指出早期训练容易出现不稳定的梯度</a:t>
            </a:r>
            <a:r>
              <a:rPr lang="en-US" altLang="zh-CN" sz="2000" dirty="0">
                <a:cs typeface="+mn-ea"/>
                <a:sym typeface="+mn-lt"/>
              </a:rPr>
              <a:t>, </a:t>
            </a:r>
            <a:r>
              <a:rPr lang="zh-CN" altLang="en-US" sz="2000" dirty="0">
                <a:cs typeface="+mn-ea"/>
                <a:sym typeface="+mn-lt"/>
              </a:rPr>
              <a:t>这是由于训练初期，</a:t>
            </a:r>
            <a:r>
              <a:rPr lang="en-US" altLang="zh-CN" sz="2000" dirty="0">
                <a:cs typeface="+mn-ea"/>
                <a:sym typeface="+mn-lt"/>
              </a:rPr>
              <a:t>YOLOv1</a:t>
            </a:r>
            <a:r>
              <a:rPr lang="zh-CN" altLang="en-US" sz="2000" dirty="0">
                <a:cs typeface="+mn-ea"/>
                <a:sym typeface="+mn-lt"/>
              </a:rPr>
              <a:t>对边界框的位置进行任意的猜测，这些猜测难以适配不同尺度的目标，这就导致了梯度的陡峭变化。由于实际的目标往往具备相似的形状，例如人对应的真值框的款高比近似为</a:t>
            </a:r>
            <a:r>
              <a:rPr lang="en-US" altLang="zh-CN" sz="2000" dirty="0">
                <a:cs typeface="+mn-ea"/>
                <a:sym typeface="+mn-lt"/>
              </a:rPr>
              <a:t>0.41</a:t>
            </a:r>
            <a:r>
              <a:rPr lang="zh-CN" altLang="en-US" sz="2000" dirty="0">
                <a:cs typeface="+mn-ea"/>
                <a:sym typeface="+mn-lt"/>
              </a:rPr>
              <a:t>，如果在</a:t>
            </a:r>
            <a:r>
              <a:rPr lang="zh-CN" altLang="en-US" sz="2000" b="1" dirty="0">
                <a:cs typeface="+mn-ea"/>
                <a:sym typeface="+mn-lt"/>
              </a:rPr>
              <a:t>得知目标常见形状</a:t>
            </a:r>
            <a:r>
              <a:rPr lang="zh-CN" altLang="en-US" sz="2000" dirty="0">
                <a:cs typeface="+mn-ea"/>
                <a:sym typeface="+mn-lt"/>
              </a:rPr>
              <a:t>这一先验知识的前提下，对目标的位置进行修正，训练将更加稳定，模型也将收敛到更优的性能。基于这一点，</a:t>
            </a:r>
            <a:r>
              <a:rPr lang="en-US" altLang="zh-CN" sz="2000" dirty="0">
                <a:cs typeface="+mn-ea"/>
                <a:sym typeface="+mn-lt"/>
              </a:rPr>
              <a:t>YOLOv2</a:t>
            </a:r>
            <a:r>
              <a:rPr lang="zh-CN" altLang="en-US" sz="2000" dirty="0">
                <a:cs typeface="+mn-ea"/>
                <a:sym typeface="+mn-lt"/>
              </a:rPr>
              <a:t>在网络中引入了</a:t>
            </a:r>
            <a:r>
              <a:rPr lang="en-US" altLang="zh-CN" sz="2000" b="1" dirty="0">
                <a:cs typeface="+mn-ea"/>
                <a:sym typeface="+mn-lt"/>
              </a:rPr>
              <a:t>Anchor</a:t>
            </a:r>
            <a:r>
              <a:rPr lang="zh-CN" altLang="en-US" sz="2000" dirty="0">
                <a:cs typeface="+mn-ea"/>
                <a:sym typeface="+mn-lt"/>
              </a:rPr>
              <a:t>（在</a:t>
            </a:r>
            <a:r>
              <a:rPr lang="en-US" altLang="zh-CN" sz="2000" dirty="0">
                <a:cs typeface="+mn-ea"/>
                <a:sym typeface="+mn-lt"/>
              </a:rPr>
              <a:t>YOLOv2</a:t>
            </a:r>
            <a:r>
              <a:rPr lang="zh-CN" altLang="en-US" sz="2000" dirty="0">
                <a:cs typeface="+mn-ea"/>
                <a:sym typeface="+mn-lt"/>
              </a:rPr>
              <a:t>中又被称为先验框）的概念，</a:t>
            </a:r>
            <a:r>
              <a:rPr lang="zh-CN" altLang="en-US" sz="2000" b="1" dirty="0">
                <a:cs typeface="+mn-ea"/>
                <a:sym typeface="+mn-lt"/>
              </a:rPr>
              <a:t>右图展示了</a:t>
            </a:r>
            <a:r>
              <a:rPr lang="en-US" altLang="zh-CN" sz="2000" b="1" dirty="0">
                <a:cs typeface="+mn-ea"/>
                <a:sym typeface="+mn-lt"/>
              </a:rPr>
              <a:t>5</a:t>
            </a:r>
            <a:r>
              <a:rPr lang="zh-CN" altLang="en-US" sz="2000" b="1" dirty="0">
                <a:cs typeface="+mn-ea"/>
                <a:sym typeface="+mn-lt"/>
              </a:rPr>
              <a:t>个形状各异的</a:t>
            </a:r>
            <a:r>
              <a:rPr lang="en-US" altLang="zh-CN" sz="2000" b="1" dirty="0">
                <a:cs typeface="+mn-ea"/>
                <a:sym typeface="+mn-lt"/>
              </a:rPr>
              <a:t>Anchor</a:t>
            </a:r>
            <a:r>
              <a:rPr lang="zh-CN" altLang="en-US" sz="2000" dirty="0">
                <a:cs typeface="+mn-ea"/>
                <a:sym typeface="+mn-lt"/>
              </a:rPr>
              <a:t>。</a:t>
            </a:r>
            <a:r>
              <a:rPr lang="en-US" altLang="zh-CN" sz="2000" dirty="0">
                <a:cs typeface="+mn-ea"/>
                <a:sym typeface="+mn-lt"/>
              </a:rPr>
              <a:t>YOLOv2</a:t>
            </a:r>
            <a:r>
              <a:rPr lang="zh-CN" altLang="en-US" sz="2000" dirty="0">
                <a:cs typeface="+mn-ea"/>
                <a:sym typeface="+mn-lt"/>
              </a:rPr>
              <a:t>在每个网格中设置这</a:t>
            </a:r>
            <a:r>
              <a:rPr lang="en-US" altLang="zh-CN" sz="2000" dirty="0">
                <a:cs typeface="+mn-ea"/>
                <a:sym typeface="+mn-lt"/>
              </a:rPr>
              <a:t>5</a:t>
            </a:r>
            <a:r>
              <a:rPr lang="zh-CN" altLang="en-US" sz="2000" dirty="0">
                <a:cs typeface="+mn-ea"/>
                <a:sym typeface="+mn-lt"/>
              </a:rPr>
              <a:t>个</a:t>
            </a:r>
            <a:r>
              <a:rPr lang="en-US" altLang="zh-CN" sz="2000" dirty="0">
                <a:cs typeface="+mn-ea"/>
                <a:sym typeface="+mn-lt"/>
              </a:rPr>
              <a:t>Anchor</a:t>
            </a:r>
            <a:r>
              <a:rPr lang="zh-CN" altLang="en-US" sz="2000" dirty="0">
                <a:cs typeface="+mn-ea"/>
                <a:sym typeface="+mn-lt"/>
              </a:rPr>
              <a:t>，并在此基础上回归目标的位置，在</a:t>
            </a:r>
            <a:r>
              <a:rPr lang="zh-CN" altLang="en-US" sz="2000" b="1" dirty="0">
                <a:cs typeface="+mn-ea"/>
                <a:sym typeface="+mn-lt"/>
              </a:rPr>
              <a:t>保证多样性</a:t>
            </a:r>
            <a:r>
              <a:rPr lang="zh-CN" altLang="en-US" sz="2000" dirty="0">
                <a:cs typeface="+mn-ea"/>
                <a:sym typeface="+mn-lt"/>
              </a:rPr>
              <a:t>的同时，使的训练过程更稳定。</a:t>
            </a:r>
            <a:endParaRPr lang="en-US" altLang="zh-CN"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descr="图片包含 正方形&#10;&#10;描述已自动生成"/>
          <p:cNvPicPr/>
          <p:nvPr/>
        </p:nvPicPr>
        <p:blipFill rotWithShape="1">
          <a:blip r:embed="rId1"/>
          <a:srcRect l="25127" r="29103"/>
          <a:stretch>
            <a:fillRect/>
          </a:stretch>
        </p:blipFill>
        <p:spPr>
          <a:xfrm>
            <a:off x="8451541" y="2588642"/>
            <a:ext cx="2601158" cy="2729082"/>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pPr marL="0" indent="0">
                  <a:buNone/>
                </a:pPr>
                <a:r>
                  <a:rPr lang="en-US" altLang="zh-CN" sz="2000" dirty="0">
                    <a:cs typeface="+mn-ea"/>
                    <a:sym typeface="+mn-lt"/>
                  </a:rPr>
                  <a:t>Faster R-CNN</a:t>
                </a:r>
                <a:r>
                  <a:rPr lang="zh-CN" altLang="en-US" sz="2000" dirty="0">
                    <a:cs typeface="+mn-ea"/>
                    <a:sym typeface="+mn-lt"/>
                  </a:rPr>
                  <a:t>使用的锚框是</a:t>
                </a:r>
                <a:r>
                  <a:rPr lang="zh-CN" altLang="en-US" sz="2000" b="1" dirty="0">
                    <a:cs typeface="+mn-ea"/>
                    <a:sym typeface="+mn-lt"/>
                  </a:rPr>
                  <a:t>预先设定好的三种宽高比</a:t>
                </a:r>
                <a:r>
                  <a:rPr lang="zh-CN" altLang="en-US" sz="2000" dirty="0">
                    <a:cs typeface="+mn-ea"/>
                    <a:sym typeface="+mn-lt"/>
                  </a:rPr>
                  <a:t>、</a:t>
                </a:r>
                <a:r>
                  <a:rPr lang="zh-CN" altLang="en-US" sz="2000" b="1" dirty="0">
                    <a:cs typeface="+mn-ea"/>
                    <a:sym typeface="+mn-lt"/>
                  </a:rPr>
                  <a:t>三种面积大小的矩形框</a:t>
                </a:r>
                <a:r>
                  <a:rPr lang="zh-CN" altLang="en-US" sz="2000" dirty="0">
                    <a:cs typeface="+mn-ea"/>
                    <a:sym typeface="+mn-lt"/>
                  </a:rPr>
                  <a:t>，总共九种锚框。</a:t>
                </a:r>
                <a:r>
                  <a:rPr lang="en-US" altLang="zh-CN" sz="2000" dirty="0">
                    <a:cs typeface="+mn-ea"/>
                    <a:sym typeface="+mn-lt"/>
                  </a:rPr>
                  <a:t>YOLOv2</a:t>
                </a:r>
                <a:r>
                  <a:rPr lang="zh-CN" altLang="en-US" sz="2000" dirty="0">
                    <a:cs typeface="+mn-ea"/>
                    <a:sym typeface="+mn-lt"/>
                  </a:rPr>
                  <a:t>做了进一步的改进，通过</a:t>
                </a:r>
                <a:r>
                  <a:rPr lang="en-US" altLang="zh-CN" sz="2000" b="1" dirty="0">
                    <a:cs typeface="+mn-ea"/>
                    <a:sym typeface="+mn-lt"/>
                  </a:rPr>
                  <a:t>k-means</a:t>
                </a:r>
                <a:r>
                  <a:rPr lang="zh-CN" altLang="en-US" sz="2000" b="1" dirty="0">
                    <a:cs typeface="+mn-ea"/>
                    <a:sym typeface="+mn-lt"/>
                  </a:rPr>
                  <a:t>算法</a:t>
                </a:r>
                <a:r>
                  <a:rPr lang="zh-CN" altLang="en-US" sz="2000" dirty="0">
                    <a:cs typeface="+mn-ea"/>
                    <a:sym typeface="+mn-lt"/>
                  </a:rPr>
                  <a:t>，在训练集中对</a:t>
                </a:r>
                <a:r>
                  <a:rPr lang="en-US" altLang="zh-CN" sz="2000" dirty="0">
                    <a:cs typeface="+mn-ea"/>
                    <a:sym typeface="+mn-lt"/>
                  </a:rPr>
                  <a:t>anchor</a:t>
                </a:r>
                <a:r>
                  <a:rPr lang="zh-CN" altLang="en-US" sz="2000" dirty="0">
                    <a:cs typeface="+mn-ea"/>
                    <a:sym typeface="+mn-lt"/>
                  </a:rPr>
                  <a:t>的宽高进行聚类，使</a:t>
                </a:r>
                <a:r>
                  <a:rPr lang="en-US" altLang="zh-CN" sz="2000" dirty="0">
                    <a:cs typeface="+mn-ea"/>
                    <a:sym typeface="+mn-lt"/>
                  </a:rPr>
                  <a:t>anchor</a:t>
                </a:r>
                <a:r>
                  <a:rPr lang="zh-CN" altLang="en-US" sz="2000" dirty="0">
                    <a:cs typeface="+mn-ea"/>
                    <a:sym typeface="+mn-lt"/>
                  </a:rPr>
                  <a:t>能够更好的适应训练集合。具体地，用</a:t>
                </a:r>
                <a:r>
                  <a:rPr lang="en-US" altLang="zh-CN" sz="2000" dirty="0">
                    <a:cs typeface="+mn-ea"/>
                    <a:sym typeface="+mn-lt"/>
                  </a:rPr>
                  <a:t>box</a:t>
                </a:r>
                <a:r>
                  <a:rPr lang="zh-CN" altLang="en-US" sz="2000" dirty="0">
                    <a:cs typeface="+mn-ea"/>
                    <a:sym typeface="+mn-lt"/>
                  </a:rPr>
                  <a:t>表示任意一个目标框，</a:t>
                </a:r>
                <a:r>
                  <a:rPr lang="en-US" altLang="zh-CN" sz="2000" dirty="0">
                    <a:cs typeface="+mn-ea"/>
                    <a:sym typeface="+mn-lt"/>
                  </a:rPr>
                  <a:t>centroid</a:t>
                </a:r>
                <a:r>
                  <a:rPr lang="zh-CN" altLang="en-US" sz="2000" dirty="0">
                    <a:cs typeface="+mn-ea"/>
                    <a:sym typeface="+mn-lt"/>
                  </a:rPr>
                  <a:t>表示</a:t>
                </a:r>
                <a:r>
                  <a:rPr lang="en-US" altLang="zh-CN" sz="2000" dirty="0">
                    <a:cs typeface="+mn-ea"/>
                    <a:sym typeface="+mn-lt"/>
                  </a:rPr>
                  <a:t>k-means</a:t>
                </a:r>
                <a:r>
                  <a:rPr lang="zh-CN" altLang="en-US" sz="2000" dirty="0">
                    <a:cs typeface="+mn-ea"/>
                    <a:sym typeface="+mn-lt"/>
                  </a:rPr>
                  <a:t>聚类中心</a:t>
                </a:r>
                <a:r>
                  <a:rPr lang="en-US" altLang="zh-CN" sz="2000" dirty="0">
                    <a:cs typeface="+mn-ea"/>
                    <a:sym typeface="+mn-lt"/>
                  </a:rPr>
                  <a:t>anchor</a:t>
                </a:r>
                <a:r>
                  <a:rPr lang="zh-CN" altLang="en-US" sz="2000" dirty="0">
                    <a:cs typeface="+mn-ea"/>
                    <a:sym typeface="+mn-lt"/>
                  </a:rPr>
                  <a:t>，定义两者之间的距离为：</a:t>
                </a:r>
                <a:endParaRPr lang="en-US" altLang="zh-CN" sz="2000" dirty="0">
                  <a:cs typeface="+mn-ea"/>
                  <a:sym typeface="+mn-lt"/>
                </a:endParaRPr>
              </a:p>
              <a:p>
                <a:pPr marL="0" indent="0">
                  <a:buNone/>
                </a:pPr>
                <a:r>
                  <a:rPr lang="zh-CN" altLang="en-US" sz="2000" dirty="0">
                    <a:cs typeface="+mn-ea"/>
                    <a:sym typeface="+mn-lt"/>
                  </a:rPr>
                  <a:t>选择的聚类中心越多，能够匹配的目标框就越多，但生成的预测框也更多，模型推理过程也会越复杂。为了平衡精度和运算效率，作者设置先验框的数量为</a:t>
                </a:r>
                <a:r>
                  <a:rPr lang="en-US" altLang="zh-CN" sz="2000" dirty="0">
                    <a:cs typeface="+mn-ea"/>
                    <a:sym typeface="+mn-lt"/>
                  </a:rPr>
                  <a:t>5</a:t>
                </a:r>
                <a:r>
                  <a:rPr lang="zh-CN" altLang="en-US" sz="2000" dirty="0">
                    <a:cs typeface="+mn-ea"/>
                    <a:sym typeface="+mn-lt"/>
                  </a:rPr>
                  <a:t>。</a:t>
                </a:r>
                <a:endParaRPr lang="en-US" altLang="zh-CN" sz="2000" dirty="0">
                  <a:cs typeface="+mn-ea"/>
                  <a:sym typeface="+mn-lt"/>
                </a:endParaRPr>
              </a:p>
              <a:p>
                <a:pPr marL="0" indent="0">
                  <a:buNone/>
                </a:pPr>
                <a:r>
                  <a:rPr lang="zh-CN" altLang="zh-CN" sz="2000" kern="100" dirty="0">
                    <a:solidFill>
                      <a:srgbClr val="0D0D0D"/>
                    </a:solidFill>
                    <a:effectLst/>
                    <a:cs typeface="+mn-ea"/>
                    <a:sym typeface="+mn-lt"/>
                  </a:rPr>
                  <a:t>在回归目标框的坐标时，可以直接在</a:t>
                </a:r>
                <a:r>
                  <a:rPr lang="en-US" altLang="zh-CN" sz="2000" kern="100" dirty="0">
                    <a:solidFill>
                      <a:srgbClr val="0D0D0D"/>
                    </a:solidFill>
                    <a:effectLst/>
                    <a:cs typeface="+mn-ea"/>
                    <a:sym typeface="+mn-lt"/>
                  </a:rPr>
                  <a:t>Anchor</a:t>
                </a:r>
                <a:r>
                  <a:rPr lang="zh-CN" altLang="zh-CN" sz="2000" kern="100" dirty="0">
                    <a:solidFill>
                      <a:srgbClr val="0D0D0D"/>
                    </a:solidFill>
                    <a:effectLst/>
                    <a:cs typeface="+mn-ea"/>
                    <a:sym typeface="+mn-lt"/>
                  </a:rPr>
                  <a:t>的基础上进行进行修正。如果像</a:t>
                </a:r>
                <a:r>
                  <a:rPr lang="en-US" altLang="zh-CN" sz="2000" kern="100" dirty="0">
                    <a:solidFill>
                      <a:srgbClr val="0D0D0D"/>
                    </a:solidFill>
                    <a:effectLst/>
                    <a:cs typeface="+mn-ea"/>
                    <a:sym typeface="+mn-lt"/>
                  </a:rPr>
                  <a:t>Faster R-CNN</a:t>
                </a:r>
                <a:r>
                  <a:rPr lang="zh-CN" altLang="zh-CN" sz="2000" kern="100" dirty="0">
                    <a:solidFill>
                      <a:srgbClr val="0D0D0D"/>
                    </a:solidFill>
                    <a:effectLst/>
                    <a:cs typeface="+mn-ea"/>
                    <a:sym typeface="+mn-lt"/>
                  </a:rPr>
                  <a:t>一样对坐标的输出不加约束，在训练初期预测框可能会出现在图片中的任意位置，因此会产生不稳定的梯度。如下式所示，其中</a:t>
                </a:r>
                <a14:m>
                  <m:oMath xmlns:m="http://schemas.openxmlformats.org/officeDocument/2006/math">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kern="100">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𝑥</m:t>
                        </m:r>
                      </m:e>
                      <m:sub>
                        <m:r>
                          <a:rPr lang="en-US" altLang="zh-CN" sz="2000" i="1" kern="100">
                            <a:solidFill>
                              <a:srgbClr val="0D0D0D"/>
                            </a:solidFill>
                            <a:effectLst/>
                            <a:latin typeface="Cambria Math" panose="02040503050406030204" pitchFamily="18" charset="0"/>
                            <a:cs typeface="+mn-ea"/>
                            <a:sym typeface="+mn-lt"/>
                          </a:rPr>
                          <m:t>𝑎</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kern="100">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𝑦</m:t>
                        </m:r>
                      </m:e>
                      <m:sub>
                        <m:r>
                          <a:rPr lang="en-US" altLang="zh-CN" sz="2000" i="1" kern="100">
                            <a:solidFill>
                              <a:srgbClr val="0D0D0D"/>
                            </a:solidFill>
                            <a:effectLst/>
                            <a:latin typeface="Cambria Math" panose="02040503050406030204" pitchFamily="18" charset="0"/>
                            <a:cs typeface="+mn-ea"/>
                            <a:sym typeface="+mn-lt"/>
                          </a:rPr>
                          <m:t>𝑎</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kern="100">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𝑤</m:t>
                        </m:r>
                      </m:e>
                      <m:sub>
                        <m:r>
                          <a:rPr lang="en-US" altLang="zh-CN" sz="2000" i="1" kern="100">
                            <a:solidFill>
                              <a:srgbClr val="0D0D0D"/>
                            </a:solidFill>
                            <a:effectLst/>
                            <a:latin typeface="Cambria Math" panose="02040503050406030204" pitchFamily="18" charset="0"/>
                            <a:cs typeface="+mn-ea"/>
                            <a:sym typeface="+mn-lt"/>
                          </a:rPr>
                          <m:t>𝑎</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kern="100">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ℎ</m:t>
                        </m:r>
                      </m:e>
                      <m:sub>
                        <m:r>
                          <a:rPr lang="en-US" altLang="zh-CN" sz="2000" i="1" kern="100">
                            <a:solidFill>
                              <a:srgbClr val="0D0D0D"/>
                            </a:solidFill>
                            <a:effectLst/>
                            <a:latin typeface="Cambria Math" panose="02040503050406030204" pitchFamily="18" charset="0"/>
                            <a:cs typeface="+mn-ea"/>
                            <a:sym typeface="+mn-lt"/>
                          </a:rPr>
                          <m:t>𝑎</m:t>
                        </m:r>
                      </m:sub>
                    </m:sSub>
                    <m:r>
                      <a:rPr lang="en-US" altLang="zh-CN" sz="2000" kern="100">
                        <a:solidFill>
                          <a:srgbClr val="0D0D0D"/>
                        </a:solidFill>
                        <a:effectLst/>
                        <a:latin typeface="Cambria Math" panose="02040503050406030204" pitchFamily="18" charset="0"/>
                        <a:cs typeface="+mn-ea"/>
                        <a:sym typeface="+mn-lt"/>
                      </a:rPr>
                      <m:t>)</m:t>
                    </m:r>
                  </m:oMath>
                </a14:m>
                <a:r>
                  <a:rPr lang="zh-CN" altLang="zh-CN" sz="2000" kern="100" dirty="0">
                    <a:solidFill>
                      <a:srgbClr val="0D0D0D"/>
                    </a:solidFill>
                    <a:effectLst/>
                    <a:cs typeface="+mn-ea"/>
                    <a:sym typeface="+mn-lt"/>
                  </a:rPr>
                  <a:t>表示候选框的参数，</a:t>
                </a:r>
                <a14:m>
                  <m:oMath xmlns:m="http://schemas.openxmlformats.org/officeDocument/2006/math">
                    <m:sSub>
                      <m:sSubPr>
                        <m:ctrlPr>
                          <a:rPr lang="zh-CN" altLang="zh-CN" sz="2000" i="1" kern="100">
                            <a:solidFill>
                              <a:srgbClr val="0D0D0D"/>
                            </a:solidFill>
                            <a:effectLst/>
                            <a:latin typeface="Cambria Math" panose="02040503050406030204" pitchFamily="18" charset="0"/>
                            <a:cs typeface="+mn-ea"/>
                            <a:sym typeface="+mn-lt"/>
                          </a:rPr>
                        </m:ctrlPr>
                      </m:sSubPr>
                      <m:e>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𝑡</m:t>
                        </m:r>
                      </m:e>
                      <m:sub>
                        <m:r>
                          <a:rPr lang="en-US" altLang="zh-CN" sz="2000" i="1" kern="100">
                            <a:solidFill>
                              <a:srgbClr val="0D0D0D"/>
                            </a:solidFill>
                            <a:effectLst/>
                            <a:latin typeface="Cambria Math" panose="02040503050406030204" pitchFamily="18" charset="0"/>
                            <a:cs typeface="+mn-ea"/>
                            <a:sym typeface="+mn-lt"/>
                          </a:rPr>
                          <m:t>𝑥</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kern="100">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𝑡</m:t>
                        </m:r>
                      </m:e>
                      <m:sub>
                        <m:r>
                          <a:rPr lang="en-US" altLang="zh-CN" sz="2000" i="1" kern="100">
                            <a:solidFill>
                              <a:srgbClr val="0D0D0D"/>
                            </a:solidFill>
                            <a:effectLst/>
                            <a:latin typeface="Cambria Math" panose="02040503050406030204" pitchFamily="18" charset="0"/>
                            <a:cs typeface="+mn-ea"/>
                            <a:sym typeface="+mn-lt"/>
                          </a:rPr>
                          <m:t>𝑦</m:t>
                        </m:r>
                      </m:sub>
                    </m:sSub>
                    <m:r>
                      <a:rPr lang="en-US" altLang="zh-CN" sz="2000" kern="100">
                        <a:solidFill>
                          <a:srgbClr val="0D0D0D"/>
                        </a:solidFill>
                        <a:effectLst/>
                        <a:latin typeface="Cambria Math" panose="02040503050406030204" pitchFamily="18" charset="0"/>
                        <a:cs typeface="+mn-ea"/>
                        <a:sym typeface="+mn-lt"/>
                      </a:rPr>
                      <m:t>)</m:t>
                    </m:r>
                  </m:oMath>
                </a14:m>
                <a:r>
                  <a:rPr lang="zh-CN" altLang="zh-CN" sz="2000" kern="100" dirty="0">
                    <a:solidFill>
                      <a:srgbClr val="0D0D0D"/>
                    </a:solidFill>
                    <a:effectLst/>
                    <a:cs typeface="+mn-ea"/>
                    <a:sym typeface="+mn-lt"/>
                  </a:rPr>
                  <a:t>为可学习参数，</a:t>
                </a:r>
                <a14:m>
                  <m:oMath xmlns:m="http://schemas.openxmlformats.org/officeDocument/2006/math">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𝑥</m:t>
                    </m:r>
                    <m:r>
                      <a:rPr lang="en-US" altLang="zh-CN" sz="2000" kern="100">
                        <a:solidFill>
                          <a:srgbClr val="0D0D0D"/>
                        </a:solidFill>
                        <a:effectLst/>
                        <a:latin typeface="Cambria Math" panose="02040503050406030204" pitchFamily="18" charset="0"/>
                        <a:cs typeface="+mn-ea"/>
                        <a:sym typeface="+mn-lt"/>
                      </a:rPr>
                      <m:t>,</m:t>
                    </m:r>
                    <m:r>
                      <a:rPr lang="en-US" altLang="zh-CN" sz="2000" i="1" kern="100">
                        <a:solidFill>
                          <a:srgbClr val="0D0D0D"/>
                        </a:solidFill>
                        <a:effectLst/>
                        <a:latin typeface="Cambria Math" panose="02040503050406030204" pitchFamily="18" charset="0"/>
                        <a:cs typeface="+mn-ea"/>
                        <a:sym typeface="+mn-lt"/>
                      </a:rPr>
                      <m:t>𝑦</m:t>
                    </m:r>
                    <m:r>
                      <a:rPr lang="en-US" altLang="zh-CN" sz="2000" kern="100">
                        <a:solidFill>
                          <a:srgbClr val="0D0D0D"/>
                        </a:solidFill>
                        <a:effectLst/>
                        <a:latin typeface="Cambria Math" panose="02040503050406030204" pitchFamily="18" charset="0"/>
                        <a:cs typeface="+mn-ea"/>
                        <a:sym typeface="+mn-lt"/>
                      </a:rPr>
                      <m:t>)</m:t>
                    </m:r>
                  </m:oMath>
                </a14:m>
                <a:r>
                  <a:rPr lang="zh-CN" altLang="zh-CN" sz="2000" kern="100" dirty="0">
                    <a:solidFill>
                      <a:srgbClr val="0D0D0D"/>
                    </a:solidFill>
                    <a:effectLst/>
                    <a:cs typeface="+mn-ea"/>
                    <a:sym typeface="+mn-lt"/>
                  </a:rPr>
                  <a:t>是预测框的位置。</a:t>
                </a:r>
                <a:endParaRPr lang="en-US" altLang="zh-CN" sz="2000" kern="100" dirty="0">
                  <a:solidFill>
                    <a:srgbClr val="0D0D0D"/>
                  </a:solidFill>
                  <a:effectLst/>
                  <a:cs typeface="+mn-ea"/>
                  <a:sym typeface="+mn-lt"/>
                </a:endParaRPr>
              </a:p>
              <a:p>
                <a:pPr marL="0" indent="0">
                  <a:buNone/>
                </a:pPr>
                <a:endParaRPr lang="en-US" altLang="zh-CN" sz="2000" kern="100" dirty="0">
                  <a:solidFill>
                    <a:srgbClr val="0D0D0D"/>
                  </a:solidFill>
                  <a:cs typeface="+mn-ea"/>
                  <a:sym typeface="+mn-lt"/>
                </a:endParaRPr>
              </a:p>
              <a:p>
                <a:pPr marL="0" indent="0">
                  <a:buNone/>
                </a:pPr>
                <a:endParaRPr lang="zh-CN" altLang="en-US" sz="2000" dirty="0">
                  <a:cs typeface="+mn-ea"/>
                  <a:sym typeface="+mn-lt"/>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rotWithShape="1">
          <a:blip r:embed="rId2"/>
          <a:srcRect l="24577" t="6138" r="25472" b="-5662"/>
          <a:stretch>
            <a:fillRect/>
          </a:stretch>
        </p:blipFill>
        <p:spPr>
          <a:xfrm>
            <a:off x="6377865" y="2645545"/>
            <a:ext cx="4465469" cy="417251"/>
          </a:xfrm>
          <a:prstGeom prst="rect">
            <a:avLst/>
          </a:prstGeom>
        </p:spPr>
      </p:pic>
      <p:pic>
        <p:nvPicPr>
          <p:cNvPr id="10" name="图片 9"/>
          <p:cNvPicPr>
            <a:picLocks noChangeAspect="1"/>
          </p:cNvPicPr>
          <p:nvPr/>
        </p:nvPicPr>
        <p:blipFill rotWithShape="1">
          <a:blip r:embed="rId3"/>
          <a:srcRect l="38105" r="38739"/>
          <a:stretch>
            <a:fillRect/>
          </a:stretch>
        </p:blipFill>
        <p:spPr>
          <a:xfrm>
            <a:off x="4722828" y="4799847"/>
            <a:ext cx="2325950" cy="7496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825624"/>
                <a:ext cx="5368636" cy="4530725"/>
              </a:xfrm>
            </p:spPr>
            <p:txBody>
              <a:bodyPr>
                <a:normAutofit/>
              </a:bodyPr>
              <a:lstStyle/>
              <a:p>
                <a:pPr marL="0" indent="0">
                  <a:buNone/>
                </a:pPr>
                <a:r>
                  <a:rPr lang="zh-CN" altLang="en-US" sz="2000" dirty="0">
                    <a:cs typeface="+mn-ea"/>
                    <a:sym typeface="+mn-lt"/>
                  </a:rPr>
                  <a:t>因此</a:t>
                </a:r>
                <a:r>
                  <a:rPr lang="en-US" altLang="zh-CN" sz="2000" dirty="0">
                    <a:cs typeface="+mn-ea"/>
                    <a:sym typeface="+mn-lt"/>
                  </a:rPr>
                  <a:t>YOLOv2</a:t>
                </a:r>
                <a:r>
                  <a:rPr lang="zh-CN" altLang="en-US" sz="2000" dirty="0">
                    <a:cs typeface="+mn-ea"/>
                    <a:sym typeface="+mn-lt"/>
                  </a:rPr>
                  <a:t>采用</a:t>
                </a:r>
                <a:r>
                  <a:rPr lang="en-US" altLang="zh-CN" sz="2000" b="1" dirty="0">
                    <a:cs typeface="+mn-ea"/>
                    <a:sym typeface="+mn-lt"/>
                  </a:rPr>
                  <a:t>sigmoid</a:t>
                </a:r>
                <a:r>
                  <a:rPr lang="zh-CN" altLang="en-US" sz="2000" b="1" dirty="0">
                    <a:cs typeface="+mn-ea"/>
                    <a:sym typeface="+mn-lt"/>
                  </a:rPr>
                  <a:t>函数</a:t>
                </a:r>
                <a:r>
                  <a:rPr lang="zh-CN" altLang="en-US" sz="2000" dirty="0">
                    <a:cs typeface="+mn-ea"/>
                    <a:sym typeface="+mn-lt"/>
                  </a:rPr>
                  <a:t>来约束坐标偏移，真值框的位置、宽高回归公式如下所示：</a:t>
                </a:r>
                <a:endParaRPr lang="zh-CN" altLang="en-US"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zh-CN" sz="2000" kern="100" dirty="0">
                    <a:solidFill>
                      <a:srgbClr val="0D0D0D"/>
                    </a:solidFill>
                    <a:effectLst/>
                    <a:cs typeface="+mn-ea"/>
                    <a:sym typeface="+mn-lt"/>
                  </a:rPr>
                  <a:t>其中，</a:t>
                </a:r>
                <a14:m>
                  <m:oMath xmlns:m="http://schemas.openxmlformats.org/officeDocument/2006/math">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𝑡</m:t>
                        </m:r>
                      </m:e>
                      <m:sub>
                        <m:r>
                          <a:rPr lang="en-US" altLang="zh-CN" sz="2000" i="1" kern="100">
                            <a:solidFill>
                              <a:srgbClr val="0D0D0D"/>
                            </a:solidFill>
                            <a:effectLst/>
                            <a:latin typeface="Cambria Math" panose="02040503050406030204" pitchFamily="18" charset="0"/>
                            <a:cs typeface="+mn-ea"/>
                            <a:sym typeface="+mn-lt"/>
                          </a:rPr>
                          <m:t>𝑥</m:t>
                        </m:r>
                        <m:r>
                          <a:rPr lang="en-US" altLang="zh-CN" sz="2000" kern="100">
                            <a:solidFill>
                              <a:srgbClr val="0D0D0D"/>
                            </a:solidFill>
                            <a:effectLst/>
                            <a:latin typeface="Cambria Math" panose="02040503050406030204" pitchFamily="18" charset="0"/>
                            <a:cs typeface="+mn-ea"/>
                            <a:sym typeface="+mn-lt"/>
                          </a:rPr>
                          <m:t>,</m:t>
                        </m:r>
                      </m:sub>
                    </m:sSub>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𝑡</m:t>
                        </m:r>
                      </m:e>
                      <m:sub>
                        <m:r>
                          <a:rPr lang="en-US" altLang="zh-CN" sz="2000" i="1" kern="100">
                            <a:solidFill>
                              <a:srgbClr val="0D0D0D"/>
                            </a:solidFill>
                            <a:effectLst/>
                            <a:latin typeface="Cambria Math" panose="02040503050406030204" pitchFamily="18" charset="0"/>
                            <a:cs typeface="+mn-ea"/>
                            <a:sym typeface="+mn-lt"/>
                          </a:rPr>
                          <m:t>𝑦</m:t>
                        </m:r>
                        <m:r>
                          <a:rPr lang="en-US" altLang="zh-CN" sz="2000" kern="100">
                            <a:solidFill>
                              <a:srgbClr val="0D0D0D"/>
                            </a:solidFill>
                            <a:effectLst/>
                            <a:latin typeface="Cambria Math" panose="02040503050406030204" pitchFamily="18" charset="0"/>
                            <a:cs typeface="+mn-ea"/>
                            <a:sym typeface="+mn-lt"/>
                          </a:rPr>
                          <m:t>,</m:t>
                        </m:r>
                      </m:sub>
                    </m:sSub>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𝑡</m:t>
                        </m:r>
                      </m:e>
                      <m:sub>
                        <m:r>
                          <a:rPr lang="en-US" altLang="zh-CN" sz="2000" i="1" kern="100">
                            <a:solidFill>
                              <a:srgbClr val="0D0D0D"/>
                            </a:solidFill>
                            <a:effectLst/>
                            <a:latin typeface="Cambria Math" panose="02040503050406030204" pitchFamily="18" charset="0"/>
                            <a:cs typeface="+mn-ea"/>
                            <a:sym typeface="+mn-lt"/>
                          </a:rPr>
                          <m:t>𝑤</m:t>
                        </m:r>
                        <m:r>
                          <a:rPr lang="en-US" altLang="zh-CN" sz="2000" kern="100">
                            <a:solidFill>
                              <a:srgbClr val="0D0D0D"/>
                            </a:solidFill>
                            <a:effectLst/>
                            <a:latin typeface="Cambria Math" panose="02040503050406030204" pitchFamily="18" charset="0"/>
                            <a:cs typeface="+mn-ea"/>
                            <a:sym typeface="+mn-lt"/>
                          </a:rPr>
                          <m:t>,</m:t>
                        </m:r>
                      </m:sub>
                    </m:sSub>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𝑡</m:t>
                        </m:r>
                      </m:e>
                      <m:sub>
                        <m:r>
                          <a:rPr lang="en-US" altLang="zh-CN" sz="2000" i="1" kern="100">
                            <a:solidFill>
                              <a:srgbClr val="0D0D0D"/>
                            </a:solidFill>
                            <a:effectLst/>
                            <a:latin typeface="Cambria Math" panose="02040503050406030204" pitchFamily="18" charset="0"/>
                            <a:cs typeface="+mn-ea"/>
                            <a:sym typeface="+mn-lt"/>
                          </a:rPr>
                          <m:t>ℎ</m:t>
                        </m:r>
                      </m:sub>
                    </m:sSub>
                  </m:oMath>
                </a14:m>
                <a:r>
                  <a:rPr lang="zh-CN" altLang="zh-CN" sz="2000" kern="100" dirty="0">
                    <a:solidFill>
                      <a:srgbClr val="0D0D0D"/>
                    </a:solidFill>
                    <a:effectLst/>
                    <a:cs typeface="+mn-ea"/>
                    <a:sym typeface="+mn-lt"/>
                  </a:rPr>
                  <a:t>为网络的输出，</a:t>
                </a:r>
                <a14:m>
                  <m:oMath xmlns:m="http://schemas.openxmlformats.org/officeDocument/2006/math">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𝑐</m:t>
                        </m:r>
                      </m:e>
                      <m:sub>
                        <m:r>
                          <a:rPr lang="en-US" altLang="zh-CN" sz="2000" i="1" kern="100">
                            <a:solidFill>
                              <a:srgbClr val="0D0D0D"/>
                            </a:solidFill>
                            <a:effectLst/>
                            <a:latin typeface="Cambria Math" panose="02040503050406030204" pitchFamily="18" charset="0"/>
                            <a:cs typeface="+mn-ea"/>
                            <a:sym typeface="+mn-lt"/>
                          </a:rPr>
                          <m:t>𝑥</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𝑐</m:t>
                        </m:r>
                      </m:e>
                      <m:sub>
                        <m:r>
                          <a:rPr lang="en-US" altLang="zh-CN" sz="2000" i="1" kern="100">
                            <a:solidFill>
                              <a:srgbClr val="0D0D0D"/>
                            </a:solidFill>
                            <a:effectLst/>
                            <a:latin typeface="Cambria Math" panose="02040503050406030204" pitchFamily="18" charset="0"/>
                            <a:cs typeface="+mn-ea"/>
                            <a:sym typeface="+mn-lt"/>
                          </a:rPr>
                          <m:t>𝑦</m:t>
                        </m:r>
                      </m:sub>
                    </m:sSub>
                  </m:oMath>
                </a14:m>
                <a:r>
                  <a:rPr lang="zh-CN" altLang="zh-CN" sz="2000" kern="100" dirty="0">
                    <a:solidFill>
                      <a:srgbClr val="0D0D0D"/>
                    </a:solidFill>
                    <a:effectLst/>
                    <a:cs typeface="+mn-ea"/>
                    <a:sym typeface="+mn-lt"/>
                  </a:rPr>
                  <a:t>为网格相对图片左上角的坐标偏移，</a:t>
                </a:r>
                <a14:m>
                  <m:oMath xmlns:m="http://schemas.openxmlformats.org/officeDocument/2006/math">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𝑝</m:t>
                        </m:r>
                      </m:e>
                      <m:sub>
                        <m:r>
                          <a:rPr lang="en-US" altLang="zh-CN" sz="2000" i="1" kern="100">
                            <a:solidFill>
                              <a:srgbClr val="0D0D0D"/>
                            </a:solidFill>
                            <a:effectLst/>
                            <a:latin typeface="Cambria Math" panose="02040503050406030204" pitchFamily="18" charset="0"/>
                            <a:cs typeface="+mn-ea"/>
                            <a:sym typeface="+mn-lt"/>
                          </a:rPr>
                          <m:t>𝑤</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𝑝</m:t>
                        </m:r>
                      </m:e>
                      <m:sub>
                        <m:r>
                          <a:rPr lang="en-US" altLang="zh-CN" sz="2000" i="1" kern="100">
                            <a:solidFill>
                              <a:srgbClr val="0D0D0D"/>
                            </a:solidFill>
                            <a:effectLst/>
                            <a:latin typeface="Cambria Math" panose="02040503050406030204" pitchFamily="18" charset="0"/>
                            <a:cs typeface="+mn-ea"/>
                            <a:sym typeface="+mn-lt"/>
                          </a:rPr>
                          <m:t>ℎ</m:t>
                        </m:r>
                      </m:sub>
                    </m:sSub>
                  </m:oMath>
                </a14:m>
                <a:r>
                  <a:rPr lang="zh-CN" altLang="zh-CN" sz="2000" kern="100" dirty="0">
                    <a:solidFill>
                      <a:srgbClr val="0D0D0D"/>
                    </a:solidFill>
                    <a:effectLst/>
                    <a:cs typeface="+mn-ea"/>
                    <a:sym typeface="+mn-lt"/>
                  </a:rPr>
                  <a:t>分别为先验框宽度和长度，</a:t>
                </a:r>
                <a14:m>
                  <m:oMath xmlns:m="http://schemas.openxmlformats.org/officeDocument/2006/math">
                    <m:r>
                      <a:rPr lang="en-US" altLang="zh-CN" sz="2000" i="1" kern="100">
                        <a:solidFill>
                          <a:srgbClr val="0D0D0D"/>
                        </a:solidFill>
                        <a:effectLst/>
                        <a:latin typeface="Cambria Math" panose="02040503050406030204" pitchFamily="18" charset="0"/>
                        <a:cs typeface="+mn-ea"/>
                        <a:sym typeface="+mn-lt"/>
                      </a:rPr>
                      <m:t>𝜎</m:t>
                    </m:r>
                  </m:oMath>
                </a14:m>
                <a:r>
                  <a:rPr lang="zh-CN" altLang="zh-CN" sz="2000" kern="100" dirty="0">
                    <a:solidFill>
                      <a:srgbClr val="0D0D0D"/>
                    </a:solidFill>
                    <a:effectLst/>
                    <a:cs typeface="+mn-ea"/>
                    <a:sym typeface="+mn-lt"/>
                  </a:rPr>
                  <a:t>为</a:t>
                </a:r>
                <a:r>
                  <a:rPr lang="en-US" altLang="zh-CN" sz="2000" kern="100" dirty="0">
                    <a:solidFill>
                      <a:srgbClr val="0D0D0D"/>
                    </a:solidFill>
                    <a:effectLst/>
                    <a:cs typeface="+mn-ea"/>
                    <a:sym typeface="+mn-lt"/>
                  </a:rPr>
                  <a:t>sigmoid</a:t>
                </a:r>
                <a:r>
                  <a:rPr lang="zh-CN" altLang="zh-CN" sz="2000" kern="100" dirty="0">
                    <a:solidFill>
                      <a:srgbClr val="0D0D0D"/>
                    </a:solidFill>
                    <a:effectLst/>
                    <a:cs typeface="+mn-ea"/>
                    <a:sym typeface="+mn-lt"/>
                  </a:rPr>
                  <a:t>激活函数，</a:t>
                </a:r>
                <a14:m>
                  <m:oMath xmlns:m="http://schemas.openxmlformats.org/officeDocument/2006/math">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𝑏</m:t>
                        </m:r>
                      </m:e>
                      <m:sub>
                        <m:r>
                          <a:rPr lang="en-US" altLang="zh-CN" sz="2000" i="1" kern="100">
                            <a:solidFill>
                              <a:srgbClr val="0D0D0D"/>
                            </a:solidFill>
                            <a:effectLst/>
                            <a:latin typeface="Cambria Math" panose="02040503050406030204" pitchFamily="18" charset="0"/>
                            <a:cs typeface="+mn-ea"/>
                            <a:sym typeface="+mn-lt"/>
                          </a:rPr>
                          <m:t>𝑥</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𝑏</m:t>
                        </m:r>
                      </m:e>
                      <m:sub>
                        <m:r>
                          <a:rPr lang="en-US" altLang="zh-CN" sz="2000" i="1" kern="100">
                            <a:solidFill>
                              <a:srgbClr val="0D0D0D"/>
                            </a:solidFill>
                            <a:effectLst/>
                            <a:latin typeface="Cambria Math" panose="02040503050406030204" pitchFamily="18" charset="0"/>
                            <a:cs typeface="+mn-ea"/>
                            <a:sym typeface="+mn-lt"/>
                          </a:rPr>
                          <m:t>𝑦</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𝑏</m:t>
                        </m:r>
                      </m:e>
                      <m:sub>
                        <m:r>
                          <a:rPr lang="en-US" altLang="zh-CN" sz="2000" i="1" kern="100">
                            <a:solidFill>
                              <a:srgbClr val="0D0D0D"/>
                            </a:solidFill>
                            <a:effectLst/>
                            <a:latin typeface="Cambria Math" panose="02040503050406030204" pitchFamily="18" charset="0"/>
                            <a:cs typeface="+mn-ea"/>
                            <a:sym typeface="+mn-lt"/>
                          </a:rPr>
                          <m:t>𝑤</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𝑏</m:t>
                        </m:r>
                      </m:e>
                      <m:sub>
                        <m:r>
                          <a:rPr lang="en-US" altLang="zh-CN" sz="2000" i="1" kern="100">
                            <a:solidFill>
                              <a:srgbClr val="0D0D0D"/>
                            </a:solidFill>
                            <a:effectLst/>
                            <a:latin typeface="Cambria Math" panose="02040503050406030204" pitchFamily="18" charset="0"/>
                            <a:cs typeface="+mn-ea"/>
                            <a:sym typeface="+mn-lt"/>
                          </a:rPr>
                          <m:t>ℎ</m:t>
                        </m:r>
                      </m:sub>
                    </m:sSub>
                  </m:oMath>
                </a14:m>
                <a:r>
                  <a:rPr lang="zh-CN" altLang="zh-CN" sz="2000" kern="100" dirty="0">
                    <a:solidFill>
                      <a:srgbClr val="0D0D0D"/>
                    </a:solidFill>
                    <a:effectLst/>
                    <a:cs typeface="+mn-ea"/>
                    <a:sym typeface="+mn-lt"/>
                  </a:rPr>
                  <a:t>为预测框在特征图中的坐标，最后乘以采样率的到真实的检测框的坐标信息。因此模型通过简介预测</a:t>
                </a:r>
                <a14:m>
                  <m:oMath xmlns:m="http://schemas.openxmlformats.org/officeDocument/2006/math">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𝑡</m:t>
                        </m:r>
                      </m:e>
                      <m:sub>
                        <m:r>
                          <a:rPr lang="en-US" altLang="zh-CN" sz="2000" i="1" kern="100">
                            <a:solidFill>
                              <a:srgbClr val="0D0D0D"/>
                            </a:solidFill>
                            <a:effectLst/>
                            <a:latin typeface="Cambria Math" panose="02040503050406030204" pitchFamily="18" charset="0"/>
                            <a:cs typeface="+mn-ea"/>
                            <a:sym typeface="+mn-lt"/>
                          </a:rPr>
                          <m:t>𝑥</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𝑡</m:t>
                        </m:r>
                      </m:e>
                      <m:sub>
                        <m:r>
                          <a:rPr lang="en-US" altLang="zh-CN" sz="2000" i="1" kern="100">
                            <a:solidFill>
                              <a:srgbClr val="0D0D0D"/>
                            </a:solidFill>
                            <a:effectLst/>
                            <a:latin typeface="Cambria Math" panose="02040503050406030204" pitchFamily="18" charset="0"/>
                            <a:cs typeface="+mn-ea"/>
                            <a:sym typeface="+mn-lt"/>
                          </a:rPr>
                          <m:t>𝑦</m:t>
                        </m:r>
                        <m:r>
                          <a:rPr lang="en-US" altLang="zh-CN" sz="2000" kern="100">
                            <a:solidFill>
                              <a:srgbClr val="0D0D0D"/>
                            </a:solidFill>
                            <a:effectLst/>
                            <a:latin typeface="Cambria Math" panose="02040503050406030204" pitchFamily="18" charset="0"/>
                            <a:cs typeface="+mn-ea"/>
                            <a:sym typeface="+mn-lt"/>
                          </a:rPr>
                          <m:t>,</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𝑡</m:t>
                        </m:r>
                      </m:e>
                      <m:sub>
                        <m:r>
                          <a:rPr lang="en-US" altLang="zh-CN" sz="2000" i="1" kern="100">
                            <a:solidFill>
                              <a:srgbClr val="0D0D0D"/>
                            </a:solidFill>
                            <a:effectLst/>
                            <a:latin typeface="Cambria Math" panose="02040503050406030204" pitchFamily="18" charset="0"/>
                            <a:cs typeface="+mn-ea"/>
                            <a:sym typeface="+mn-lt"/>
                          </a:rPr>
                          <m:t>𝑤</m:t>
                        </m:r>
                      </m:sub>
                    </m:sSub>
                    <m:r>
                      <a:rPr lang="en-US" altLang="zh-CN" sz="2000" kern="100">
                        <a:solidFill>
                          <a:srgbClr val="0D0D0D"/>
                        </a:solidFill>
                        <a:effectLst/>
                        <a:latin typeface="Cambria Math" panose="02040503050406030204" pitchFamily="18" charset="0"/>
                        <a:cs typeface="+mn-ea"/>
                        <a:sym typeface="+mn-lt"/>
                      </a:rPr>
                      <m:t>,</m:t>
                    </m:r>
                    <m:sSub>
                      <m:sSubPr>
                        <m:ctrlPr>
                          <a:rPr lang="zh-CN" altLang="zh-CN" sz="2000" i="1">
                            <a:solidFill>
                              <a:srgbClr val="0D0D0D"/>
                            </a:solidFill>
                            <a:effectLst/>
                            <a:latin typeface="Cambria Math" panose="02040503050406030204" pitchFamily="18" charset="0"/>
                            <a:cs typeface="+mn-ea"/>
                            <a:sym typeface="+mn-lt"/>
                          </a:rPr>
                        </m:ctrlPr>
                      </m:sSubPr>
                      <m:e>
                        <m:r>
                          <a:rPr lang="en-US" altLang="zh-CN" sz="2000" i="1" kern="100">
                            <a:solidFill>
                              <a:srgbClr val="0D0D0D"/>
                            </a:solidFill>
                            <a:effectLst/>
                            <a:latin typeface="Cambria Math" panose="02040503050406030204" pitchFamily="18" charset="0"/>
                            <a:cs typeface="+mn-ea"/>
                            <a:sym typeface="+mn-lt"/>
                          </a:rPr>
                          <m:t>𝑡</m:t>
                        </m:r>
                      </m:e>
                      <m:sub>
                        <m:r>
                          <a:rPr lang="en-US" altLang="zh-CN" sz="2000" i="1" kern="100">
                            <a:solidFill>
                              <a:srgbClr val="0D0D0D"/>
                            </a:solidFill>
                            <a:effectLst/>
                            <a:latin typeface="Cambria Math" panose="02040503050406030204" pitchFamily="18" charset="0"/>
                            <a:cs typeface="+mn-ea"/>
                            <a:sym typeface="+mn-lt"/>
                          </a:rPr>
                          <m:t>ℎ</m:t>
                        </m:r>
                      </m:sub>
                    </m:sSub>
                  </m:oMath>
                </a14:m>
                <a:r>
                  <a:rPr lang="zh-CN" altLang="zh-CN" sz="2000" kern="100" dirty="0">
                    <a:solidFill>
                      <a:srgbClr val="0D0D0D"/>
                    </a:solidFill>
                    <a:effectLst/>
                    <a:cs typeface="+mn-ea"/>
                    <a:sym typeface="+mn-lt"/>
                  </a:rPr>
                  <a:t>来得到检测框的最终目标，并通过指数函数</a:t>
                </a:r>
                <a:r>
                  <a:rPr lang="en-US" altLang="zh-CN" sz="2000" kern="100" dirty="0">
                    <a:solidFill>
                      <a:srgbClr val="0D0D0D"/>
                    </a:solidFill>
                    <a:effectLst/>
                    <a:cs typeface="+mn-ea"/>
                    <a:sym typeface="+mn-lt"/>
                  </a:rPr>
                  <a:t>sigmoid</a:t>
                </a:r>
                <a:r>
                  <a:rPr lang="zh-CN" altLang="zh-CN" sz="2000" kern="100" dirty="0">
                    <a:solidFill>
                      <a:srgbClr val="0D0D0D"/>
                    </a:solidFill>
                    <a:effectLst/>
                    <a:cs typeface="+mn-ea"/>
                    <a:sym typeface="+mn-lt"/>
                  </a:rPr>
                  <a:t>函数施加约束，即保证检测框的宽、高大于方格的尺寸，检测框的位置位于</a:t>
                </a:r>
                <a14:m>
                  <m:oMath xmlns:m="http://schemas.openxmlformats.org/officeDocument/2006/math">
                    <m:r>
                      <a:rPr lang="en-US" altLang="zh-CN" sz="2000" kern="100">
                        <a:solidFill>
                          <a:srgbClr val="0D0D0D"/>
                        </a:solidFill>
                        <a:effectLst/>
                        <a:latin typeface="Cambria Math" panose="02040503050406030204" pitchFamily="18" charset="0"/>
                        <a:cs typeface="+mn-ea"/>
                        <a:sym typeface="+mn-lt"/>
                      </a:rPr>
                      <m:t>(</m:t>
                    </m:r>
                    <m:r>
                      <a:rPr lang="en-US" altLang="zh-CN" sz="2000" kern="100">
                        <a:solidFill>
                          <a:srgbClr val="0D0D0D"/>
                        </a:solidFill>
                        <a:effectLst/>
                        <a:latin typeface="Cambria Math" panose="02040503050406030204" pitchFamily="18" charset="0"/>
                        <a:cs typeface="+mn-ea"/>
                        <a:sym typeface="+mn-lt"/>
                      </a:rPr>
                      <m:t>0</m:t>
                    </m:r>
                    <m:r>
                      <a:rPr lang="en-US" altLang="zh-CN" sz="2000" kern="100">
                        <a:solidFill>
                          <a:srgbClr val="0D0D0D"/>
                        </a:solidFill>
                        <a:effectLst/>
                        <a:latin typeface="Cambria Math" panose="02040503050406030204" pitchFamily="18" charset="0"/>
                        <a:cs typeface="+mn-ea"/>
                        <a:sym typeface="+mn-lt"/>
                      </a:rPr>
                      <m:t>,</m:t>
                    </m:r>
                    <m:r>
                      <a:rPr lang="en-US" altLang="zh-CN" sz="2000" kern="100">
                        <a:solidFill>
                          <a:srgbClr val="0D0D0D"/>
                        </a:solidFill>
                        <a:effectLst/>
                        <a:latin typeface="Cambria Math" panose="02040503050406030204" pitchFamily="18" charset="0"/>
                        <a:cs typeface="+mn-ea"/>
                        <a:sym typeface="+mn-lt"/>
                      </a:rPr>
                      <m:t>1</m:t>
                    </m:r>
                    <m:r>
                      <a:rPr lang="en-US" altLang="zh-CN" sz="2000" kern="100">
                        <a:solidFill>
                          <a:srgbClr val="0D0D0D"/>
                        </a:solidFill>
                        <a:effectLst/>
                        <a:latin typeface="Cambria Math" panose="02040503050406030204" pitchFamily="18" charset="0"/>
                        <a:cs typeface="+mn-ea"/>
                        <a:sym typeface="+mn-lt"/>
                      </a:rPr>
                      <m:t>)</m:t>
                    </m:r>
                  </m:oMath>
                </a14:m>
                <a:r>
                  <a:rPr lang="zh-CN" altLang="zh-CN" sz="2000" kern="100" dirty="0">
                    <a:solidFill>
                      <a:srgbClr val="0D0D0D"/>
                    </a:solidFill>
                    <a:effectLst/>
                    <a:cs typeface="+mn-ea"/>
                    <a:sym typeface="+mn-lt"/>
                  </a:rPr>
                  <a:t>区间之内，</a:t>
                </a:r>
                <a:r>
                  <a:rPr lang="zh-CN" altLang="en-US" sz="2000" b="1" kern="100" dirty="0">
                    <a:solidFill>
                      <a:srgbClr val="0D0D0D"/>
                    </a:solidFill>
                    <a:effectLst/>
                    <a:cs typeface="+mn-ea"/>
                    <a:sym typeface="+mn-lt"/>
                  </a:rPr>
                  <a:t>如右图所示</a:t>
                </a:r>
                <a:endParaRPr lang="en-US" altLang="zh-CN" sz="2000" b="1" dirty="0">
                  <a:cs typeface="+mn-ea"/>
                  <a:sym typeface="+mn-lt"/>
                </a:endParaRPr>
              </a:p>
              <a:p>
                <a:pPr marL="0" indent="0">
                  <a:buNone/>
                </a:pPr>
                <a:endParaRPr lang="en-US" altLang="zh-CN" sz="2000" dirty="0">
                  <a:cs typeface="+mn-ea"/>
                  <a:sym typeface="+mn-lt"/>
                </a:endParaRPr>
              </a:p>
              <a:p>
                <a:pPr marL="0" indent="0">
                  <a:buNone/>
                </a:pPr>
                <a:endParaRPr lang="zh-CN" altLang="en-US" sz="2000" dirty="0">
                  <a:cs typeface="+mn-ea"/>
                  <a:sym typeface="+mn-lt"/>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825624"/>
                <a:ext cx="5368636" cy="4530725"/>
              </a:xfrm>
              <a:blipFill rotWithShape="1">
                <a:blip r:embed="rId1"/>
                <a:stretch>
                  <a:fillRect t="-14" r="-1579" b="-16314"/>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dirty="0">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rotWithShape="1">
          <a:blip r:embed="rId2"/>
          <a:srcRect l="37104" r="38076"/>
          <a:stretch>
            <a:fillRect/>
          </a:stretch>
        </p:blipFill>
        <p:spPr>
          <a:xfrm>
            <a:off x="2068348" y="2332062"/>
            <a:ext cx="2300607" cy="1380956"/>
          </a:xfrm>
          <a:prstGeom prst="rect">
            <a:avLst/>
          </a:prstGeom>
        </p:spPr>
      </p:pic>
      <p:pic>
        <p:nvPicPr>
          <p:cNvPr id="8" name="图片 7"/>
          <p:cNvPicPr>
            <a:picLocks noChangeAspect="1"/>
          </p:cNvPicPr>
          <p:nvPr/>
        </p:nvPicPr>
        <p:blipFill>
          <a:blip r:embed="rId3"/>
          <a:stretch>
            <a:fillRect/>
          </a:stretch>
        </p:blipFill>
        <p:spPr>
          <a:xfrm>
            <a:off x="6391398" y="2774957"/>
            <a:ext cx="5093974" cy="29792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b="1" dirty="0">
                <a:cs typeface="+mn-ea"/>
                <a:sym typeface="+mn-lt"/>
              </a:rPr>
              <a:t>2</a:t>
            </a:r>
            <a:r>
              <a:rPr lang="zh-CN" altLang="en-US" sz="2000" b="1" dirty="0">
                <a:cs typeface="+mn-ea"/>
                <a:sym typeface="+mn-lt"/>
              </a:rPr>
              <a:t>）使用浅层细节特征</a:t>
            </a:r>
            <a:endParaRPr lang="en-US" altLang="zh-CN" sz="2000" b="1" dirty="0">
              <a:cs typeface="+mn-ea"/>
              <a:sym typeface="+mn-lt"/>
            </a:endParaRPr>
          </a:p>
          <a:p>
            <a:pPr marL="0" indent="0">
              <a:buNone/>
            </a:pPr>
            <a:r>
              <a:rPr lang="zh-CN" altLang="en-US" sz="2000" dirty="0">
                <a:cs typeface="+mn-ea"/>
                <a:sym typeface="+mn-lt"/>
              </a:rPr>
              <a:t>随着卷积层的不断加深，得到的特征的分辨率也在不断降低，容易损失一些图像的细节，小目标的检测变得更加困难。为了解决这一问题，</a:t>
            </a:r>
            <a:r>
              <a:rPr lang="en-US" altLang="zh-CN" sz="2000" dirty="0">
                <a:cs typeface="+mn-ea"/>
                <a:sym typeface="+mn-lt"/>
              </a:rPr>
              <a:t>YOLO</a:t>
            </a:r>
            <a:r>
              <a:rPr lang="zh-CN" altLang="en-US" sz="2000" dirty="0">
                <a:cs typeface="+mn-ea"/>
                <a:sym typeface="+mn-lt"/>
              </a:rPr>
              <a:t>将浅层</a:t>
            </a:r>
            <a:r>
              <a:rPr lang="en-US" altLang="zh-CN" sz="2000" dirty="0">
                <a:cs typeface="+mn-ea"/>
                <a:sym typeface="+mn-lt"/>
              </a:rPr>
              <a:t>26*26*512</a:t>
            </a:r>
            <a:r>
              <a:rPr lang="zh-CN" altLang="en-US" sz="2000" dirty="0">
                <a:cs typeface="+mn-ea"/>
                <a:sym typeface="+mn-lt"/>
              </a:rPr>
              <a:t>的特征图按照</a:t>
            </a:r>
            <a:r>
              <a:rPr lang="zh-CN" altLang="en-US" sz="2000" b="1" dirty="0">
                <a:cs typeface="+mn-ea"/>
                <a:sym typeface="+mn-lt"/>
              </a:rPr>
              <a:t>奇数行列</a:t>
            </a:r>
            <a:r>
              <a:rPr lang="zh-CN" altLang="en-US" sz="2000" dirty="0">
                <a:cs typeface="+mn-ea"/>
                <a:sym typeface="+mn-lt"/>
              </a:rPr>
              <a:t>和</a:t>
            </a:r>
            <a:r>
              <a:rPr lang="zh-CN" altLang="en-US" sz="2000" b="1" dirty="0">
                <a:cs typeface="+mn-ea"/>
                <a:sym typeface="+mn-lt"/>
              </a:rPr>
              <a:t>偶数行列</a:t>
            </a:r>
            <a:r>
              <a:rPr lang="zh-CN" altLang="en-US" sz="2000" dirty="0">
                <a:cs typeface="+mn-ea"/>
                <a:sym typeface="+mn-lt"/>
              </a:rPr>
              <a:t>进行</a:t>
            </a:r>
            <a:r>
              <a:rPr lang="zh-CN" altLang="en-US" sz="2000" b="1" dirty="0">
                <a:cs typeface="+mn-ea"/>
                <a:sym typeface="+mn-lt"/>
              </a:rPr>
              <a:t>拆分</a:t>
            </a:r>
            <a:r>
              <a:rPr lang="zh-CN" altLang="en-US" sz="2000" dirty="0">
                <a:cs typeface="+mn-ea"/>
                <a:sym typeface="+mn-lt"/>
              </a:rPr>
              <a:t>得到变成</a:t>
            </a:r>
            <a:r>
              <a:rPr lang="en-US" altLang="zh-CN" sz="2000" dirty="0">
                <a:cs typeface="+mn-ea"/>
                <a:sym typeface="+mn-lt"/>
              </a:rPr>
              <a:t>4</a:t>
            </a:r>
            <a:r>
              <a:rPr lang="zh-CN" altLang="en-US" sz="2000" dirty="0">
                <a:cs typeface="+mn-ea"/>
                <a:sym typeface="+mn-lt"/>
              </a:rPr>
              <a:t>个</a:t>
            </a:r>
            <a:r>
              <a:rPr lang="en-US" altLang="zh-CN" sz="2000" dirty="0">
                <a:cs typeface="+mn-ea"/>
                <a:sym typeface="+mn-lt"/>
              </a:rPr>
              <a:t>13*13*512</a:t>
            </a:r>
            <a:r>
              <a:rPr lang="zh-CN" altLang="en-US" sz="2000" dirty="0">
                <a:cs typeface="+mn-ea"/>
                <a:sym typeface="+mn-lt"/>
              </a:rPr>
              <a:t>的特征图，然后将这</a:t>
            </a:r>
            <a:r>
              <a:rPr lang="en-US" altLang="zh-CN" sz="2000" dirty="0">
                <a:cs typeface="+mn-ea"/>
                <a:sym typeface="+mn-lt"/>
              </a:rPr>
              <a:t>4</a:t>
            </a:r>
            <a:r>
              <a:rPr lang="zh-CN" altLang="en-US" sz="2000" dirty="0">
                <a:cs typeface="+mn-ea"/>
                <a:sym typeface="+mn-lt"/>
              </a:rPr>
              <a:t>个特征图并依次叠加在原始的顶层</a:t>
            </a:r>
            <a:r>
              <a:rPr lang="en-US" altLang="zh-CN" sz="2000" dirty="0">
                <a:cs typeface="+mn-ea"/>
                <a:sym typeface="+mn-lt"/>
              </a:rPr>
              <a:t>13*13*1024</a:t>
            </a:r>
            <a:r>
              <a:rPr lang="zh-CN" altLang="en-US" sz="2000" dirty="0">
                <a:cs typeface="+mn-ea"/>
                <a:sym typeface="+mn-lt"/>
              </a:rPr>
              <a:t>的特征图上得到形状为</a:t>
            </a:r>
            <a:r>
              <a:rPr lang="en-US" altLang="zh-CN" sz="2000" dirty="0">
                <a:cs typeface="+mn-ea"/>
                <a:sym typeface="+mn-lt"/>
              </a:rPr>
              <a:t>13*13*3072</a:t>
            </a:r>
            <a:r>
              <a:rPr lang="zh-CN" altLang="en-US" sz="2000" dirty="0">
                <a:cs typeface="+mn-ea"/>
                <a:sym typeface="+mn-lt"/>
              </a:rPr>
              <a:t>的特征图，新的特征图在具备大感受野的同时也融入了更多的细节信息，增强了对小目标的检测能力，基于新的特征图进行预测，</a:t>
            </a:r>
            <a:r>
              <a:rPr lang="en-US" altLang="zh-CN" sz="2000" dirty="0" err="1">
                <a:cs typeface="+mn-ea"/>
                <a:sym typeface="+mn-lt"/>
              </a:rPr>
              <a:t>mAP</a:t>
            </a:r>
            <a:r>
              <a:rPr lang="zh-CN" altLang="en-US" sz="2000" dirty="0">
                <a:cs typeface="+mn-ea"/>
                <a:sym typeface="+mn-lt"/>
              </a:rPr>
              <a:t>有</a:t>
            </a:r>
            <a:r>
              <a:rPr lang="en-US" altLang="zh-CN" sz="2000" dirty="0">
                <a:cs typeface="+mn-ea"/>
                <a:sym typeface="+mn-lt"/>
              </a:rPr>
              <a:t>1%</a:t>
            </a:r>
            <a:r>
              <a:rPr lang="zh-CN" altLang="en-US" sz="2000" dirty="0">
                <a:cs typeface="+mn-ea"/>
                <a:sym typeface="+mn-lt"/>
              </a:rPr>
              <a:t>的提升。</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2810630" y="4453725"/>
            <a:ext cx="7290064" cy="1559147"/>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825625"/>
            <a:ext cx="4786745" cy="4351338"/>
          </a:xfrm>
        </p:spPr>
        <p:txBody>
          <a:bodyPr>
            <a:normAutofit/>
          </a:bodyPr>
          <a:lstStyle/>
          <a:p>
            <a:pPr marL="0" indent="0">
              <a:buNone/>
            </a:pPr>
            <a:r>
              <a:rPr lang="en-US" altLang="zh-CN" sz="2000" b="1" dirty="0">
                <a:cs typeface="+mn-ea"/>
                <a:sym typeface="+mn-lt"/>
              </a:rPr>
              <a:t>3</a:t>
            </a:r>
            <a:r>
              <a:rPr lang="zh-CN" altLang="en-US" sz="2000" b="1" dirty="0">
                <a:cs typeface="+mn-ea"/>
                <a:sym typeface="+mn-lt"/>
              </a:rPr>
              <a:t>）使用高分辨率训练集</a:t>
            </a:r>
            <a:endParaRPr lang="en-US" altLang="zh-CN" sz="2000" b="1" dirty="0">
              <a:cs typeface="+mn-ea"/>
              <a:sym typeface="+mn-lt"/>
            </a:endParaRPr>
          </a:p>
          <a:p>
            <a:pPr marL="0" indent="0">
              <a:buNone/>
            </a:pPr>
            <a:r>
              <a:rPr lang="en-US" altLang="zh-CN" sz="2000" dirty="0">
                <a:cs typeface="+mn-ea"/>
                <a:sym typeface="+mn-lt"/>
              </a:rPr>
              <a:t>YOLOv1</a:t>
            </a:r>
            <a:r>
              <a:rPr lang="zh-CN" altLang="en-US" sz="2000" dirty="0">
                <a:cs typeface="+mn-ea"/>
                <a:sym typeface="+mn-lt"/>
              </a:rPr>
              <a:t>训练时首先在</a:t>
            </a:r>
            <a:r>
              <a:rPr lang="en-US" altLang="zh-CN" sz="2000" dirty="0">
                <a:cs typeface="+mn-ea"/>
                <a:sym typeface="+mn-lt"/>
              </a:rPr>
              <a:t>224*224</a:t>
            </a:r>
            <a:r>
              <a:rPr lang="zh-CN" altLang="en-US" sz="2000" dirty="0">
                <a:cs typeface="+mn-ea"/>
                <a:sym typeface="+mn-lt"/>
              </a:rPr>
              <a:t>的分类数据集上对特征提取网络进行预训练，然后在</a:t>
            </a:r>
            <a:r>
              <a:rPr lang="en-US" altLang="zh-CN" sz="2000" dirty="0">
                <a:cs typeface="+mn-ea"/>
                <a:sym typeface="+mn-lt"/>
              </a:rPr>
              <a:t>448*448</a:t>
            </a:r>
            <a:r>
              <a:rPr lang="zh-CN" altLang="en-US" sz="2000" dirty="0">
                <a:cs typeface="+mn-ea"/>
                <a:sym typeface="+mn-lt"/>
              </a:rPr>
              <a:t>的检测数据集上训练整个网络，两次训练数据的</a:t>
            </a:r>
            <a:r>
              <a:rPr lang="zh-CN" altLang="en-US" sz="2000" b="1" dirty="0">
                <a:cs typeface="+mn-ea"/>
                <a:sym typeface="+mn-lt"/>
              </a:rPr>
              <a:t>分辨率存在差异</a:t>
            </a:r>
            <a:r>
              <a:rPr lang="zh-CN" altLang="en-US" sz="2000" dirty="0">
                <a:cs typeface="+mn-ea"/>
                <a:sym typeface="+mn-lt"/>
              </a:rPr>
              <a:t>，模型难以收敛到最优的结果。</a:t>
            </a:r>
            <a:r>
              <a:rPr lang="en-US" altLang="zh-CN" sz="2000" dirty="0">
                <a:cs typeface="+mn-ea"/>
                <a:sym typeface="+mn-lt"/>
              </a:rPr>
              <a:t>YOLOv2</a:t>
            </a:r>
            <a:r>
              <a:rPr lang="zh-CN" altLang="en-US" sz="2000" dirty="0">
                <a:cs typeface="+mn-ea"/>
                <a:sym typeface="+mn-lt"/>
              </a:rPr>
              <a:t>为了克服这个问题，先在</a:t>
            </a:r>
            <a:r>
              <a:rPr lang="en-US" altLang="zh-CN" sz="2000" dirty="0">
                <a:cs typeface="+mn-ea"/>
                <a:sym typeface="+mn-lt"/>
              </a:rPr>
              <a:t>ImageNet</a:t>
            </a:r>
            <a:r>
              <a:rPr lang="zh-CN" altLang="en-US" sz="2000" dirty="0">
                <a:cs typeface="+mn-ea"/>
                <a:sym typeface="+mn-lt"/>
              </a:rPr>
              <a:t>上用</a:t>
            </a:r>
            <a:r>
              <a:rPr lang="en-US" altLang="zh-CN" sz="2000" dirty="0">
                <a:cs typeface="+mn-ea"/>
                <a:sym typeface="+mn-lt"/>
              </a:rPr>
              <a:t>224*224</a:t>
            </a:r>
            <a:r>
              <a:rPr lang="zh-CN" altLang="en-US" sz="2000" dirty="0">
                <a:cs typeface="+mn-ea"/>
                <a:sym typeface="+mn-lt"/>
              </a:rPr>
              <a:t>的图片训练训练特征提取网络，然后在</a:t>
            </a:r>
            <a:r>
              <a:rPr lang="en-US" altLang="zh-CN" sz="2000" dirty="0">
                <a:cs typeface="+mn-ea"/>
                <a:sym typeface="+mn-lt"/>
              </a:rPr>
              <a:t>448*448</a:t>
            </a:r>
            <a:r>
              <a:rPr lang="zh-CN" altLang="en-US" sz="2000" dirty="0">
                <a:cs typeface="+mn-ea"/>
                <a:sym typeface="+mn-lt"/>
              </a:rPr>
              <a:t>的数据集上进行</a:t>
            </a:r>
            <a:r>
              <a:rPr lang="zh-CN" altLang="en-US" sz="2000" b="1" dirty="0">
                <a:cs typeface="+mn-ea"/>
                <a:sym typeface="+mn-lt"/>
              </a:rPr>
              <a:t>微调</a:t>
            </a:r>
            <a:r>
              <a:rPr lang="zh-CN" altLang="en-US" sz="2000" dirty="0">
                <a:cs typeface="+mn-ea"/>
                <a:sym typeface="+mn-lt"/>
              </a:rPr>
              <a:t>，使得特征提取网络更加适配高分辨率的数据，模型的</a:t>
            </a:r>
            <a:r>
              <a:rPr lang="en-US" altLang="zh-CN" sz="2000" dirty="0" err="1">
                <a:cs typeface="+mn-ea"/>
                <a:sym typeface="+mn-lt"/>
              </a:rPr>
              <a:t>mAP</a:t>
            </a:r>
            <a:r>
              <a:rPr lang="zh-CN" altLang="en-US" sz="2000" dirty="0">
                <a:cs typeface="+mn-ea"/>
                <a:sym typeface="+mn-lt"/>
              </a:rPr>
              <a:t>能够有</a:t>
            </a:r>
            <a:r>
              <a:rPr lang="en-US" altLang="zh-CN" sz="2000" dirty="0">
                <a:cs typeface="+mn-ea"/>
                <a:sym typeface="+mn-lt"/>
              </a:rPr>
              <a:t>4%</a:t>
            </a:r>
            <a:r>
              <a:rPr lang="zh-CN" altLang="en-US" sz="2000" dirty="0">
                <a:cs typeface="+mn-ea"/>
                <a:sym typeface="+mn-lt"/>
              </a:rPr>
              <a:t>的提升。</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7" name="文本框 6"/>
          <p:cNvSpPr txBox="1"/>
          <p:nvPr/>
        </p:nvSpPr>
        <p:spPr>
          <a:xfrm>
            <a:off x="6225309" y="1745673"/>
            <a:ext cx="4786745" cy="3785652"/>
          </a:xfrm>
          <a:prstGeom prst="rect">
            <a:avLst/>
          </a:prstGeom>
          <a:noFill/>
        </p:spPr>
        <p:txBody>
          <a:bodyPr wrap="square" rtlCol="0">
            <a:spAutoFit/>
          </a:bodyPr>
          <a:lstStyle/>
          <a:p>
            <a:r>
              <a:rPr lang="en-US" altLang="zh-CN" sz="2000" b="1" dirty="0">
                <a:cs typeface="+mn-ea"/>
                <a:sym typeface="+mn-lt"/>
              </a:rPr>
              <a:t>4</a:t>
            </a:r>
            <a:r>
              <a:rPr lang="zh-CN" altLang="en-US" sz="2000" b="1" dirty="0">
                <a:cs typeface="+mn-ea"/>
                <a:sym typeface="+mn-lt"/>
              </a:rPr>
              <a:t>）使用多尺度图像进行训练</a:t>
            </a:r>
            <a:endParaRPr lang="en-US" altLang="zh-CN" sz="2000" b="1" dirty="0">
              <a:cs typeface="+mn-ea"/>
              <a:sym typeface="+mn-lt"/>
            </a:endParaRPr>
          </a:p>
          <a:p>
            <a:r>
              <a:rPr lang="en-US" altLang="zh-CN" sz="2000" dirty="0">
                <a:cs typeface="+mn-ea"/>
                <a:sym typeface="+mn-lt"/>
              </a:rPr>
              <a:t>YOLOv2</a:t>
            </a:r>
            <a:r>
              <a:rPr lang="zh-CN" altLang="en-US" sz="2000" dirty="0">
                <a:cs typeface="+mn-ea"/>
                <a:sym typeface="+mn-lt"/>
              </a:rPr>
              <a:t>网络为全卷积网络结构，所以对输入图像的尺寸没有限制。如果图片宽度和高度是原来的两倍，那么输出的网格单元格会变为原来</a:t>
            </a:r>
            <a:r>
              <a:rPr lang="en-US" altLang="zh-CN" sz="2000" dirty="0">
                <a:cs typeface="+mn-ea"/>
                <a:sym typeface="+mn-lt"/>
              </a:rPr>
              <a:t>4</a:t>
            </a:r>
            <a:r>
              <a:rPr lang="zh-CN" altLang="en-US" sz="2000" dirty="0">
                <a:cs typeface="+mn-ea"/>
                <a:sym typeface="+mn-lt"/>
              </a:rPr>
              <a:t>倍，预测框的数量也变为了原来的</a:t>
            </a:r>
            <a:r>
              <a:rPr lang="en-US" altLang="zh-CN" sz="2000" dirty="0">
                <a:cs typeface="+mn-ea"/>
                <a:sym typeface="+mn-lt"/>
              </a:rPr>
              <a:t>4</a:t>
            </a:r>
            <a:r>
              <a:rPr lang="zh-CN" altLang="en-US" sz="2000" dirty="0">
                <a:cs typeface="+mn-ea"/>
                <a:sym typeface="+mn-lt"/>
              </a:rPr>
              <a:t>倍。在训练期间，</a:t>
            </a:r>
            <a:r>
              <a:rPr lang="en-US" altLang="zh-CN" sz="2000" dirty="0">
                <a:cs typeface="+mn-ea"/>
                <a:sym typeface="+mn-lt"/>
              </a:rPr>
              <a:t>YOLOv2</a:t>
            </a:r>
            <a:r>
              <a:rPr lang="zh-CN" altLang="en-US" sz="2000" dirty="0">
                <a:cs typeface="+mn-ea"/>
                <a:sym typeface="+mn-lt"/>
              </a:rPr>
              <a:t>选择分辨率为</a:t>
            </a:r>
            <a:r>
              <a:rPr lang="en-US" altLang="zh-CN" sz="2000" dirty="0">
                <a:cs typeface="+mn-ea"/>
                <a:sym typeface="+mn-lt"/>
              </a:rPr>
              <a:t>320*320</a:t>
            </a:r>
            <a:r>
              <a:rPr lang="zh-CN" altLang="en-US" sz="2000" dirty="0">
                <a:cs typeface="+mn-ea"/>
                <a:sym typeface="+mn-lt"/>
              </a:rPr>
              <a:t>、</a:t>
            </a:r>
            <a:r>
              <a:rPr lang="en-US" altLang="zh-CN" sz="2000" dirty="0">
                <a:cs typeface="+mn-ea"/>
                <a:sym typeface="+mn-lt"/>
              </a:rPr>
              <a:t>352*352</a:t>
            </a:r>
            <a:r>
              <a:rPr lang="zh-CN" altLang="en-US" sz="2000" dirty="0">
                <a:cs typeface="+mn-ea"/>
                <a:sym typeface="+mn-lt"/>
              </a:rPr>
              <a:t>和</a:t>
            </a:r>
            <a:r>
              <a:rPr lang="en-US" altLang="zh-CN" sz="2000" dirty="0">
                <a:cs typeface="+mn-ea"/>
                <a:sym typeface="+mn-lt"/>
              </a:rPr>
              <a:t>608 *608</a:t>
            </a:r>
            <a:r>
              <a:rPr lang="zh-CN" altLang="en-US" sz="2000" dirty="0">
                <a:cs typeface="+mn-ea"/>
                <a:sym typeface="+mn-lt"/>
              </a:rPr>
              <a:t>的图片作为训练样本。对于每</a:t>
            </a:r>
            <a:r>
              <a:rPr lang="en-US" altLang="zh-CN" sz="2000" dirty="0">
                <a:cs typeface="+mn-ea"/>
                <a:sym typeface="+mn-lt"/>
              </a:rPr>
              <a:t>10</a:t>
            </a:r>
            <a:r>
              <a:rPr lang="zh-CN" altLang="en-US" sz="2000" dirty="0">
                <a:cs typeface="+mn-ea"/>
                <a:sym typeface="+mn-lt"/>
              </a:rPr>
              <a:t>个批次，</a:t>
            </a:r>
            <a:r>
              <a:rPr lang="en-US" altLang="zh-CN" sz="2000" dirty="0">
                <a:cs typeface="+mn-ea"/>
                <a:sym typeface="+mn-lt"/>
              </a:rPr>
              <a:t>YOLOv2</a:t>
            </a:r>
            <a:r>
              <a:rPr lang="zh-CN" altLang="en-US" sz="2000" dirty="0">
                <a:cs typeface="+mn-ea"/>
                <a:sym typeface="+mn-lt"/>
              </a:rPr>
              <a:t>随机选择另一种分辨率的图片来训练模型。与数据增强一样，这种方式迫使网络对不同的分辨率的图片进行更好的预测。</a:t>
            </a:r>
            <a:endParaRPr lang="zh-CN" altLang="en-US" sz="2000" dirty="0">
              <a:cs typeface="+mn-ea"/>
              <a:sym typeface="+mn-l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r>
              <a:rPr lang="en-US" altLang="zh-CN" sz="2400" b="1" dirty="0">
                <a:cs typeface="+mn-ea"/>
                <a:sym typeface="+mn-lt"/>
              </a:rPr>
              <a:t>YOLOv3</a:t>
            </a:r>
            <a:endParaRPr lang="en-US" altLang="zh-CN" sz="2400" b="1" dirty="0">
              <a:cs typeface="+mn-ea"/>
              <a:sym typeface="+mn-lt"/>
            </a:endParaRPr>
          </a:p>
          <a:p>
            <a:pPr marL="0" indent="0">
              <a:buNone/>
            </a:pPr>
            <a:r>
              <a:rPr lang="en-US" altLang="zh-CN" sz="2000" dirty="0">
                <a:cs typeface="+mn-ea"/>
                <a:sym typeface="+mn-lt"/>
              </a:rPr>
              <a:t>YOLOv3</a:t>
            </a:r>
            <a:r>
              <a:rPr lang="zh-CN" altLang="en-US" sz="2000" dirty="0">
                <a:cs typeface="+mn-ea"/>
                <a:sym typeface="+mn-lt"/>
              </a:rPr>
              <a:t>相对于前两个版本的</a:t>
            </a:r>
            <a:r>
              <a:rPr lang="en-US" altLang="zh-CN" sz="2000" dirty="0">
                <a:cs typeface="+mn-ea"/>
                <a:sym typeface="+mn-lt"/>
              </a:rPr>
              <a:t>YOLO</a:t>
            </a:r>
            <a:r>
              <a:rPr lang="zh-CN" altLang="en-US" sz="2000" dirty="0">
                <a:cs typeface="+mn-ea"/>
                <a:sym typeface="+mn-lt"/>
              </a:rPr>
              <a:t>变动不多，主要是基于</a:t>
            </a:r>
            <a:r>
              <a:rPr lang="en-US" altLang="zh-CN" sz="2000" dirty="0">
                <a:cs typeface="+mn-ea"/>
                <a:sym typeface="+mn-lt"/>
              </a:rPr>
              <a:t>YOLOv2</a:t>
            </a:r>
            <a:r>
              <a:rPr lang="zh-CN" altLang="en-US" sz="2000" dirty="0">
                <a:cs typeface="+mn-ea"/>
                <a:sym typeface="+mn-lt"/>
              </a:rPr>
              <a:t>做出了一些改进，</a:t>
            </a:r>
            <a:r>
              <a:rPr lang="zh-CN" altLang="en-US" sz="2000" b="1" dirty="0">
                <a:cs typeface="+mn-ea"/>
                <a:sym typeface="+mn-lt"/>
              </a:rPr>
              <a:t>网络结构如如下。</a:t>
            </a:r>
            <a:endParaRPr lang="zh-CN" altLang="en-US" sz="2000" b="1"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p:cNvPicPr>
            <a:picLocks noChangeAspect="1"/>
          </p:cNvPicPr>
          <p:nvPr/>
        </p:nvPicPr>
        <p:blipFill>
          <a:blip r:embed="rId1"/>
          <a:stretch>
            <a:fillRect/>
          </a:stretch>
        </p:blipFill>
        <p:spPr>
          <a:xfrm>
            <a:off x="2793186" y="2854038"/>
            <a:ext cx="5914982" cy="3112654"/>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825625"/>
            <a:ext cx="4675632" cy="4351338"/>
          </a:xfrm>
        </p:spPr>
        <p:txBody>
          <a:bodyPr>
            <a:normAutofit/>
          </a:bodyPr>
          <a:lstStyle/>
          <a:p>
            <a:pPr marL="0" indent="0">
              <a:buNone/>
            </a:pPr>
            <a:r>
              <a:rPr lang="en-US" altLang="zh-CN" sz="2000" b="1" dirty="0">
                <a:cs typeface="+mn-ea"/>
                <a:sym typeface="+mn-lt"/>
              </a:rPr>
              <a:t>1</a:t>
            </a:r>
            <a:r>
              <a:rPr lang="zh-CN" altLang="en-US" sz="2000" b="1" dirty="0">
                <a:cs typeface="+mn-ea"/>
                <a:sym typeface="+mn-lt"/>
              </a:rPr>
              <a:t>）类别预测</a:t>
            </a:r>
            <a:endParaRPr lang="en-US" altLang="zh-CN" sz="2000" b="1" dirty="0">
              <a:cs typeface="+mn-ea"/>
              <a:sym typeface="+mn-lt"/>
            </a:endParaRPr>
          </a:p>
          <a:p>
            <a:pPr marL="0" indent="0" algn="just">
              <a:buNone/>
            </a:pPr>
            <a:r>
              <a:rPr lang="zh-CN" altLang="en-US" sz="2000" dirty="0">
                <a:cs typeface="+mn-ea"/>
                <a:sym typeface="+mn-lt"/>
              </a:rPr>
              <a:t>一个目标可能具有多个类别标签，各个类别之间不一定是互斥的。例如，猫、狗等都是动物，对于这样的目标，这些预测结果都是正确的。因此</a:t>
            </a:r>
            <a:r>
              <a:rPr lang="en-US" altLang="zh-CN" sz="2000" dirty="0">
                <a:cs typeface="+mn-ea"/>
                <a:sym typeface="+mn-lt"/>
              </a:rPr>
              <a:t>YOLOv3</a:t>
            </a:r>
            <a:r>
              <a:rPr lang="zh-CN" altLang="en-US" sz="2000" dirty="0">
                <a:cs typeface="+mn-ea"/>
                <a:sym typeface="+mn-lt"/>
              </a:rPr>
              <a:t>使用</a:t>
            </a:r>
            <a:r>
              <a:rPr lang="en-US" altLang="zh-CN" sz="2000" dirty="0">
                <a:cs typeface="+mn-ea"/>
                <a:sym typeface="+mn-lt"/>
              </a:rPr>
              <a:t>sigmoid</a:t>
            </a:r>
            <a:r>
              <a:rPr lang="zh-CN" altLang="en-US" sz="2000" dirty="0">
                <a:cs typeface="+mn-ea"/>
                <a:sym typeface="+mn-lt"/>
              </a:rPr>
              <a:t>函数替代了之前版本的</a:t>
            </a:r>
            <a:r>
              <a:rPr lang="en-US" altLang="zh-CN" sz="2000" dirty="0" err="1">
                <a:cs typeface="+mn-ea"/>
                <a:sym typeface="+mn-lt"/>
              </a:rPr>
              <a:t>softmax</a:t>
            </a:r>
            <a:r>
              <a:rPr lang="zh-CN" altLang="en-US" sz="2000" dirty="0">
                <a:cs typeface="+mn-ea"/>
                <a:sym typeface="+mn-lt"/>
              </a:rPr>
              <a:t>函数操作，因为</a:t>
            </a:r>
            <a:r>
              <a:rPr lang="en-US" altLang="zh-CN" sz="2000" dirty="0" err="1">
                <a:cs typeface="+mn-ea"/>
                <a:sym typeface="+mn-lt"/>
              </a:rPr>
              <a:t>softmax</a:t>
            </a:r>
            <a:r>
              <a:rPr lang="zh-CN" altLang="en-US" sz="2000" dirty="0">
                <a:cs typeface="+mn-ea"/>
                <a:sym typeface="+mn-lt"/>
              </a:rPr>
              <a:t>操作的前提是类别互斥的，</a:t>
            </a:r>
            <a:r>
              <a:rPr lang="en-US" altLang="zh-CN" sz="2000" dirty="0">
                <a:cs typeface="+mn-ea"/>
                <a:sym typeface="+mn-lt"/>
              </a:rPr>
              <a:t>sigmoid</a:t>
            </a:r>
            <a:r>
              <a:rPr lang="zh-CN" altLang="en-US" sz="2000" dirty="0">
                <a:cs typeface="+mn-ea"/>
                <a:sym typeface="+mn-lt"/>
              </a:rPr>
              <a:t>则相当于对每个类别都实现了一个二分类器。简言之，</a:t>
            </a:r>
            <a:r>
              <a:rPr lang="en-US" altLang="zh-CN" sz="2000" dirty="0">
                <a:cs typeface="+mn-ea"/>
                <a:sym typeface="+mn-lt"/>
              </a:rPr>
              <a:t>YOLOv3</a:t>
            </a:r>
            <a:r>
              <a:rPr lang="zh-CN" altLang="en-US" sz="2000" dirty="0">
                <a:cs typeface="+mn-ea"/>
                <a:sym typeface="+mn-lt"/>
              </a:rPr>
              <a:t>采用多个二分类器替代一个多分类器，实现了对一个目标多个类别标签的判定。</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7" name="文本框 6"/>
          <p:cNvSpPr txBox="1"/>
          <p:nvPr/>
        </p:nvSpPr>
        <p:spPr>
          <a:xfrm>
            <a:off x="6095999" y="1825625"/>
            <a:ext cx="4294909" cy="3477875"/>
          </a:xfrm>
          <a:prstGeom prst="rect">
            <a:avLst/>
          </a:prstGeom>
          <a:noFill/>
        </p:spPr>
        <p:txBody>
          <a:bodyPr wrap="square" rtlCol="0">
            <a:spAutoFit/>
          </a:bodyPr>
          <a:lstStyle/>
          <a:p>
            <a:r>
              <a:rPr lang="en-US" altLang="zh-CN" sz="2000" b="1" dirty="0">
                <a:cs typeface="+mn-ea"/>
                <a:sym typeface="+mn-lt"/>
              </a:rPr>
              <a:t>2</a:t>
            </a:r>
            <a:r>
              <a:rPr lang="zh-CN" altLang="en-US" sz="2000" b="1" dirty="0">
                <a:cs typeface="+mn-ea"/>
                <a:sym typeface="+mn-lt"/>
              </a:rPr>
              <a:t>）</a:t>
            </a:r>
            <a:r>
              <a:rPr lang="en-US" altLang="zh-CN" sz="2000" b="1" dirty="0">
                <a:cs typeface="+mn-ea"/>
                <a:sym typeface="+mn-lt"/>
              </a:rPr>
              <a:t>Darknet-53</a:t>
            </a:r>
            <a:endParaRPr lang="en-US" altLang="zh-CN" sz="2000" b="1" dirty="0">
              <a:cs typeface="+mn-ea"/>
              <a:sym typeface="+mn-lt"/>
            </a:endParaRPr>
          </a:p>
          <a:p>
            <a:r>
              <a:rPr lang="en-US" altLang="zh-CN" sz="2000" dirty="0">
                <a:cs typeface="+mn-ea"/>
                <a:sym typeface="+mn-lt"/>
              </a:rPr>
              <a:t>YOLOv3</a:t>
            </a:r>
            <a:r>
              <a:rPr lang="zh-CN" altLang="en-US" sz="2000" dirty="0">
                <a:cs typeface="+mn-ea"/>
                <a:sym typeface="+mn-lt"/>
              </a:rPr>
              <a:t>使用</a:t>
            </a:r>
            <a:r>
              <a:rPr lang="en-US" altLang="zh-CN" sz="2000" dirty="0">
                <a:cs typeface="+mn-ea"/>
                <a:sym typeface="+mn-lt"/>
              </a:rPr>
              <a:t>Darknet-53</a:t>
            </a:r>
            <a:r>
              <a:rPr lang="zh-CN" altLang="en-US" sz="2000" dirty="0">
                <a:cs typeface="+mn-ea"/>
                <a:sym typeface="+mn-lt"/>
              </a:rPr>
              <a:t>作为骨架网络提取原始图像的特征，</a:t>
            </a:r>
            <a:r>
              <a:rPr lang="zh-CN" altLang="en-US" sz="2000" b="1" dirty="0">
                <a:cs typeface="+mn-ea"/>
                <a:sym typeface="+mn-lt"/>
              </a:rPr>
              <a:t>网络结构如图所示</a:t>
            </a:r>
            <a:r>
              <a:rPr lang="zh-CN" altLang="en-US" sz="2000" dirty="0">
                <a:cs typeface="+mn-ea"/>
                <a:sym typeface="+mn-lt"/>
              </a:rPr>
              <a:t>。</a:t>
            </a:r>
            <a:r>
              <a:rPr lang="en-US" altLang="zh-CN" sz="2000" dirty="0">
                <a:cs typeface="+mn-ea"/>
                <a:sym typeface="+mn-lt"/>
              </a:rPr>
              <a:t>Darknet-53</a:t>
            </a:r>
            <a:r>
              <a:rPr lang="zh-CN" altLang="en-US" sz="2000" dirty="0">
                <a:cs typeface="+mn-ea"/>
                <a:sym typeface="+mn-lt"/>
              </a:rPr>
              <a:t>在</a:t>
            </a:r>
            <a:r>
              <a:rPr lang="en-US" altLang="zh-CN" sz="2000" dirty="0">
                <a:cs typeface="+mn-ea"/>
                <a:sym typeface="+mn-lt"/>
              </a:rPr>
              <a:t>Darknet-19</a:t>
            </a:r>
            <a:r>
              <a:rPr lang="zh-CN" altLang="en-US" sz="2000" dirty="0">
                <a:cs typeface="+mn-ea"/>
                <a:sym typeface="+mn-lt"/>
              </a:rPr>
              <a:t>的基础上继续添加了</a:t>
            </a:r>
            <a:r>
              <a:rPr lang="en-US" altLang="zh-CN" sz="2000" dirty="0">
                <a:cs typeface="+mn-ea"/>
                <a:sym typeface="+mn-lt"/>
              </a:rPr>
              <a:t>3×3 </a:t>
            </a:r>
            <a:r>
              <a:rPr lang="zh-CN" altLang="en-US" sz="2000" dirty="0">
                <a:cs typeface="+mn-ea"/>
                <a:sym typeface="+mn-lt"/>
              </a:rPr>
              <a:t>和 </a:t>
            </a:r>
            <a:r>
              <a:rPr lang="en-US" altLang="zh-CN" sz="2000" dirty="0">
                <a:cs typeface="+mn-ea"/>
                <a:sym typeface="+mn-lt"/>
              </a:rPr>
              <a:t>1×1</a:t>
            </a:r>
            <a:r>
              <a:rPr lang="zh-CN" altLang="en-US" sz="2000" dirty="0">
                <a:cs typeface="+mn-ea"/>
                <a:sym typeface="+mn-lt"/>
              </a:rPr>
              <a:t>卷积核来加深网络，达到</a:t>
            </a:r>
            <a:r>
              <a:rPr lang="en-US" altLang="zh-CN" sz="2000" dirty="0">
                <a:cs typeface="+mn-ea"/>
                <a:sym typeface="+mn-lt"/>
              </a:rPr>
              <a:t>53</a:t>
            </a:r>
            <a:r>
              <a:rPr lang="zh-CN" altLang="en-US" sz="2000" dirty="0">
                <a:cs typeface="+mn-ea"/>
                <a:sym typeface="+mn-lt"/>
              </a:rPr>
              <a:t>层。同时使用了残差连接</a:t>
            </a:r>
            <a:r>
              <a:rPr lang="en-US" altLang="zh-CN" sz="2000" dirty="0">
                <a:cs typeface="+mn-ea"/>
                <a:sym typeface="+mn-lt"/>
              </a:rPr>
              <a:t>[17]</a:t>
            </a:r>
            <a:r>
              <a:rPr lang="zh-CN" altLang="en-US" sz="2000" dirty="0">
                <a:cs typeface="+mn-ea"/>
                <a:sym typeface="+mn-lt"/>
              </a:rPr>
              <a:t>克服了深层神经网络因为梯度消失引起的难以训练的问题。虽然加深后的网络与</a:t>
            </a:r>
            <a:r>
              <a:rPr lang="en-US" altLang="zh-CN" sz="2000" dirty="0">
                <a:cs typeface="+mn-ea"/>
                <a:sym typeface="+mn-lt"/>
              </a:rPr>
              <a:t>Darknet-19</a:t>
            </a:r>
            <a:r>
              <a:rPr lang="zh-CN" altLang="en-US" sz="2000" dirty="0">
                <a:cs typeface="+mn-ea"/>
                <a:sym typeface="+mn-lt"/>
              </a:rPr>
              <a:t>相比，推理速度更慢，但是与通用的特征提取骨架网络相比却仍然领先。</a:t>
            </a:r>
            <a:endParaRPr lang="zh-CN" altLang="en-US" sz="2000" dirty="0">
              <a:cs typeface="+mn-ea"/>
              <a:sym typeface="+mn-lt"/>
            </a:endParaRPr>
          </a:p>
        </p:txBody>
      </p:sp>
      <p:pic>
        <p:nvPicPr>
          <p:cNvPr id="8" name="图片 7" descr="一些文字和图片的手机截图&#10;&#10;描述已自动生成"/>
          <p:cNvPicPr/>
          <p:nvPr/>
        </p:nvPicPr>
        <p:blipFill>
          <a:blip r:embed="rId1"/>
          <a:stretch>
            <a:fillRect/>
          </a:stretch>
        </p:blipFill>
        <p:spPr>
          <a:xfrm>
            <a:off x="6105524" y="2206288"/>
            <a:ext cx="4294909" cy="41500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b="1" dirty="0">
                <a:cs typeface="+mn-ea"/>
                <a:sym typeface="+mn-lt"/>
              </a:rPr>
              <a:t>3</a:t>
            </a:r>
            <a:r>
              <a:rPr lang="zh-CN" altLang="en-US" sz="2000" b="1" dirty="0">
                <a:cs typeface="+mn-ea"/>
                <a:sym typeface="+mn-lt"/>
              </a:rPr>
              <a:t>）使用多尺度特征</a:t>
            </a:r>
            <a:endParaRPr lang="en-US" altLang="zh-CN" sz="2000" b="1" dirty="0">
              <a:cs typeface="+mn-ea"/>
              <a:sym typeface="+mn-lt"/>
            </a:endParaRPr>
          </a:p>
          <a:p>
            <a:pPr marL="0" indent="0">
              <a:buNone/>
            </a:pPr>
            <a:r>
              <a:rPr lang="zh-CN" altLang="en-US" sz="2000" dirty="0">
                <a:cs typeface="+mn-ea"/>
                <a:sym typeface="+mn-lt"/>
              </a:rPr>
              <a:t>由于之前的</a:t>
            </a:r>
            <a:r>
              <a:rPr lang="en-US" altLang="zh-CN" sz="2000" dirty="0">
                <a:cs typeface="+mn-ea"/>
                <a:sym typeface="+mn-lt"/>
              </a:rPr>
              <a:t>YOLO</a:t>
            </a:r>
            <a:r>
              <a:rPr lang="zh-CN" altLang="en-US" sz="2000" dirty="0">
                <a:cs typeface="+mn-ea"/>
                <a:sym typeface="+mn-lt"/>
              </a:rPr>
              <a:t>、</a:t>
            </a:r>
            <a:r>
              <a:rPr lang="en-US" altLang="zh-CN" sz="2000" dirty="0">
                <a:cs typeface="+mn-ea"/>
                <a:sym typeface="+mn-lt"/>
              </a:rPr>
              <a:t>YOLOv2</a:t>
            </a:r>
            <a:r>
              <a:rPr lang="zh-CN" altLang="en-US" sz="2000" dirty="0">
                <a:cs typeface="+mn-ea"/>
                <a:sym typeface="+mn-lt"/>
              </a:rPr>
              <a:t>在检测密集分布的中小物体上存在着能力不足，因此</a:t>
            </a:r>
            <a:r>
              <a:rPr lang="en-US" altLang="zh-CN" sz="2000" dirty="0">
                <a:cs typeface="+mn-ea"/>
                <a:sym typeface="+mn-lt"/>
              </a:rPr>
              <a:t>YOLOv3</a:t>
            </a:r>
            <a:r>
              <a:rPr lang="zh-CN" altLang="en-US" sz="2000" dirty="0">
                <a:cs typeface="+mn-ea"/>
                <a:sym typeface="+mn-lt"/>
              </a:rPr>
              <a:t>结合了特征金字塔算法（</a:t>
            </a:r>
            <a:r>
              <a:rPr lang="en-US" altLang="zh-CN" sz="2000" dirty="0">
                <a:cs typeface="+mn-ea"/>
                <a:sym typeface="+mn-lt"/>
              </a:rPr>
              <a:t>FPN</a:t>
            </a:r>
            <a:r>
              <a:rPr lang="zh-CN" altLang="en-US" sz="2000" dirty="0">
                <a:cs typeface="+mn-ea"/>
                <a:sym typeface="+mn-lt"/>
              </a:rPr>
              <a:t>）</a:t>
            </a:r>
            <a:r>
              <a:rPr lang="en-US" altLang="zh-CN" sz="2000" dirty="0">
                <a:cs typeface="+mn-ea"/>
                <a:sym typeface="+mn-lt"/>
              </a:rPr>
              <a:t>[27]</a:t>
            </a:r>
            <a:r>
              <a:rPr lang="zh-CN" altLang="en-US" sz="2000" dirty="0">
                <a:cs typeface="+mn-ea"/>
                <a:sym typeface="+mn-lt"/>
              </a:rPr>
              <a:t>，增强了模型检测不同尺度物体的能力，</a:t>
            </a:r>
            <a:r>
              <a:rPr lang="zh-CN" altLang="en-US" sz="2000" b="1" dirty="0">
                <a:cs typeface="+mn-ea"/>
                <a:sym typeface="+mn-lt"/>
              </a:rPr>
              <a:t>网络结构如下图所示。</a:t>
            </a:r>
            <a:r>
              <a:rPr lang="en-US" altLang="zh-CN" sz="2000" dirty="0">
                <a:cs typeface="+mn-ea"/>
                <a:sym typeface="+mn-lt"/>
              </a:rPr>
              <a:t>FPN</a:t>
            </a:r>
            <a:r>
              <a:rPr lang="zh-CN" altLang="en-US" sz="2000" dirty="0">
                <a:cs typeface="+mn-ea"/>
                <a:sym typeface="+mn-lt"/>
              </a:rPr>
              <a:t>总共输出三种分辨率的特征图</a:t>
            </a:r>
            <a:r>
              <a:rPr lang="en-US" altLang="zh-CN" sz="2000" dirty="0">
                <a:cs typeface="+mn-ea"/>
                <a:sym typeface="+mn-lt"/>
              </a:rPr>
              <a:t>, </a:t>
            </a:r>
            <a:r>
              <a:rPr lang="zh-CN" altLang="en-US" sz="2000" dirty="0">
                <a:cs typeface="+mn-ea"/>
                <a:sym typeface="+mn-lt"/>
              </a:rPr>
              <a:t>这三个特征图的分辨率分别为原图的</a:t>
            </a:r>
            <a:r>
              <a:rPr lang="en-US" altLang="zh-CN" sz="2000" dirty="0">
                <a:cs typeface="+mn-ea"/>
                <a:sym typeface="+mn-lt"/>
              </a:rPr>
              <a:t>1/32</a:t>
            </a:r>
            <a:r>
              <a:rPr lang="zh-CN" altLang="en-US" sz="2000" dirty="0">
                <a:cs typeface="+mn-ea"/>
                <a:sym typeface="+mn-lt"/>
              </a:rPr>
              <a:t>、</a:t>
            </a:r>
            <a:r>
              <a:rPr lang="en-US" altLang="zh-CN" sz="2000" dirty="0">
                <a:cs typeface="+mn-ea"/>
                <a:sym typeface="+mn-lt"/>
              </a:rPr>
              <a:t>1/16</a:t>
            </a:r>
            <a:r>
              <a:rPr lang="zh-CN" altLang="en-US" sz="2000" dirty="0">
                <a:cs typeface="+mn-ea"/>
                <a:sym typeface="+mn-lt"/>
              </a:rPr>
              <a:t>、</a:t>
            </a:r>
            <a:r>
              <a:rPr lang="en-US" altLang="zh-CN" sz="2000" dirty="0">
                <a:cs typeface="+mn-ea"/>
                <a:sym typeface="+mn-lt"/>
              </a:rPr>
              <a:t>1/8</a:t>
            </a:r>
            <a:r>
              <a:rPr lang="zh-CN" altLang="en-US" sz="2000" dirty="0">
                <a:cs typeface="+mn-ea"/>
                <a:sym typeface="+mn-lt"/>
              </a:rPr>
              <a:t>，当输入图像的大小是</a:t>
            </a:r>
            <a:r>
              <a:rPr lang="en-US" altLang="zh-CN" sz="2000" dirty="0">
                <a:cs typeface="+mn-ea"/>
                <a:sym typeface="+mn-lt"/>
              </a:rPr>
              <a:t>416×416</a:t>
            </a:r>
            <a:r>
              <a:rPr lang="zh-CN" altLang="en-US" sz="2000" dirty="0">
                <a:cs typeface="+mn-ea"/>
                <a:sym typeface="+mn-lt"/>
              </a:rPr>
              <a:t>时，对应的检测尺度为</a:t>
            </a:r>
            <a:r>
              <a:rPr lang="en-US" altLang="zh-CN" sz="2000" dirty="0">
                <a:cs typeface="+mn-ea"/>
                <a:sym typeface="+mn-lt"/>
              </a:rPr>
              <a:t>13×13</a:t>
            </a:r>
            <a:r>
              <a:rPr lang="zh-CN" altLang="en-US" sz="2000" dirty="0">
                <a:cs typeface="+mn-ea"/>
                <a:sym typeface="+mn-lt"/>
              </a:rPr>
              <a:t>、</a:t>
            </a:r>
            <a:r>
              <a:rPr lang="en-US" altLang="zh-CN" sz="2000" dirty="0">
                <a:cs typeface="+mn-ea"/>
                <a:sym typeface="+mn-lt"/>
              </a:rPr>
              <a:t>26×26</a:t>
            </a:r>
            <a:r>
              <a:rPr lang="zh-CN" altLang="en-US" sz="2000" dirty="0">
                <a:cs typeface="+mn-ea"/>
                <a:sym typeface="+mn-lt"/>
              </a:rPr>
              <a:t>、</a:t>
            </a:r>
            <a:r>
              <a:rPr lang="en-US" altLang="zh-CN" sz="2000" dirty="0">
                <a:cs typeface="+mn-ea"/>
                <a:sym typeface="+mn-lt"/>
              </a:rPr>
              <a:t>52×52</a:t>
            </a:r>
            <a:r>
              <a:rPr lang="zh-CN" altLang="en-US" sz="2000" dirty="0">
                <a:cs typeface="+mn-ea"/>
                <a:sym typeface="+mn-lt"/>
              </a:rPr>
              <a:t>。在每个尺度上，每个单元使用 </a:t>
            </a:r>
            <a:r>
              <a:rPr lang="en-US" altLang="zh-CN" sz="2000" dirty="0">
                <a:cs typeface="+mn-ea"/>
                <a:sym typeface="+mn-lt"/>
              </a:rPr>
              <a:t>3 </a:t>
            </a:r>
            <a:r>
              <a:rPr lang="zh-CN" altLang="en-US" sz="2000" dirty="0">
                <a:cs typeface="+mn-ea"/>
                <a:sym typeface="+mn-lt"/>
              </a:rPr>
              <a:t>个锚点预测 </a:t>
            </a:r>
            <a:r>
              <a:rPr lang="en-US" altLang="zh-CN" sz="2000" dirty="0">
                <a:cs typeface="+mn-ea"/>
                <a:sym typeface="+mn-lt"/>
              </a:rPr>
              <a:t>3 </a:t>
            </a:r>
            <a:r>
              <a:rPr lang="zh-CN" altLang="en-US" sz="2000" dirty="0">
                <a:cs typeface="+mn-ea"/>
                <a:sym typeface="+mn-lt"/>
              </a:rPr>
              <a:t>个边界框，锚点的总数为 </a:t>
            </a:r>
            <a:r>
              <a:rPr lang="en-US" altLang="zh-CN" sz="2000" dirty="0">
                <a:cs typeface="+mn-ea"/>
                <a:sym typeface="+mn-lt"/>
              </a:rPr>
              <a:t>9</a:t>
            </a:r>
            <a:r>
              <a:rPr lang="zh-CN" altLang="en-US" sz="2000" dirty="0">
                <a:cs typeface="+mn-ea"/>
                <a:sym typeface="+mn-lt"/>
              </a:rPr>
              <a:t>。</a:t>
            </a:r>
            <a:r>
              <a:rPr lang="en-US" altLang="zh-CN" sz="2000" dirty="0">
                <a:cs typeface="+mn-ea"/>
                <a:sym typeface="+mn-lt"/>
              </a:rPr>
              <a:t>YOLOv3</a:t>
            </a:r>
            <a:r>
              <a:rPr lang="zh-CN" altLang="en-US" sz="2000" dirty="0">
                <a:cs typeface="+mn-ea"/>
                <a:sym typeface="+mn-lt"/>
              </a:rPr>
              <a:t>把原图中不同尺度的目标分配到不同分辨率的特征图上，其中</a:t>
            </a:r>
            <a:r>
              <a:rPr lang="zh-CN" altLang="en-US" sz="2000" b="1" dirty="0">
                <a:cs typeface="+mn-ea"/>
                <a:sym typeface="+mn-lt"/>
              </a:rPr>
              <a:t>大分辨率</a:t>
            </a:r>
            <a:r>
              <a:rPr lang="zh-CN" altLang="en-US" sz="2000" dirty="0">
                <a:cs typeface="+mn-ea"/>
                <a:sym typeface="+mn-lt"/>
              </a:rPr>
              <a:t>的特征图保留了更多信息结合来自更深层网络的语义信息</a:t>
            </a:r>
            <a:r>
              <a:rPr lang="zh-CN" altLang="en-US" sz="2000" b="1" dirty="0">
                <a:cs typeface="+mn-ea"/>
                <a:sym typeface="+mn-lt"/>
              </a:rPr>
              <a:t>检测小尺寸的目标</a:t>
            </a:r>
            <a:r>
              <a:rPr lang="zh-CN" altLang="en-US" sz="2000" dirty="0">
                <a:cs typeface="+mn-ea"/>
                <a:sym typeface="+mn-lt"/>
              </a:rPr>
              <a:t>；</a:t>
            </a:r>
            <a:r>
              <a:rPr lang="zh-CN" altLang="en-US" sz="2000" b="1" dirty="0">
                <a:cs typeface="+mn-ea"/>
                <a:sym typeface="+mn-lt"/>
              </a:rPr>
              <a:t>小分辨率</a:t>
            </a:r>
            <a:r>
              <a:rPr lang="zh-CN" altLang="en-US" sz="2000" dirty="0">
                <a:cs typeface="+mn-ea"/>
                <a:sym typeface="+mn-lt"/>
              </a:rPr>
              <a:t>的特征图本深就具有很丰富的语义信息，被用来</a:t>
            </a:r>
            <a:r>
              <a:rPr lang="zh-CN" altLang="en-US" sz="2000" b="1" dirty="0">
                <a:cs typeface="+mn-ea"/>
                <a:sym typeface="+mn-lt"/>
              </a:rPr>
              <a:t>检测大尺寸的物体</a:t>
            </a:r>
            <a:r>
              <a:rPr lang="zh-CN" altLang="en-US" sz="2000" dirty="0">
                <a:cs typeface="+mn-ea"/>
                <a:sym typeface="+mn-lt"/>
              </a:rPr>
              <a:t>。 </a:t>
            </a:r>
            <a:endParaRPr lang="en-US" altLang="zh-CN"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descr="图示&#10;&#10;描述已自动生成"/>
          <p:cNvPicPr/>
          <p:nvPr/>
        </p:nvPicPr>
        <p:blipFill>
          <a:blip r:embed="rId1"/>
          <a:stretch>
            <a:fillRect/>
          </a:stretch>
        </p:blipFill>
        <p:spPr>
          <a:xfrm>
            <a:off x="4146218" y="4298085"/>
            <a:ext cx="3899564" cy="1878878"/>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6.2 </a:t>
            </a:r>
            <a:r>
              <a:rPr lang="zh-CN" altLang="en-US" dirty="0">
                <a:latin typeface="+mn-lt"/>
                <a:ea typeface="+mn-ea"/>
                <a:cs typeface="+mn-ea"/>
                <a:sym typeface="+mn-lt"/>
              </a:rPr>
              <a:t>常用的目标检测算法</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r>
              <a:rPr lang="en-US" altLang="zh-CN" sz="2400" dirty="0">
                <a:cs typeface="+mn-ea"/>
                <a:sym typeface="+mn-lt"/>
              </a:rPr>
              <a:t> </a:t>
            </a:r>
            <a:r>
              <a:rPr lang="en-US" altLang="zh-CN" sz="2400" b="1" dirty="0">
                <a:cs typeface="+mn-ea"/>
                <a:sym typeface="+mn-lt"/>
              </a:rPr>
              <a:t>YOLOv4</a:t>
            </a:r>
            <a:r>
              <a:rPr lang="zh-CN" altLang="en-US" sz="2400" b="1" dirty="0">
                <a:cs typeface="+mn-ea"/>
                <a:sym typeface="+mn-lt"/>
              </a:rPr>
              <a:t>和</a:t>
            </a:r>
            <a:r>
              <a:rPr lang="en-US" altLang="zh-CN" sz="2400" b="1" dirty="0">
                <a:cs typeface="+mn-ea"/>
                <a:sym typeface="+mn-lt"/>
              </a:rPr>
              <a:t>YOLOv5</a:t>
            </a:r>
            <a:endParaRPr lang="en-US" altLang="zh-CN" sz="2400" b="1"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graphicFrame>
        <p:nvGraphicFramePr>
          <p:cNvPr id="8" name="表格 7"/>
          <p:cNvGraphicFramePr>
            <a:graphicFrameLocks noGrp="1"/>
          </p:cNvGraphicFramePr>
          <p:nvPr/>
        </p:nvGraphicFramePr>
        <p:xfrm>
          <a:off x="3180397" y="2587243"/>
          <a:ext cx="6593918" cy="3680391"/>
        </p:xfrm>
        <a:graphic>
          <a:graphicData uri="http://schemas.openxmlformats.org/drawingml/2006/table">
            <a:tbl>
              <a:tblPr firstRow="1" firstCol="1" bandRow="1">
                <a:tableStyleId>{5C22544A-7EE6-4342-B048-85BDC9FD1C3A}</a:tableStyleId>
              </a:tblPr>
              <a:tblGrid>
                <a:gridCol w="622556"/>
                <a:gridCol w="922704"/>
                <a:gridCol w="922704"/>
                <a:gridCol w="841562"/>
                <a:gridCol w="1178331"/>
                <a:gridCol w="1178331"/>
                <a:gridCol w="927730"/>
              </a:tblGrid>
              <a:tr h="406569">
                <a:tc gridSpan="2">
                  <a:txBody>
                    <a:bodyPr/>
                    <a:lstStyle/>
                    <a:p>
                      <a:pPr algn="just">
                        <a:lnSpc>
                          <a:spcPct val="125000"/>
                        </a:lnSpc>
                      </a:pPr>
                      <a:r>
                        <a:rPr lang="en-US" sz="1000" kern="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cPr/>
                </a:tc>
                <a:tc>
                  <a:txBody>
                    <a:bodyPr/>
                    <a:lstStyle/>
                    <a:p>
                      <a:pPr algn="just">
                        <a:lnSpc>
                          <a:spcPct val="125000"/>
                        </a:lnSpc>
                      </a:pPr>
                      <a:r>
                        <a:rPr lang="en-US" sz="1000" kern="0">
                          <a:effectLst/>
                          <a:latin typeface="+mn-lt"/>
                          <a:ea typeface="+mn-ea"/>
                          <a:cs typeface="+mn-ea"/>
                          <a:sym typeface="+mn-lt"/>
                        </a:rPr>
                        <a:t>YOLOv1</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YOLOv2</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YOLOv3</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YOLOv4</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YOLOv5</a:t>
                      </a:r>
                      <a:endParaRPr lang="zh-CN" sz="1050" kern="100">
                        <a:effectLst/>
                        <a:latin typeface="+mn-lt"/>
                        <a:ea typeface="+mn-ea"/>
                        <a:cs typeface="+mn-ea"/>
                        <a:sym typeface="+mn-lt"/>
                      </a:endParaRPr>
                    </a:p>
                  </a:txBody>
                  <a:tcPr marL="68580" marR="68580" marT="0" marB="0"/>
                </a:tc>
              </a:tr>
              <a:tr h="479374">
                <a:tc rowSpan="2">
                  <a:txBody>
                    <a:bodyPr/>
                    <a:lstStyle/>
                    <a:p>
                      <a:pPr algn="just">
                        <a:lnSpc>
                          <a:spcPct val="125000"/>
                        </a:lnSpc>
                      </a:pPr>
                      <a:r>
                        <a:rPr lang="en-US" sz="1000" kern="0">
                          <a:effectLst/>
                          <a:latin typeface="+mn-lt"/>
                          <a:ea typeface="+mn-ea"/>
                          <a:cs typeface="+mn-ea"/>
                          <a:sym typeface="+mn-lt"/>
                        </a:rPr>
                        <a:t> </a:t>
                      </a:r>
                      <a:endParaRPr lang="zh-CN" sz="1050" kern="100">
                        <a:effectLst/>
                        <a:latin typeface="+mn-lt"/>
                        <a:ea typeface="+mn-ea"/>
                        <a:cs typeface="+mn-ea"/>
                        <a:sym typeface="+mn-lt"/>
                      </a:endParaRPr>
                    </a:p>
                    <a:p>
                      <a:pPr algn="just">
                        <a:lnSpc>
                          <a:spcPct val="125000"/>
                        </a:lnSpc>
                      </a:pPr>
                      <a:r>
                        <a:rPr lang="zh-CN" sz="1000" kern="0">
                          <a:effectLst/>
                          <a:latin typeface="+mn-lt"/>
                          <a:ea typeface="+mn-ea"/>
                          <a:cs typeface="+mn-ea"/>
                          <a:sym typeface="+mn-lt"/>
                        </a:rPr>
                        <a:t>输入端</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zh-CN" sz="1000" kern="0">
                          <a:effectLst/>
                          <a:latin typeface="+mn-lt"/>
                          <a:ea typeface="+mn-ea"/>
                          <a:cs typeface="+mn-ea"/>
                          <a:sym typeface="+mn-lt"/>
                        </a:rPr>
                        <a:t>数据增强</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Mosaic</a:t>
                      </a:r>
                      <a:r>
                        <a:rPr lang="zh-CN" sz="1000" kern="0">
                          <a:effectLst/>
                          <a:latin typeface="+mn-lt"/>
                          <a:ea typeface="+mn-ea"/>
                          <a:cs typeface="+mn-ea"/>
                          <a:sym typeface="+mn-lt"/>
                        </a:rPr>
                        <a:t>数据增强</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Mosaic</a:t>
                      </a:r>
                      <a:r>
                        <a:rPr lang="zh-CN" sz="1000" kern="0">
                          <a:effectLst/>
                          <a:latin typeface="+mn-lt"/>
                          <a:ea typeface="+mn-ea"/>
                          <a:cs typeface="+mn-ea"/>
                          <a:sym typeface="+mn-lt"/>
                        </a:rPr>
                        <a:t>数据增强</a:t>
                      </a:r>
                      <a:endParaRPr lang="zh-CN" sz="1050" kern="100">
                        <a:effectLst/>
                        <a:latin typeface="+mn-lt"/>
                        <a:ea typeface="+mn-ea"/>
                        <a:cs typeface="+mn-ea"/>
                        <a:sym typeface="+mn-lt"/>
                      </a:endParaRPr>
                    </a:p>
                  </a:txBody>
                  <a:tcPr marL="68580" marR="68580" marT="0" marB="0"/>
                </a:tc>
              </a:tr>
              <a:tr h="472013">
                <a:tc vMerge="1">
                  <a:tcPr/>
                </a:tc>
                <a:tc>
                  <a:txBody>
                    <a:bodyPr/>
                    <a:lstStyle/>
                    <a:p>
                      <a:pPr algn="just">
                        <a:lnSpc>
                          <a:spcPct val="125000"/>
                        </a:lnSpc>
                      </a:pPr>
                      <a:r>
                        <a:rPr lang="zh-CN" sz="1000" kern="0">
                          <a:effectLst/>
                          <a:latin typeface="+mn-lt"/>
                          <a:ea typeface="+mn-ea"/>
                          <a:cs typeface="+mn-ea"/>
                          <a:sym typeface="+mn-lt"/>
                        </a:rPr>
                        <a:t>锚框</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Anchor</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Anchor</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Anchor</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zh-CN" sz="1000" kern="0">
                          <a:effectLst/>
                          <a:latin typeface="+mn-lt"/>
                          <a:ea typeface="+mn-ea"/>
                          <a:cs typeface="+mn-ea"/>
                          <a:sym typeface="+mn-lt"/>
                        </a:rPr>
                        <a:t>自适应</a:t>
                      </a:r>
                      <a:r>
                        <a:rPr lang="en-US" sz="1000" kern="0">
                          <a:effectLst/>
                          <a:latin typeface="+mn-lt"/>
                          <a:ea typeface="+mn-ea"/>
                          <a:cs typeface="+mn-ea"/>
                          <a:sym typeface="+mn-lt"/>
                        </a:rPr>
                        <a:t>Anchor</a:t>
                      </a:r>
                      <a:endParaRPr lang="zh-CN" sz="1050" kern="100">
                        <a:effectLst/>
                        <a:latin typeface="+mn-lt"/>
                        <a:ea typeface="+mn-ea"/>
                        <a:cs typeface="+mn-ea"/>
                        <a:sym typeface="+mn-lt"/>
                      </a:endParaRPr>
                    </a:p>
                  </a:txBody>
                  <a:tcPr marL="68580" marR="68580" marT="0" marB="0"/>
                </a:tc>
              </a:tr>
              <a:tr h="472013">
                <a:tc rowSpan="3">
                  <a:txBody>
                    <a:bodyPr/>
                    <a:lstStyle/>
                    <a:p>
                      <a:pPr algn="just">
                        <a:lnSpc>
                          <a:spcPct val="125000"/>
                        </a:lnSpc>
                      </a:pPr>
                      <a:r>
                        <a:rPr lang="en-US" sz="1000" kern="0">
                          <a:effectLst/>
                          <a:latin typeface="+mn-lt"/>
                          <a:ea typeface="+mn-ea"/>
                          <a:cs typeface="+mn-ea"/>
                          <a:sym typeface="+mn-lt"/>
                        </a:rPr>
                        <a:t> </a:t>
                      </a:r>
                      <a:endParaRPr lang="zh-CN" sz="1050" kern="100">
                        <a:effectLst/>
                        <a:latin typeface="+mn-lt"/>
                        <a:ea typeface="+mn-ea"/>
                        <a:cs typeface="+mn-ea"/>
                        <a:sym typeface="+mn-lt"/>
                      </a:endParaRPr>
                    </a:p>
                    <a:p>
                      <a:pPr algn="just">
                        <a:lnSpc>
                          <a:spcPct val="125000"/>
                        </a:lnSpc>
                      </a:pPr>
                      <a:r>
                        <a:rPr lang="en-US" sz="1000" kern="0">
                          <a:effectLst/>
                          <a:latin typeface="+mn-lt"/>
                          <a:ea typeface="+mn-ea"/>
                          <a:cs typeface="+mn-ea"/>
                          <a:sym typeface="+mn-lt"/>
                        </a:rPr>
                        <a:t> </a:t>
                      </a:r>
                      <a:endParaRPr lang="zh-CN" sz="1050" kern="100">
                        <a:effectLst/>
                        <a:latin typeface="+mn-lt"/>
                        <a:ea typeface="+mn-ea"/>
                        <a:cs typeface="+mn-ea"/>
                        <a:sym typeface="+mn-lt"/>
                      </a:endParaRPr>
                    </a:p>
                    <a:p>
                      <a:pPr algn="just">
                        <a:lnSpc>
                          <a:spcPct val="125000"/>
                        </a:lnSpc>
                      </a:pPr>
                      <a:r>
                        <a:rPr lang="zh-CN" sz="1000" kern="0">
                          <a:effectLst/>
                          <a:latin typeface="+mn-lt"/>
                          <a:ea typeface="+mn-ea"/>
                          <a:cs typeface="+mn-ea"/>
                          <a:sym typeface="+mn-lt"/>
                        </a:rPr>
                        <a:t>主干网络</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zh-CN" sz="1000" kern="0">
                          <a:effectLst/>
                          <a:latin typeface="+mn-lt"/>
                          <a:ea typeface="+mn-ea"/>
                          <a:cs typeface="+mn-ea"/>
                          <a:sym typeface="+mn-lt"/>
                        </a:rPr>
                        <a:t>网络名称</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GoogleNet</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DarkNet-19</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DarkNet-53</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CSPDarknet-53</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Focus+CSP</a:t>
                      </a:r>
                      <a:endParaRPr lang="zh-CN" sz="1050" kern="100">
                        <a:effectLst/>
                        <a:latin typeface="+mn-lt"/>
                        <a:ea typeface="+mn-ea"/>
                        <a:cs typeface="+mn-ea"/>
                        <a:sym typeface="+mn-lt"/>
                      </a:endParaRPr>
                    </a:p>
                  </a:txBody>
                  <a:tcPr marL="68580" marR="68580" marT="0" marB="0"/>
                </a:tc>
              </a:tr>
              <a:tr h="226599">
                <a:tc vMerge="1">
                  <a:tcPr/>
                </a:tc>
                <a:tc>
                  <a:txBody>
                    <a:bodyPr/>
                    <a:lstStyle/>
                    <a:p>
                      <a:pPr algn="just">
                        <a:lnSpc>
                          <a:spcPct val="125000"/>
                        </a:lnSpc>
                      </a:pPr>
                      <a:r>
                        <a:rPr lang="zh-CN" sz="1000" kern="0">
                          <a:effectLst/>
                          <a:latin typeface="+mn-lt"/>
                          <a:ea typeface="+mn-ea"/>
                          <a:cs typeface="+mn-ea"/>
                          <a:sym typeface="+mn-lt"/>
                        </a:rPr>
                        <a:t>归一化</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BN</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BN</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CMBN</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BN</a:t>
                      </a:r>
                      <a:endParaRPr lang="zh-CN" sz="1050" kern="100">
                        <a:effectLst/>
                        <a:latin typeface="+mn-lt"/>
                        <a:ea typeface="+mn-ea"/>
                        <a:cs typeface="+mn-ea"/>
                        <a:sym typeface="+mn-lt"/>
                      </a:endParaRPr>
                    </a:p>
                  </a:txBody>
                  <a:tcPr marL="68580" marR="68580" marT="0" marB="0"/>
                </a:tc>
              </a:tr>
              <a:tr h="472013">
                <a:tc vMerge="1">
                  <a:tcPr/>
                </a:tc>
                <a:tc>
                  <a:txBody>
                    <a:bodyPr/>
                    <a:lstStyle/>
                    <a:p>
                      <a:pPr algn="just">
                        <a:lnSpc>
                          <a:spcPct val="125000"/>
                        </a:lnSpc>
                      </a:pPr>
                      <a:r>
                        <a:rPr lang="zh-CN" sz="1000" kern="0">
                          <a:effectLst/>
                          <a:latin typeface="+mn-lt"/>
                          <a:ea typeface="+mn-ea"/>
                          <a:cs typeface="+mn-ea"/>
                          <a:sym typeface="+mn-lt"/>
                        </a:rPr>
                        <a:t>激活函数</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Leaky ReLU</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Leaky ReLU</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Leaky ReLU</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Mish</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Leaky ReLU</a:t>
                      </a:r>
                      <a:endParaRPr lang="zh-CN" sz="1050" kern="100">
                        <a:effectLst/>
                        <a:latin typeface="+mn-lt"/>
                        <a:ea typeface="+mn-ea"/>
                        <a:cs typeface="+mn-ea"/>
                        <a:sym typeface="+mn-lt"/>
                      </a:endParaRPr>
                    </a:p>
                    <a:p>
                      <a:pPr algn="just">
                        <a:lnSpc>
                          <a:spcPct val="125000"/>
                        </a:lnSpc>
                      </a:pPr>
                      <a:r>
                        <a:rPr lang="en-US" sz="1000" kern="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r>
              <a:tr h="226599">
                <a:tc gridSpan="2">
                  <a:txBody>
                    <a:bodyPr/>
                    <a:lstStyle/>
                    <a:p>
                      <a:pPr algn="just">
                        <a:lnSpc>
                          <a:spcPct val="125000"/>
                        </a:lnSpc>
                      </a:pPr>
                      <a:r>
                        <a:rPr lang="en-US" sz="1000" kern="0">
                          <a:effectLst/>
                          <a:latin typeface="+mn-lt"/>
                          <a:ea typeface="+mn-ea"/>
                          <a:cs typeface="+mn-ea"/>
                          <a:sym typeface="+mn-lt"/>
                        </a:rPr>
                        <a:t>Neck</a:t>
                      </a:r>
                      <a:endParaRPr lang="zh-CN" sz="1050" kern="100">
                        <a:effectLst/>
                        <a:latin typeface="+mn-lt"/>
                        <a:ea typeface="+mn-ea"/>
                        <a:cs typeface="+mn-ea"/>
                        <a:sym typeface="+mn-lt"/>
                      </a:endParaRPr>
                    </a:p>
                  </a:txBody>
                  <a:tcPr marL="68580" marR="68580" marT="0" marB="0"/>
                </a:tc>
                <a:tc hMerge="1">
                  <a:tcPr/>
                </a:tc>
                <a:tc>
                  <a:txBody>
                    <a:bodyPr/>
                    <a:lstStyle/>
                    <a:p>
                      <a:pPr algn="just">
                        <a:lnSpc>
                          <a:spcPct val="125000"/>
                        </a:lnSpc>
                      </a:pPr>
                      <a:r>
                        <a:rPr lang="en-US" sz="1000" kern="0">
                          <a:effectLst/>
                          <a:latin typeface="+mn-lt"/>
                          <a:ea typeface="+mn-ea"/>
                          <a:cs typeface="+mn-ea"/>
                          <a:sym typeface="+mn-lt"/>
                        </a:rPr>
                        <a:t>-</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FPN</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SPP+FPN+PAN</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FPN+PAN</a:t>
                      </a:r>
                      <a:endParaRPr lang="zh-CN" sz="1050" kern="100">
                        <a:effectLst/>
                        <a:latin typeface="+mn-lt"/>
                        <a:ea typeface="+mn-ea"/>
                        <a:cs typeface="+mn-ea"/>
                        <a:sym typeface="+mn-lt"/>
                      </a:endParaRPr>
                    </a:p>
                  </a:txBody>
                  <a:tcPr marL="68580" marR="68580" marT="0" marB="0"/>
                </a:tc>
              </a:tr>
              <a:tr h="226599">
                <a:tc gridSpan="2">
                  <a:txBody>
                    <a:bodyPr/>
                    <a:lstStyle/>
                    <a:p>
                      <a:pPr algn="just">
                        <a:lnSpc>
                          <a:spcPct val="125000"/>
                        </a:lnSpc>
                      </a:pPr>
                      <a:r>
                        <a:rPr lang="zh-CN" sz="1000" kern="0">
                          <a:effectLst/>
                          <a:latin typeface="+mn-lt"/>
                          <a:ea typeface="+mn-ea"/>
                          <a:cs typeface="+mn-ea"/>
                          <a:sym typeface="+mn-lt"/>
                        </a:rPr>
                        <a:t>定位损失</a:t>
                      </a:r>
                      <a:endParaRPr lang="zh-CN" sz="1050" kern="100">
                        <a:effectLst/>
                        <a:latin typeface="+mn-lt"/>
                        <a:ea typeface="+mn-ea"/>
                        <a:cs typeface="+mn-ea"/>
                        <a:sym typeface="+mn-lt"/>
                      </a:endParaRPr>
                    </a:p>
                  </a:txBody>
                  <a:tcPr marL="68580" marR="68580" marT="0" marB="0"/>
                </a:tc>
                <a:tc hMerge="1">
                  <a:tcPr/>
                </a:tc>
                <a:tc>
                  <a:txBody>
                    <a:bodyPr/>
                    <a:lstStyle/>
                    <a:p>
                      <a:pPr algn="just">
                        <a:lnSpc>
                          <a:spcPct val="125000"/>
                        </a:lnSpc>
                      </a:pPr>
                      <a:r>
                        <a:rPr lang="en-US" sz="1000" kern="0">
                          <a:effectLst/>
                          <a:latin typeface="+mn-lt"/>
                          <a:ea typeface="+mn-ea"/>
                          <a:cs typeface="+mn-ea"/>
                          <a:sym typeface="+mn-lt"/>
                        </a:rPr>
                        <a:t>IOU</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IOU</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IOU</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CIOU</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GIOU</a:t>
                      </a:r>
                      <a:endParaRPr lang="zh-CN" sz="1050" kern="100">
                        <a:effectLst/>
                        <a:latin typeface="+mn-lt"/>
                        <a:ea typeface="+mn-ea"/>
                        <a:cs typeface="+mn-ea"/>
                        <a:sym typeface="+mn-lt"/>
                      </a:endParaRPr>
                    </a:p>
                  </a:txBody>
                  <a:tcPr marL="68580" marR="68580" marT="0" marB="0"/>
                </a:tc>
              </a:tr>
              <a:tr h="226599">
                <a:tc gridSpan="2">
                  <a:txBody>
                    <a:bodyPr/>
                    <a:lstStyle/>
                    <a:p>
                      <a:pPr algn="just">
                        <a:lnSpc>
                          <a:spcPct val="125000"/>
                        </a:lnSpc>
                      </a:pPr>
                      <a:r>
                        <a:rPr lang="zh-CN" sz="1000" kern="0">
                          <a:effectLst/>
                          <a:latin typeface="+mn-lt"/>
                          <a:ea typeface="+mn-ea"/>
                          <a:cs typeface="+mn-ea"/>
                          <a:sym typeface="+mn-lt"/>
                        </a:rPr>
                        <a:t>非极大值抑制</a:t>
                      </a:r>
                      <a:endParaRPr lang="zh-CN" sz="1050" kern="100">
                        <a:effectLst/>
                        <a:latin typeface="+mn-lt"/>
                        <a:ea typeface="+mn-ea"/>
                        <a:cs typeface="+mn-ea"/>
                        <a:sym typeface="+mn-lt"/>
                      </a:endParaRPr>
                    </a:p>
                  </a:txBody>
                  <a:tcPr marL="68580" marR="68580" marT="0" marB="0"/>
                </a:tc>
                <a:tc hMerge="1">
                  <a:tcPr/>
                </a:tc>
                <a:tc>
                  <a:txBody>
                    <a:bodyPr/>
                    <a:lstStyle/>
                    <a:p>
                      <a:pPr algn="just">
                        <a:lnSpc>
                          <a:spcPct val="125000"/>
                        </a:lnSpc>
                      </a:pPr>
                      <a:r>
                        <a:rPr lang="en-US" sz="1000" kern="0">
                          <a:effectLst/>
                          <a:latin typeface="+mn-lt"/>
                          <a:ea typeface="+mn-ea"/>
                          <a:cs typeface="+mn-ea"/>
                          <a:sym typeface="+mn-lt"/>
                        </a:rPr>
                        <a:t>NMS</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NMS</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NMS</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DIOU_NMS</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NMS</a:t>
                      </a:r>
                      <a:endParaRPr lang="zh-CN" sz="1050" kern="100">
                        <a:effectLst/>
                        <a:latin typeface="+mn-lt"/>
                        <a:ea typeface="+mn-ea"/>
                        <a:cs typeface="+mn-ea"/>
                        <a:sym typeface="+mn-lt"/>
                      </a:endParaRPr>
                    </a:p>
                  </a:txBody>
                  <a:tcPr marL="68580" marR="68580" marT="0" marB="0"/>
                </a:tc>
              </a:tr>
              <a:tr h="472013">
                <a:tc gridSpan="2">
                  <a:txBody>
                    <a:bodyPr/>
                    <a:lstStyle/>
                    <a:p>
                      <a:pPr algn="just">
                        <a:lnSpc>
                          <a:spcPct val="125000"/>
                        </a:lnSpc>
                      </a:pPr>
                      <a:r>
                        <a:rPr lang="en-US" sz="1000" kern="0">
                          <a:effectLst/>
                          <a:latin typeface="+mn-lt"/>
                          <a:ea typeface="+mn-ea"/>
                          <a:cs typeface="+mn-ea"/>
                          <a:sym typeface="+mn-lt"/>
                        </a:rPr>
                        <a:t>FPN</a:t>
                      </a:r>
                      <a:endParaRPr lang="zh-CN" sz="1050" kern="100">
                        <a:effectLst/>
                        <a:latin typeface="+mn-lt"/>
                        <a:ea typeface="+mn-ea"/>
                        <a:cs typeface="+mn-ea"/>
                        <a:sym typeface="+mn-lt"/>
                      </a:endParaRPr>
                    </a:p>
                  </a:txBody>
                  <a:tcPr marL="68580" marR="68580" marT="0" marB="0"/>
                </a:tc>
                <a:tc hMerge="1">
                  <a:tcPr/>
                </a:tc>
                <a:tc>
                  <a:txBody>
                    <a:bodyPr/>
                    <a:lstStyle/>
                    <a:p>
                      <a:pPr algn="just">
                        <a:lnSpc>
                          <a:spcPct val="125000"/>
                        </a:lnSpc>
                      </a:pPr>
                      <a:r>
                        <a:rPr lang="en-US" sz="1000" kern="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just">
                        <a:lnSpc>
                          <a:spcPct val="125000"/>
                        </a:lnSpc>
                      </a:pPr>
                      <a:r>
                        <a:rPr lang="en-US" sz="1000" kern="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gridSpan="3">
                  <a:txBody>
                    <a:bodyPr/>
                    <a:lstStyle/>
                    <a:p>
                      <a:pPr algn="just">
                        <a:lnSpc>
                          <a:spcPct val="125000"/>
                        </a:lnSpc>
                      </a:pPr>
                      <a:r>
                        <a:rPr lang="zh-CN" sz="1000" kern="0" dirty="0">
                          <a:effectLst/>
                          <a:latin typeface="+mn-lt"/>
                          <a:ea typeface="+mn-ea"/>
                          <a:cs typeface="+mn-ea"/>
                          <a:sym typeface="+mn-lt"/>
                        </a:rPr>
                        <a:t>将深层特征通过上采样的方式与低层特征进行融合。</a:t>
                      </a:r>
                      <a:endParaRPr lang="zh-CN" sz="1050" kern="100" dirty="0">
                        <a:effectLst/>
                        <a:latin typeface="+mn-lt"/>
                        <a:ea typeface="+mn-ea"/>
                        <a:cs typeface="+mn-ea"/>
                        <a:sym typeface="+mn-lt"/>
                      </a:endParaRPr>
                    </a:p>
                  </a:txBody>
                  <a:tcPr marL="68580" marR="68580" marT="0" marB="0"/>
                </a:tc>
                <a:tc hMerge="1">
                  <a:tcPr/>
                </a:tc>
                <a:tc hMerge="1">
                  <a:tcPr/>
                </a:tc>
              </a:tr>
            </a:tbl>
          </a:graphicData>
        </a:graphic>
      </p:graphicFrame>
      <p:sp>
        <p:nvSpPr>
          <p:cNvPr id="9" name="Rectangle 1"/>
          <p:cNvSpPr>
            <a:spLocks noChangeArrowheads="1"/>
          </p:cNvSpPr>
          <p:nvPr/>
        </p:nvSpPr>
        <p:spPr bwMode="auto">
          <a:xfrm>
            <a:off x="4309563" y="2254392"/>
            <a:ext cx="430103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cs typeface="+mn-ea"/>
                <a:sym typeface="+mn-lt"/>
              </a:rPr>
              <a:t>表YOLOv3、YOLOv4、YOLOv5模型对比</a:t>
            </a:r>
            <a:endParaRPr kumimoji="0" lang="zh-CN" altLang="zh-CN" sz="1600" b="0" i="0" u="none" strike="noStrike" cap="none" normalizeH="0" baseline="0" dirty="0">
              <a:ln>
                <a:noFill/>
              </a:ln>
              <a:solidFill>
                <a:schemeClr val="tx1"/>
              </a:solidFill>
              <a:effectLst/>
              <a:cs typeface="+mn-ea"/>
              <a:sym typeface="+mn-lt"/>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lstStyle/>
          <a:p>
            <a:r>
              <a:rPr lang="en-US" altLang="zh-CN" sz="2400" b="1" dirty="0">
                <a:cs typeface="+mn-ea"/>
                <a:sym typeface="+mn-lt"/>
              </a:rPr>
              <a:t>6.3.1 </a:t>
            </a:r>
            <a:r>
              <a:rPr lang="zh-CN" altLang="en-US" sz="2400" b="1" dirty="0">
                <a:cs typeface="+mn-ea"/>
                <a:sym typeface="+mn-lt"/>
              </a:rPr>
              <a:t>基于</a:t>
            </a:r>
            <a:r>
              <a:rPr lang="en-US" altLang="zh-CN" sz="2400" b="1" dirty="0">
                <a:cs typeface="+mn-ea"/>
                <a:sym typeface="+mn-lt"/>
              </a:rPr>
              <a:t>Faster R-CNN</a:t>
            </a:r>
            <a:r>
              <a:rPr lang="zh-CN" altLang="en-US" sz="2400" b="1" dirty="0">
                <a:cs typeface="+mn-ea"/>
                <a:sym typeface="+mn-lt"/>
              </a:rPr>
              <a:t>的行人检测</a:t>
            </a:r>
            <a:endParaRPr lang="en-US" altLang="zh-CN" sz="2400" b="1" dirty="0">
              <a:cs typeface="+mn-ea"/>
              <a:sym typeface="+mn-lt"/>
            </a:endParaRPr>
          </a:p>
          <a:p>
            <a:r>
              <a:rPr lang="zh-CN" altLang="en-US" sz="2400" b="1" dirty="0">
                <a:cs typeface="+mn-ea"/>
                <a:sym typeface="+mn-lt"/>
              </a:rPr>
              <a:t>数据介绍</a:t>
            </a:r>
            <a:endParaRPr lang="en-US" altLang="zh-CN" sz="2400" b="1" dirty="0">
              <a:cs typeface="+mn-ea"/>
              <a:sym typeface="+mn-lt"/>
            </a:endParaRPr>
          </a:p>
          <a:p>
            <a:pPr marL="0" indent="0">
              <a:buNone/>
            </a:pPr>
            <a:r>
              <a:rPr lang="zh-CN" altLang="en-US" sz="2000" dirty="0">
                <a:cs typeface="+mn-ea"/>
                <a:sym typeface="+mn-lt"/>
              </a:rPr>
              <a:t>使用文献</a:t>
            </a:r>
            <a:r>
              <a:rPr lang="en-US" altLang="zh-CN" sz="2000" dirty="0">
                <a:cs typeface="+mn-ea"/>
                <a:sym typeface="+mn-lt"/>
              </a:rPr>
              <a:t>[1]</a:t>
            </a:r>
            <a:r>
              <a:rPr lang="zh-CN" altLang="en-US" sz="2000" dirty="0">
                <a:cs typeface="+mn-ea"/>
                <a:sym typeface="+mn-lt"/>
              </a:rPr>
              <a:t>中的图像数据库中用于行人检测的图像。这些图像取自校园和城市街道周围的场景。我们在这些图像中感兴趣的对象是行人。每张图像中至少有一个行人。在这个数据库中，被标记的行人的高度属于</a:t>
            </a:r>
            <a:r>
              <a:rPr lang="en-US" altLang="zh-CN" sz="2000" dirty="0">
                <a:cs typeface="+mn-ea"/>
                <a:sym typeface="+mn-lt"/>
              </a:rPr>
              <a:t>[180,390]</a:t>
            </a:r>
            <a:r>
              <a:rPr lang="zh-CN" altLang="en-US" sz="2000" dirty="0">
                <a:cs typeface="+mn-ea"/>
                <a:sym typeface="+mn-lt"/>
              </a:rPr>
              <a:t>像素。有</a:t>
            </a:r>
            <a:r>
              <a:rPr lang="en-US" altLang="zh-CN" sz="2000" dirty="0">
                <a:cs typeface="+mn-ea"/>
                <a:sym typeface="+mn-lt"/>
              </a:rPr>
              <a:t>170</a:t>
            </a:r>
            <a:r>
              <a:rPr lang="zh-CN" altLang="en-US" sz="2000" dirty="0">
                <a:cs typeface="+mn-ea"/>
                <a:sym typeface="+mn-lt"/>
              </a:rPr>
              <a:t>张图片，</a:t>
            </a:r>
            <a:r>
              <a:rPr lang="en-US" altLang="zh-CN" sz="2000" dirty="0">
                <a:cs typeface="+mn-ea"/>
                <a:sym typeface="+mn-lt"/>
              </a:rPr>
              <a:t>345</a:t>
            </a:r>
            <a:r>
              <a:rPr lang="zh-CN" altLang="en-US" sz="2000" dirty="0">
                <a:cs typeface="+mn-ea"/>
                <a:sym typeface="+mn-lt"/>
              </a:rPr>
              <a:t>个标记的行人，其中</a:t>
            </a:r>
            <a:r>
              <a:rPr lang="en-US" altLang="zh-CN" sz="2000" dirty="0">
                <a:cs typeface="+mn-ea"/>
                <a:sym typeface="+mn-lt"/>
              </a:rPr>
              <a:t>96</a:t>
            </a:r>
            <a:r>
              <a:rPr lang="zh-CN" altLang="en-US" sz="2000" dirty="0">
                <a:cs typeface="+mn-ea"/>
                <a:sym typeface="+mn-lt"/>
              </a:rPr>
              <a:t>张图片取自宾夕法尼亚大学附近，其他</a:t>
            </a:r>
            <a:r>
              <a:rPr lang="en-US" altLang="zh-CN" sz="2000" dirty="0">
                <a:cs typeface="+mn-ea"/>
                <a:sym typeface="+mn-lt"/>
              </a:rPr>
              <a:t>74</a:t>
            </a:r>
            <a:r>
              <a:rPr lang="zh-CN" altLang="en-US" sz="2000" dirty="0">
                <a:cs typeface="+mn-ea"/>
                <a:sym typeface="+mn-lt"/>
              </a:rPr>
              <a:t>张取自复旦大学附近。</a:t>
            </a:r>
            <a:r>
              <a:rPr lang="zh-CN" altLang="en-US" sz="2000" b="1" dirty="0">
                <a:cs typeface="+mn-ea"/>
                <a:sym typeface="+mn-lt"/>
              </a:rPr>
              <a:t>数据样本如下图所示：</a:t>
            </a:r>
            <a:endParaRPr lang="zh-CN" altLang="en-US" sz="2000" b="1"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descr="图形用户界面, 应用程序, 网站&#10;&#10;描述已自动生成"/>
          <p:cNvPicPr/>
          <p:nvPr/>
        </p:nvPicPr>
        <p:blipFill>
          <a:blip r:embed="rId1"/>
          <a:stretch>
            <a:fillRect/>
          </a:stretch>
        </p:blipFill>
        <p:spPr>
          <a:xfrm>
            <a:off x="3563645" y="4001294"/>
            <a:ext cx="4589755" cy="231701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916686" y="2129391"/>
            <a:ext cx="10515600" cy="50738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zh-CN" altLang="en-US" sz="2000" dirty="0">
                <a:cs typeface="+mn-ea"/>
                <a:sym typeface="+mn-lt"/>
              </a:rPr>
              <a:t>在终端中输入以下命令下载并解压数据集</a:t>
            </a:r>
            <a:r>
              <a:rPr lang="en-US" altLang="zh-CN" sz="2000" dirty="0">
                <a:cs typeface="+mn-ea"/>
                <a:sym typeface="+mn-lt"/>
              </a:rPr>
              <a:t>:</a:t>
            </a: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dirty="0">
                <a:cs typeface="+mn-ea"/>
                <a:sym typeface="+mn-lt"/>
              </a:rPr>
              <a:t>目录结构如下：</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dirty="0">
                <a:cs typeface="+mn-ea"/>
                <a:sym typeface="+mn-lt"/>
              </a:rPr>
              <a:t>其中</a:t>
            </a:r>
            <a:r>
              <a:rPr lang="en-US" altLang="zh-CN" sz="2000" dirty="0" err="1">
                <a:cs typeface="+mn-ea"/>
                <a:sym typeface="+mn-lt"/>
              </a:rPr>
              <a:t>PNGImages</a:t>
            </a:r>
            <a:r>
              <a:rPr lang="zh-CN" altLang="en-US" sz="2000" dirty="0">
                <a:cs typeface="+mn-ea"/>
                <a:sym typeface="+mn-lt"/>
              </a:rPr>
              <a:t>文件夹为原始图片，</a:t>
            </a:r>
            <a:r>
              <a:rPr lang="en-US" altLang="zh-CN" sz="2000" dirty="0" err="1">
                <a:cs typeface="+mn-ea"/>
                <a:sym typeface="+mn-lt"/>
              </a:rPr>
              <a:t>PedMask</a:t>
            </a:r>
            <a:r>
              <a:rPr lang="zh-CN" altLang="en-US" sz="2000" dirty="0">
                <a:cs typeface="+mn-ea"/>
                <a:sym typeface="+mn-lt"/>
              </a:rPr>
              <a:t>为对应目标的分割标注，</a:t>
            </a:r>
            <a:r>
              <a:rPr lang="en-US" altLang="zh-CN" sz="2000" dirty="0">
                <a:cs typeface="+mn-ea"/>
                <a:sym typeface="+mn-lt"/>
              </a:rPr>
              <a:t>Annotations</a:t>
            </a:r>
            <a:r>
              <a:rPr lang="zh-CN" altLang="en-US" sz="2000" dirty="0">
                <a:cs typeface="+mn-ea"/>
                <a:sym typeface="+mn-lt"/>
              </a:rPr>
              <a:t>为对应图片的所有标注信息。</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a:blip r:embed="rId1"/>
          <a:stretch>
            <a:fillRect/>
          </a:stretch>
        </p:blipFill>
        <p:spPr>
          <a:xfrm>
            <a:off x="916686" y="2173674"/>
            <a:ext cx="6798128" cy="507381"/>
          </a:xfrm>
          <a:prstGeom prst="rect">
            <a:avLst/>
          </a:prstGeom>
        </p:spPr>
      </p:pic>
      <p:pic>
        <p:nvPicPr>
          <p:cNvPr id="9" name="图片 8"/>
          <p:cNvPicPr>
            <a:picLocks noChangeAspect="1"/>
          </p:cNvPicPr>
          <p:nvPr/>
        </p:nvPicPr>
        <p:blipFill rotWithShape="1">
          <a:blip r:embed="rId2">
            <a:extLst>
              <a:ext uri="{BEBA8EAE-BF5A-486C-A8C5-ECC9F3942E4B}">
                <a14:imgProps xmlns:a14="http://schemas.microsoft.com/office/drawing/2010/main">
                  <a14:imgLayer r:embed="rId3">
                    <a14:imgEffect>
                      <a14:sharpenSoften amount="48000"/>
                    </a14:imgEffect>
                  </a14:imgLayer>
                </a14:imgProps>
              </a:ext>
            </a:extLst>
          </a:blip>
          <a:srcRect b="9633"/>
          <a:stretch>
            <a:fillRect/>
          </a:stretch>
        </p:blipFill>
        <p:spPr>
          <a:xfrm>
            <a:off x="2425261" y="2940538"/>
            <a:ext cx="6646911" cy="2066468"/>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r>
              <a:rPr lang="zh-CN" altLang="en-US" sz="2400" b="1" dirty="0">
                <a:cs typeface="+mn-ea"/>
                <a:sym typeface="+mn-lt"/>
              </a:rPr>
              <a:t>编写自定义数据集接口</a:t>
            </a:r>
            <a:endParaRPr lang="en-US" altLang="zh-CN" sz="2400" b="1" dirty="0">
              <a:cs typeface="+mn-ea"/>
              <a:sym typeface="+mn-lt"/>
            </a:endParaRPr>
          </a:p>
          <a:p>
            <a:pPr marL="0" indent="0">
              <a:buNone/>
            </a:pPr>
            <a:r>
              <a:rPr lang="zh-CN" altLang="en-US" sz="2000" dirty="0">
                <a:cs typeface="+mn-ea"/>
                <a:sym typeface="+mn-lt"/>
              </a:rPr>
              <a:t>导入相关模块</a:t>
            </a:r>
            <a:r>
              <a:rPr lang="en-US" altLang="zh-CN" sz="2000" dirty="0">
                <a:cs typeface="+mn-ea"/>
                <a:sym typeface="+mn-lt"/>
              </a:rPr>
              <a:t>:</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dirty="0">
                <a:cs typeface="+mn-ea"/>
                <a:sym typeface="+mn-lt"/>
              </a:rPr>
              <a:t>定义数据集接口：</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rotWithShape="1">
          <a:blip r:embed="rId1"/>
          <a:srcRect r="63770"/>
          <a:stretch>
            <a:fillRect/>
          </a:stretch>
        </p:blipFill>
        <p:spPr>
          <a:xfrm>
            <a:off x="2620425" y="2496059"/>
            <a:ext cx="2836349" cy="1027576"/>
          </a:xfrm>
          <a:prstGeom prst="rect">
            <a:avLst/>
          </a:prstGeom>
        </p:spPr>
      </p:pic>
      <p:pic>
        <p:nvPicPr>
          <p:cNvPr id="10" name="图片 9"/>
          <p:cNvPicPr>
            <a:picLocks noChangeAspect="1"/>
          </p:cNvPicPr>
          <p:nvPr/>
        </p:nvPicPr>
        <p:blipFill rotWithShape="1">
          <a:blip r:embed="rId2"/>
          <a:srcRect b="61436"/>
          <a:stretch>
            <a:fillRect/>
          </a:stretch>
        </p:blipFill>
        <p:spPr>
          <a:xfrm>
            <a:off x="1548325" y="3848153"/>
            <a:ext cx="4666750" cy="2644721"/>
          </a:xfrm>
          <a:prstGeom prst="rect">
            <a:avLst/>
          </a:prstGeom>
        </p:spPr>
      </p:pic>
      <p:pic>
        <p:nvPicPr>
          <p:cNvPr id="11" name="图片 10"/>
          <p:cNvPicPr>
            <a:picLocks noChangeAspect="1"/>
          </p:cNvPicPr>
          <p:nvPr/>
        </p:nvPicPr>
        <p:blipFill rotWithShape="1">
          <a:blip r:embed="rId2"/>
          <a:srcRect t="38434"/>
          <a:stretch>
            <a:fillRect/>
          </a:stretch>
        </p:blipFill>
        <p:spPr>
          <a:xfrm>
            <a:off x="6453554" y="2035310"/>
            <a:ext cx="4809533" cy="4351337"/>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838200" y="2949506"/>
            <a:ext cx="10515600" cy="344097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38200" y="2166150"/>
            <a:ext cx="10515600" cy="47978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zh-CN" altLang="en-US" sz="2000" dirty="0">
                <a:cs typeface="+mn-ea"/>
                <a:sym typeface="+mn-lt"/>
              </a:rPr>
              <a:t>接口定义完成后，可执行以下命令验证一下借口的正确性：</a:t>
            </a: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dirty="0">
                <a:cs typeface="+mn-ea"/>
                <a:sym typeface="+mn-lt"/>
              </a:rPr>
              <a:t>输出：</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a:blip r:embed="rId1"/>
          <a:stretch>
            <a:fillRect/>
          </a:stretch>
        </p:blipFill>
        <p:spPr>
          <a:xfrm>
            <a:off x="1345034" y="2166151"/>
            <a:ext cx="9118408" cy="479779"/>
          </a:xfrm>
          <a:prstGeom prst="rect">
            <a:avLst/>
          </a:prstGeom>
        </p:spPr>
      </p:pic>
      <p:pic>
        <p:nvPicPr>
          <p:cNvPr id="10" name="图片 9"/>
          <p:cNvPicPr>
            <a:picLocks noChangeAspect="1"/>
          </p:cNvPicPr>
          <p:nvPr/>
        </p:nvPicPr>
        <p:blipFill>
          <a:blip r:embed="rId2"/>
          <a:stretch>
            <a:fillRect/>
          </a:stretch>
        </p:blipFill>
        <p:spPr>
          <a:xfrm>
            <a:off x="1696307" y="2949506"/>
            <a:ext cx="7638932" cy="3440978"/>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38200" y="2891722"/>
            <a:ext cx="10515600" cy="309086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r>
              <a:rPr lang="zh-CN" altLang="en-US" sz="2400" b="1" dirty="0">
                <a:cs typeface="+mn-ea"/>
                <a:sym typeface="+mn-lt"/>
              </a:rPr>
              <a:t>模型定义</a:t>
            </a:r>
            <a:endParaRPr lang="en-US" altLang="zh-CN" sz="2400" b="1" dirty="0">
              <a:cs typeface="+mn-ea"/>
              <a:sym typeface="+mn-lt"/>
            </a:endParaRPr>
          </a:p>
          <a:p>
            <a:pPr marL="0" indent="0">
              <a:buNone/>
            </a:pPr>
            <a:r>
              <a:rPr lang="zh-CN" altLang="en-US" sz="2000" dirty="0">
                <a:cs typeface="+mn-ea"/>
                <a:sym typeface="+mn-lt"/>
              </a:rPr>
              <a:t>由于</a:t>
            </a:r>
            <a:r>
              <a:rPr lang="en-US" altLang="zh-CN" sz="2000" dirty="0" err="1">
                <a:cs typeface="+mn-ea"/>
                <a:sym typeface="+mn-lt"/>
              </a:rPr>
              <a:t>torchvision</a:t>
            </a:r>
            <a:r>
              <a:rPr lang="zh-CN" altLang="en-US" sz="2000" dirty="0">
                <a:cs typeface="+mn-ea"/>
                <a:sym typeface="+mn-lt"/>
              </a:rPr>
              <a:t>已经内置了</a:t>
            </a:r>
            <a:r>
              <a:rPr lang="en-US" altLang="zh-CN" sz="2000" dirty="0">
                <a:cs typeface="+mn-ea"/>
                <a:sym typeface="+mn-lt"/>
              </a:rPr>
              <a:t>Faster R-CNN</a:t>
            </a:r>
            <a:r>
              <a:rPr lang="zh-CN" altLang="en-US" sz="2000" dirty="0">
                <a:cs typeface="+mn-ea"/>
                <a:sym typeface="+mn-lt"/>
              </a:rPr>
              <a:t>的实现，在这里可以直接调用相关的函数接口搭建模型。</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a:blip r:embed="rId1"/>
          <a:stretch>
            <a:fillRect/>
          </a:stretch>
        </p:blipFill>
        <p:spPr>
          <a:xfrm>
            <a:off x="1533616" y="2891722"/>
            <a:ext cx="9124767" cy="2630188"/>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838200" y="3754917"/>
            <a:ext cx="10515600" cy="138953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38200" y="2156287"/>
            <a:ext cx="10515600" cy="126796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zh-CN" altLang="en-US" sz="2000" dirty="0">
                <a:cs typeface="+mn-ea"/>
                <a:sym typeface="+mn-lt"/>
              </a:rPr>
              <a:t>创建一个模型实例，然后把随机初始化的两个张量当作图片输入到网络中。</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dirty="0">
                <a:cs typeface="+mn-ea"/>
                <a:sym typeface="+mn-lt"/>
              </a:rPr>
              <a:t>模型输出如下：</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dirty="0">
                <a:cs typeface="+mn-ea"/>
                <a:sym typeface="+mn-lt"/>
              </a:rPr>
              <a:t>由于，输入的图像为随机初始化的张量，模型并没有检测到任何目标。</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a:blip r:embed="rId1"/>
          <a:stretch>
            <a:fillRect/>
          </a:stretch>
        </p:blipFill>
        <p:spPr>
          <a:xfrm>
            <a:off x="920898" y="2161032"/>
            <a:ext cx="9556216" cy="1267968"/>
          </a:xfrm>
          <a:prstGeom prst="rect">
            <a:avLst/>
          </a:prstGeom>
        </p:spPr>
      </p:pic>
      <p:pic>
        <p:nvPicPr>
          <p:cNvPr id="10" name="图片 9"/>
          <p:cNvPicPr>
            <a:picLocks noChangeAspect="1"/>
          </p:cNvPicPr>
          <p:nvPr/>
        </p:nvPicPr>
        <p:blipFill>
          <a:blip r:embed="rId2"/>
          <a:stretch>
            <a:fillRect/>
          </a:stretch>
        </p:blipFill>
        <p:spPr>
          <a:xfrm>
            <a:off x="1804311" y="3764407"/>
            <a:ext cx="8774539" cy="1380039"/>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38200" y="2291136"/>
            <a:ext cx="10515600" cy="412741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461640"/>
            <a:ext cx="10515600" cy="4351338"/>
          </a:xfrm>
        </p:spPr>
        <p:txBody>
          <a:bodyPr>
            <a:normAutofit/>
          </a:bodyPr>
          <a:lstStyle/>
          <a:p>
            <a:r>
              <a:rPr lang="zh-CN" altLang="en-US" sz="2400" b="1" dirty="0">
                <a:cs typeface="+mn-ea"/>
                <a:sym typeface="+mn-lt"/>
              </a:rPr>
              <a:t>模型训练</a:t>
            </a:r>
            <a:endParaRPr lang="en-US" altLang="zh-CN" sz="2400" b="1" dirty="0">
              <a:cs typeface="+mn-ea"/>
              <a:sym typeface="+mn-lt"/>
            </a:endParaRPr>
          </a:p>
          <a:p>
            <a:pPr marL="0" indent="0">
              <a:buNone/>
            </a:pPr>
            <a:r>
              <a:rPr lang="zh-CN" altLang="en-US" sz="2000" dirty="0">
                <a:cs typeface="+mn-ea"/>
                <a:sym typeface="+mn-lt"/>
              </a:rPr>
              <a:t>在训练时对训练样本采用了随机水平翻转，实现代码如下：</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rotWithShape="1">
          <a:blip r:embed="rId1"/>
          <a:srcRect r="25060"/>
          <a:stretch>
            <a:fillRect/>
          </a:stretch>
        </p:blipFill>
        <p:spPr>
          <a:xfrm>
            <a:off x="981855" y="2291136"/>
            <a:ext cx="4520096" cy="4127419"/>
          </a:xfrm>
          <a:prstGeom prst="rect">
            <a:avLst/>
          </a:prstGeom>
        </p:spPr>
      </p:pic>
      <p:pic>
        <p:nvPicPr>
          <p:cNvPr id="10" name="图片 9"/>
          <p:cNvPicPr>
            <a:picLocks noChangeAspect="1"/>
          </p:cNvPicPr>
          <p:nvPr/>
        </p:nvPicPr>
        <p:blipFill rotWithShape="1">
          <a:blip r:embed="rId2"/>
          <a:srcRect r="40434"/>
          <a:stretch>
            <a:fillRect/>
          </a:stretch>
        </p:blipFill>
        <p:spPr>
          <a:xfrm>
            <a:off x="6090821" y="2291136"/>
            <a:ext cx="4279481" cy="3400148"/>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38200" y="2281561"/>
            <a:ext cx="10515600" cy="407478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zh-CN" altLang="en-US" sz="2000" dirty="0">
                <a:cs typeface="+mn-ea"/>
                <a:sym typeface="+mn-lt"/>
              </a:rPr>
              <a:t>读取数据集并将数据集划分为训练集和测试集：</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rotWithShape="1">
          <a:blip r:embed="rId1"/>
          <a:srcRect l="2818" r="24957"/>
          <a:stretch>
            <a:fillRect/>
          </a:stretch>
        </p:blipFill>
        <p:spPr>
          <a:xfrm>
            <a:off x="2400669" y="2281561"/>
            <a:ext cx="7246719" cy="3959441"/>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38200" y="2989424"/>
            <a:ext cx="10515600" cy="178676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38200" y="2142247"/>
            <a:ext cx="10515600" cy="36512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zh-CN" altLang="en-US" sz="2000" dirty="0">
                <a:cs typeface="+mn-ea"/>
                <a:sym typeface="+mn-lt"/>
              </a:rPr>
              <a:t>指定训练设备，当具有</a:t>
            </a:r>
            <a:r>
              <a:rPr lang="en-US" altLang="zh-CN" sz="2000" dirty="0">
                <a:cs typeface="+mn-ea"/>
                <a:sym typeface="+mn-lt"/>
              </a:rPr>
              <a:t>GPU</a:t>
            </a:r>
            <a:r>
              <a:rPr lang="zh-CN" altLang="en-US" sz="2000" dirty="0">
                <a:cs typeface="+mn-ea"/>
                <a:sym typeface="+mn-lt"/>
              </a:rPr>
              <a:t>环境时可以极大的加快模型的训练速度：</a:t>
            </a: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dirty="0">
                <a:cs typeface="+mn-ea"/>
                <a:sym typeface="+mn-lt"/>
              </a:rPr>
              <a:t>设置优化器以及各种学习策略：</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rotWithShape="1">
          <a:blip r:embed="rId1"/>
          <a:srcRect t="-1" r="21308" b="-9693"/>
          <a:stretch>
            <a:fillRect/>
          </a:stretch>
        </p:blipFill>
        <p:spPr>
          <a:xfrm>
            <a:off x="945401" y="2142247"/>
            <a:ext cx="9849106" cy="365124"/>
          </a:xfrm>
          <a:prstGeom prst="rect">
            <a:avLst/>
          </a:prstGeom>
        </p:spPr>
      </p:pic>
      <p:pic>
        <p:nvPicPr>
          <p:cNvPr id="12" name="图片 11"/>
          <p:cNvPicPr>
            <a:picLocks noChangeAspect="1"/>
          </p:cNvPicPr>
          <p:nvPr/>
        </p:nvPicPr>
        <p:blipFill rotWithShape="1">
          <a:blip r:embed="rId2"/>
          <a:srcRect r="28123"/>
          <a:stretch>
            <a:fillRect/>
          </a:stretch>
        </p:blipFill>
        <p:spPr>
          <a:xfrm>
            <a:off x="945401" y="2989424"/>
            <a:ext cx="8165665" cy="1786763"/>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838200" y="2290891"/>
            <a:ext cx="10515600" cy="401898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zh-CN" altLang="en-US" sz="2000" dirty="0">
                <a:cs typeface="+mn-ea"/>
                <a:sym typeface="+mn-lt"/>
              </a:rPr>
              <a:t>定义训练函数：</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10" name="图片 9"/>
          <p:cNvPicPr>
            <a:picLocks noChangeAspect="1"/>
          </p:cNvPicPr>
          <p:nvPr/>
        </p:nvPicPr>
        <p:blipFill>
          <a:blip r:embed="rId1"/>
          <a:stretch>
            <a:fillRect/>
          </a:stretch>
        </p:blipFill>
        <p:spPr>
          <a:xfrm>
            <a:off x="2193189" y="2290892"/>
            <a:ext cx="8072601" cy="4018987"/>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38200" y="1998484"/>
            <a:ext cx="10515600" cy="408180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p>
        </p:txBody>
      </p:sp>
      <p:sp>
        <p:nvSpPr>
          <p:cNvPr id="4" name="日期占位符 3"/>
          <p:cNvSpPr>
            <a:spLocks noGrp="1"/>
          </p:cNvSpPr>
          <p:nvPr>
            <p:ph type="dt" sz="half" idx="10"/>
          </p:nvPr>
        </p:nvSpPr>
        <p:spPr/>
        <p:txBody>
          <a:bodyPr/>
          <a:lstStyle/>
          <a:p>
            <a:fld id="{A54A9E70-2B6A-45C0-AB3B-96FADC4A497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pic>
        <p:nvPicPr>
          <p:cNvPr id="7" name="内容占位符 6"/>
          <p:cNvPicPr>
            <a:picLocks noGrp="1" noChangeAspect="1"/>
          </p:cNvPicPr>
          <p:nvPr>
            <p:ph idx="1"/>
          </p:nvPr>
        </p:nvPicPr>
        <p:blipFill rotWithShape="1">
          <a:blip r:embed="rId1"/>
          <a:srcRect t="47479"/>
          <a:stretch>
            <a:fillRect/>
          </a:stretch>
        </p:blipFill>
        <p:spPr>
          <a:xfrm>
            <a:off x="2477112" y="1998484"/>
            <a:ext cx="7237775" cy="4081806"/>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38200" y="2245172"/>
            <a:ext cx="10515600" cy="306083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zh-CN" altLang="en-US" sz="2000" dirty="0">
                <a:cs typeface="+mn-ea"/>
                <a:sym typeface="+mn-lt"/>
              </a:rPr>
              <a:t>定义评估函数</a:t>
            </a:r>
            <a:r>
              <a:rPr lang="en-US" altLang="zh-CN" sz="2000" dirty="0">
                <a:cs typeface="+mn-ea"/>
                <a:sym typeface="+mn-lt"/>
              </a:rPr>
              <a:t>:</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r>
              <a:rPr lang="zh-CN" altLang="en-US" dirty="0">
                <a:cs typeface="+mn-ea"/>
                <a:sym typeface="+mn-lt"/>
              </a:rPr>
              <a:t> </a:t>
            </a:r>
            <a:endParaRPr lang="zh-CN" altLang="en-US" dirty="0">
              <a:cs typeface="+mn-ea"/>
              <a:sym typeface="+mn-lt"/>
            </a:endParaRPr>
          </a:p>
        </p:txBody>
      </p:sp>
      <p:pic>
        <p:nvPicPr>
          <p:cNvPr id="8" name="图片 7"/>
          <p:cNvPicPr>
            <a:picLocks noChangeAspect="1"/>
          </p:cNvPicPr>
          <p:nvPr/>
        </p:nvPicPr>
        <p:blipFill rotWithShape="1">
          <a:blip r:embed="rId1"/>
          <a:srcRect b="53418"/>
          <a:stretch>
            <a:fillRect/>
          </a:stretch>
        </p:blipFill>
        <p:spPr>
          <a:xfrm>
            <a:off x="2100122" y="2245173"/>
            <a:ext cx="7794555" cy="3060833"/>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38200" y="1998484"/>
            <a:ext cx="10515600" cy="343135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p>
        </p:txBody>
      </p:sp>
      <p:pic>
        <p:nvPicPr>
          <p:cNvPr id="7" name="内容占位符 6"/>
          <p:cNvPicPr>
            <a:picLocks noGrp="1" noChangeAspect="1"/>
          </p:cNvPicPr>
          <p:nvPr>
            <p:ph idx="1"/>
          </p:nvPr>
        </p:nvPicPr>
        <p:blipFill>
          <a:blip r:embed="rId1"/>
          <a:stretch>
            <a:fillRect/>
          </a:stretch>
        </p:blipFill>
        <p:spPr>
          <a:xfrm>
            <a:off x="2135822" y="1998484"/>
            <a:ext cx="7373602" cy="3431356"/>
          </a:xfrm>
          <a:prstGeom prst="rect">
            <a:avLst/>
          </a:prstGeom>
        </p:spPr>
      </p:pic>
      <p:sp>
        <p:nvSpPr>
          <p:cNvPr id="4" name="日期占位符 3"/>
          <p:cNvSpPr>
            <a:spLocks noGrp="1"/>
          </p:cNvSpPr>
          <p:nvPr>
            <p:ph type="dt" sz="half" idx="10"/>
          </p:nvPr>
        </p:nvSpPr>
        <p:spPr/>
        <p:txBody>
          <a:bodyPr/>
          <a:lstStyle/>
          <a:p>
            <a:fld id="{A54A9E70-2B6A-45C0-AB3B-96FADC4A497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45108" y="2139517"/>
            <a:ext cx="10515600" cy="180216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zh-CN" altLang="en-US" sz="2000" dirty="0">
                <a:cs typeface="+mn-ea"/>
                <a:sym typeface="+mn-lt"/>
              </a:rPr>
              <a:t>训练过程如下：</a:t>
            </a: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a:blip r:embed="rId1"/>
          <a:stretch>
            <a:fillRect/>
          </a:stretch>
        </p:blipFill>
        <p:spPr>
          <a:xfrm>
            <a:off x="1530411" y="2139517"/>
            <a:ext cx="9816481" cy="1802168"/>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838200" y="2616161"/>
            <a:ext cx="10515600" cy="81283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38200" y="3890284"/>
            <a:ext cx="10515600" cy="109473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r>
              <a:rPr lang="zh-CN" altLang="en-US" sz="2400" b="1" dirty="0">
                <a:cs typeface="+mn-ea"/>
                <a:sym typeface="+mn-lt"/>
              </a:rPr>
              <a:t>模型测试</a:t>
            </a:r>
            <a:endParaRPr lang="en-US" altLang="zh-CN" sz="2400" b="1" dirty="0">
              <a:cs typeface="+mn-ea"/>
              <a:sym typeface="+mn-lt"/>
            </a:endParaRPr>
          </a:p>
          <a:p>
            <a:pPr marL="0" indent="0">
              <a:buNone/>
            </a:pPr>
            <a:r>
              <a:rPr lang="zh-CN" altLang="en-US" sz="2000" dirty="0">
                <a:cs typeface="+mn-ea"/>
                <a:sym typeface="+mn-lt"/>
              </a:rPr>
              <a:t>从测试集合中任意选一张图片验证模型训练后的检测性能。</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dirty="0">
                <a:cs typeface="+mn-ea"/>
                <a:sym typeface="+mn-lt"/>
              </a:rPr>
              <a:t>模型输出为：</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a:blip r:embed="rId1"/>
          <a:stretch>
            <a:fillRect/>
          </a:stretch>
        </p:blipFill>
        <p:spPr>
          <a:xfrm>
            <a:off x="927782" y="2636667"/>
            <a:ext cx="10039089" cy="792333"/>
          </a:xfrm>
          <a:prstGeom prst="rect">
            <a:avLst/>
          </a:prstGeom>
        </p:spPr>
      </p:pic>
      <p:pic>
        <p:nvPicPr>
          <p:cNvPr id="10" name="图片 9"/>
          <p:cNvPicPr>
            <a:picLocks noChangeAspect="1"/>
          </p:cNvPicPr>
          <p:nvPr/>
        </p:nvPicPr>
        <p:blipFill>
          <a:blip r:embed="rId2"/>
          <a:stretch>
            <a:fillRect/>
          </a:stretch>
        </p:blipFill>
        <p:spPr>
          <a:xfrm>
            <a:off x="927781" y="3890284"/>
            <a:ext cx="8340505" cy="1094736"/>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38200" y="2169636"/>
            <a:ext cx="10515600" cy="293502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zh-CN" altLang="en-US" sz="2000" dirty="0">
                <a:cs typeface="+mn-ea"/>
                <a:sym typeface="+mn-lt"/>
              </a:rPr>
              <a:t>可视化预测框</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a:blip r:embed="rId1"/>
          <a:stretch>
            <a:fillRect/>
          </a:stretch>
        </p:blipFill>
        <p:spPr>
          <a:xfrm>
            <a:off x="2255627" y="2169636"/>
            <a:ext cx="7405323" cy="2935024"/>
          </a:xfrm>
          <a:prstGeom prst="rect">
            <a:avLst/>
          </a:prstGeom>
        </p:spPr>
      </p:pic>
      <p:pic>
        <p:nvPicPr>
          <p:cNvPr id="9" name="图片 8"/>
          <p:cNvPicPr>
            <a:picLocks noChangeAspect="1"/>
          </p:cNvPicPr>
          <p:nvPr/>
        </p:nvPicPr>
        <p:blipFill>
          <a:blip r:embed="rId2"/>
          <a:stretch>
            <a:fillRect/>
          </a:stretch>
        </p:blipFill>
        <p:spPr>
          <a:xfrm>
            <a:off x="5221094" y="2988864"/>
            <a:ext cx="6132706" cy="36701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825625"/>
            <a:ext cx="5509334" cy="4351338"/>
          </a:xfrm>
        </p:spPr>
        <p:txBody>
          <a:bodyPr/>
          <a:lstStyle/>
          <a:p>
            <a:r>
              <a:rPr lang="en-US" altLang="zh-CN" sz="2400" b="1" dirty="0">
                <a:cs typeface="+mn-ea"/>
                <a:sym typeface="+mn-lt"/>
              </a:rPr>
              <a:t>6.3.2 </a:t>
            </a:r>
            <a:r>
              <a:rPr lang="zh-CN" altLang="en-US" sz="2400" b="1" dirty="0">
                <a:cs typeface="+mn-ea"/>
                <a:sym typeface="+mn-lt"/>
              </a:rPr>
              <a:t>基于</a:t>
            </a:r>
            <a:r>
              <a:rPr lang="en-US" altLang="zh-CN" sz="2400" b="1" dirty="0">
                <a:cs typeface="+mn-ea"/>
                <a:sym typeface="+mn-lt"/>
              </a:rPr>
              <a:t>YOLOv5</a:t>
            </a:r>
            <a:r>
              <a:rPr lang="zh-CN" altLang="en-US" sz="2400" b="1" dirty="0">
                <a:cs typeface="+mn-ea"/>
                <a:sym typeface="+mn-lt"/>
              </a:rPr>
              <a:t>的行人检测</a:t>
            </a:r>
            <a:endParaRPr lang="en-US" altLang="zh-CN" sz="2400" b="1" dirty="0">
              <a:cs typeface="+mn-ea"/>
              <a:sym typeface="+mn-lt"/>
            </a:endParaRPr>
          </a:p>
          <a:p>
            <a:r>
              <a:rPr lang="zh-CN" altLang="en-US" sz="2400" b="1" dirty="0">
                <a:cs typeface="+mn-ea"/>
                <a:sym typeface="+mn-lt"/>
              </a:rPr>
              <a:t>代码结构</a:t>
            </a:r>
            <a:endParaRPr lang="en-US" altLang="zh-CN" sz="2400" b="1" dirty="0">
              <a:cs typeface="+mn-ea"/>
              <a:sym typeface="+mn-lt"/>
            </a:endParaRPr>
          </a:p>
          <a:p>
            <a:pPr marL="0" indent="0">
              <a:buNone/>
            </a:pPr>
            <a:r>
              <a:rPr lang="en-US" altLang="zh-CN" sz="2000" b="1" dirty="0">
                <a:cs typeface="+mn-ea"/>
                <a:sym typeface="+mn-lt"/>
              </a:rPr>
              <a:t>data</a:t>
            </a:r>
            <a:r>
              <a:rPr lang="zh-CN" altLang="en-US" sz="2000" b="1" dirty="0">
                <a:cs typeface="+mn-ea"/>
                <a:sym typeface="+mn-lt"/>
              </a:rPr>
              <a:t>：</a:t>
            </a:r>
            <a:r>
              <a:rPr lang="zh-CN" altLang="en-US" sz="2000" dirty="0">
                <a:cs typeface="+mn-ea"/>
                <a:sym typeface="+mn-lt"/>
              </a:rPr>
              <a:t>主要是存放一些超参数的配置文件（这些文件（</a:t>
            </a:r>
            <a:r>
              <a:rPr lang="en-US" altLang="zh-CN" sz="2000" dirty="0" err="1">
                <a:cs typeface="+mn-ea"/>
                <a:sym typeface="+mn-lt"/>
              </a:rPr>
              <a:t>yaml</a:t>
            </a:r>
            <a:r>
              <a:rPr lang="zh-CN" altLang="en-US" sz="2000" dirty="0">
                <a:cs typeface="+mn-ea"/>
                <a:sym typeface="+mn-lt"/>
              </a:rPr>
              <a:t>文件）是用来配置训练集和测试集还有验证集的路径的，其中还包括目标检测的种类数和种类的名称）；还有一些官方提供测试的图片。如果是训练自己的数据集的话，那么就需要修改其中的</a:t>
            </a:r>
            <a:r>
              <a:rPr lang="en-US" altLang="zh-CN" sz="2000" dirty="0" err="1">
                <a:cs typeface="+mn-ea"/>
                <a:sym typeface="+mn-lt"/>
              </a:rPr>
              <a:t>yaml</a:t>
            </a:r>
            <a:r>
              <a:rPr lang="zh-CN" altLang="en-US" sz="2000" dirty="0">
                <a:cs typeface="+mn-ea"/>
                <a:sym typeface="+mn-lt"/>
              </a:rPr>
              <a:t>文件。但是自己的数据集不建议放在这个路径下面，而是建议把数据集放到</a:t>
            </a:r>
            <a:r>
              <a:rPr lang="en-US" altLang="zh-CN" sz="2000" dirty="0">
                <a:cs typeface="+mn-ea"/>
                <a:sym typeface="+mn-lt"/>
              </a:rPr>
              <a:t>yolov5</a:t>
            </a:r>
            <a:r>
              <a:rPr lang="zh-CN" altLang="en-US" sz="2000" dirty="0">
                <a:cs typeface="+mn-ea"/>
                <a:sym typeface="+mn-lt"/>
              </a:rPr>
              <a:t>项目的同级目录</a:t>
            </a:r>
            <a:r>
              <a:rPr lang="en-US" altLang="zh-CN" sz="2000" dirty="0">
                <a:cs typeface="+mn-ea"/>
                <a:sym typeface="+mn-lt"/>
              </a:rPr>
              <a:t>datasets</a:t>
            </a:r>
            <a:r>
              <a:rPr lang="zh-CN" altLang="en-US" sz="2000" dirty="0">
                <a:cs typeface="+mn-ea"/>
                <a:sym typeface="+mn-lt"/>
              </a:rPr>
              <a:t>下面。</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7" name="图片 6" descr="图标&#10;&#10;描述已自动生成"/>
          <p:cNvPicPr/>
          <p:nvPr/>
        </p:nvPicPr>
        <p:blipFill>
          <a:blip r:embed="rId1"/>
          <a:stretch>
            <a:fillRect/>
          </a:stretch>
        </p:blipFill>
        <p:spPr>
          <a:xfrm>
            <a:off x="6847253" y="1953086"/>
            <a:ext cx="4427388" cy="3648723"/>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b="1" dirty="0">
                <a:cs typeface="+mn-ea"/>
                <a:sym typeface="+mn-lt"/>
              </a:rPr>
              <a:t>models</a:t>
            </a:r>
            <a:r>
              <a:rPr lang="zh-CN" altLang="en-US" sz="2000" b="1" dirty="0">
                <a:cs typeface="+mn-ea"/>
                <a:sym typeface="+mn-lt"/>
              </a:rPr>
              <a:t>：</a:t>
            </a:r>
            <a:r>
              <a:rPr lang="zh-CN" altLang="en-US" sz="2000" dirty="0">
                <a:cs typeface="+mn-ea"/>
                <a:sym typeface="+mn-lt"/>
              </a:rPr>
              <a:t>里面主要是一些网络构建的配置文件和函数，其中包含了该项目的四个不同的版本，分别为是</a:t>
            </a:r>
            <a:r>
              <a:rPr lang="en-US" altLang="zh-CN" sz="2000" dirty="0">
                <a:cs typeface="+mn-ea"/>
                <a:sym typeface="+mn-lt"/>
              </a:rPr>
              <a:t>s</a:t>
            </a:r>
            <a:r>
              <a:rPr lang="zh-CN" altLang="en-US" sz="2000" dirty="0">
                <a:cs typeface="+mn-ea"/>
                <a:sym typeface="+mn-lt"/>
              </a:rPr>
              <a:t>、</a:t>
            </a:r>
            <a:r>
              <a:rPr lang="en-US" altLang="zh-CN" sz="2000" dirty="0">
                <a:cs typeface="+mn-ea"/>
                <a:sym typeface="+mn-lt"/>
              </a:rPr>
              <a:t>m</a:t>
            </a:r>
            <a:r>
              <a:rPr lang="zh-CN" altLang="en-US" sz="2000" dirty="0">
                <a:cs typeface="+mn-ea"/>
                <a:sym typeface="+mn-lt"/>
              </a:rPr>
              <a:t>、</a:t>
            </a:r>
            <a:r>
              <a:rPr lang="en-US" altLang="zh-CN" sz="2000" dirty="0">
                <a:cs typeface="+mn-ea"/>
                <a:sym typeface="+mn-lt"/>
              </a:rPr>
              <a:t>l</a:t>
            </a:r>
            <a:r>
              <a:rPr lang="zh-CN" altLang="en-US" sz="2000" dirty="0">
                <a:cs typeface="+mn-ea"/>
                <a:sym typeface="+mn-lt"/>
              </a:rPr>
              <a:t>、</a:t>
            </a:r>
            <a:r>
              <a:rPr lang="en-US" altLang="zh-CN" sz="2000" dirty="0">
                <a:cs typeface="+mn-ea"/>
                <a:sym typeface="+mn-lt"/>
              </a:rPr>
              <a:t>x</a:t>
            </a:r>
            <a:r>
              <a:rPr lang="zh-CN" altLang="en-US" sz="2000" dirty="0">
                <a:cs typeface="+mn-ea"/>
                <a:sym typeface="+mn-lt"/>
              </a:rPr>
              <a:t>，这几个版本模型从小到大。他们的检测测度分别都是从快到慢，但是精确度分别是从低到高。如果训练自己的数据集的话，就需要修改这里面相对应的</a:t>
            </a:r>
            <a:r>
              <a:rPr lang="en-US" altLang="zh-CN" sz="2000" dirty="0" err="1">
                <a:cs typeface="+mn-ea"/>
                <a:sym typeface="+mn-lt"/>
              </a:rPr>
              <a:t>yaml</a:t>
            </a:r>
            <a:r>
              <a:rPr lang="zh-CN" altLang="en-US" sz="2000" dirty="0">
                <a:cs typeface="+mn-ea"/>
                <a:sym typeface="+mn-lt"/>
              </a:rPr>
              <a:t>文件来训练自己模型。</a:t>
            </a:r>
            <a:endParaRPr lang="en-US" altLang="zh-CN" sz="2000" dirty="0">
              <a:cs typeface="+mn-ea"/>
              <a:sym typeface="+mn-lt"/>
            </a:endParaRPr>
          </a:p>
          <a:p>
            <a:pPr marL="0" indent="0">
              <a:buNone/>
            </a:pPr>
            <a:r>
              <a:rPr lang="en-US" altLang="zh-CN" sz="2000" b="1" dirty="0">
                <a:cs typeface="+mn-ea"/>
                <a:sym typeface="+mn-lt"/>
              </a:rPr>
              <a:t>utils</a:t>
            </a:r>
            <a:r>
              <a:rPr lang="zh-CN" altLang="en-US" sz="2000" b="1" dirty="0">
                <a:cs typeface="+mn-ea"/>
                <a:sym typeface="+mn-lt"/>
              </a:rPr>
              <a:t>：</a:t>
            </a:r>
            <a:r>
              <a:rPr lang="zh-CN" altLang="en-US" sz="2000" dirty="0">
                <a:cs typeface="+mn-ea"/>
                <a:sym typeface="+mn-lt"/>
              </a:rPr>
              <a:t>存放的是工具类的函数，有</a:t>
            </a:r>
            <a:r>
              <a:rPr lang="en-US" altLang="zh-CN" sz="2000" dirty="0">
                <a:cs typeface="+mn-ea"/>
                <a:sym typeface="+mn-lt"/>
              </a:rPr>
              <a:t>loss</a:t>
            </a:r>
            <a:r>
              <a:rPr lang="zh-CN" altLang="en-US" sz="2000" dirty="0">
                <a:cs typeface="+mn-ea"/>
                <a:sym typeface="+mn-lt"/>
              </a:rPr>
              <a:t>函数，</a:t>
            </a:r>
            <a:r>
              <a:rPr lang="en-US" altLang="zh-CN" sz="2000" dirty="0">
                <a:cs typeface="+mn-ea"/>
                <a:sym typeface="+mn-lt"/>
              </a:rPr>
              <a:t>metrics</a:t>
            </a:r>
            <a:r>
              <a:rPr lang="zh-CN" altLang="en-US" sz="2000" dirty="0">
                <a:cs typeface="+mn-ea"/>
                <a:sym typeface="+mn-lt"/>
              </a:rPr>
              <a:t>函数，</a:t>
            </a:r>
            <a:r>
              <a:rPr lang="en-US" altLang="zh-CN" sz="2000" dirty="0">
                <a:cs typeface="+mn-ea"/>
                <a:sym typeface="+mn-lt"/>
              </a:rPr>
              <a:t>plots</a:t>
            </a:r>
            <a:r>
              <a:rPr lang="zh-CN" altLang="en-US" sz="2000" dirty="0">
                <a:cs typeface="+mn-ea"/>
                <a:sym typeface="+mn-lt"/>
              </a:rPr>
              <a:t>函数等等。</a:t>
            </a:r>
            <a:endParaRPr lang="zh-CN" altLang="en-US" sz="2000" dirty="0">
              <a:cs typeface="+mn-ea"/>
              <a:sym typeface="+mn-lt"/>
            </a:endParaRPr>
          </a:p>
          <a:p>
            <a:pPr marL="0" indent="0">
              <a:buNone/>
            </a:pPr>
            <a:r>
              <a:rPr lang="en-US" altLang="zh-CN" sz="2000" b="1" dirty="0">
                <a:cs typeface="+mn-ea"/>
                <a:sym typeface="+mn-lt"/>
              </a:rPr>
              <a:t>Weights</a:t>
            </a:r>
            <a:r>
              <a:rPr lang="zh-CN" altLang="en-US" sz="2000" b="1" dirty="0">
                <a:cs typeface="+mn-ea"/>
                <a:sym typeface="+mn-lt"/>
              </a:rPr>
              <a:t>：</a:t>
            </a:r>
            <a:r>
              <a:rPr lang="zh-CN" altLang="en-US" sz="2000" dirty="0">
                <a:cs typeface="+mn-ea"/>
                <a:sym typeface="+mn-lt"/>
              </a:rPr>
              <a:t>放置预训练模型</a:t>
            </a:r>
            <a:endParaRPr lang="zh-CN" altLang="en-US" sz="2000" dirty="0">
              <a:cs typeface="+mn-ea"/>
              <a:sym typeface="+mn-lt"/>
            </a:endParaRPr>
          </a:p>
          <a:p>
            <a:pPr marL="0" indent="0">
              <a:buNone/>
            </a:pPr>
            <a:r>
              <a:rPr lang="en-US" altLang="zh-CN" sz="2000" b="1" dirty="0">
                <a:cs typeface="+mn-ea"/>
                <a:sym typeface="+mn-lt"/>
              </a:rPr>
              <a:t>detect.py</a:t>
            </a:r>
            <a:r>
              <a:rPr lang="zh-CN" altLang="en-US" sz="2000" b="1" dirty="0">
                <a:cs typeface="+mn-ea"/>
                <a:sym typeface="+mn-lt"/>
              </a:rPr>
              <a:t>：</a:t>
            </a:r>
            <a:r>
              <a:rPr lang="zh-CN" altLang="en-US" sz="2000" dirty="0">
                <a:cs typeface="+mn-ea"/>
                <a:sym typeface="+mn-lt"/>
              </a:rPr>
              <a:t>利用训练好的权重参数进行目标检测，可以进行图像、视频和摄像头的检测</a:t>
            </a:r>
            <a:endParaRPr lang="zh-CN" altLang="en-US" sz="2000" dirty="0">
              <a:cs typeface="+mn-ea"/>
              <a:sym typeface="+mn-lt"/>
            </a:endParaRPr>
          </a:p>
          <a:p>
            <a:pPr marL="0" indent="0">
              <a:buNone/>
            </a:pPr>
            <a:r>
              <a:rPr lang="en-US" altLang="zh-CN" sz="2000" b="1" dirty="0">
                <a:cs typeface="+mn-ea"/>
                <a:sym typeface="+mn-lt"/>
              </a:rPr>
              <a:t>train.py</a:t>
            </a:r>
            <a:r>
              <a:rPr lang="zh-CN" altLang="en-US" sz="2000" b="1" dirty="0">
                <a:cs typeface="+mn-ea"/>
                <a:sym typeface="+mn-lt"/>
              </a:rPr>
              <a:t>：</a:t>
            </a:r>
            <a:r>
              <a:rPr lang="zh-CN" altLang="en-US" sz="2000" dirty="0">
                <a:cs typeface="+mn-ea"/>
                <a:sym typeface="+mn-lt"/>
              </a:rPr>
              <a:t>训练自己的数据集的函数。</a:t>
            </a:r>
            <a:endParaRPr lang="zh-CN" altLang="en-US" sz="2000" dirty="0">
              <a:cs typeface="+mn-ea"/>
              <a:sym typeface="+mn-lt"/>
            </a:endParaRPr>
          </a:p>
          <a:p>
            <a:pPr marL="0" indent="0">
              <a:buNone/>
            </a:pPr>
            <a:r>
              <a:rPr lang="en-US" altLang="zh-CN" sz="2000" b="1" dirty="0">
                <a:cs typeface="+mn-ea"/>
                <a:sym typeface="+mn-lt"/>
              </a:rPr>
              <a:t>test.py</a:t>
            </a:r>
            <a:r>
              <a:rPr lang="zh-CN" altLang="en-US" sz="2000" b="1" dirty="0">
                <a:cs typeface="+mn-ea"/>
                <a:sym typeface="+mn-lt"/>
              </a:rPr>
              <a:t>：</a:t>
            </a:r>
            <a:r>
              <a:rPr lang="zh-CN" altLang="en-US" sz="2000" dirty="0">
                <a:cs typeface="+mn-ea"/>
                <a:sym typeface="+mn-lt"/>
              </a:rPr>
              <a:t>测试训练的结果的函数。</a:t>
            </a:r>
            <a:endParaRPr lang="zh-CN" altLang="en-US"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838200" y="4586969"/>
            <a:ext cx="10515600" cy="15899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838200" y="2582875"/>
            <a:ext cx="10515600" cy="1340062"/>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lstStyle/>
          <a:p>
            <a:r>
              <a:rPr lang="zh-CN" altLang="en-US" sz="2400" b="1" dirty="0">
                <a:cs typeface="+mn-ea"/>
                <a:sym typeface="+mn-lt"/>
              </a:rPr>
              <a:t>数据处理</a:t>
            </a:r>
            <a:endParaRPr lang="en-US" altLang="zh-CN" sz="2400" b="1" dirty="0">
              <a:cs typeface="+mn-ea"/>
              <a:sym typeface="+mn-lt"/>
            </a:endParaRPr>
          </a:p>
          <a:p>
            <a:pPr marL="0" indent="0">
              <a:buNone/>
            </a:pPr>
            <a:r>
              <a:rPr lang="zh-CN" altLang="en-US" sz="2000" dirty="0">
                <a:cs typeface="+mn-ea"/>
                <a:sym typeface="+mn-lt"/>
              </a:rPr>
              <a:t>数据集下载完成后，目录结构为：</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dirty="0">
                <a:cs typeface="+mn-ea"/>
                <a:sym typeface="+mn-lt"/>
              </a:rPr>
              <a:t>为了让</a:t>
            </a:r>
            <a:r>
              <a:rPr lang="en-US" altLang="zh-CN" sz="2000" dirty="0">
                <a:cs typeface="+mn-ea"/>
                <a:sym typeface="+mn-lt"/>
              </a:rPr>
              <a:t>YOLOv5</a:t>
            </a:r>
            <a:r>
              <a:rPr lang="zh-CN" altLang="en-US" sz="2000" dirty="0">
                <a:cs typeface="+mn-ea"/>
                <a:sym typeface="+mn-lt"/>
              </a:rPr>
              <a:t>能够在自定义的数据集上进行训练，我们需要将数据集的格式，处理为</a:t>
            </a:r>
            <a:r>
              <a:rPr lang="en-US" altLang="zh-CN" sz="2000" dirty="0">
                <a:cs typeface="+mn-ea"/>
                <a:sym typeface="+mn-lt"/>
              </a:rPr>
              <a:t>YOLO</a:t>
            </a:r>
            <a:r>
              <a:rPr lang="zh-CN" altLang="en-US" sz="2000" dirty="0">
                <a:cs typeface="+mn-ea"/>
                <a:sym typeface="+mn-lt"/>
              </a:rPr>
              <a:t>默认的数据格式。首先，按照以结构创建目录：</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rotWithShape="1">
          <a:blip r:embed="rId1"/>
          <a:srcRect r="39837"/>
          <a:stretch>
            <a:fillRect/>
          </a:stretch>
        </p:blipFill>
        <p:spPr>
          <a:xfrm>
            <a:off x="945538" y="2582875"/>
            <a:ext cx="4869336" cy="1340062"/>
          </a:xfrm>
          <a:prstGeom prst="rect">
            <a:avLst/>
          </a:prstGeom>
        </p:spPr>
      </p:pic>
      <p:pic>
        <p:nvPicPr>
          <p:cNvPr id="10" name="图片 9"/>
          <p:cNvPicPr>
            <a:picLocks noChangeAspect="1"/>
          </p:cNvPicPr>
          <p:nvPr/>
        </p:nvPicPr>
        <p:blipFill>
          <a:blip r:embed="rId2"/>
          <a:stretch>
            <a:fillRect/>
          </a:stretch>
        </p:blipFill>
        <p:spPr>
          <a:xfrm>
            <a:off x="945538" y="4586970"/>
            <a:ext cx="8437338" cy="1589993"/>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38200" y="1860311"/>
            <a:ext cx="10515600" cy="449604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488274"/>
            <a:ext cx="10515600" cy="4351338"/>
          </a:xfrm>
        </p:spPr>
        <p:txBody>
          <a:bodyPr>
            <a:normAutofit/>
          </a:bodyPr>
          <a:lstStyle/>
          <a:p>
            <a:pPr marL="0" indent="0">
              <a:buNone/>
            </a:pPr>
            <a:r>
              <a:rPr lang="zh-CN" altLang="en-US" sz="2000" dirty="0">
                <a:cs typeface="+mn-ea"/>
                <a:sym typeface="+mn-lt"/>
              </a:rPr>
              <a:t>然后按照以下脚本处理文件</a:t>
            </a:r>
            <a:r>
              <a:rPr lang="en-US" altLang="zh-CN" sz="2000" dirty="0">
                <a:cs typeface="+mn-ea"/>
                <a:sym typeface="+mn-lt"/>
              </a:rPr>
              <a:t>:</a:t>
            </a:r>
            <a:endParaRPr lang="en-US" altLang="zh-CN" sz="2000" dirty="0">
              <a:cs typeface="+mn-ea"/>
              <a:sym typeface="+mn-lt"/>
            </a:endParaRPr>
          </a:p>
          <a:p>
            <a:pPr marL="0" indent="0">
              <a:buNone/>
            </a:pPr>
            <a:r>
              <a:rPr lang="en-US" altLang="zh-CN" sz="2000" dirty="0">
                <a:cs typeface="+mn-ea"/>
                <a:sym typeface="+mn-lt"/>
              </a:rPr>
              <a:t> </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rotWithShape="1">
          <a:blip r:embed="rId1"/>
          <a:srcRect b="55210"/>
          <a:stretch>
            <a:fillRect/>
          </a:stretch>
        </p:blipFill>
        <p:spPr>
          <a:xfrm>
            <a:off x="1840434" y="1860309"/>
            <a:ext cx="6770166" cy="4496040"/>
          </a:xfrm>
          <a:prstGeom prst="rect">
            <a:avLst/>
          </a:prstGeom>
        </p:spPr>
      </p:pic>
      <p:pic>
        <p:nvPicPr>
          <p:cNvPr id="7" name="图片 6"/>
          <p:cNvPicPr>
            <a:picLocks noChangeAspect="1"/>
          </p:cNvPicPr>
          <p:nvPr/>
        </p:nvPicPr>
        <p:blipFill>
          <a:blip r:embed="rId2"/>
          <a:stretch>
            <a:fillRect/>
          </a:stretch>
        </p:blipFill>
        <p:spPr>
          <a:xfrm>
            <a:off x="6595736" y="1886945"/>
            <a:ext cx="3434384" cy="4469404"/>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38200" y="3200399"/>
            <a:ext cx="10515600" cy="325370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r>
              <a:rPr lang="zh-CN" altLang="en-US" sz="2400" b="1" dirty="0">
                <a:cs typeface="+mn-ea"/>
                <a:sym typeface="+mn-lt"/>
              </a:rPr>
              <a:t>修改配置文件</a:t>
            </a:r>
            <a:endParaRPr lang="en-US" altLang="zh-CN" sz="2400" b="1" dirty="0">
              <a:cs typeface="+mn-ea"/>
              <a:sym typeface="+mn-lt"/>
            </a:endParaRPr>
          </a:p>
          <a:p>
            <a:pPr marL="0" indent="0">
              <a:buNone/>
            </a:pPr>
            <a:r>
              <a:rPr lang="zh-CN" altLang="en-US" sz="2000" dirty="0">
                <a:cs typeface="+mn-ea"/>
                <a:sym typeface="+mn-lt"/>
              </a:rPr>
              <a:t>训练目标检测模型需要修改两个</a:t>
            </a:r>
            <a:r>
              <a:rPr lang="en-US" altLang="zh-CN" sz="2000" dirty="0" err="1">
                <a:cs typeface="+mn-ea"/>
                <a:sym typeface="+mn-lt"/>
              </a:rPr>
              <a:t>yaml</a:t>
            </a:r>
            <a:r>
              <a:rPr lang="zh-CN" altLang="en-US" sz="2000" dirty="0">
                <a:cs typeface="+mn-ea"/>
                <a:sym typeface="+mn-lt"/>
              </a:rPr>
              <a:t>文件中的参数。一个是</a:t>
            </a:r>
            <a:r>
              <a:rPr lang="en-US" altLang="zh-CN" sz="2000" dirty="0">
                <a:cs typeface="+mn-ea"/>
                <a:sym typeface="+mn-lt"/>
              </a:rPr>
              <a:t>data</a:t>
            </a:r>
            <a:r>
              <a:rPr lang="zh-CN" altLang="en-US" sz="2000" dirty="0">
                <a:cs typeface="+mn-ea"/>
                <a:sym typeface="+mn-lt"/>
              </a:rPr>
              <a:t>目录下的相应的</a:t>
            </a:r>
            <a:r>
              <a:rPr lang="en-US" altLang="zh-CN" sz="2000" dirty="0" err="1">
                <a:cs typeface="+mn-ea"/>
                <a:sym typeface="+mn-lt"/>
              </a:rPr>
              <a:t>yaml</a:t>
            </a:r>
            <a:r>
              <a:rPr lang="zh-CN" altLang="en-US" sz="2000" dirty="0">
                <a:cs typeface="+mn-ea"/>
                <a:sym typeface="+mn-lt"/>
              </a:rPr>
              <a:t>文件，一个是</a:t>
            </a:r>
            <a:r>
              <a:rPr lang="en-US" altLang="zh-CN" sz="2000" dirty="0">
                <a:cs typeface="+mn-ea"/>
                <a:sym typeface="+mn-lt"/>
              </a:rPr>
              <a:t>model</a:t>
            </a:r>
            <a:r>
              <a:rPr lang="zh-CN" altLang="en-US" sz="2000" dirty="0">
                <a:cs typeface="+mn-ea"/>
                <a:sym typeface="+mn-lt"/>
              </a:rPr>
              <a:t>目录文件下的相应的</a:t>
            </a:r>
            <a:r>
              <a:rPr lang="en-US" altLang="zh-CN" sz="2000" dirty="0" err="1">
                <a:cs typeface="+mn-ea"/>
                <a:sym typeface="+mn-lt"/>
              </a:rPr>
              <a:t>yaml</a:t>
            </a:r>
            <a:r>
              <a:rPr lang="zh-CN" altLang="en-US" sz="2000" dirty="0">
                <a:cs typeface="+mn-ea"/>
                <a:sym typeface="+mn-lt"/>
              </a:rPr>
              <a:t>文件</a:t>
            </a:r>
            <a:r>
              <a:rPr lang="en-US" altLang="zh-CN" sz="2000" dirty="0">
                <a:cs typeface="+mn-ea"/>
                <a:sym typeface="+mn-lt"/>
              </a:rPr>
              <a:t>, </a:t>
            </a:r>
            <a:r>
              <a:rPr lang="zh-CN" altLang="en-US" sz="2000" dirty="0">
                <a:cs typeface="+mn-ea"/>
                <a:sym typeface="+mn-lt"/>
              </a:rPr>
              <a:t>在这里针对新的数据集，我们新建一个</a:t>
            </a:r>
            <a:r>
              <a:rPr lang="en-US" altLang="zh-CN" sz="2000" dirty="0" err="1">
                <a:cs typeface="+mn-ea"/>
                <a:sym typeface="+mn-lt"/>
              </a:rPr>
              <a:t>ped.yaml</a:t>
            </a:r>
            <a:r>
              <a:rPr lang="zh-CN" altLang="en-US" sz="2000" dirty="0">
                <a:cs typeface="+mn-ea"/>
                <a:sym typeface="+mn-lt"/>
              </a:rPr>
              <a:t>。</a:t>
            </a:r>
            <a:r>
              <a:rPr lang="en-US" altLang="zh-CN" sz="2000" dirty="0">
                <a:cs typeface="+mn-ea"/>
                <a:sym typeface="+mn-lt"/>
              </a:rPr>
              <a:t>data/*.</a:t>
            </a:r>
            <a:r>
              <a:rPr lang="en-US" altLang="zh-CN" sz="2000" dirty="0" err="1">
                <a:cs typeface="+mn-ea"/>
                <a:sym typeface="+mn-lt"/>
              </a:rPr>
              <a:t>yaml</a:t>
            </a:r>
            <a:r>
              <a:rPr lang="zh-CN" altLang="en-US" sz="2000" dirty="0">
                <a:cs typeface="+mn-ea"/>
                <a:sym typeface="+mn-lt"/>
              </a:rPr>
              <a:t>文件配置：</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a:blip r:embed="rId1"/>
          <a:stretch>
            <a:fillRect/>
          </a:stretch>
        </p:blipFill>
        <p:spPr>
          <a:xfrm>
            <a:off x="2723480" y="3200400"/>
            <a:ext cx="6665618" cy="3253706"/>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38200" y="2957889"/>
            <a:ext cx="10515600" cy="133002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dirty="0">
                <a:cs typeface="+mn-ea"/>
                <a:sym typeface="+mn-lt"/>
              </a:rPr>
              <a:t>models/*.</a:t>
            </a:r>
            <a:r>
              <a:rPr lang="en-US" altLang="zh-CN" sz="2000" dirty="0" err="1">
                <a:cs typeface="+mn-ea"/>
                <a:sym typeface="+mn-lt"/>
              </a:rPr>
              <a:t>yaml</a:t>
            </a:r>
            <a:r>
              <a:rPr lang="zh-CN" altLang="en-US" sz="2000" dirty="0">
                <a:cs typeface="+mn-ea"/>
                <a:sym typeface="+mn-lt"/>
              </a:rPr>
              <a:t>文件配置：</a:t>
            </a:r>
            <a:endParaRPr lang="zh-CN" altLang="en-US" sz="2000" dirty="0">
              <a:cs typeface="+mn-ea"/>
              <a:sym typeface="+mn-lt"/>
            </a:endParaRPr>
          </a:p>
          <a:p>
            <a:pPr marL="0" indent="0">
              <a:buNone/>
            </a:pPr>
            <a:r>
              <a:rPr lang="zh-CN" altLang="en-US" sz="2000" dirty="0">
                <a:cs typeface="+mn-ea"/>
                <a:sym typeface="+mn-lt"/>
              </a:rPr>
              <a:t>该文件仅修改</a:t>
            </a:r>
            <a:r>
              <a:rPr lang="en-US" altLang="zh-CN" sz="2000" dirty="0" err="1">
                <a:cs typeface="+mn-ea"/>
                <a:sym typeface="+mn-lt"/>
              </a:rPr>
              <a:t>nc</a:t>
            </a:r>
            <a:r>
              <a:rPr lang="zh-CN" altLang="en-US" sz="2000" dirty="0">
                <a:cs typeface="+mn-ea"/>
                <a:sym typeface="+mn-lt"/>
              </a:rPr>
              <a:t>为</a:t>
            </a:r>
            <a:r>
              <a:rPr lang="en-US" altLang="zh-CN" sz="2000" dirty="0">
                <a:cs typeface="+mn-ea"/>
                <a:sym typeface="+mn-lt"/>
              </a:rPr>
              <a:t>1</a:t>
            </a:r>
            <a:r>
              <a:rPr lang="zh-CN" altLang="en-US" sz="2000" dirty="0">
                <a:cs typeface="+mn-ea"/>
                <a:sym typeface="+mn-lt"/>
              </a:rPr>
              <a:t>即可，不过我们还是解读一下其内部结构</a:t>
            </a:r>
            <a:endParaRPr lang="zh-CN" altLang="en-US" sz="2000" dirty="0">
              <a:cs typeface="+mn-ea"/>
              <a:sym typeface="+mn-lt"/>
            </a:endParaRPr>
          </a:p>
          <a:p>
            <a:pPr marL="0" indent="0">
              <a:buNone/>
            </a:pPr>
            <a:r>
              <a:rPr lang="en-US" altLang="zh-CN" sz="2000" b="1" dirty="0">
                <a:cs typeface="+mn-ea"/>
                <a:sym typeface="+mn-lt"/>
              </a:rPr>
              <a:t>Parameters:</a:t>
            </a:r>
            <a:r>
              <a:rPr lang="zh-CN" altLang="en-US" sz="2000" dirty="0">
                <a:cs typeface="+mn-ea"/>
                <a:sym typeface="+mn-lt"/>
              </a:rPr>
              <a:t>控制网络结构的参数</a:t>
            </a: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r>
              <a:rPr lang="en-US" altLang="zh-CN" sz="2000" b="1" dirty="0" err="1">
                <a:cs typeface="+mn-ea"/>
                <a:sym typeface="+mn-lt"/>
              </a:rPr>
              <a:t>depth_mutiple</a:t>
            </a:r>
            <a:r>
              <a:rPr lang="zh-CN" altLang="en-US" sz="2000" dirty="0">
                <a:cs typeface="+mn-ea"/>
                <a:sym typeface="+mn-lt"/>
              </a:rPr>
              <a:t>控制网络的深度，即网络有多少层。</a:t>
            </a:r>
            <a:endParaRPr lang="zh-CN" altLang="en-US" sz="2000" dirty="0">
              <a:cs typeface="+mn-ea"/>
              <a:sym typeface="+mn-lt"/>
            </a:endParaRPr>
          </a:p>
          <a:p>
            <a:pPr marL="0" indent="0">
              <a:buNone/>
            </a:pPr>
            <a:r>
              <a:rPr lang="en-US" altLang="zh-CN" sz="2000" b="1" dirty="0" err="1">
                <a:cs typeface="+mn-ea"/>
                <a:sym typeface="+mn-lt"/>
              </a:rPr>
              <a:t>width_multiple</a:t>
            </a:r>
            <a:r>
              <a:rPr lang="zh-CN" altLang="en-US" sz="2000" dirty="0">
                <a:cs typeface="+mn-ea"/>
                <a:sym typeface="+mn-lt"/>
              </a:rPr>
              <a:t>控制网络的宽度，即卷积核的大小。</a:t>
            </a:r>
            <a:endParaRPr lang="en-US" altLang="zh-CN" sz="2000" dirty="0">
              <a:cs typeface="+mn-ea"/>
              <a:sym typeface="+mn-lt"/>
            </a:endParaRPr>
          </a:p>
          <a:p>
            <a:pPr marL="0" indent="0">
              <a:buNone/>
            </a:pPr>
            <a:r>
              <a:rPr lang="zh-CN" altLang="en-US" sz="2000" dirty="0">
                <a:cs typeface="+mn-ea"/>
                <a:sym typeface="+mn-lt"/>
              </a:rPr>
              <a:t>所有</a:t>
            </a:r>
            <a:r>
              <a:rPr lang="en-US" altLang="zh-CN" sz="2000" dirty="0" err="1">
                <a:cs typeface="+mn-ea"/>
                <a:sym typeface="+mn-lt"/>
              </a:rPr>
              <a:t>yaml</a:t>
            </a:r>
            <a:r>
              <a:rPr lang="zh-CN" altLang="en-US" sz="2000" dirty="0">
                <a:cs typeface="+mn-ea"/>
                <a:sym typeface="+mn-lt"/>
              </a:rPr>
              <a:t>文件</a:t>
            </a:r>
            <a:r>
              <a:rPr lang="en-US" altLang="zh-CN" sz="2000" dirty="0">
                <a:cs typeface="+mn-ea"/>
                <a:sym typeface="+mn-lt"/>
              </a:rPr>
              <a:t>(yolov5s.yaml, yolov5m.yaml</a:t>
            </a:r>
            <a:r>
              <a:rPr lang="zh-CN" altLang="en-US" sz="2000" dirty="0">
                <a:cs typeface="+mn-ea"/>
                <a:sym typeface="+mn-lt"/>
              </a:rPr>
              <a:t>等等</a:t>
            </a:r>
            <a:r>
              <a:rPr lang="en-US" altLang="zh-CN" sz="2000" dirty="0">
                <a:cs typeface="+mn-ea"/>
                <a:sym typeface="+mn-lt"/>
              </a:rPr>
              <a:t>)</a:t>
            </a:r>
            <a:r>
              <a:rPr lang="zh-CN" altLang="en-US" sz="2000" dirty="0">
                <a:cs typeface="+mn-ea"/>
                <a:sym typeface="+mn-lt"/>
              </a:rPr>
              <a:t>内部的不同都只有这两个参数不同，所以说设置的十分巧妙，只修改这两个参数就可以改变网络结构。</a:t>
            </a:r>
            <a:endParaRPr lang="zh-CN" altLang="en-US" sz="2000" dirty="0">
              <a:cs typeface="+mn-ea"/>
              <a:sym typeface="+mn-lt"/>
            </a:endParaRPr>
          </a:p>
          <a:p>
            <a:pPr marL="0" indent="0">
              <a:buNone/>
            </a:pPr>
            <a:endParaRPr lang="zh-CN" altLang="en-US"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a:blip r:embed="rId1"/>
          <a:stretch>
            <a:fillRect/>
          </a:stretch>
        </p:blipFill>
        <p:spPr>
          <a:xfrm>
            <a:off x="927782" y="2957890"/>
            <a:ext cx="8305519" cy="1330023"/>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38200" y="2139883"/>
            <a:ext cx="10515600" cy="255466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a:xfrm>
            <a:off x="838199" y="1825624"/>
            <a:ext cx="10711649" cy="4530725"/>
          </a:xfrm>
        </p:spPr>
        <p:txBody>
          <a:bodyPr>
            <a:normAutofit fontScale="92500" lnSpcReduction="10000"/>
          </a:bodyPr>
          <a:lstStyle/>
          <a:p>
            <a:pPr marL="0" indent="0">
              <a:buNone/>
            </a:pPr>
            <a:r>
              <a:rPr lang="en-US" altLang="zh-CN" sz="2000" b="1" dirty="0">
                <a:cs typeface="+mn-ea"/>
                <a:sym typeface="+mn-lt"/>
              </a:rPr>
              <a:t>Backbone:</a:t>
            </a:r>
            <a:r>
              <a:rPr lang="zh-CN" altLang="en-US" sz="2000" b="1" dirty="0">
                <a:cs typeface="+mn-ea"/>
                <a:sym typeface="+mn-lt"/>
              </a:rPr>
              <a:t>训练的主干网络</a:t>
            </a:r>
            <a:endParaRPr lang="en-US" altLang="zh-CN" sz="2000" b="1"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endParaRPr lang="en-US" altLang="zh-CN" sz="2000" dirty="0">
              <a:cs typeface="+mn-ea"/>
              <a:sym typeface="+mn-lt"/>
            </a:endParaRPr>
          </a:p>
          <a:p>
            <a:pPr marL="0" indent="0">
              <a:buNone/>
            </a:pPr>
            <a:r>
              <a:rPr lang="en-US" altLang="zh-CN" sz="2000" b="1" dirty="0">
                <a:cs typeface="+mn-ea"/>
                <a:sym typeface="+mn-lt"/>
              </a:rPr>
              <a:t>from</a:t>
            </a:r>
            <a:r>
              <a:rPr lang="zh-CN" altLang="en-US" sz="2000" dirty="0">
                <a:cs typeface="+mn-ea"/>
                <a:sym typeface="+mn-lt"/>
              </a:rPr>
              <a:t>代表输入的来源，</a:t>
            </a:r>
            <a:r>
              <a:rPr lang="en-US" altLang="zh-CN" sz="2000" dirty="0">
                <a:cs typeface="+mn-ea"/>
                <a:sym typeface="+mn-lt"/>
              </a:rPr>
              <a:t>-1</a:t>
            </a:r>
            <a:r>
              <a:rPr lang="zh-CN" altLang="en-US" sz="2000" dirty="0">
                <a:cs typeface="+mn-ea"/>
                <a:sym typeface="+mn-lt"/>
              </a:rPr>
              <a:t>代表从前一层的的输出层的大小自动读取输入的大小，</a:t>
            </a:r>
            <a:r>
              <a:rPr lang="en-US" altLang="zh-CN" sz="2000" dirty="0">
                <a:cs typeface="+mn-ea"/>
                <a:sym typeface="+mn-lt"/>
              </a:rPr>
              <a:t>-2</a:t>
            </a:r>
            <a:r>
              <a:rPr lang="zh-CN" altLang="en-US" sz="2000" dirty="0">
                <a:cs typeface="+mn-ea"/>
                <a:sym typeface="+mn-lt"/>
              </a:rPr>
              <a:t>代表从前两层的大小自动读取输入的大小</a:t>
            </a:r>
            <a:endParaRPr lang="zh-CN" altLang="en-US" sz="2000" dirty="0">
              <a:cs typeface="+mn-ea"/>
              <a:sym typeface="+mn-lt"/>
            </a:endParaRPr>
          </a:p>
          <a:p>
            <a:pPr marL="0" indent="0">
              <a:buNone/>
            </a:pPr>
            <a:r>
              <a:rPr lang="en-US" altLang="zh-CN" sz="2000" b="1" dirty="0">
                <a:cs typeface="+mn-ea"/>
                <a:sym typeface="+mn-lt"/>
              </a:rPr>
              <a:t>number</a:t>
            </a:r>
            <a:r>
              <a:rPr lang="zh-CN" altLang="en-US" sz="2000" dirty="0">
                <a:cs typeface="+mn-ea"/>
                <a:sym typeface="+mn-lt"/>
              </a:rPr>
              <a:t>代表当前结构连续重复几次，比如</a:t>
            </a:r>
            <a:r>
              <a:rPr lang="en-US" altLang="zh-CN" sz="2000" dirty="0">
                <a:cs typeface="+mn-ea"/>
                <a:sym typeface="+mn-lt"/>
              </a:rPr>
              <a:t>3</a:t>
            </a:r>
            <a:r>
              <a:rPr lang="zh-CN" altLang="en-US" sz="2000" dirty="0">
                <a:cs typeface="+mn-ea"/>
                <a:sym typeface="+mn-lt"/>
              </a:rPr>
              <a:t>就代表此处有三个连续的完全相同的网络层</a:t>
            </a:r>
            <a:endParaRPr lang="zh-CN" altLang="en-US" sz="2000" dirty="0">
              <a:cs typeface="+mn-ea"/>
              <a:sym typeface="+mn-lt"/>
            </a:endParaRPr>
          </a:p>
          <a:p>
            <a:pPr marL="0" indent="0">
              <a:buNone/>
            </a:pPr>
            <a:r>
              <a:rPr lang="en-US" altLang="zh-CN" sz="2000" b="1" dirty="0">
                <a:cs typeface="+mn-ea"/>
                <a:sym typeface="+mn-lt"/>
              </a:rPr>
              <a:t>module</a:t>
            </a:r>
            <a:r>
              <a:rPr lang="zh-CN" altLang="en-US" sz="2000" dirty="0">
                <a:cs typeface="+mn-ea"/>
                <a:sym typeface="+mn-lt"/>
              </a:rPr>
              <a:t>在</a:t>
            </a:r>
            <a:r>
              <a:rPr lang="en-US" altLang="zh-CN" sz="2000" dirty="0">
                <a:cs typeface="+mn-ea"/>
                <a:sym typeface="+mn-lt"/>
              </a:rPr>
              <a:t>models/yolo.py</a:t>
            </a:r>
            <a:r>
              <a:rPr lang="zh-CN" altLang="en-US" sz="2000" dirty="0">
                <a:cs typeface="+mn-ea"/>
                <a:sym typeface="+mn-lt"/>
              </a:rPr>
              <a:t>中会被解析成相对应的层，前提是这个层被声明过</a:t>
            </a:r>
            <a:endParaRPr lang="zh-CN" altLang="en-US" sz="2000" dirty="0">
              <a:cs typeface="+mn-ea"/>
              <a:sym typeface="+mn-lt"/>
            </a:endParaRPr>
          </a:p>
          <a:p>
            <a:pPr marL="0" indent="0">
              <a:buNone/>
            </a:pPr>
            <a:r>
              <a:rPr lang="en-US" altLang="zh-CN" sz="2000" b="1" dirty="0" err="1">
                <a:cs typeface="+mn-ea"/>
                <a:sym typeface="+mn-lt"/>
              </a:rPr>
              <a:t>args</a:t>
            </a:r>
            <a:r>
              <a:rPr lang="zh-CN" altLang="en-US" sz="2000" dirty="0">
                <a:cs typeface="+mn-ea"/>
                <a:sym typeface="+mn-lt"/>
              </a:rPr>
              <a:t>是卷积核信息，</a:t>
            </a:r>
            <a:r>
              <a:rPr lang="en-US" altLang="zh-CN" sz="2000" dirty="0">
                <a:cs typeface="+mn-ea"/>
                <a:sym typeface="+mn-lt"/>
              </a:rPr>
              <a:t>[</a:t>
            </a:r>
            <a:r>
              <a:rPr lang="en-US" altLang="zh-CN" sz="2000" dirty="0" err="1">
                <a:cs typeface="+mn-ea"/>
                <a:sym typeface="+mn-lt"/>
              </a:rPr>
              <a:t>kernel_num</a:t>
            </a:r>
            <a:r>
              <a:rPr lang="en-US" altLang="zh-CN" sz="2000" dirty="0">
                <a:cs typeface="+mn-ea"/>
                <a:sym typeface="+mn-lt"/>
              </a:rPr>
              <a:t>, </a:t>
            </a:r>
            <a:r>
              <a:rPr lang="en-US" altLang="zh-CN" sz="2000" dirty="0" err="1">
                <a:cs typeface="+mn-ea"/>
                <a:sym typeface="+mn-lt"/>
              </a:rPr>
              <a:t>kernel_size</a:t>
            </a:r>
            <a:r>
              <a:rPr lang="en-US" altLang="zh-CN" sz="2000" dirty="0">
                <a:cs typeface="+mn-ea"/>
                <a:sym typeface="+mn-lt"/>
              </a:rPr>
              <a:t>, step]</a:t>
            </a:r>
            <a:r>
              <a:rPr lang="zh-CN" altLang="en-US" sz="2000" dirty="0">
                <a:cs typeface="+mn-ea"/>
                <a:sym typeface="+mn-lt"/>
              </a:rPr>
              <a:t>三个元素分别代表卷积核数量，卷积核大小，步长</a:t>
            </a:r>
            <a:endParaRPr lang="zh-CN" altLang="en-US" sz="2000" dirty="0">
              <a:cs typeface="+mn-ea"/>
              <a:sym typeface="+mn-lt"/>
            </a:endParaRPr>
          </a:p>
          <a:p>
            <a:pPr marL="0" indent="0">
              <a:buNone/>
            </a:pP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a:blip r:embed="rId1"/>
          <a:stretch>
            <a:fillRect/>
          </a:stretch>
        </p:blipFill>
        <p:spPr>
          <a:xfrm>
            <a:off x="967073" y="2139884"/>
            <a:ext cx="6963098" cy="2554663"/>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1"/>
          <a:srcRect r="14159"/>
          <a:stretch>
            <a:fillRect/>
          </a:stretch>
        </p:blipFill>
        <p:spPr>
          <a:xfrm>
            <a:off x="838200" y="2375687"/>
            <a:ext cx="6580695" cy="3251214"/>
          </a:xfrm>
          <a:prstGeom prst="rect">
            <a:avLst/>
          </a:prstGeom>
        </p:spPr>
      </p:pic>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zh-CN" altLang="en-US" sz="2000" dirty="0">
                <a:cs typeface="+mn-ea"/>
                <a:sym typeface="+mn-lt"/>
              </a:rPr>
              <a:t>结合</a:t>
            </a:r>
            <a:r>
              <a:rPr lang="en-US" altLang="zh-CN" sz="2000" dirty="0">
                <a:cs typeface="+mn-ea"/>
                <a:sym typeface="+mn-lt"/>
              </a:rPr>
              <a:t>Backbone</a:t>
            </a:r>
            <a:r>
              <a:rPr lang="zh-CN" altLang="en-US" sz="2000" dirty="0">
                <a:cs typeface="+mn-ea"/>
                <a:sym typeface="+mn-lt"/>
              </a:rPr>
              <a:t>理解</a:t>
            </a:r>
            <a:r>
              <a:rPr lang="en-US" altLang="zh-CN" sz="2000" dirty="0" err="1">
                <a:cs typeface="+mn-ea"/>
                <a:sym typeface="+mn-lt"/>
              </a:rPr>
              <a:t>depth_mutiple</a:t>
            </a:r>
            <a:r>
              <a:rPr lang="zh-CN" altLang="en-US" sz="2000" dirty="0">
                <a:cs typeface="+mn-ea"/>
                <a:sym typeface="+mn-lt"/>
              </a:rPr>
              <a:t>和</a:t>
            </a:r>
            <a:r>
              <a:rPr lang="en-US" altLang="zh-CN" sz="2000" dirty="0" err="1">
                <a:cs typeface="+mn-ea"/>
                <a:sym typeface="+mn-lt"/>
              </a:rPr>
              <a:t>width_multiple</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10" name="文本框 9"/>
          <p:cNvSpPr txBox="1"/>
          <p:nvPr/>
        </p:nvSpPr>
        <p:spPr>
          <a:xfrm>
            <a:off x="7699220" y="1877635"/>
            <a:ext cx="3654580" cy="3693319"/>
          </a:xfrm>
          <a:prstGeom prst="rect">
            <a:avLst/>
          </a:prstGeom>
          <a:noFill/>
        </p:spPr>
        <p:txBody>
          <a:bodyPr wrap="square" rtlCol="0">
            <a:spAutoFit/>
          </a:bodyPr>
          <a:lstStyle/>
          <a:p>
            <a:pPr algn="just"/>
            <a:r>
              <a:rPr lang="zh-CN" altLang="en-US" dirty="0">
                <a:cs typeface="+mn-ea"/>
                <a:sym typeface="+mn-lt"/>
              </a:rPr>
              <a:t>可以发现</a:t>
            </a:r>
            <a:r>
              <a:rPr lang="en-US" altLang="zh-CN" dirty="0">
                <a:cs typeface="+mn-ea"/>
                <a:sym typeface="+mn-lt"/>
              </a:rPr>
              <a:t>n</a:t>
            </a:r>
            <a:r>
              <a:rPr lang="zh-CN" altLang="en-US" dirty="0">
                <a:cs typeface="+mn-ea"/>
                <a:sym typeface="+mn-lt"/>
              </a:rPr>
              <a:t>这一行和前面的</a:t>
            </a:r>
            <a:r>
              <a:rPr lang="en-US" altLang="zh-CN" dirty="0">
                <a:cs typeface="+mn-ea"/>
                <a:sym typeface="+mn-lt"/>
              </a:rPr>
              <a:t>backbone</a:t>
            </a:r>
            <a:r>
              <a:rPr lang="zh-CN" altLang="en-US" dirty="0">
                <a:cs typeface="+mn-ea"/>
                <a:sym typeface="+mn-lt"/>
              </a:rPr>
              <a:t>略有差异，网络实际的深度是</a:t>
            </a:r>
            <a:r>
              <a:rPr lang="en-US" altLang="zh-CN" dirty="0">
                <a:cs typeface="+mn-ea"/>
                <a:sym typeface="+mn-lt"/>
              </a:rPr>
              <a:t>backbone</a:t>
            </a:r>
            <a:r>
              <a:rPr lang="zh-CN" altLang="en-US" dirty="0">
                <a:cs typeface="+mn-ea"/>
                <a:sym typeface="+mn-lt"/>
              </a:rPr>
              <a:t>中的</a:t>
            </a:r>
            <a:r>
              <a:rPr lang="en-US" altLang="zh-CN" dirty="0">
                <a:cs typeface="+mn-ea"/>
                <a:sym typeface="+mn-lt"/>
              </a:rPr>
              <a:t>n * </a:t>
            </a:r>
            <a:r>
              <a:rPr lang="en-US" altLang="zh-CN" dirty="0" err="1">
                <a:cs typeface="+mn-ea"/>
                <a:sym typeface="+mn-lt"/>
              </a:rPr>
              <a:t>depth_mutiple</a:t>
            </a:r>
            <a:r>
              <a:rPr lang="zh-CN" altLang="en-US" dirty="0">
                <a:cs typeface="+mn-ea"/>
                <a:sym typeface="+mn-lt"/>
              </a:rPr>
              <a:t>，这就是</a:t>
            </a:r>
            <a:r>
              <a:rPr lang="en-US" altLang="zh-CN" dirty="0" err="1">
                <a:cs typeface="+mn-ea"/>
                <a:sym typeface="+mn-lt"/>
              </a:rPr>
              <a:t>depth_mutiple</a:t>
            </a:r>
            <a:r>
              <a:rPr lang="zh-CN" altLang="en-US" dirty="0">
                <a:cs typeface="+mn-ea"/>
                <a:sym typeface="+mn-lt"/>
              </a:rPr>
              <a:t>控制深度的方法，</a:t>
            </a:r>
            <a:r>
              <a:rPr lang="en-US" altLang="zh-CN" dirty="0">
                <a:cs typeface="+mn-ea"/>
                <a:sym typeface="+mn-lt"/>
              </a:rPr>
              <a:t>n=1</a:t>
            </a:r>
            <a:r>
              <a:rPr lang="zh-CN" altLang="en-US" dirty="0">
                <a:cs typeface="+mn-ea"/>
                <a:sym typeface="+mn-lt"/>
              </a:rPr>
              <a:t>时除外，因为此时往往是一些具有特殊作用的层，再看最右侧</a:t>
            </a:r>
            <a:r>
              <a:rPr lang="en-US" altLang="zh-CN" dirty="0">
                <a:cs typeface="+mn-ea"/>
                <a:sym typeface="+mn-lt"/>
              </a:rPr>
              <a:t>argument</a:t>
            </a:r>
            <a:r>
              <a:rPr lang="zh-CN" altLang="en-US" dirty="0">
                <a:cs typeface="+mn-ea"/>
                <a:sym typeface="+mn-lt"/>
              </a:rPr>
              <a:t>，可以看到</a:t>
            </a:r>
            <a:r>
              <a:rPr lang="en-US" altLang="zh-CN" dirty="0">
                <a:cs typeface="+mn-ea"/>
                <a:sym typeface="+mn-lt"/>
              </a:rPr>
              <a:t>Backbone</a:t>
            </a:r>
            <a:r>
              <a:rPr lang="zh-CN" altLang="en-US" dirty="0">
                <a:cs typeface="+mn-ea"/>
                <a:sym typeface="+mn-lt"/>
              </a:rPr>
              <a:t>中的</a:t>
            </a:r>
            <a:r>
              <a:rPr lang="en-US" altLang="zh-CN" dirty="0" err="1">
                <a:cs typeface="+mn-ea"/>
                <a:sym typeface="+mn-lt"/>
              </a:rPr>
              <a:t>args</a:t>
            </a:r>
            <a:r>
              <a:rPr lang="zh-CN" altLang="en-US" dirty="0">
                <a:cs typeface="+mn-ea"/>
                <a:sym typeface="+mn-lt"/>
              </a:rPr>
              <a:t>是三个元素，这里是四个，是因为在最</a:t>
            </a:r>
            <a:r>
              <a:rPr lang="en-US" altLang="zh-CN" dirty="0">
                <a:cs typeface="+mn-ea"/>
                <a:sym typeface="+mn-lt"/>
              </a:rPr>
              <a:t>arguments</a:t>
            </a:r>
            <a:r>
              <a:rPr lang="zh-CN" altLang="en-US" dirty="0">
                <a:cs typeface="+mn-ea"/>
                <a:sym typeface="+mn-lt"/>
              </a:rPr>
              <a:t>的最前面根据</a:t>
            </a:r>
            <a:r>
              <a:rPr lang="en-US" altLang="zh-CN" dirty="0">
                <a:cs typeface="+mn-ea"/>
                <a:sym typeface="+mn-lt"/>
              </a:rPr>
              <a:t>backbone</a:t>
            </a:r>
            <a:r>
              <a:rPr lang="zh-CN" altLang="en-US" dirty="0">
                <a:cs typeface="+mn-ea"/>
                <a:sym typeface="+mn-lt"/>
              </a:rPr>
              <a:t>的</a:t>
            </a:r>
            <a:r>
              <a:rPr lang="en-US" altLang="zh-CN" dirty="0">
                <a:cs typeface="+mn-ea"/>
                <a:sym typeface="+mn-lt"/>
              </a:rPr>
              <a:t>from</a:t>
            </a:r>
            <a:r>
              <a:rPr lang="zh-CN" altLang="en-US" dirty="0">
                <a:cs typeface="+mn-ea"/>
                <a:sym typeface="+mn-lt"/>
              </a:rPr>
              <a:t>字段自动补上了输入，第二个元素代表卷积核个数，同样类似，是</a:t>
            </a:r>
            <a:r>
              <a:rPr lang="en-US" altLang="zh-CN" dirty="0">
                <a:cs typeface="+mn-ea"/>
                <a:sym typeface="+mn-lt"/>
              </a:rPr>
              <a:t>backbone</a:t>
            </a:r>
            <a:r>
              <a:rPr lang="zh-CN" altLang="en-US" dirty="0">
                <a:cs typeface="+mn-ea"/>
                <a:sym typeface="+mn-lt"/>
              </a:rPr>
              <a:t>中对应的的数字乘上</a:t>
            </a:r>
            <a:r>
              <a:rPr lang="en-US" altLang="zh-CN" dirty="0" err="1">
                <a:cs typeface="+mn-ea"/>
                <a:sym typeface="+mn-lt"/>
              </a:rPr>
              <a:t>width_mutiple</a:t>
            </a:r>
            <a:r>
              <a:rPr lang="zh-CN" altLang="en-US" dirty="0">
                <a:cs typeface="+mn-ea"/>
                <a:sym typeface="+mn-lt"/>
              </a:rPr>
              <a:t>。</a:t>
            </a:r>
            <a:endParaRPr lang="zh-CN" altLang="en-US" dirty="0">
              <a:cs typeface="+mn-ea"/>
              <a:sym typeface="+mn-lt"/>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p:txBody>
          <a:bodyPr>
            <a:normAutofit/>
          </a:bodyPr>
          <a:lstStyle/>
          <a:p>
            <a:pPr marL="0" indent="0">
              <a:buNone/>
            </a:pPr>
            <a:r>
              <a:rPr lang="en-US" altLang="zh-CN" sz="2000" dirty="0">
                <a:cs typeface="+mn-ea"/>
                <a:sym typeface="+mn-lt"/>
              </a:rPr>
              <a:t>Head:</a:t>
            </a:r>
            <a:r>
              <a:rPr lang="zh-CN" altLang="en-US" sz="2000" dirty="0">
                <a:cs typeface="+mn-ea"/>
                <a:sym typeface="+mn-lt"/>
              </a:rPr>
              <a:t>检测头</a:t>
            </a: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dirty="0">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rotWithShape="1">
          <a:blip r:embed="rId1"/>
          <a:srcRect r="38819"/>
          <a:stretch>
            <a:fillRect/>
          </a:stretch>
        </p:blipFill>
        <p:spPr>
          <a:xfrm>
            <a:off x="838200" y="2175031"/>
            <a:ext cx="4515035" cy="4252341"/>
          </a:xfrm>
          <a:prstGeom prst="rect">
            <a:avLst/>
          </a:prstGeom>
        </p:spPr>
      </p:pic>
      <p:sp>
        <p:nvSpPr>
          <p:cNvPr id="9" name="文本框 8"/>
          <p:cNvSpPr txBox="1"/>
          <p:nvPr/>
        </p:nvSpPr>
        <p:spPr>
          <a:xfrm>
            <a:off x="6489577" y="2175031"/>
            <a:ext cx="3923930" cy="2031325"/>
          </a:xfrm>
          <a:prstGeom prst="rect">
            <a:avLst/>
          </a:prstGeom>
          <a:noFill/>
        </p:spPr>
        <p:txBody>
          <a:bodyPr wrap="square" rtlCol="0">
            <a:spAutoFit/>
          </a:bodyPr>
          <a:lstStyle/>
          <a:p>
            <a:r>
              <a:rPr lang="zh-CN" altLang="en-US" dirty="0">
                <a:cs typeface="+mn-ea"/>
                <a:sym typeface="+mn-lt"/>
              </a:rPr>
              <a:t>一般表示经过</a:t>
            </a:r>
            <a:r>
              <a:rPr lang="en-US" altLang="zh-CN" dirty="0">
                <a:cs typeface="+mn-ea"/>
                <a:sym typeface="+mn-lt"/>
              </a:rPr>
              <a:t>Backbone</a:t>
            </a:r>
            <a:r>
              <a:rPr lang="zh-CN" altLang="en-US" dirty="0">
                <a:cs typeface="+mn-ea"/>
                <a:sym typeface="+mn-lt"/>
              </a:rPr>
              <a:t>后输出的特征图</a:t>
            </a:r>
            <a:r>
              <a:rPr lang="en-US" altLang="zh-CN" dirty="0">
                <a:cs typeface="+mn-ea"/>
                <a:sym typeface="+mn-lt"/>
              </a:rPr>
              <a:t>(feature map)</a:t>
            </a:r>
            <a:r>
              <a:rPr lang="zh-CN" altLang="en-US" dirty="0">
                <a:cs typeface="+mn-ea"/>
                <a:sym typeface="+mn-lt"/>
              </a:rPr>
              <a:t>，</a:t>
            </a:r>
            <a:r>
              <a:rPr lang="en-US" altLang="zh-CN" dirty="0">
                <a:cs typeface="+mn-ea"/>
                <a:sym typeface="+mn-lt"/>
              </a:rPr>
              <a:t>feature map</a:t>
            </a:r>
            <a:r>
              <a:rPr lang="zh-CN" altLang="en-US" dirty="0">
                <a:cs typeface="+mn-ea"/>
                <a:sym typeface="+mn-lt"/>
              </a:rPr>
              <a:t>输入</a:t>
            </a:r>
            <a:r>
              <a:rPr lang="en-US" altLang="zh-CN" dirty="0">
                <a:cs typeface="+mn-ea"/>
                <a:sym typeface="+mn-lt"/>
              </a:rPr>
              <a:t>head</a:t>
            </a:r>
            <a:r>
              <a:rPr lang="zh-CN" altLang="en-US" dirty="0">
                <a:cs typeface="+mn-ea"/>
                <a:sym typeface="+mn-lt"/>
              </a:rPr>
              <a:t>中进行检测，检测出类别和位置，解析方法和</a:t>
            </a:r>
            <a:r>
              <a:rPr lang="en-US" altLang="zh-CN" dirty="0">
                <a:cs typeface="+mn-ea"/>
                <a:sym typeface="+mn-lt"/>
              </a:rPr>
              <a:t>Backbone</a:t>
            </a:r>
            <a:r>
              <a:rPr lang="zh-CN" altLang="en-US" dirty="0">
                <a:cs typeface="+mn-ea"/>
                <a:sym typeface="+mn-lt"/>
              </a:rPr>
              <a:t>类似，实际上跳过对</a:t>
            </a:r>
            <a:r>
              <a:rPr lang="en-US" altLang="zh-CN" dirty="0" err="1">
                <a:cs typeface="+mn-ea"/>
                <a:sym typeface="+mn-lt"/>
              </a:rPr>
              <a:t>yaml</a:t>
            </a:r>
            <a:r>
              <a:rPr lang="zh-CN" altLang="en-US" dirty="0">
                <a:cs typeface="+mn-ea"/>
                <a:sym typeface="+mn-lt"/>
              </a:rPr>
              <a:t>文件的解析对读者完成实验没有影响，但是当尝试新的结构时，这是必须掌握的知识。</a:t>
            </a:r>
            <a:endParaRPr lang="zh-CN" altLang="en-US" dirty="0">
              <a:cs typeface="+mn-ea"/>
              <a:sym typeface="+mn-lt"/>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532662"/>
            <a:ext cx="10515600" cy="4351338"/>
          </a:xfrm>
        </p:spPr>
        <p:txBody>
          <a:bodyPr>
            <a:normAutofit/>
          </a:bodyPr>
          <a:lstStyle/>
          <a:p>
            <a:r>
              <a:rPr lang="zh-CN" altLang="en-US" sz="2400" b="1" dirty="0">
                <a:cs typeface="+mn-ea"/>
                <a:sym typeface="+mn-lt"/>
              </a:rPr>
              <a:t>模型训练</a:t>
            </a:r>
            <a:endParaRPr lang="en-US" altLang="zh-CN" sz="2400" b="1" dirty="0">
              <a:cs typeface="+mn-ea"/>
              <a:sym typeface="+mn-lt"/>
            </a:endParaRPr>
          </a:p>
          <a:p>
            <a:pPr marL="0" indent="0">
              <a:buNone/>
            </a:pPr>
            <a:r>
              <a:rPr lang="zh-CN" altLang="en-US" sz="2000" dirty="0">
                <a:cs typeface="+mn-ea"/>
                <a:sym typeface="+mn-lt"/>
              </a:rPr>
              <a:t>在</a:t>
            </a:r>
            <a:r>
              <a:rPr lang="en-US" altLang="zh-CN" sz="2000" dirty="0">
                <a:cs typeface="+mn-ea"/>
                <a:sym typeface="+mn-lt"/>
              </a:rPr>
              <a:t>train.py</a:t>
            </a:r>
            <a:r>
              <a:rPr lang="zh-CN" altLang="en-US" sz="2000" dirty="0">
                <a:cs typeface="+mn-ea"/>
                <a:sym typeface="+mn-lt"/>
              </a:rPr>
              <a:t>中修改默认超参数，在终端运行即可（也可以不修改默认，直接在终端添加参数运行）</a:t>
            </a:r>
            <a:endParaRPr lang="en-US" altLang="zh-CN" sz="2000" dirty="0">
              <a:cs typeface="+mn-ea"/>
              <a:sym typeface="+mn-lt"/>
            </a:endParaRPr>
          </a:p>
          <a:p>
            <a:pPr marL="0" indent="0">
              <a:buNone/>
            </a:pPr>
            <a:endParaRPr lang="en-US" altLang="zh-CN" sz="2000" dirty="0">
              <a:cs typeface="+mn-ea"/>
              <a:sym typeface="+mn-lt"/>
            </a:endParaRPr>
          </a:p>
          <a:p>
            <a:pPr marL="0" indent="0">
              <a:buNone/>
            </a:pPr>
            <a:r>
              <a:rPr lang="zh-CN" altLang="en-US" sz="2000" dirty="0">
                <a:cs typeface="+mn-ea"/>
                <a:sym typeface="+mn-lt"/>
              </a:rPr>
              <a:t>主要修改</a:t>
            </a:r>
            <a:r>
              <a:rPr lang="en-US" altLang="zh-CN" sz="2000" dirty="0" err="1">
                <a:cs typeface="+mn-ea"/>
                <a:sym typeface="+mn-lt"/>
              </a:rPr>
              <a:t>weights,cfg,data.epochs</a:t>
            </a:r>
            <a:r>
              <a:rPr lang="zh-CN" altLang="en-US" sz="2000" dirty="0">
                <a:cs typeface="+mn-ea"/>
                <a:sym typeface="+mn-lt"/>
              </a:rPr>
              <a:t>参数。</a:t>
            </a:r>
            <a:endParaRPr lang="en-US" altLang="zh-CN" sz="2000" dirty="0">
              <a:cs typeface="+mn-ea"/>
              <a:sym typeface="+mn-lt"/>
            </a:endParaRPr>
          </a:p>
          <a:p>
            <a:pPr marL="0" indent="0">
              <a:buNone/>
            </a:pPr>
            <a:r>
              <a:rPr lang="zh-CN" altLang="en-US" sz="2000" dirty="0">
                <a:cs typeface="+mn-ea"/>
                <a:sym typeface="+mn-lt"/>
              </a:rPr>
              <a:t>命令行中，</a:t>
            </a:r>
            <a:r>
              <a:rPr lang="en-US" altLang="zh-CN" sz="2000" dirty="0">
                <a:cs typeface="+mn-ea"/>
                <a:sym typeface="+mn-lt"/>
              </a:rPr>
              <a:t>--weights yolov5s.pt</a:t>
            </a:r>
            <a:r>
              <a:rPr lang="zh-CN" altLang="en-US" sz="2000" dirty="0">
                <a:cs typeface="+mn-ea"/>
                <a:sym typeface="+mn-lt"/>
              </a:rPr>
              <a:t>为使用预训练模型作为初始权重，推荐使用本模式，预训练模型下载地址为</a:t>
            </a:r>
            <a:r>
              <a:rPr lang="en-US" altLang="zh-CN" sz="2000" dirty="0">
                <a:cs typeface="+mn-ea"/>
                <a:sym typeface="+mn-lt"/>
              </a:rPr>
              <a:t>https://github.com/ultralytics/yolov5/releases</a:t>
            </a:r>
            <a:endParaRPr lang="en-US" altLang="zh-CN" sz="2000" dirty="0">
              <a:cs typeface="+mn-ea"/>
              <a:sym typeface="+mn-lt"/>
            </a:endParaRPr>
          </a:p>
          <a:p>
            <a:pPr marL="0" indent="0">
              <a:buNone/>
            </a:pPr>
            <a:r>
              <a:rPr lang="zh-CN" altLang="en-US" sz="2000" dirty="0">
                <a:cs typeface="+mn-ea"/>
                <a:sym typeface="+mn-lt"/>
              </a:rPr>
              <a:t>否则设置</a:t>
            </a:r>
            <a:r>
              <a:rPr lang="en-US" altLang="zh-CN" sz="2000" dirty="0">
                <a:cs typeface="+mn-ea"/>
                <a:sym typeface="+mn-lt"/>
              </a:rPr>
              <a:t>--weights '' --</a:t>
            </a:r>
            <a:r>
              <a:rPr lang="en-US" altLang="zh-CN" sz="2000" dirty="0" err="1">
                <a:cs typeface="+mn-ea"/>
                <a:sym typeface="+mn-lt"/>
              </a:rPr>
              <a:t>cfg</a:t>
            </a:r>
            <a:r>
              <a:rPr lang="en-US" altLang="zh-CN" sz="2000" dirty="0">
                <a:cs typeface="+mn-ea"/>
                <a:sym typeface="+mn-lt"/>
              </a:rPr>
              <a:t> yolov5s.yaml</a:t>
            </a:r>
            <a:r>
              <a:rPr lang="zh-CN" altLang="en-US" sz="2000" dirty="0">
                <a:cs typeface="+mn-ea"/>
                <a:sym typeface="+mn-lt"/>
              </a:rPr>
              <a:t>使用随机初始权重（不推荐）</a:t>
            </a:r>
            <a:endParaRPr lang="en-US" altLang="zh-CN" sz="2000" dirty="0">
              <a:cs typeface="+mn-ea"/>
              <a:sym typeface="+mn-lt"/>
            </a:endParaRPr>
          </a:p>
          <a:p>
            <a:pPr marL="0" indent="0">
              <a:buNone/>
            </a:pPr>
            <a:r>
              <a:rPr lang="zh-CN" altLang="en-US" sz="2000" dirty="0">
                <a:cs typeface="+mn-ea"/>
                <a:sym typeface="+mn-lt"/>
              </a:rPr>
              <a:t>训练完成后会自动生成</a:t>
            </a:r>
            <a:r>
              <a:rPr lang="en-US" altLang="zh-CN" sz="2000" dirty="0">
                <a:cs typeface="+mn-ea"/>
                <a:sym typeface="+mn-lt"/>
              </a:rPr>
              <a:t>run/train/exp</a:t>
            </a:r>
            <a:r>
              <a:rPr lang="zh-CN" altLang="en-US" sz="2000" dirty="0">
                <a:cs typeface="+mn-ea"/>
                <a:sym typeface="+mn-lt"/>
              </a:rPr>
              <a:t>文件夹，里边就是本次训练的结果、权重等数据。</a:t>
            </a:r>
            <a:endParaRPr lang="zh-CN" altLang="en-US" sz="2000" dirty="0">
              <a:cs typeface="+mn-ea"/>
              <a:sym typeface="+mn-lt"/>
            </a:endParaRPr>
          </a:p>
          <a:p>
            <a:pPr marL="0" indent="0">
              <a:buNone/>
            </a:pPr>
            <a:r>
              <a:rPr lang="zh-CN" altLang="en-US" sz="2000" dirty="0">
                <a:cs typeface="+mn-ea"/>
                <a:sym typeface="+mn-lt"/>
              </a:rPr>
              <a:t>得到最终的训练结果如下：</a:t>
            </a:r>
            <a:endParaRPr lang="zh-CN" altLang="en-US" sz="2000" dirty="0">
              <a:cs typeface="+mn-ea"/>
              <a:sym typeface="+mn-lt"/>
            </a:endParaRPr>
          </a:p>
          <a:p>
            <a:pPr marL="0" indent="0">
              <a:buNone/>
            </a:pPr>
            <a:endParaRPr lang="en-US" altLang="zh-CN" sz="2000" dirty="0">
              <a:cs typeface="+mn-ea"/>
              <a:sym typeface="+mn-lt"/>
            </a:endParaRPr>
          </a:p>
          <a:p>
            <a:pPr marL="0" indent="0">
              <a:buNone/>
            </a:pPr>
            <a:endParaRPr lang="zh-CN" altLang="en-US" sz="2000"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8" name="图片 7"/>
          <p:cNvPicPr>
            <a:picLocks noChangeAspect="1"/>
          </p:cNvPicPr>
          <p:nvPr/>
        </p:nvPicPr>
        <p:blipFill rotWithShape="1">
          <a:blip r:embed="rId1"/>
          <a:srcRect l="2360" r="21048"/>
          <a:stretch>
            <a:fillRect/>
          </a:stretch>
        </p:blipFill>
        <p:spPr>
          <a:xfrm>
            <a:off x="838200" y="3001731"/>
            <a:ext cx="10515600" cy="365125"/>
          </a:xfrm>
          <a:prstGeom prst="rect">
            <a:avLst/>
          </a:prstGeom>
        </p:spPr>
      </p:pic>
      <p:pic>
        <p:nvPicPr>
          <p:cNvPr id="10" name="图片 9"/>
          <p:cNvPicPr>
            <a:picLocks noChangeAspect="1"/>
          </p:cNvPicPr>
          <p:nvPr/>
        </p:nvPicPr>
        <p:blipFill>
          <a:blip r:embed="rId2"/>
          <a:stretch>
            <a:fillRect/>
          </a:stretch>
        </p:blipFill>
        <p:spPr>
          <a:xfrm>
            <a:off x="838200" y="5391461"/>
            <a:ext cx="10946167" cy="575949"/>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38200" y="2299317"/>
            <a:ext cx="10515600" cy="50061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latin typeface="+mn-lt"/>
                <a:ea typeface="+mn-ea"/>
                <a:cs typeface="+mn-ea"/>
                <a:sym typeface="+mn-lt"/>
              </a:rPr>
              <a:t>6.3 </a:t>
            </a:r>
            <a:r>
              <a:rPr lang="zh-CN" altLang="en-US" dirty="0">
                <a:latin typeface="+mn-lt"/>
                <a:ea typeface="+mn-ea"/>
                <a:cs typeface="+mn-ea"/>
                <a:sym typeface="+mn-lt"/>
              </a:rPr>
              <a:t>实践案例行人检测</a:t>
            </a:r>
            <a:endParaRPr lang="zh-CN" altLang="en-US" dirty="0">
              <a:latin typeface="+mn-lt"/>
              <a:ea typeface="+mn-ea"/>
              <a:cs typeface="+mn-ea"/>
              <a:sym typeface="+mn-lt"/>
            </a:endParaRPr>
          </a:p>
        </p:txBody>
      </p:sp>
      <p:sp>
        <p:nvSpPr>
          <p:cNvPr id="3" name="内容占位符 2"/>
          <p:cNvSpPr>
            <a:spLocks noGrp="1"/>
          </p:cNvSpPr>
          <p:nvPr>
            <p:ph idx="1"/>
          </p:nvPr>
        </p:nvSpPr>
        <p:spPr>
          <a:xfrm>
            <a:off x="838200" y="1798992"/>
            <a:ext cx="10515600" cy="4351338"/>
          </a:xfrm>
        </p:spPr>
        <p:txBody>
          <a:bodyPr/>
          <a:lstStyle/>
          <a:p>
            <a:r>
              <a:rPr lang="zh-CN" altLang="en-US" sz="2400" b="1" dirty="0">
                <a:cs typeface="+mn-ea"/>
                <a:sym typeface="+mn-lt"/>
              </a:rPr>
              <a:t>模型测试</a:t>
            </a:r>
            <a:endParaRPr lang="en-US" altLang="zh-CN" sz="2400" b="1" dirty="0">
              <a:cs typeface="+mn-ea"/>
              <a:sym typeface="+mn-lt"/>
            </a:endParaRPr>
          </a:p>
          <a:p>
            <a:endParaRPr lang="en-US" altLang="zh-CN" dirty="0">
              <a:cs typeface="+mn-ea"/>
              <a:sym typeface="+mn-lt"/>
            </a:endParaRPr>
          </a:p>
          <a:p>
            <a:pPr marL="0" indent="0">
              <a:buNone/>
            </a:pPr>
            <a:r>
              <a:rPr lang="zh-CN" altLang="en-US" sz="2000" dirty="0">
                <a:cs typeface="+mn-ea"/>
                <a:sym typeface="+mn-lt"/>
              </a:rPr>
              <a:t>在</a:t>
            </a:r>
            <a:r>
              <a:rPr lang="en-US" altLang="zh-CN" sz="2000" dirty="0">
                <a:cs typeface="+mn-ea"/>
                <a:sym typeface="+mn-lt"/>
              </a:rPr>
              <a:t>detect.py</a:t>
            </a:r>
            <a:r>
              <a:rPr lang="zh-CN" altLang="en-US" sz="2000" dirty="0">
                <a:cs typeface="+mn-ea"/>
                <a:sym typeface="+mn-lt"/>
              </a:rPr>
              <a:t>中修改默认超参数，在终端运行即可</a:t>
            </a:r>
            <a:r>
              <a:rPr lang="en-US" altLang="zh-CN" sz="2000" dirty="0">
                <a:cs typeface="+mn-ea"/>
                <a:sym typeface="+mn-lt"/>
              </a:rPr>
              <a:t>, </a:t>
            </a:r>
            <a:r>
              <a:rPr lang="zh-CN" altLang="en-US" sz="2000" dirty="0">
                <a:cs typeface="+mn-ea"/>
                <a:sym typeface="+mn-lt"/>
              </a:rPr>
              <a:t>主要修改</a:t>
            </a:r>
            <a:r>
              <a:rPr lang="en-US" altLang="zh-CN" sz="2000" dirty="0" err="1">
                <a:cs typeface="+mn-ea"/>
                <a:sym typeface="+mn-lt"/>
              </a:rPr>
              <a:t>weights,source</a:t>
            </a:r>
            <a:r>
              <a:rPr lang="zh-CN" altLang="en-US" sz="2000" dirty="0">
                <a:cs typeface="+mn-ea"/>
                <a:sym typeface="+mn-lt"/>
              </a:rPr>
              <a:t>，</a:t>
            </a:r>
            <a:r>
              <a:rPr lang="en-US" altLang="zh-CN" sz="2000" dirty="0">
                <a:cs typeface="+mn-ea"/>
                <a:sym typeface="+mn-lt"/>
              </a:rPr>
              <a:t>weights</a:t>
            </a:r>
            <a:r>
              <a:rPr lang="zh-CN" altLang="en-US" sz="2000" dirty="0">
                <a:cs typeface="+mn-ea"/>
                <a:sym typeface="+mn-lt"/>
              </a:rPr>
              <a:t>修改到上一步训练生成的模型（在</a:t>
            </a:r>
            <a:r>
              <a:rPr lang="en-US" altLang="zh-CN" sz="2000" dirty="0">
                <a:cs typeface="+mn-ea"/>
                <a:sym typeface="+mn-lt"/>
              </a:rPr>
              <a:t>runs/train/exp/weights</a:t>
            </a:r>
            <a:r>
              <a:rPr lang="zh-CN" altLang="en-US" sz="2000" dirty="0">
                <a:cs typeface="+mn-ea"/>
                <a:sym typeface="+mn-lt"/>
              </a:rPr>
              <a:t>中，后缀为</a:t>
            </a:r>
            <a:r>
              <a:rPr lang="en-US" altLang="zh-CN" sz="2000" dirty="0">
                <a:cs typeface="+mn-ea"/>
                <a:sym typeface="+mn-lt"/>
              </a:rPr>
              <a:t>.</a:t>
            </a:r>
            <a:r>
              <a:rPr lang="en-US" altLang="zh-CN" sz="2000" dirty="0" err="1">
                <a:cs typeface="+mn-ea"/>
                <a:sym typeface="+mn-lt"/>
              </a:rPr>
              <a:t>pt</a:t>
            </a:r>
            <a:r>
              <a:rPr lang="zh-CN" altLang="en-US" sz="2000" dirty="0">
                <a:cs typeface="+mn-ea"/>
                <a:sym typeface="+mn-lt"/>
              </a:rPr>
              <a:t>），</a:t>
            </a:r>
            <a:r>
              <a:rPr lang="en-US" altLang="zh-CN" sz="2000" dirty="0">
                <a:cs typeface="+mn-ea"/>
                <a:sym typeface="+mn-lt"/>
              </a:rPr>
              <a:t>source</a:t>
            </a:r>
            <a:r>
              <a:rPr lang="zh-CN" altLang="en-US" sz="2000" dirty="0">
                <a:cs typeface="+mn-ea"/>
                <a:sym typeface="+mn-lt"/>
              </a:rPr>
              <a:t>是要检测的图片地址。</a:t>
            </a:r>
            <a:endParaRPr lang="en-US" altLang="zh-CN" sz="2000" dirty="0">
              <a:cs typeface="+mn-ea"/>
              <a:sym typeface="+mn-lt"/>
            </a:endParaRPr>
          </a:p>
          <a:p>
            <a:pPr marL="0" indent="0">
              <a:buNone/>
            </a:pPr>
            <a:r>
              <a:rPr lang="zh-CN" altLang="en-US" sz="2000" dirty="0">
                <a:cs typeface="+mn-ea"/>
                <a:sym typeface="+mn-lt"/>
              </a:rPr>
              <a:t>运行完成后预测结果存在</a:t>
            </a:r>
            <a:r>
              <a:rPr lang="en-US" altLang="zh-CN" sz="2000" dirty="0">
                <a:cs typeface="+mn-ea"/>
                <a:sym typeface="+mn-lt"/>
              </a:rPr>
              <a:t>runs/detect/exp</a:t>
            </a:r>
            <a:r>
              <a:rPr lang="zh-CN" altLang="en-US" sz="2000" dirty="0">
                <a:cs typeface="+mn-ea"/>
                <a:sym typeface="+mn-lt"/>
              </a:rPr>
              <a:t>中</a:t>
            </a:r>
            <a:r>
              <a:rPr lang="en-US" altLang="zh-CN" sz="2000" dirty="0">
                <a:cs typeface="+mn-ea"/>
                <a:sym typeface="+mn-lt"/>
              </a:rPr>
              <a:t>, </a:t>
            </a:r>
            <a:r>
              <a:rPr lang="zh-CN" altLang="en-US" sz="2000" b="1" dirty="0">
                <a:cs typeface="+mn-ea"/>
                <a:sym typeface="+mn-lt"/>
              </a:rPr>
              <a:t>一些检测结果如下图所示：</a:t>
            </a:r>
            <a:endParaRPr lang="en-US" altLang="zh-CN" sz="2000" b="1" dirty="0">
              <a:cs typeface="+mn-ea"/>
              <a:sym typeface="+mn-lt"/>
            </a:endParaRPr>
          </a:p>
          <a:p>
            <a:pPr marL="0" indent="0">
              <a:buNone/>
            </a:pPr>
            <a:endParaRPr lang="en-US" altLang="zh-CN" dirty="0">
              <a:cs typeface="+mn-ea"/>
              <a:sym typeface="+mn-lt"/>
            </a:endParaRPr>
          </a:p>
          <a:p>
            <a:pPr marL="0" indent="0">
              <a:buNone/>
            </a:pPr>
            <a:endParaRPr lang="en-US" altLang="zh-CN" dirty="0">
              <a:cs typeface="+mn-ea"/>
              <a:sym typeface="+mn-lt"/>
            </a:endParaRPr>
          </a:p>
          <a:p>
            <a:pPr marL="0" indent="0">
              <a:buNone/>
            </a:pPr>
            <a:endParaRPr lang="zh-CN" altLang="en-US" dirty="0">
              <a:cs typeface="+mn-ea"/>
              <a:sym typeface="+mn-lt"/>
            </a:endParaRPr>
          </a:p>
        </p:txBody>
      </p:sp>
      <p:sp>
        <p:nvSpPr>
          <p:cNvPr id="4" name="日期占位符 3"/>
          <p:cNvSpPr>
            <a:spLocks noGrp="1"/>
          </p:cNvSpPr>
          <p:nvPr>
            <p:ph type="dt" sz="half" idx="10"/>
          </p:nvPr>
        </p:nvSpPr>
        <p:spPr/>
        <p:txBody>
          <a:bodyPr/>
          <a:lstStyle/>
          <a:p>
            <a:fld id="{A54A9E70-2B6A-45C0-AB3B-96FADC4A4979}" type="datetime1">
              <a:rPr lang="zh-CN" altLang="en-US" smtClean="0">
                <a:cs typeface="+mn-ea"/>
                <a:sym typeface="+mn-lt"/>
              </a:rPr>
            </a:fld>
            <a:endParaRPr lang="zh-CN" altLang="en-US">
              <a:cs typeface="+mn-ea"/>
              <a:sym typeface="+mn-lt"/>
            </a:endParaRPr>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6" name="灯片编号占位符 5"/>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pic>
        <p:nvPicPr>
          <p:cNvPr id="14" name="图片 13"/>
          <p:cNvPicPr>
            <a:picLocks noChangeAspect="1"/>
          </p:cNvPicPr>
          <p:nvPr/>
        </p:nvPicPr>
        <p:blipFill>
          <a:blip r:embed="rId1"/>
          <a:stretch>
            <a:fillRect/>
          </a:stretch>
        </p:blipFill>
        <p:spPr>
          <a:xfrm>
            <a:off x="936660" y="2299317"/>
            <a:ext cx="7850514" cy="500619"/>
          </a:xfrm>
          <a:prstGeom prst="rect">
            <a:avLst/>
          </a:prstGeom>
        </p:spPr>
      </p:pic>
      <p:pic>
        <p:nvPicPr>
          <p:cNvPr id="15" name="图片 14"/>
          <p:cNvPicPr>
            <a:picLocks noChangeAspect="1"/>
          </p:cNvPicPr>
          <p:nvPr/>
        </p:nvPicPr>
        <p:blipFill>
          <a:blip r:embed="rId2"/>
          <a:stretch>
            <a:fillRect/>
          </a:stretch>
        </p:blipFill>
        <p:spPr>
          <a:xfrm>
            <a:off x="3581400" y="3832387"/>
            <a:ext cx="4212701" cy="2523963"/>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831850" y="1989220"/>
            <a:ext cx="10515600" cy="1820779"/>
          </a:xfrm>
        </p:spPr>
        <p:txBody>
          <a:bodyPr>
            <a:normAutofit/>
          </a:bodyPr>
          <a:lstStyle/>
          <a:p>
            <a:pPr algn="ctr"/>
            <a:r>
              <a:rPr lang="zh-CN" altLang="en-US" sz="2800" dirty="0">
                <a:sym typeface="+mn-ea"/>
              </a:rPr>
              <a:t>本书代码请参考：</a:t>
            </a:r>
            <a:br>
              <a:rPr lang="en-US" altLang="zh-CN" sz="2800" dirty="0">
                <a:sym typeface="+mn-ea"/>
              </a:rPr>
            </a:br>
            <a:r>
              <a:rPr lang="en-US" altLang="zh-CN" sz="2800" dirty="0">
                <a:sym typeface="+mn-ea"/>
              </a:rPr>
              <a:t>https://github.com/drwangusm/dl</a:t>
            </a:r>
            <a:br>
              <a:rPr lang="zh-CN" altLang="en-US" sz="2800" dirty="0">
                <a:sym typeface="+mn-ea"/>
              </a:rPr>
            </a:br>
            <a:endParaRPr lang="zh-CN" altLang="en-US" sz="2800" dirty="0"/>
          </a:p>
        </p:txBody>
      </p:sp>
      <p:sp>
        <p:nvSpPr>
          <p:cNvPr id="4" name="日期占位符 3"/>
          <p:cNvSpPr>
            <a:spLocks noGrp="1"/>
          </p:cNvSpPr>
          <p:nvPr>
            <p:ph type="dt" sz="half" idx="10"/>
          </p:nvPr>
        </p:nvSpPr>
        <p:spPr/>
        <p:txBody>
          <a:bodyPr/>
          <a:lstStyle/>
          <a:p>
            <a:fld id="{A54A9E70-2B6A-45C0-AB3B-96FADC4A497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11"/>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27" name="Freeform: Shape 13"/>
          <p:cNvSpPr>
            <a:spLocks noGrp="1" noRot="1" noChangeAspect="1" noMove="1" noResize="1" noEditPoints="1" noAdjustHandles="1" noChangeArrowheads="1" noChangeShapeType="1" noTextEdit="1"/>
          </p:cNvSpPr>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29" name="Freeform: Shape 15"/>
          <p:cNvSpPr>
            <a:spLocks noGrp="1" noRot="1" noChangeAspect="1" noMove="1" noResize="1" noEditPoints="1" noAdjustHandles="1" noChangeArrowheads="1" noChangeShapeType="1" noTextEdit="1"/>
          </p:cNvSpPr>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1" name="Freeform: Shape 17"/>
          <p:cNvSpPr>
            <a:spLocks noGrp="1" noRot="1" noChangeAspect="1" noMove="1" noResize="1" noEditPoints="1" noAdjustHandles="1" noChangeArrowheads="1" noChangeShapeType="1" noTextEdit="1"/>
          </p:cNvSpPr>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3" name="Rectangle 19"/>
          <p:cNvSpPr>
            <a:spLocks noGrp="1" noRot="1" noChangeAspect="1" noMove="1" noResize="1" noEditPoints="1" noAdjustHandles="1" noChangeArrowheads="1" noChangeShapeType="1" noTextEdit="1"/>
          </p:cNvSpPr>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4" name="Freeform: Shape 21"/>
          <p:cNvSpPr>
            <a:spLocks noGrp="1" noRot="1" noChangeAspect="1" noMove="1" noResize="1" noEditPoints="1" noAdjustHandles="1" noChangeArrowheads="1" noChangeShapeType="1" noTextEdit="1"/>
          </p:cNvSpPr>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24" name="Rectangle 23"/>
          <p:cNvSpPr>
            <a:spLocks noGrp="1" noRot="1" noChangeAspect="1" noMove="1" noResize="1" noEditPoints="1" noAdjustHandles="1" noChangeArrowheads="1" noChangeShapeType="1" noTextEdit="1"/>
          </p:cNvSpPr>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cs typeface="+mn-ea"/>
              <a:sym typeface="+mn-lt"/>
            </a:endParaRPr>
          </a:p>
        </p:txBody>
      </p:sp>
      <p:sp>
        <p:nvSpPr>
          <p:cNvPr id="26" name="Freeform: Shape 25"/>
          <p:cNvSpPr>
            <a:spLocks noGrp="1" noRot="1" noChangeAspect="1" noMove="1" noResize="1" noEditPoints="1" noAdjustHandles="1" noChangeArrowheads="1" noChangeShapeType="1" noTextEdit="1"/>
          </p:cNvSpPr>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4" name="日期占位符 3"/>
          <p:cNvSpPr>
            <a:spLocks noGrp="1"/>
          </p:cNvSpPr>
          <p:nvPr>
            <p:ph type="dt" sz="half" idx="10"/>
          </p:nvPr>
        </p:nvSpPr>
        <p:spPr>
          <a:xfrm>
            <a:off x="321733" y="5626100"/>
            <a:ext cx="2568811" cy="365125"/>
          </a:xfrm>
        </p:spPr>
        <p:txBody>
          <a:bodyPr vert="horz" lIns="91440" tIns="45720" rIns="91440" bIns="45720" rtlCol="0" anchor="ctr">
            <a:normAutofit/>
          </a:bodyPr>
          <a:lstStyle/>
          <a:p>
            <a:pPr>
              <a:spcAft>
                <a:spcPts val="600"/>
              </a:spcAft>
            </a:pPr>
            <a:fld id="{A54A9E70-2B6A-45C0-AB3B-96FADC4A4979}" type="datetime1">
              <a:rPr lang="en-US" altLang="zh-CN">
                <a:solidFill>
                  <a:srgbClr val="FFFFFF"/>
                </a:solidFill>
                <a:cs typeface="+mn-ea"/>
                <a:sym typeface="+mn-lt"/>
              </a:rPr>
            </a:fld>
            <a:endParaRPr lang="en-US" altLang="zh-CN">
              <a:solidFill>
                <a:srgbClr val="FFFFFF"/>
              </a:solidFill>
              <a:cs typeface="+mn-ea"/>
              <a:sym typeface="+mn-lt"/>
            </a:endParaRPr>
          </a:p>
        </p:txBody>
      </p:sp>
      <p:sp>
        <p:nvSpPr>
          <p:cNvPr id="5" name="页脚占位符 4"/>
          <p:cNvSpPr>
            <a:spLocks noGrp="1"/>
          </p:cNvSpPr>
          <p:nvPr>
            <p:ph type="ftr" sz="quarter" idx="11"/>
          </p:nvPr>
        </p:nvSpPr>
        <p:spPr>
          <a:xfrm>
            <a:off x="321733" y="5991225"/>
            <a:ext cx="2568811" cy="365125"/>
          </a:xfrm>
        </p:spPr>
        <p:txBody>
          <a:bodyPr vert="horz" lIns="91440" tIns="45720" rIns="91440" bIns="45720" rtlCol="0" anchor="ctr">
            <a:normAutofit/>
          </a:bodyPr>
          <a:lstStyle/>
          <a:p>
            <a:pPr algn="l">
              <a:spcAft>
                <a:spcPts val="600"/>
              </a:spcAft>
            </a:pPr>
            <a:r>
              <a:rPr lang="zh-CN" altLang="en-US">
                <a:sym typeface="+mn-ea"/>
              </a:rPr>
              <a:t>深度学习</a:t>
            </a:r>
            <a:r>
              <a:rPr lang="zh-CN" altLang="en-US">
                <a:cs typeface="+mn-ea"/>
                <a:sym typeface="+mn-lt"/>
              </a:rPr>
              <a:t>技术基础及应用</a:t>
            </a:r>
            <a:endParaRPr lang="zh-CN" altLang="en-US" kern="1200">
              <a:solidFill>
                <a:srgbClr val="FFFFFF"/>
              </a:solidFill>
              <a:cs typeface="+mn-ea"/>
              <a:sym typeface="+mn-lt"/>
            </a:endParaRPr>
          </a:p>
        </p:txBody>
      </p:sp>
      <p:sp>
        <p:nvSpPr>
          <p:cNvPr id="6" name="灯片编号占位符 5"/>
          <p:cNvSpPr>
            <a:spLocks noGrp="1"/>
          </p:cNvSpPr>
          <p:nvPr>
            <p:ph type="sldNum" sz="quarter" idx="12"/>
          </p:nvPr>
        </p:nvSpPr>
        <p:spPr>
          <a:xfrm>
            <a:off x="321732" y="6356350"/>
            <a:ext cx="2568811" cy="365125"/>
          </a:xfrm>
        </p:spPr>
        <p:txBody>
          <a:bodyPr vert="horz" lIns="91440" tIns="45720" rIns="91440" bIns="45720" rtlCol="0" anchor="ctr">
            <a:normAutofit/>
          </a:bodyPr>
          <a:lstStyle/>
          <a:p>
            <a:pPr algn="l">
              <a:spcAft>
                <a:spcPts val="600"/>
              </a:spcAft>
            </a:pPr>
            <a:fld id="{B818CECD-4AF4-4E96-AD6D-215F227B9D37}" type="slidenum">
              <a:rPr lang="en-US" altLang="zh-CN">
                <a:solidFill>
                  <a:srgbClr val="FFFFFF"/>
                </a:solidFill>
                <a:cs typeface="+mn-ea"/>
                <a:sym typeface="+mn-lt"/>
              </a:rPr>
            </a:fld>
            <a:endParaRPr lang="en-US" altLang="zh-CN">
              <a:solidFill>
                <a:srgbClr val="FFFFFF"/>
              </a:solidFill>
              <a:cs typeface="+mn-ea"/>
              <a:sym typeface="+mn-lt"/>
            </a:endParaRPr>
          </a:p>
        </p:txBody>
      </p:sp>
      <p:sp>
        <p:nvSpPr>
          <p:cNvPr id="28" name="Freeform: Shape 27"/>
          <p:cNvSpPr>
            <a:spLocks noGrp="1" noRot="1" noChangeAspect="1" noMove="1" noResize="1" noEditPoints="1" noAdjustHandles="1" noChangeArrowheads="1" noChangeShapeType="1" noTextEdit="1"/>
          </p:cNvSpPr>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cs typeface="+mn-ea"/>
              <a:sym typeface="+mn-lt"/>
            </a:endParaRPr>
          </a:p>
        </p:txBody>
      </p:sp>
      <p:sp>
        <p:nvSpPr>
          <p:cNvPr id="7" name="标题 6"/>
          <p:cNvSpPr>
            <a:spLocks noGrp="1"/>
          </p:cNvSpPr>
          <p:nvPr>
            <p:ph type="title"/>
          </p:nvPr>
        </p:nvSpPr>
        <p:spPr>
          <a:xfrm>
            <a:off x="3204642" y="2353641"/>
            <a:ext cx="5782716" cy="2150719"/>
          </a:xfrm>
          <a:noFill/>
        </p:spPr>
        <p:txBody>
          <a:bodyPr vert="horz" lIns="91440" tIns="45720" rIns="91440" bIns="45720" rtlCol="0" anchor="ctr">
            <a:normAutofit/>
          </a:bodyPr>
          <a:lstStyle/>
          <a:p>
            <a:pPr algn="ctr"/>
            <a:r>
              <a:rPr lang="zh-CN" altLang="en-US" sz="7200" kern="1200" dirty="0">
                <a:solidFill>
                  <a:srgbClr val="080808"/>
                </a:solidFill>
                <a:latin typeface="+mn-lt"/>
                <a:ea typeface="+mn-ea"/>
                <a:cs typeface="+mn-ea"/>
                <a:sym typeface="+mn-lt"/>
              </a:rPr>
              <a:t>谢谢！</a:t>
            </a:r>
            <a:endParaRPr lang="zh-CN" altLang="en-US" sz="7200" kern="1200" dirty="0">
              <a:solidFill>
                <a:srgbClr val="080808"/>
              </a:solidFill>
              <a:latin typeface="+mn-lt"/>
              <a:ea typeface="+mn-ea"/>
              <a:cs typeface="+mn-ea"/>
              <a:sym typeface="+mn-lt"/>
            </a:endParaRPr>
          </a:p>
        </p:txBody>
      </p:sp>
      <p:sp>
        <p:nvSpPr>
          <p:cNvPr id="30" name="Freeform: Shape 29"/>
          <p:cNvSpPr>
            <a:spLocks noGrp="1" noRot="1" noChangeAspect="1" noMove="1" noResize="1" noEditPoints="1" noAdjustHandles="1" noChangeArrowheads="1" noChangeShapeType="1" noTextEdit="1"/>
          </p:cNvSpPr>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2" name="Rectangle 31"/>
          <p:cNvSpPr>
            <a:spLocks noGrp="1" noRot="1" noChangeAspect="1" noMove="1" noResize="1" noEditPoints="1" noAdjustHandles="1" noChangeArrowheads="1" noChangeShapeType="1" noTextEdit="1"/>
          </p:cNvSpPr>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ulxkv5tm">
      <a:majorFont>
        <a:latin typeface="Times New Roman"/>
        <a:ea typeface="等线"/>
        <a:cs typeface=""/>
      </a:majorFont>
      <a:minorFont>
        <a:latin typeface="Times New Roman"/>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20046</Words>
  <Application>WPS 演示</Application>
  <PresentationFormat>宽屏</PresentationFormat>
  <Paragraphs>1339</Paragraphs>
  <Slides>90</Slides>
  <Notes>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90</vt:i4>
      </vt:variant>
    </vt:vector>
  </HeadingPairs>
  <TitlesOfParts>
    <vt:vector size="102" baseType="lpstr">
      <vt:lpstr>Arial</vt:lpstr>
      <vt:lpstr>宋体</vt:lpstr>
      <vt:lpstr>Wingdings</vt:lpstr>
      <vt:lpstr>Segoe UI Black</vt:lpstr>
      <vt:lpstr>等线</vt:lpstr>
      <vt:lpstr>Times New Roman</vt:lpstr>
      <vt:lpstr>Cambria Math</vt:lpstr>
      <vt:lpstr>微软雅黑</vt:lpstr>
      <vt:lpstr>Arial Unicode MS</vt:lpstr>
      <vt:lpstr>BatangChe</vt:lpstr>
      <vt:lpstr>Segoe Print</vt:lpstr>
      <vt:lpstr>Office 主题​​</vt:lpstr>
      <vt:lpstr>第六章 目标检测及其应用</vt:lpstr>
      <vt:lpstr>6.1 目标检测的基本概念</vt:lpstr>
      <vt:lpstr>6.1 目标检测的基本概念</vt:lpstr>
      <vt:lpstr>6.1 目标检测的基本概念</vt:lpstr>
      <vt:lpstr>6.1 目标检测的基本概念</vt:lpstr>
      <vt:lpstr>6.1 目标检测的基本概念</vt:lpstr>
      <vt:lpstr>6.1 目标检测的基本概念</vt:lpstr>
      <vt:lpstr>6.1 目标检测的基本概念</vt:lpstr>
      <vt:lpstr>6.1 目标检测的基本概念</vt:lpstr>
      <vt:lpstr>6.1 目标检测的基本概念</vt:lpstr>
      <vt:lpstr>6.1 目标检测的基本概念</vt:lpstr>
      <vt:lpstr>6.1 目标检测的基本概念</vt:lpstr>
      <vt:lpstr>6.1 目标检测的基本概念</vt:lpstr>
      <vt:lpstr>6.1 目标检测的基本概念</vt:lpstr>
      <vt:lpstr>6.1 目标检测的基本概念</vt:lpstr>
      <vt:lpstr>6.1 目标检测的基本概念</vt:lpstr>
      <vt:lpstr>6.1 目标检测的基本概念</vt:lpstr>
      <vt:lpstr>6.1 目标检测的基本概念</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6.2 常用的目标检测算法</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6.3 实践案例行人检测</vt:lpstr>
      <vt:lpstr>本书代码请参考： https://github.com/vsislab/BAAIT </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Xiaolei LI</dc:creator>
  <cp:lastModifiedBy>Radar</cp:lastModifiedBy>
  <cp:revision>121</cp:revision>
  <dcterms:created xsi:type="dcterms:W3CDTF">2022-07-25T00:08:00Z</dcterms:created>
  <dcterms:modified xsi:type="dcterms:W3CDTF">2026-03-10T14:15:40Z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DC7CCAE56A4A469E8E800B6BA62A7913_12</vt:lpwstr>
  </property>
  <property fmtid="{D5CDD505-2E9C-101B-9397-08002B2CF9AE}" pid="3" name="KSOProductBuildVer">
    <vt:lpwstr>2052-12.1.0.25225</vt:lpwstr>
  </property>
</Properties>
</file>