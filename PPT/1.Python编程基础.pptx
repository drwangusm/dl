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6"/>
  </p:notesMasterIdLst>
  <p:sldIdLst>
    <p:sldId id="259" r:id="rId3"/>
    <p:sldId id="257" r:id="rId4"/>
    <p:sldId id="258" r:id="rId5"/>
    <p:sldId id="260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261" r:id="rId7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notesMaster" Target="notesMasters/notesMaster1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8B3B16-CF5C-426B-ABCC-5FFC277FEE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A7CB6-9882-4267-9499-AC56C1439C1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185332"/>
            <a:ext cx="8088127" cy="32427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31398" y="1927004"/>
            <a:ext cx="7543800" cy="1303869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7064" y="3578491"/>
            <a:ext cx="5842000" cy="77893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7E53A-EF7A-4463-B4B1-A900788337CD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人工智能技术基础及应用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28" name="Picture 4" descr="https://gimg2.baidu.com/image_search/src=http%3A%2F%2Fpic.51yuansu.com%2Fpic3%2Fcover%2F02%2F02%2F84%2F599d4b2896b26_610.jpg&amp;refer=http%3A%2F%2Fpic.51yuansu.com&amp;app=2002&amp;size=f9999,10000&amp;q=a80&amp;n=0&amp;g=0n&amp;fmt=auto?sec=1661300391&amp;t=5a61ee9afe7d4abd715546fc922a7a9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127" y="1185332"/>
            <a:ext cx="4103873" cy="3242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/>
          <p:cNvSpPr txBox="1"/>
          <p:nvPr userDrawn="1"/>
        </p:nvSpPr>
        <p:spPr>
          <a:xfrm>
            <a:off x="9134543" y="1647915"/>
            <a:ext cx="196765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b="0" cap="none" spc="0" dirty="0">
                <a:ln w="0"/>
                <a:solidFill>
                  <a:schemeClr val="accent3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AI</a:t>
            </a:r>
            <a:endParaRPr lang="zh-CN" altLang="en-US" sz="11500" b="0" cap="none" spc="0" dirty="0">
              <a:ln w="0"/>
              <a:solidFill>
                <a:schemeClr val="accent3">
                  <a:lumMod val="75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Segoe UI Black" panose="020B0A02040204020203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365125"/>
            <a:ext cx="11353800" cy="978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844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A9E70-2B6A-45C0-AB3B-96FADC4A497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2590800" y="6721474"/>
            <a:ext cx="9601200" cy="136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6FE6E-4E9D-4468-AC34-FE4F4D994E0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人工智能技术基础及应用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601200" cy="136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365125"/>
            <a:ext cx="11353800" cy="978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844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522958"/>
            <a:ext cx="5181600" cy="465400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522958"/>
            <a:ext cx="5181600" cy="4654005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9127B-CFE9-4EAE-80D1-D3AC1B86248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人工智能技术基础及应用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2590800" y="6721474"/>
            <a:ext cx="9601200" cy="136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365125"/>
            <a:ext cx="11353800" cy="978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7844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8200" y="154463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8200" y="2368550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0612" y="154463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0612" y="2368550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DDF22-E36A-43D0-A786-B79C028AF44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人工智能技术基础及应用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590800" y="6721474"/>
            <a:ext cx="9601200" cy="136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2590800" y="6721474"/>
            <a:ext cx="9601200" cy="136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365125"/>
            <a:ext cx="11353800" cy="978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033000" cy="97844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F5C7A-7483-427B-8AE9-7F2885B0502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人工智能技术基础及应用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80F8-3830-4814-B3D7-41847697503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人工智能技术基础及应用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9601200" cy="136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DA35-86A0-4DE8-B1DD-2634C224632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人工智能技术基础及应用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2ED2-027C-4FFA-B806-95D15D2D2A1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人工智能技术基础及应用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D006A-17A9-43E7-8C18-4ECD6DFFC8F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人工智能技术基础及应用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C2FB7-8F6E-4721-8067-59DBAB6C691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人工智能技术基础及应用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A1D5C-8D49-4F54-955B-9C29B313AFC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人工智能技术基础及应用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hyperlink" Target="https://www.python.org/download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11.wdp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13.wdp"/><Relationship Id="rId1" Type="http://schemas.openxmlformats.org/officeDocument/2006/relationships/image" Target="../media/image12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单元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编程基础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1548514" y="4704981"/>
            <a:ext cx="5842000" cy="778933"/>
          </a:xfrm>
        </p:spPr>
        <p:txBody>
          <a:bodyPr anchor="ctr" anchorCtr="1"/>
          <a:lstStyle/>
          <a:p>
            <a:r>
              <a:rPr lang="en-US" altLang="zh-CN" dirty="0"/>
              <a:t>AI</a:t>
            </a:r>
            <a:r>
              <a:rPr lang="zh-CN" altLang="en-US" dirty="0"/>
              <a:t>工程师学院</a:t>
            </a:r>
            <a:r>
              <a:rPr lang="en-US" altLang="zh-CN" dirty="0"/>
              <a:t> </a:t>
            </a:r>
            <a:r>
              <a:rPr lang="zh-CN" altLang="en-US" dirty="0"/>
              <a:t>王传传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深度学习</a:t>
            </a:r>
            <a:r>
              <a:rPr lang="zh-CN" altLang="en-US"/>
              <a:t>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4E9-F7C3-44A3-AC2A-B78C44D67144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8446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语言具有简单、易读的特性；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语言代码可读性高，性能不断被优化，也可以处理大规模数据或者要求快速响应的场景；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拥有许多优秀的算法支持库，如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OpenCV-python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在深度学习领域，一些著名的开发框架如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Caffe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PaddlePaddle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等均提供了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语言丰富的接口；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2.x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两个版本。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2.7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版本已经于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2020-01-01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终止了支持。这两个系列版本是不具备“向后兼容性”支持的，也就是用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写的代码不能被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2.x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执行，反之亦然。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EA30-61D8-43FA-BDE6-4A07840353B7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安装与运行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6289488" cy="4351338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官网的下载网页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https://www.python.org/downloads/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的版本比较碎片化，其扩展库对于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语言的支持力度是不同的，有的库能够兼容较新的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语言版本，但是也有很多库由于终止更新而停留在较旧的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版本。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语言提供了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模块的虚拟环境管理模式，来实现各版本的兼容问题。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表格&#10;&#10;描述已自动生成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75476" y="1825625"/>
            <a:ext cx="4178324" cy="40671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安装与运行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5916706" cy="4351338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安装官方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版本后，会提供一个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编程开发程序，可以进行简单的命令行交互式调试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 descr="图形用户界面, 文本, 应用程序, 电子邮件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812" y="3151772"/>
            <a:ext cx="5916706" cy="2873584"/>
          </a:xfrm>
          <a:prstGeom prst="rect">
            <a:avLst/>
          </a:prstGeom>
        </p:spPr>
      </p:pic>
      <p:sp>
        <p:nvSpPr>
          <p:cNvPr id="9" name="内容占位符 2"/>
          <p:cNvSpPr txBox="1"/>
          <p:nvPr/>
        </p:nvSpPr>
        <p:spPr>
          <a:xfrm>
            <a:off x="7037293" y="1825625"/>
            <a:ext cx="448235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菜单中还可以打开一个文本编辑器进行源代码的编辑和调试运行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 descr="图形用户界面, 应用程序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108" y="3151772"/>
            <a:ext cx="2926254" cy="28735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安装与运行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4697506" cy="4351338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另一个常见的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语言部署环境是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Anaconda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发行版。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Anaconda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集成了许多必要的库；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同时，其附带安装了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Spyder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集成编辑调试环境和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基于网页的交互调试环境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电脑萤幕的截图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0541" y="1825625"/>
            <a:ext cx="5899436" cy="3673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安装与运行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4697506" cy="4351338"/>
          </a:xfrm>
        </p:spPr>
        <p:txBody>
          <a:bodyPr>
            <a:norm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前端应用；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其后台服务程序不能关闭；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如果关闭了浏览器，可以打开后台服务器的网址部分，将该地址拷贝下来粘贴到浏览器的地址栏中，这样可以再次打开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调试环境。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 descr="图形用户界面, 文本, 应用程序, 电子邮件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836" y="1938817"/>
            <a:ext cx="5976964" cy="2146555"/>
          </a:xfrm>
          <a:prstGeom prst="rect">
            <a:avLst/>
          </a:prstGeom>
        </p:spPr>
      </p:pic>
      <p:pic>
        <p:nvPicPr>
          <p:cNvPr id="9" name="图片 8" descr="图片包含 图形用户界面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837" y="4458812"/>
            <a:ext cx="5976964" cy="13657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安装与运行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命令进行多环境配置的方法：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、查看虚拟环境的信息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 -e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本命令能够列出当前存在的虚拟环境。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、创建虚拟环境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-n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env_name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python=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x.x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本命令创建名为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env_name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的虚拟环境，并使用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版本的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-n tensorflow1.2 python=2.7 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创建虚拟环境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tensorflow1.2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，并使用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2.7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-n tensorflow2.1 python=3.6 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创建虚拟环境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tensorflow2.1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，并使用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安装与运行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、激活虚拟环境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activate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env_name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本命令将激活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env_name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的虚拟环境，激活成功后，命令行的提示符将显示当前的虚拟环境名。后续的操作，包括新安装的扩展库都只影响到本虚拟环境，类似于一个沙盒的模式。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、退出虚拟环境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deactivate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、删除环境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 -n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env_name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–all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本命令将删除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env_name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虚拟环境相关的文件。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1.3.1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标识符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标识符由字母、数字、下划线组成，并区分字母的大小写，但不能以数字开头。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中开始允许使用非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标识符，所以可以使用中文作为变量名。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你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=100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=200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print(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你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300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语言中，以下划线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(_)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开头或结尾的标识符通常具有特殊意义，因此普通的编程任务要尽量不使用下划线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(_)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作为变量名的开头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语言还保留了一些关键字，即标识符的名称不能与关键字重名。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import keyword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keyword.kwlist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['False', 'None', 'True', '__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peg_parser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__', 'and', 'as', 'assert', 'async', 'await', 'break', 'class', 'continue', 'def', 'del', '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elif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', 'else', 'except', 'finally', 'for', 'from', 'global', 'if', 'import', 'in', 'is', 'lambda', 'nonlocal', 'not', 'or', 'pass', 'raise', 'return', 'try', 'while', 'with', 'yield’]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1.3.2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注释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中采用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进行单行注释或者语句末注释，如：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#!/usr/bin/python</a:t>
            </a:r>
            <a:endParaRPr lang="zh-CN" altLang="zh-CN" sz="2000" dirty="0">
              <a:solidFill>
                <a:srgbClr val="000000"/>
              </a:solidFill>
              <a:effectLst/>
              <a:highlight>
                <a:srgbClr val="00FF00"/>
              </a:highligh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-*- coding: UTF-8 -*-</a:t>
            </a:r>
            <a:endParaRPr lang="zh-CN" altLang="zh-CN" sz="2000" dirty="0">
              <a:solidFill>
                <a:srgbClr val="00000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文件名：test.py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第一个注释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 ("Hello, Python!")  # 第二个注释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096000" y="2782669"/>
            <a:ext cx="4858871" cy="1015663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#!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符号是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操作系统中脚本常用的一种注释形式，用于指定执行该脚本的解释程序，该语句必须作为脚本的第一条语句。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6096000" y="3911942"/>
            <a:ext cx="3917576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指明本源码文件的编码格式</a:t>
            </a:r>
            <a:endParaRPr lang="zh-CN" altLang="en-US" sz="2000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2717800" y="2933700"/>
            <a:ext cx="3378200" cy="12326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3378200" y="3429000"/>
            <a:ext cx="2717800" cy="6858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4"/>
            <a:ext cx="10797988" cy="45307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1.3.2 </a:t>
            </a:r>
            <a:r>
              <a:rPr lang="zh-CN" alt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注释</a:t>
            </a:r>
            <a:endParaRPr lang="en-US" altLang="zh-CN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中也可以使用三个单引号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(''')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或三个双引号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(""")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进行多行注释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'''</a:t>
            </a:r>
            <a:endParaRPr lang="zh-CN" altLang="zh-CN" sz="2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这是多行注释的第一行，使用三个单引号。</a:t>
            </a:r>
            <a:endParaRPr lang="zh-CN" altLang="zh-CN" sz="2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这是多行注释的第二行，使用三个单引号。</a:t>
            </a:r>
            <a:endParaRPr lang="zh-CN" altLang="zh-CN" sz="2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这是多行注释的第三行，使用三个单引号。</a:t>
            </a:r>
            <a:endParaRPr lang="zh-CN" altLang="zh-CN" sz="2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'''</a:t>
            </a:r>
            <a:endParaRPr lang="zh-CN" altLang="zh-CN" sz="2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"""</a:t>
            </a:r>
            <a:endParaRPr lang="zh-CN" altLang="zh-CN" sz="2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这是多行注释的第一行，使用三个双引号。</a:t>
            </a:r>
            <a:endParaRPr lang="zh-CN" altLang="zh-CN" sz="2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这是多行注释的第二行，使用三个双引号。</a:t>
            </a:r>
            <a:endParaRPr lang="zh-CN" altLang="zh-CN" sz="2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这是多行注释的第三行，使用三个双引号。</a:t>
            </a:r>
            <a:endParaRPr lang="zh-CN" altLang="zh-CN" sz="2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"""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1.3.3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行和缩进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单行语句：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语言行的结尾加不加分号都可以，所以大多数人都不加，但是如果想在同一行书写多条语句，则可以明确用分号分开，如：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print ('hello’);print('world!’)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hello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world!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1.3.3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行和缩进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语句块：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使用缩进的级别来组织语句块的层次。缩进的空格数量是可变的，但是所有语句块必须包含相同的缩进空格数量，这个必须严格执行。如下所示：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 True: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print "True"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else: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print "False"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错误：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IndentationError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unindent does not match any outer indentation level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虽然看上去程序结构没问题，实际上使用的缩进方式不一致，有的是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键缩进，有的是空格缩进，建议统一使用四个空格键进行缩进。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1.3.3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行和缩进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多行语句：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语句中一般以新行作为语句的结束符。对于较长的语句，可以使用斜杠（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）将一行的语句分为多行显示，如下所示：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total =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item_one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\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item_two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\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item_three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语句中包含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[], {}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括号时就不需要使用多行连接符了：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days = ['Monday', 'Tuesday', 'Wednesday',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'Thursday', 'Friday']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1.3.4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变量和数据类型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语言的变量类型是动态的，即变量的类型是根据情况自动决定的。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x=10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print(x)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type(x)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&lt;class 'int'&gt;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x=3.14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print(x)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3.14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type(x)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&lt;class 'float'&gt;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1.3.4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变量和数据类型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字符串类型：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可以使用单引号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' 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、双引号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" 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、三引号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'''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""" )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来表示字符串，它们的组合必须成对出现。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word = '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单词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sentence = "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这是一个句子。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paragraph = """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这是一个段落。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包含了多个语句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"""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1.3.4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变量和数据类型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布尔（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）类型：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型取值为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或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hungry = True    # hungry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变量值为“真”：真饿了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sleepy = False    # sleepy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变量值为“假”：还没困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type(hungry)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&lt;class 'bool'&gt;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zh-C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1.3.5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基本计算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算术运算：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中加、减、乘、除等算术计算分别用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、*、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等符号表示。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常用的算术运算还有：** 表示乘方，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表示取余，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表示取商。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1 - 2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4 * 5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&gt;&gt;&gt; 7 / 5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1.4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881718" y="4001294"/>
            <a:ext cx="610048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3 ** 2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宋体" panose="02010600030101010101" pitchFamily="2" charset="-122"/>
              </a:rPr>
              <a:t>9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9 % 4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宋体" panose="02010600030101010101" pitchFamily="2" charset="-122"/>
              </a:rPr>
              <a:t>1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9 // 4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宋体" panose="02010600030101010101" pitchFamily="2" charset="-122"/>
              </a:rPr>
              <a:t>2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1.3.5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基本计算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组合赋值运算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支持组合运算符号，如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+=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-=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、*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/=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%=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、**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//=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等。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x = 5		# x=5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x += 1	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等价于x=x+1。此时x=6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x **= 2	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等价于x=x**2。此时x=36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x //= 5	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等价于x=x//5。此时x=7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print(x)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1.3.5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基本计算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布尔（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）运算：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型的运算符包括逻辑运算，如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（和）、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（或） 和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（非），和关系运算，如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（大于）、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（小于）、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（等于）等，其运算结果只有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两种结果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hungry =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sleepy =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hungry		# hungry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变量值取反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hungry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sleepy  	# hungry (True)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sleepy (False)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进行逻辑与操作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hungry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sleepy   		# hungry (True)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sleepy (False)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进行逻辑或操作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1.3.5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基本计算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关系运算的形式为：变量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相等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运算：比较变量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与变量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是否相等，相等返回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，否则返回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不相等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!=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&lt;&gt;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运算：比较变量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与变量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是否相等，不相等返回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，否则返回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大于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运算：比较变量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是否大于变量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，大于返回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，否则返回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小于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运算：比较变量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是否小于变量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，小于返回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，否则返回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大于等于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运算：比较变量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是否大于或等于变量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，大于或等于返回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，否则返回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小于等于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&lt;=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运算：比较变量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是否小于或等于变量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，小于或等于返回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，否则返回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1.3.5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基本计算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位运算符：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允许数据之间逐位进行位操作，位运算符有：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（按位与运算符）、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（按位或运算符）、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（按位异或运算符）、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（按位取反运算符）、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（左移运算符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右边补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（右移运算符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左边补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x=5;y=10 	# x=0101b y=1010b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print(x &amp; y)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print(x | y)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				# 1111b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print( ~x )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-6				# 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带符号数是以补码形式表示的，取反操作等价于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-x-1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print( y&gt;&gt;3)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580912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1.3.6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数据结构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列表（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列表是编程中最常用的数据结构形式，其结构用中括号“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 ]”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进行标识，每个元素使用逗号进行分隔。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列表内的元素可以是数字、字符、字符串，甚至是嵌套的列表。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列表对象具备长度的属性，即列表包含的元素个数，可以使用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函数获取。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068671" y="2262356"/>
            <a:ext cx="428512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 = [1, 2, 3, 4, 5]  # 生成列表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print(a)        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输出列表的内容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[1, 2, 3, 4, 5]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b=[1,1,1]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c=[a,b]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列表嵌套列表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print(c)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[[1, 2, 3, 4, 5], [1, 1, 1]]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len(a)          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获取列表a的长度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len(c)          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获取列表c的长度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580912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1.3.6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数据结构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列表（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列表中的元素可以通过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a[0]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这样的下标方式进行访问。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中的数字称为下标（索引），索引值从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开始，即索引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对应列表的第一个元素。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801971" y="2431633"/>
            <a:ext cx="4551829" cy="2645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a[0]             	#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访问第一个元素的值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a[4]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a[4] = 99    	#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赋值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print(a)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[1, 2, 3, 4, 99]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8831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1.3.6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数据结构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列表（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的列表提供了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头下标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尾下标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的切片方法，可以方便的访问列表的子列表。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头下标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尾下标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中的索引值从左到右时从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开始，从右到左时从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开始，即索引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对应列表最后一个元素，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-2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对应倒数第二个元素。</a:t>
            </a:r>
            <a:endParaRPr lang="zh-CN" alt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114801" y="3586102"/>
            <a:ext cx="75213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print(a)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[1, 2, 3, 4, 99]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a[0:2] # 获取索引为0到2（不包括2）的元素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[1, 2]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a[1:]  # 获取从索引为1的元素到最后一个元素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[2, 3, 4, 99]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a[:3]  # 获取从第一个元素到索引为3（不包括3）的元素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[1, 2, 3]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a[:-1] # 获取从第一个元素到最后一个元素的前一个元素之间的元素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[1, 2, 3, 4]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8831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1.3.6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数据结构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列表（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列表中允许混合不同类型的数据，并支持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、*运算符。运算符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用于对两个列表进行组合，运算符*用于对列表进行重复扩充。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55811" y="3635168"/>
            <a:ext cx="75213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list1 = [ 'Hello', 666 , 3.14, 'world' ]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list2 = [123, 'ok']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print(list1+ list2)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['Hello', 666, 3.14, 'world', 123, 'ok']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print(list2 * 3)       # 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列表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list2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进行复制扩充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3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次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[123, 'ok', 123, 'ok', 123, 'ok']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8831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1.3.6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数据结构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列表（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列表对象操作方法</a:t>
            </a:r>
            <a:endParaRPr lang="zh-CN" altLang="en-US" sz="2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599766" y="2725985"/>
          <a:ext cx="8166846" cy="35406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23694"/>
                <a:gridCol w="4543152"/>
              </a:tblGrid>
              <a:tr h="306371"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方法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作用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</a:tr>
              <a:tr h="306371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list.append(obj)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  <a:tc>
                  <a:txBody>
                    <a:bodyPr/>
                    <a:lstStyle/>
                    <a:p>
                      <a:pPr indent="42545" algn="just"/>
                      <a:r>
                        <a:rPr lang="zh-CN" sz="1600" kern="100">
                          <a:effectLst/>
                        </a:rPr>
                        <a:t>在列表末尾追加一个对象</a:t>
                      </a:r>
                      <a:r>
                        <a:rPr lang="en-US" sz="1600" kern="100">
                          <a:effectLst/>
                        </a:rPr>
                        <a:t>obj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</a:tr>
              <a:tr h="306371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list.count(obj)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  <a:tc>
                  <a:txBody>
                    <a:bodyPr/>
                    <a:lstStyle/>
                    <a:p>
                      <a:pPr indent="42545" algn="just"/>
                      <a:r>
                        <a:rPr lang="zh-CN" sz="1600" kern="100">
                          <a:effectLst/>
                        </a:rPr>
                        <a:t>统计元素</a:t>
                      </a:r>
                      <a:r>
                        <a:rPr lang="en-US" sz="1600" kern="100">
                          <a:effectLst/>
                        </a:rPr>
                        <a:t>obj</a:t>
                      </a:r>
                      <a:r>
                        <a:rPr lang="zh-CN" sz="1600" kern="100">
                          <a:effectLst/>
                        </a:rPr>
                        <a:t>在列表中出现的次数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</a:tr>
              <a:tr h="306371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list.extend(seq)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  <a:tc>
                  <a:txBody>
                    <a:bodyPr/>
                    <a:lstStyle/>
                    <a:p>
                      <a:pPr indent="42545" algn="just"/>
                      <a:r>
                        <a:rPr lang="zh-CN" sz="1600" kern="100">
                          <a:effectLst/>
                        </a:rPr>
                        <a:t>在列表末尾追加序列</a:t>
                      </a:r>
                      <a:r>
                        <a:rPr lang="en-US" sz="1600" kern="100">
                          <a:effectLst/>
                        </a:rPr>
                        <a:t>seq</a:t>
                      </a:r>
                      <a:r>
                        <a:rPr lang="zh-CN" sz="1600" kern="100">
                          <a:effectLst/>
                        </a:rPr>
                        <a:t>中的多个值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</a:tr>
              <a:tr h="306371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list.index(obj)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  <a:tc>
                  <a:txBody>
                    <a:bodyPr/>
                    <a:lstStyle/>
                    <a:p>
                      <a:pPr indent="42545" algn="just"/>
                      <a:r>
                        <a:rPr lang="zh-CN" sz="1600" kern="100">
                          <a:effectLst/>
                        </a:rPr>
                        <a:t>从列表中找出元素</a:t>
                      </a:r>
                      <a:r>
                        <a:rPr lang="en-US" sz="1600" kern="100">
                          <a:effectLst/>
                        </a:rPr>
                        <a:t>obj</a:t>
                      </a:r>
                      <a:r>
                        <a:rPr lang="zh-CN" sz="1600" kern="100">
                          <a:effectLst/>
                        </a:rPr>
                        <a:t>首个匹配项的索引值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</a:tr>
              <a:tr h="306371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list.insert(index, obj)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  <a:tc>
                  <a:txBody>
                    <a:bodyPr/>
                    <a:lstStyle/>
                    <a:p>
                      <a:pPr indent="42545" algn="just"/>
                      <a:r>
                        <a:rPr lang="zh-CN" sz="1600" kern="100">
                          <a:effectLst/>
                        </a:rPr>
                        <a:t>将对象</a:t>
                      </a:r>
                      <a:r>
                        <a:rPr lang="en-US" sz="1600" kern="100">
                          <a:effectLst/>
                        </a:rPr>
                        <a:t>obj</a:t>
                      </a:r>
                      <a:r>
                        <a:rPr lang="zh-CN" sz="1600" kern="100">
                          <a:effectLst/>
                        </a:rPr>
                        <a:t>插入到列表</a:t>
                      </a:r>
                      <a:r>
                        <a:rPr lang="en-US" sz="1600" kern="100">
                          <a:effectLst/>
                        </a:rPr>
                        <a:t>index</a:t>
                      </a:r>
                      <a:r>
                        <a:rPr lang="zh-CN" sz="1600" kern="100">
                          <a:effectLst/>
                        </a:rPr>
                        <a:t>的位置上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</a:tr>
              <a:tr h="522633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list.pop([index=-1])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  <a:tc>
                  <a:txBody>
                    <a:bodyPr/>
                    <a:lstStyle/>
                    <a:p>
                      <a:pPr marL="31750" indent="8890" algn="just"/>
                      <a:r>
                        <a:rPr lang="zh-CN" sz="1600" kern="100" dirty="0">
                          <a:effectLst/>
                        </a:rPr>
                        <a:t>移除列表中</a:t>
                      </a:r>
                      <a:r>
                        <a:rPr lang="en-US" sz="1600" kern="100" dirty="0">
                          <a:effectLst/>
                        </a:rPr>
                        <a:t>index</a:t>
                      </a:r>
                      <a:r>
                        <a:rPr lang="zh-CN" sz="1600" kern="100" dirty="0">
                          <a:effectLst/>
                        </a:rPr>
                        <a:t>位置的元素（默认最后一个元素），并且返回该元素的值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</a:tr>
              <a:tr h="306371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 err="1">
                          <a:effectLst/>
                        </a:rPr>
                        <a:t>list.remove</a:t>
                      </a:r>
                      <a:r>
                        <a:rPr lang="en-US" sz="1600" kern="100" dirty="0">
                          <a:effectLst/>
                        </a:rPr>
                        <a:t>(obj)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  <a:tc>
                  <a:txBody>
                    <a:bodyPr/>
                    <a:lstStyle/>
                    <a:p>
                      <a:pPr indent="42545" algn="just"/>
                      <a:r>
                        <a:rPr lang="zh-CN" sz="1600" kern="100">
                          <a:effectLst/>
                        </a:rPr>
                        <a:t>移除列表中</a:t>
                      </a:r>
                      <a:r>
                        <a:rPr lang="en-US" sz="1600" kern="100">
                          <a:effectLst/>
                        </a:rPr>
                        <a:t>obj</a:t>
                      </a:r>
                      <a:r>
                        <a:rPr lang="zh-CN" sz="1600" kern="100">
                          <a:effectLst/>
                        </a:rPr>
                        <a:t>值的第一个匹配项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</a:tr>
              <a:tr h="306371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list.reverse()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  <a:tc>
                  <a:txBody>
                    <a:bodyPr/>
                    <a:lstStyle/>
                    <a:p>
                      <a:pPr indent="42545" algn="just"/>
                      <a:r>
                        <a:rPr lang="zh-CN" sz="1600" kern="100">
                          <a:effectLst/>
                        </a:rPr>
                        <a:t>对列表中元素进行反转排列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</a:tr>
              <a:tr h="522633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list.sort(cmp=None, key=None, reverse=False)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  <a:tc>
                  <a:txBody>
                    <a:bodyPr/>
                    <a:lstStyle/>
                    <a:p>
                      <a:pPr indent="42545" algn="just"/>
                      <a:r>
                        <a:rPr lang="zh-CN" sz="1600" kern="100" dirty="0">
                          <a:effectLst/>
                        </a:rPr>
                        <a:t>对列表中的元素进行排序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85" marR="57785" marT="28575" marB="2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8831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1.3.6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数据结构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列表（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列表操作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zh-CN" altLang="en-US" sz="2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097741" y="2913528"/>
          <a:ext cx="8139953" cy="30569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89433"/>
                <a:gridCol w="4450520"/>
              </a:tblGrid>
              <a:tr h="509494">
                <a:tc>
                  <a:txBody>
                    <a:bodyPr/>
                    <a:lstStyle/>
                    <a:p>
                      <a:pPr indent="-3175" algn="ctr"/>
                      <a:r>
                        <a:rPr lang="zh-CN" sz="1800" kern="100">
                          <a:effectLst/>
                        </a:rPr>
                        <a:t>函数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>
                          <a:effectLst/>
                        </a:rPr>
                        <a:t>作用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09494">
                <a:tc>
                  <a:txBody>
                    <a:bodyPr/>
                    <a:lstStyle/>
                    <a:p>
                      <a:pPr indent="-3175" algn="just"/>
                      <a:r>
                        <a:rPr lang="en-US" sz="1800" kern="100">
                          <a:effectLst/>
                        </a:rPr>
                        <a:t>cmp(list1, list2)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</a:rPr>
                        <a:t>比较两个列表的元素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09494">
                <a:tc>
                  <a:txBody>
                    <a:bodyPr/>
                    <a:lstStyle/>
                    <a:p>
                      <a:pPr indent="-3175" algn="just"/>
                      <a:r>
                        <a:rPr lang="en-US" sz="1800" kern="100">
                          <a:effectLst/>
                        </a:rPr>
                        <a:t>len(list)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</a:rPr>
                        <a:t>返回列表元素个数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09494">
                <a:tc>
                  <a:txBody>
                    <a:bodyPr/>
                    <a:lstStyle/>
                    <a:p>
                      <a:pPr indent="-3175" algn="just"/>
                      <a:r>
                        <a:rPr lang="en-US" sz="1800" kern="100">
                          <a:effectLst/>
                        </a:rPr>
                        <a:t>max(list)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 dirty="0">
                          <a:effectLst/>
                        </a:rPr>
                        <a:t>返回列表元素最大值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09494">
                <a:tc>
                  <a:txBody>
                    <a:bodyPr/>
                    <a:lstStyle/>
                    <a:p>
                      <a:pPr indent="-3175" algn="just"/>
                      <a:r>
                        <a:rPr lang="en-US" sz="1800" kern="100">
                          <a:effectLst/>
                        </a:rPr>
                        <a:t>min(list)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</a:rPr>
                        <a:t>返回列表元素最小值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09494">
                <a:tc>
                  <a:txBody>
                    <a:bodyPr/>
                    <a:lstStyle/>
                    <a:p>
                      <a:pPr indent="-3175" algn="just"/>
                      <a:r>
                        <a:rPr lang="en-US" sz="1800" kern="100">
                          <a:effectLst/>
                        </a:rPr>
                        <a:t>list(seq)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 dirty="0">
                          <a:effectLst/>
                        </a:rPr>
                        <a:t>将对象</a:t>
                      </a:r>
                      <a:r>
                        <a:rPr lang="en-US" sz="1800" kern="100" dirty="0">
                          <a:effectLst/>
                        </a:rPr>
                        <a:t>seq</a:t>
                      </a:r>
                      <a:r>
                        <a:rPr lang="zh-CN" sz="1800" kern="100" dirty="0">
                          <a:effectLst/>
                        </a:rPr>
                        <a:t>转换为列表对象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8831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1.3.6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数据结构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元组（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元组用小括号“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 )”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进行标识，内部元素也是使用逗号进行分隔，但是元组的元素不允许进行二次赋值，因此，它相当于只读属性的列表。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zh-CN" altLang="en-US" sz="2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55811" y="3534379"/>
            <a:ext cx="61004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tuple1 = ('Hello', 666 , 3.14, 'world' 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tuple2 = (123, 'ok')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print(tuple1+tuple2)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('Hello', 666, 3.14, 'world', 123, 'ok')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print(tuple1[2:])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(3.14, 'world')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print(tuple2*2)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(123, 'ok', 123, 'ok')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22477" y="3510520"/>
            <a:ext cx="6100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tuple1[1]=123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Traceback (most recent call last):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File "&lt;stdin&gt;", line 1, in &lt;module&gt;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TypeError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: 'tuple' object does not support item assignment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8831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1.3.6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数据结构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元组（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                                 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元组操作函数</a:t>
            </a:r>
            <a:endParaRPr lang="zh-CN" altLang="en-US" sz="20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zh-CN" altLang="en-US" sz="2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438399" y="2841811"/>
          <a:ext cx="8220635" cy="31197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88765"/>
                <a:gridCol w="4331870"/>
              </a:tblGrid>
              <a:tr h="519953">
                <a:tc>
                  <a:txBody>
                    <a:bodyPr/>
                    <a:lstStyle/>
                    <a:p>
                      <a:pPr indent="-3175" algn="ctr"/>
                      <a:r>
                        <a:rPr lang="zh-CN" sz="1600" kern="100">
                          <a:effectLst/>
                        </a:rPr>
                        <a:t>函数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作用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19953">
                <a:tc>
                  <a:txBody>
                    <a:bodyPr/>
                    <a:lstStyle/>
                    <a:p>
                      <a:pPr indent="-3175" algn="just"/>
                      <a:r>
                        <a:rPr lang="en-US" sz="1600" kern="100">
                          <a:effectLst/>
                        </a:rPr>
                        <a:t>cmp(tuple1, tuple2)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比较两个元组的元素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19953">
                <a:tc>
                  <a:txBody>
                    <a:bodyPr/>
                    <a:lstStyle/>
                    <a:p>
                      <a:pPr indent="-3175" algn="just"/>
                      <a:r>
                        <a:rPr lang="en-US" sz="1600" kern="100">
                          <a:effectLst/>
                        </a:rPr>
                        <a:t>len(tuple)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返回元组元素个数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19953">
                <a:tc>
                  <a:txBody>
                    <a:bodyPr/>
                    <a:lstStyle/>
                    <a:p>
                      <a:pPr indent="-3175" algn="just"/>
                      <a:r>
                        <a:rPr lang="en-US" sz="1600" kern="100">
                          <a:effectLst/>
                        </a:rPr>
                        <a:t>max(tuple)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返回元组元素最大值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19953">
                <a:tc>
                  <a:txBody>
                    <a:bodyPr/>
                    <a:lstStyle/>
                    <a:p>
                      <a:pPr indent="-3175" algn="just"/>
                      <a:r>
                        <a:rPr lang="en-US" sz="1600" kern="100">
                          <a:effectLst/>
                        </a:rPr>
                        <a:t>min(tuple)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返回元组元素最小值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19953">
                <a:tc>
                  <a:txBody>
                    <a:bodyPr/>
                    <a:lstStyle/>
                    <a:p>
                      <a:pPr indent="-3175" algn="just"/>
                      <a:r>
                        <a:rPr lang="en-US" sz="1600" kern="100">
                          <a:effectLst/>
                        </a:rPr>
                        <a:t>tuple(seq)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将对象</a:t>
                      </a:r>
                      <a:r>
                        <a:rPr lang="en-US" sz="1600" kern="100" dirty="0">
                          <a:effectLst/>
                        </a:rPr>
                        <a:t>seq</a:t>
                      </a:r>
                      <a:r>
                        <a:rPr lang="zh-CN" sz="1600" kern="100" dirty="0">
                          <a:effectLst/>
                        </a:rPr>
                        <a:t>转换为元组对象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8831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1.3.6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数据结构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字典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(Dictionary)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字典结构用大括号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"{ }"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进行标识，每个元素采取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键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对的形式，每个键值对之间用逗号分隔。</a:t>
            </a:r>
            <a:endParaRPr lang="en-US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字典中的键与数据库表的字段名相对应，因此，键一般是唯一的，如果有重复的键，那么后面的键将会替换前面的键，并且键必须是不可变的；</a:t>
            </a:r>
            <a:endParaRPr lang="en-US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字典的值与数据库表中的记录相对应，可以是任何值和任何数据类型。</a:t>
            </a:r>
            <a:endParaRPr lang="zh-CN" alt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50476" y="3899694"/>
            <a:ext cx="39960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me = {'height':180}   # 生成字典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me['height']        # 访问元素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180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me['weight'] = 70   # 添加新元素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print(me)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{'height': 180, 'weight': 70}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92169" y="3851989"/>
            <a:ext cx="70036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dict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= {'Name': 'Li', 'Age': 7, 'Class': 'First'}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print("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dict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['Name']",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dict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['Name'])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dict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['Name'] Li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print("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dict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['Age']:",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dict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['Age'])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dict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['Age']: 7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dict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['Age']=8	</a:t>
            </a:r>
            <a:r>
              <a:rPr lang="en-US" altLang="zh-CN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#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修改键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Age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的值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dict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['School']="Shandong University"  #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添加新的键值对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print(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dict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{'Name': 'Li', 'Age': 8, 'Class': 'First', 'School': 'Shandong University'}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8831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1.3.6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数据结构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字典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(Dictionary)                             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字典操作方法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977340" y="2807970"/>
          <a:ext cx="10376460" cy="35483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29632"/>
                <a:gridCol w="7046828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effectLst/>
                        </a:rPr>
                        <a:t>方法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effectLst/>
                        </a:rPr>
                        <a:t>作用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effectLst/>
                        </a:rPr>
                        <a:t>dict.clear()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>
                          <a:effectLst/>
                        </a:rPr>
                        <a:t>删除字典内所有元素 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effectLst/>
                        </a:rPr>
                        <a:t>dict.copy()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>
                          <a:effectLst/>
                        </a:rPr>
                        <a:t>返回一个字典的复制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effectLst/>
                        </a:rPr>
                        <a:t>dict.has_key(key)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>
                          <a:effectLst/>
                        </a:rPr>
                        <a:t>如果键在字典</a:t>
                      </a:r>
                      <a:r>
                        <a:rPr lang="en-US" sz="1400" kern="100">
                          <a:effectLst/>
                        </a:rPr>
                        <a:t>dict</a:t>
                      </a:r>
                      <a:r>
                        <a:rPr lang="zh-CN" sz="1400" kern="100">
                          <a:effectLst/>
                        </a:rPr>
                        <a:t>里返回</a:t>
                      </a:r>
                      <a:r>
                        <a:rPr lang="en-US" sz="1400" kern="100">
                          <a:effectLst/>
                        </a:rPr>
                        <a:t>true</a:t>
                      </a:r>
                      <a:r>
                        <a:rPr lang="zh-CN" sz="1400" kern="100">
                          <a:effectLst/>
                        </a:rPr>
                        <a:t>，否则返回</a:t>
                      </a:r>
                      <a:r>
                        <a:rPr lang="en-US" sz="1400" kern="100">
                          <a:effectLst/>
                        </a:rPr>
                        <a:t>false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effectLst/>
                        </a:rPr>
                        <a:t>dict.items()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>
                          <a:effectLst/>
                        </a:rPr>
                        <a:t>返回字典中所有</a:t>
                      </a:r>
                      <a:r>
                        <a:rPr lang="en-US" sz="1400" kern="100">
                          <a:effectLst/>
                        </a:rPr>
                        <a:t> (</a:t>
                      </a:r>
                      <a:r>
                        <a:rPr lang="zh-CN" sz="1400" kern="100">
                          <a:effectLst/>
                        </a:rPr>
                        <a:t>键</a:t>
                      </a:r>
                      <a:r>
                        <a:rPr lang="en-US" sz="1400" kern="100">
                          <a:effectLst/>
                        </a:rPr>
                        <a:t>, </a:t>
                      </a:r>
                      <a:r>
                        <a:rPr lang="zh-CN" sz="1400" kern="100">
                          <a:effectLst/>
                        </a:rPr>
                        <a:t>值</a:t>
                      </a:r>
                      <a:r>
                        <a:rPr lang="en-US" sz="1400" kern="100">
                          <a:effectLst/>
                        </a:rPr>
                        <a:t>)</a:t>
                      </a:r>
                      <a:r>
                        <a:rPr lang="zh-CN" sz="1400" kern="100">
                          <a:effectLst/>
                        </a:rPr>
                        <a:t>组成的列表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effectLst/>
                        </a:rPr>
                        <a:t>dict.keys()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>
                          <a:effectLst/>
                        </a:rPr>
                        <a:t>返回字典中所有的键组成的列表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effectLst/>
                        </a:rPr>
                        <a:t>dict.values()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>
                          <a:effectLst/>
                        </a:rPr>
                        <a:t>返回字典中所有的值组成的列表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effectLst/>
                        </a:rPr>
                        <a:t>dict.fromkeys(seq[, val])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>
                          <a:effectLst/>
                        </a:rPr>
                        <a:t>创建一个新字典，以序列</a:t>
                      </a:r>
                      <a:r>
                        <a:rPr lang="en-US" sz="1400" kern="100">
                          <a:effectLst/>
                        </a:rPr>
                        <a:t>seq</a:t>
                      </a:r>
                      <a:r>
                        <a:rPr lang="zh-CN" sz="1400" kern="100">
                          <a:effectLst/>
                        </a:rPr>
                        <a:t>中元素做字典的键，</a:t>
                      </a:r>
                      <a:r>
                        <a:rPr lang="en-US" sz="1400" kern="100">
                          <a:effectLst/>
                        </a:rPr>
                        <a:t>val</a:t>
                      </a:r>
                      <a:r>
                        <a:rPr lang="zh-CN" sz="1400" kern="100">
                          <a:effectLst/>
                        </a:rPr>
                        <a:t>为字典所有键对应的初始值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effectLst/>
                        </a:rPr>
                        <a:t>dict.get(key, default=None)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>
                          <a:effectLst/>
                        </a:rPr>
                        <a:t>返回指定键的值，如果值不在字典中返回</a:t>
                      </a:r>
                      <a:r>
                        <a:rPr lang="en-US" sz="1400" kern="100">
                          <a:effectLst/>
                        </a:rPr>
                        <a:t>default</a:t>
                      </a:r>
                      <a:r>
                        <a:rPr lang="zh-CN" sz="1400" kern="100">
                          <a:effectLst/>
                        </a:rPr>
                        <a:t>值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effectLst/>
                        </a:rPr>
                        <a:t>dict.setdefault(key, default=None)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>
                          <a:effectLst/>
                        </a:rPr>
                        <a:t>和</a:t>
                      </a:r>
                      <a:r>
                        <a:rPr lang="en-US" sz="1400" kern="100">
                          <a:effectLst/>
                        </a:rPr>
                        <a:t>get()</a:t>
                      </a:r>
                      <a:r>
                        <a:rPr lang="zh-CN" sz="1400" kern="100">
                          <a:effectLst/>
                        </a:rPr>
                        <a:t>类似</a:t>
                      </a:r>
                      <a:r>
                        <a:rPr lang="en-US" sz="1400" kern="100">
                          <a:effectLst/>
                        </a:rPr>
                        <a:t>, </a:t>
                      </a:r>
                      <a:r>
                        <a:rPr lang="zh-CN" sz="1400" kern="100">
                          <a:effectLst/>
                        </a:rPr>
                        <a:t>但如果键不存在于字典中，将会添加键并将值设为</a:t>
                      </a:r>
                      <a:r>
                        <a:rPr lang="en-US" sz="1400" kern="100">
                          <a:effectLst/>
                        </a:rPr>
                        <a:t>default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effectLst/>
                        </a:rPr>
                        <a:t>dict.update(dict2)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>
                          <a:effectLst/>
                        </a:rPr>
                        <a:t>把字典</a:t>
                      </a:r>
                      <a:r>
                        <a:rPr lang="en-US" sz="1400" kern="100">
                          <a:effectLst/>
                        </a:rPr>
                        <a:t>dict2</a:t>
                      </a:r>
                      <a:r>
                        <a:rPr lang="zh-CN" sz="1400" kern="100">
                          <a:effectLst/>
                        </a:rPr>
                        <a:t>的键</a:t>
                      </a:r>
                      <a:r>
                        <a:rPr lang="en-US" sz="1400" kern="100">
                          <a:effectLst/>
                        </a:rPr>
                        <a:t>/</a:t>
                      </a:r>
                      <a:r>
                        <a:rPr lang="zh-CN" sz="1400" kern="100">
                          <a:effectLst/>
                        </a:rPr>
                        <a:t>值对更新到字典</a:t>
                      </a:r>
                      <a:r>
                        <a:rPr lang="en-US" sz="1400" kern="100">
                          <a:effectLst/>
                        </a:rPr>
                        <a:t>dict</a:t>
                      </a:r>
                      <a:r>
                        <a:rPr lang="zh-CN" sz="1400" kern="100">
                          <a:effectLst/>
                        </a:rPr>
                        <a:t>里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effectLst/>
                        </a:rPr>
                        <a:t>dict.pop(key[,default])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>
                          <a:effectLst/>
                        </a:rPr>
                        <a:t>删除字典给定键</a:t>
                      </a:r>
                      <a:r>
                        <a:rPr lang="en-US" sz="1400" kern="100">
                          <a:effectLst/>
                        </a:rPr>
                        <a:t>key</a:t>
                      </a:r>
                      <a:r>
                        <a:rPr lang="zh-CN" sz="1400" kern="100">
                          <a:effectLst/>
                        </a:rPr>
                        <a:t>所对应的值，返回值为被删除的值。</a:t>
                      </a:r>
                      <a:r>
                        <a:rPr lang="en-US" sz="1400" kern="100">
                          <a:effectLst/>
                        </a:rPr>
                        <a:t>key</a:t>
                      </a:r>
                      <a:r>
                        <a:rPr lang="zh-CN" sz="1400" kern="100">
                          <a:effectLst/>
                        </a:rPr>
                        <a:t>值必须给出，否则，返回</a:t>
                      </a:r>
                      <a:r>
                        <a:rPr lang="en-US" sz="1400" kern="100">
                          <a:effectLst/>
                        </a:rPr>
                        <a:t>default</a:t>
                      </a:r>
                      <a:r>
                        <a:rPr lang="zh-CN" sz="1400" kern="100">
                          <a:effectLst/>
                        </a:rPr>
                        <a:t>值。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effectLst/>
                        </a:rPr>
                        <a:t>dict.popitem()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kern="100" dirty="0">
                          <a:effectLst/>
                        </a:rPr>
                        <a:t>随机返回并删除字典中的一对键和值。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3180" marR="43180" marT="21590" marB="2159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8831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1.3.6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数据结构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字典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(Dictionary)                          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字典操作</a:t>
            </a:r>
            <a:r>
              <a:rPr lang="zh-CN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617775" y="3002672"/>
          <a:ext cx="8956449" cy="19972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84672"/>
                <a:gridCol w="5871777"/>
              </a:tblGrid>
              <a:tr h="499311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effectLst/>
                        </a:rPr>
                        <a:t>函数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-2540" algn="ctr"/>
                      <a:r>
                        <a:rPr lang="zh-CN" sz="1800" kern="100">
                          <a:effectLst/>
                        </a:rPr>
                        <a:t>作用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99311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cmp(dict1, dict2)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</a:rPr>
                        <a:t>比较两个字典元素。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99311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len(dict)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-2540" algn="just"/>
                      <a:r>
                        <a:rPr lang="zh-CN" sz="1800" kern="100">
                          <a:effectLst/>
                        </a:rPr>
                        <a:t>计算字典元素个数，即键的总数。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99311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str(dict)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-2540" algn="just"/>
                      <a:r>
                        <a:rPr lang="zh-CN" sz="1800" kern="100" dirty="0">
                          <a:effectLst/>
                        </a:rPr>
                        <a:t>输出字典可打印的字符串表示。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560294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1.3.7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控制语句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条件语句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判断条件是条件语句的核心，即通过判断条件的执行结果来决定程序的执行走向。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语言对于非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和非空（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）的执行结果均认定为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值，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或者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值认定为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值。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语句是最常用的条件语句，其结构如下：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判断条件：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执行语句块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1……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执行语句块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2……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080311" y="2206645"/>
            <a:ext cx="535865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hungry = True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hungry: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...     print("I'm hungry")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...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I'm hungry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hungry = False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&gt;&gt;&gt;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hungry: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...     print("I'm hungry") 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使用空白字符进行缩进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...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else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...     print("I'm not hungry")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...     print("I'm sleepy")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...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I'm not hungry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I'm sleepy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560294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1.3.7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控制语句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条件语句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当判断条件为多个值时，可以使用</a:t>
            </a:r>
            <a:r>
              <a:rPr lang="en-US" altLang="zh-CN" sz="2000" b="1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的形式：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宋体" panose="02010600030101010101" pitchFamily="2" charset="-122"/>
              <a:buChar char=" "/>
              <a:tabLst>
                <a:tab pos="457200" algn="l"/>
              </a:tabLst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判断条件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宋体" panose="02010600030101010101" pitchFamily="2" charset="-122"/>
              <a:buChar char=" "/>
              <a:tabLst>
                <a:tab pos="457200" algn="l"/>
              </a:tabLst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执行语句块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1……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宋体" panose="02010600030101010101" pitchFamily="2" charset="-122"/>
              <a:buChar char=" "/>
              <a:tabLst>
                <a:tab pos="457200" algn="l"/>
              </a:tabLst>
            </a:pPr>
            <a:r>
              <a:rPr lang="en-US" altLang="zh-CN" sz="1800" b="1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判断条件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宋体" panose="02010600030101010101" pitchFamily="2" charset="-122"/>
              <a:buChar char=" "/>
              <a:tabLst>
                <a:tab pos="457200" algn="l"/>
              </a:tabLst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执行语句块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2……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宋体" panose="02010600030101010101" pitchFamily="2" charset="-122"/>
              <a:buChar char=" "/>
              <a:tabLst>
                <a:tab pos="457200" algn="l"/>
              </a:tabLst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宋体" panose="02010600030101010101" pitchFamily="2" charset="-122"/>
              <a:buChar char=" "/>
              <a:tabLst>
                <a:tab pos="457200" algn="l"/>
              </a:tabLst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宋体" panose="02010600030101010101" pitchFamily="2" charset="-122"/>
              <a:buChar char=" "/>
              <a:tabLst>
                <a:tab pos="457200" algn="l"/>
              </a:tabLst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执行语句块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4……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560294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1.3.7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控制语句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循环语句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循环语句：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循环语句的语法形式如下：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判断条件：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循环体语句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396753" y="1825625"/>
            <a:ext cx="57194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tabLst>
                <a:tab pos="3425825" algn="l"/>
              </a:tabLs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例：将列表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numbers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中的奇数和偶数进行分别存放。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numbers=[12,37,5,42,8,3]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even=[]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odd=[]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while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len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(numbers)&gt;0: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number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numbers.pop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if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(number % 2 == 0):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   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even.append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(number)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else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   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odd.append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(number)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print('even=',even)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print('odd=',odd)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444649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1.3.7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控制语句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循环语句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循环语句：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中还提供了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while-else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的结构，即循环条件为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时执行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语句块。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zh-CN" altLang="en-US" sz="2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333565" y="2003301"/>
            <a:ext cx="502023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count = 0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while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count &lt; 5: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print (count, " is  less than 5")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count = count + 1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else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print (count, " is not less than 5"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）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0  is  less than 5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  is  less than 5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  is  less than 5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3  is  less than 5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4  is  less than 5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5  is not less than 5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444649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1.3.7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控制语句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循环语句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循环语句：</a:t>
            </a:r>
            <a:endParaRPr lang="en-US" altLang="zh-CN" sz="2000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循环常用于遍历某个序列的所有元素，如列表或字符串等。其语法结构如下：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iterating_var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sequence: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循环体语句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zh-CN" altLang="en-US" sz="2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333565" y="2854742"/>
            <a:ext cx="50202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fruits = ['banana', 'apple', 'mango']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for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index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range(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len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(fruits)):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print('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当前水果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:', fruits[index])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33565" y="4329430"/>
            <a:ext cx="43747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for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letter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'Python':     # 第一个实例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print('当前字母 :', letter)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fruits = ['banana', 'apple', 'mango']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9235" algn="just"/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for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fruit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fruits:        # 第二个实例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print('当前水果 :', fruit)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444649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1.3.7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控制语句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循环语句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循环语句：</a:t>
            </a:r>
            <a:endParaRPr lang="en-US" altLang="zh-CN" sz="2000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中提供了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for-else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的语句形式。</a:t>
            </a:r>
            <a:endParaRPr lang="en-US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部分是循环正常结束时执行的部分，如果循环是使用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语句跳出的，则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部分是不会被执行的。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zh-CN" alt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694829" y="1825625"/>
            <a:ext cx="5658971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for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num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range(10,20):   # 迭代 10 到 20 之间的数字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for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i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range(2,num):  # 根据因子迭代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 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num%i == 0:      # 确定第一个因子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     j=num/i        # 计算第二个因子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    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 ('%d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等于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%d * %d' % (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num,i,j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))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    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break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     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跳出当前循环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574040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else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:             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循环的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else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部分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     print (num, '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是一个质数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')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10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等于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2 * 5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12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等于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2 * 6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14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等于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2 * 7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15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等于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3 * 5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16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等于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2 * 8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18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等于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2 * 9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19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是一个质数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4"/>
            <a:ext cx="6176684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1.3.7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控制语句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循环语句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）循环控制：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04800" algn="just">
              <a:lnSpc>
                <a:spcPct val="100000"/>
              </a:lnSpc>
              <a:spcBef>
                <a:spcPts val="600"/>
              </a:spcBef>
              <a:tabLst>
                <a:tab pos="3425825" algn="l"/>
              </a:tabLst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语句可以用来终止循环语句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可以用在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循环中。如果使用了嵌套循环结构，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语句将停止执行本层的循环，并跳出本层循环继续执行下一行代码。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04800" algn="just">
              <a:lnSpc>
                <a:spcPct val="100000"/>
              </a:lnSpc>
              <a:spcBef>
                <a:spcPts val="600"/>
              </a:spcBef>
              <a:tabLst>
                <a:tab pos="3425825" algn="l"/>
              </a:tabLst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语句仅跳过当前循环的剩余语句，然后继续进行下一轮循环，同样用于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循环中。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还提供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空语句，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不做任何事情，一般用做占位语句，仅为了保持程序结构的完整性</a:t>
            </a:r>
            <a:endParaRPr lang="zh-CN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418297" y="2521325"/>
            <a:ext cx="393550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for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letter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'Python':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letter == 'h':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  pass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else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  print('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当前字母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:', letter)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当前字母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: P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当前字母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: y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当前字母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: t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当前字母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: o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当前字母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: n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648820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1.3.8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10000"/>
              </a:lnSpc>
              <a:spcBef>
                <a:spcPts val="0"/>
              </a:spcBef>
              <a:buNone/>
              <a:tabLst>
                <a:tab pos="3425825" algn="l"/>
              </a:tabLst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函数的定义规则如下：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"/>
            </a:pP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函数头使用</a:t>
            </a:r>
            <a:r>
              <a:rPr lang="en-US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def </a:t>
            </a: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关键词进行定义，后接函数名称和小括号</a:t>
            </a:r>
            <a:r>
              <a:rPr lang="en-US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zh-CN" sz="200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"/>
            </a:pP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小括号</a:t>
            </a:r>
            <a:r>
              <a:rPr lang="en-US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内定义函数定义的入口参数；</a:t>
            </a:r>
            <a:endParaRPr lang="zh-CN" altLang="zh-CN" sz="200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"/>
            </a:pP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函数体内容以冒号起始，并且缩进；</a:t>
            </a:r>
            <a:endParaRPr lang="zh-CN" altLang="zh-CN" sz="200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"/>
            </a:pP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在函数体的第一行语句可以选择性地使用字符串对函数进行说明；</a:t>
            </a:r>
            <a:endParaRPr lang="zh-CN" altLang="zh-CN" sz="200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"/>
            </a:pP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当语句的缩进没有的时候，认为函数体结束，函数退出；</a:t>
            </a:r>
            <a:endParaRPr lang="zh-CN" altLang="zh-CN" sz="200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"/>
            </a:pP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可以使用</a:t>
            </a:r>
            <a:r>
              <a:rPr lang="en-US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语句在需要的地方结束函数，并选择性地返回一个值给调用方；不带返回值的</a:t>
            </a:r>
            <a:r>
              <a:rPr lang="en-US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相当于返回</a:t>
            </a:r>
            <a:r>
              <a:rPr lang="en-US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None</a:t>
            </a: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200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720853" y="1960424"/>
            <a:ext cx="36284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3425825" algn="l"/>
              </a:tabLst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函数定义形式如下：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00660" algn="just"/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def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函数名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parameters ):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6070" algn="just"/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"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说明字符串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6070" algn="just"/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函数体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6070" algn="just"/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[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返回值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25335" y="3681333"/>
            <a:ext cx="362398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hello(object):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"Hello world test function"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print("Hello ",object,"!")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hello('cat')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hello(123)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Hello cat!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Hello 123 !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70641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1.3.8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函数的参数传递形式是由实际传递的参数类型来决定的。</a:t>
            </a:r>
            <a:endParaRPr lang="en-US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如实际传递的类型如果是整数、字符串、元组等类型，那么传递的只是变量的值，相当于传入函数内部的是一个变量的拷贝，函数内的运算并不会影响变量的本身；</a:t>
            </a:r>
            <a:endParaRPr lang="en-US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实际传递的类型如果是列表、字典等类型，那么传入函数内部的是变量的引用，函数内部的运算将会影响函数外的这个变量。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38200" y="4173205"/>
            <a:ext cx="34177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tabLst>
                <a:tab pos="3425825" algn="l"/>
              </a:tabLst>
            </a:pP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例：整数参数为复制传值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9235" algn="just"/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ChangeInt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 a ):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a = 10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b = 2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ChangeInt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(b)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print(b)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84353" y="2883754"/>
            <a:ext cx="35687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tabLst>
                <a:tab pos="3425825" algn="l"/>
              </a:tabLst>
            </a:pP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例：列表参数为引用参考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9235" algn="just"/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ChangeList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mylist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):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"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修改传入的列表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"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mylist.append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([1,2,3,4])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print("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函数内取值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: ",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mylist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调用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changeme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函数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mylist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= [10,20,30]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ChangeList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mylist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print( "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函数外取值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: ",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mylist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函数内取值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:  [10, 20, 30, [1, 2, 3, 4]]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函数外取值:  [10, 20, 30, [1, 2, 3, 4]]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570155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1.3.8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关键字参数函数：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关键字参数通过使用参数名来匹配参数值，因此使用关键字参数允许函数调用时参数的顺序与声明时不一致。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833348" y="2054766"/>
            <a:ext cx="452045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2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printinfo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 name, age ):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"打印任何传入的字符串"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print("Name: ", name)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print("Age ", age)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#调用printinfo函数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printinfo( age=50, name="Mike" )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tabLst>
                <a:tab pos="3425825" algn="l"/>
              </a:tabLst>
            </a:pP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Name:  Mike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Age  50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570155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1.3.8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缺省参数函数：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调用函数时，缺省参数的值如果没有传入，则会使用其默认值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645088" y="1954580"/>
            <a:ext cx="464147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printinfo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 name, age = 35 ):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"打印任何传入的字符串"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print( "Name: ", name)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print( "Age ", age)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#调用printinfo函数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printinfo( age=50, name="Miki" 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printinfo( name="Tom" 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tabLst>
                <a:tab pos="3425825" algn="l"/>
              </a:tabLst>
            </a:pPr>
            <a:endParaRPr lang="en-US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Name:  Mike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Age  50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Name:  Tom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Age  35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570155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1.3.8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不定长参数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函数：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处理不定数量的参数，这些参数叫做不定长参数，需要特殊的声明方法，其基本语法如下：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函数名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formal_args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,] *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var_args_tuple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):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"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说明字符串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函数体语句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返回值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097806" y="2115944"/>
            <a:ext cx="425599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printinfo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 arg1,*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vartuple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):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"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打印任何传入的参数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"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print("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参数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1: ",arg1)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print("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余下的参数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: ",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vartuple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调用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printinfo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函数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printinfo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( 10 )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printinfo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( 70, 60, 50 )</a:t>
            </a:r>
            <a:endParaRPr lang="en-US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indent="304800" algn="just">
              <a:tabLst>
                <a:tab pos="3425825" algn="l"/>
              </a:tabLst>
            </a:pPr>
            <a:endParaRPr lang="en-US" altLang="zh-CN" dirty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参数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1:  10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余下的参数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:  ()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参数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1:  70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余下的参数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:  (60, 50)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570155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1.3.8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匿名函数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函数用表达式的形式快捷的实现一些简单逻辑的函数，比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定义函数的形式简单很多，但它并不能代替所有的函数形式。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函数拥有自己的命名空间，但不能访问自有参数列表之外或全局命名空间里的参数。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函数语法格式：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[arg1 [,arg2,.....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argn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]]:expression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732494" y="2708632"/>
            <a:ext cx="46213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sum =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lambda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arg1, arg2: arg1 + arg2;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调用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sum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函数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print( "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相加后的值为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: ", sum( 10, 20 ))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print( "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相加后的值为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: ", sum( 20, 20 ))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tabLst>
                <a:tab pos="3425825" algn="l"/>
              </a:tabLst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相加后的值为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:  30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相加后的值为 :  40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78671"/>
            <a:ext cx="10515600" cy="978446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570155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1.3.9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模块（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的模块使用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文件进行组织管理，在模块文件中，可以定义函数、类和变量数据，并使用命名空间的形式进行加载使用。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r>
              <a:rPr lang="zh-CN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zh-CN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语句引入模块的整个命名空间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module1[, module2[,... 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moduleN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from…import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语句导入模块中指定的部分：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module_name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name1[, name2[, ...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]]</a:t>
            </a:r>
            <a:endParaRPr lang="zh-CN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530789" y="2016135"/>
            <a:ext cx="482301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tabLst>
                <a:tab pos="3425825" algn="l"/>
              </a:tabLs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首先编辑模块文件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support.py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，输入如下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print_func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函数并保存。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print_func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 par ):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print ("Hello : ", par)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return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在当前文件中，可以导入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support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模块并调用模块中的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print_func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导入模块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support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现在可以调用模块里包含的函数了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support.print_func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("China")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Hello :  China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41507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面向对象编程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570155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1.4.1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类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(Class) 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类的创建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类名: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'类的帮助信息'   #类说明字符串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类成员变量……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__init__(self, 参数, …):  # 构造函数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...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方法名1(self, 参数, …):  # 方法1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...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方法名2(self, 参数, …):  # 方法2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__del__(self):  </a:t>
            </a:r>
            <a:r>
              <a:rPr lang="zh-CN" altLang="zh-C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析构函数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  <a:tabLst>
                <a:tab pos="3425825" algn="l"/>
              </a:tabLst>
            </a:pP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936877" y="1898869"/>
            <a:ext cx="534744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Employee: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'''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所有员工的基类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'''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empCount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= 0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__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init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__(</a:t>
            </a:r>
            <a:r>
              <a:rPr lang="en-US" altLang="zh-CN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self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, name, salary):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self.name = name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self.salary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= salary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Employee.empCount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+= 1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displayCount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self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):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print ("Total Employee %d" %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Employee.empCount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displayEmployee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self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):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print ("Name : ", self.name,  ", Salary: ",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self.salary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__del__(</a:t>
            </a:r>
            <a:r>
              <a:rPr lang="en-US" altLang="zh-CN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self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):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class_name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self.__class__.__name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__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print (class_name, "销毁")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9494" y="2832846"/>
            <a:ext cx="1165412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构造函数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9539568" y="5517775"/>
            <a:ext cx="1165412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析构函数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9117106" y="1502411"/>
            <a:ext cx="2236694" cy="109581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lvl="0" algn="l">
              <a:lnSpc>
                <a:spcPct val="125000"/>
              </a:lnSpc>
            </a:pP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self </a:t>
            </a:r>
            <a:r>
              <a:rPr lang="zh-CN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代表类的实例，它的值是指向当前对象的地址。</a:t>
            </a:r>
            <a:endParaRPr lang="zh-CN" altLang="zh-CN" sz="1800" dirty="0">
              <a:solidFill>
                <a:srgbClr val="0D0D0D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90009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面向对象编程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570155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1.4.1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类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(Class) </a:t>
            </a:r>
            <a:endParaRPr lang="en-US" altLang="zh-CN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类的实例化采用类名函数的形式，并利用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方法接收参数对实例进行初始化，在程序结束时调用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__del__()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方法对变量进行销毁</a:t>
            </a:r>
            <a:r>
              <a:rPr lang="zh-CN" alt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。</a:t>
            </a:r>
            <a:endParaRPr lang="zh-CN" altLang="zh-CN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7433235" y="2151727"/>
            <a:ext cx="392056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/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x=Employee("Tom",10000)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/>
            <a:r>
              <a:rPr lang="en-US" altLang="zh-CN" sz="20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x.displayCount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()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/>
            <a:r>
              <a:rPr lang="en-US" altLang="zh-CN" sz="20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x.displayEmployee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()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tabLst>
                <a:tab pos="3425825" algn="l"/>
              </a:tabLst>
            </a:pPr>
            <a:endParaRPr lang="en-US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宋体" panose="02010600030101010101" pitchFamily="2" charset="-122"/>
              </a:rPr>
              <a:t>Total Employee 1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宋体" panose="02010600030101010101" pitchFamily="2" charset="-122"/>
              </a:rPr>
              <a:t>Name :  Tom , Salary:  10000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宋体" panose="02010600030101010101" pitchFamily="2" charset="-122"/>
              </a:rPr>
              <a:t>Employee 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销毁</a:t>
            </a:r>
            <a:endParaRPr lang="zh-CN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0814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面向对象编程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1.4.1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类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(Class) 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25000"/>
              </a:lnSpc>
              <a:buFont typeface="Wingdings" panose="05000000000000000000" pitchFamily="2" charset="2"/>
              <a:buChar char=""/>
            </a:pPr>
            <a:r>
              <a:rPr lang="en-US" altLang="zh-CN" sz="180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getattr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(obj, name[, default]) : </a:t>
            </a:r>
            <a:r>
              <a:rPr lang="zh-CN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访问对象的属性。</a:t>
            </a:r>
            <a:endParaRPr lang="zh-CN" altLang="zh-CN" sz="1800" dirty="0">
              <a:solidFill>
                <a:srgbClr val="0D0D0D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>
              <a:lnSpc>
                <a:spcPct val="125000"/>
              </a:lnSpc>
              <a:buFont typeface="Wingdings" panose="05000000000000000000" pitchFamily="2" charset="2"/>
              <a:buChar char=""/>
            </a:pPr>
            <a:r>
              <a:rPr lang="en-US" altLang="zh-CN" sz="180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hasattr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obj,name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 : </a:t>
            </a:r>
            <a:r>
              <a:rPr lang="zh-CN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检查是否存在一个属性。</a:t>
            </a:r>
            <a:endParaRPr lang="zh-CN" altLang="zh-CN" sz="1800" dirty="0">
              <a:solidFill>
                <a:srgbClr val="0D0D0D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>
              <a:lnSpc>
                <a:spcPct val="125000"/>
              </a:lnSpc>
              <a:buFont typeface="Wingdings" panose="05000000000000000000" pitchFamily="2" charset="2"/>
              <a:buChar char=""/>
            </a:pPr>
            <a:r>
              <a:rPr lang="en-US" altLang="zh-CN" sz="180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setattr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obj,name,value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 : </a:t>
            </a:r>
            <a:r>
              <a:rPr lang="zh-CN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设置一个属性。如果属性不存在，会创建一个新属性。</a:t>
            </a:r>
            <a:endParaRPr lang="zh-CN" altLang="zh-CN" sz="1800" dirty="0">
              <a:solidFill>
                <a:srgbClr val="0D0D0D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>
              <a:lnSpc>
                <a:spcPct val="125000"/>
              </a:lnSpc>
              <a:buFont typeface="Wingdings" panose="05000000000000000000" pitchFamily="2" charset="2"/>
              <a:buChar char=""/>
            </a:pPr>
            <a:r>
              <a:rPr lang="en-US" altLang="zh-CN" sz="180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delattr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(obj, name) : </a:t>
            </a:r>
            <a:r>
              <a:rPr lang="zh-CN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删除属性。</a:t>
            </a:r>
            <a:endParaRPr lang="zh-CN" altLang="zh-CN" sz="1800" dirty="0">
              <a:solidFill>
                <a:srgbClr val="0D0D0D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>
              <a:lnSpc>
                <a:spcPct val="125000"/>
              </a:lnSpc>
              <a:buFont typeface="Wingdings" panose="05000000000000000000" pitchFamily="2" charset="2"/>
              <a:buChar char=""/>
            </a:pPr>
            <a:r>
              <a:rPr lang="en-US" altLang="zh-CN" sz="180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hasattr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(emp1, 'age')    # </a:t>
            </a:r>
            <a:r>
              <a:rPr lang="zh-CN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如果存在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'age' </a:t>
            </a:r>
            <a:r>
              <a:rPr lang="zh-CN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属性返回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True</a:t>
            </a:r>
            <a:r>
              <a:rPr lang="zh-CN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1800" dirty="0">
              <a:solidFill>
                <a:srgbClr val="0D0D0D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>
              <a:lnSpc>
                <a:spcPct val="125000"/>
              </a:lnSpc>
              <a:buFont typeface="Wingdings" panose="05000000000000000000" pitchFamily="2" charset="2"/>
              <a:buChar char=""/>
            </a:pPr>
            <a:r>
              <a:rPr lang="en-US" altLang="zh-CN" sz="180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getattr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(emp1, 'age')    # </a:t>
            </a:r>
            <a:r>
              <a:rPr lang="zh-CN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返回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'age' </a:t>
            </a:r>
            <a:r>
              <a:rPr lang="zh-CN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属性的值</a:t>
            </a:r>
            <a:endParaRPr lang="zh-CN" altLang="zh-CN" sz="1800" dirty="0">
              <a:solidFill>
                <a:srgbClr val="0D0D0D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>
              <a:lnSpc>
                <a:spcPct val="125000"/>
              </a:lnSpc>
              <a:buFont typeface="Wingdings" panose="05000000000000000000" pitchFamily="2" charset="2"/>
              <a:buChar char=""/>
            </a:pPr>
            <a:r>
              <a:rPr lang="en-US" altLang="zh-CN" sz="180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setattr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(emp1, 'age', 8) # </a:t>
            </a:r>
            <a:r>
              <a:rPr lang="zh-CN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添加属性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'age' </a:t>
            </a:r>
            <a:r>
              <a:rPr lang="zh-CN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值为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8</a:t>
            </a:r>
            <a:endParaRPr lang="zh-CN" altLang="zh-CN" sz="1800" dirty="0">
              <a:solidFill>
                <a:srgbClr val="0D0D0D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>
              <a:lnSpc>
                <a:spcPct val="125000"/>
              </a:lnSpc>
              <a:buFont typeface="Wingdings" panose="05000000000000000000" pitchFamily="2" charset="2"/>
              <a:buChar char=""/>
            </a:pPr>
            <a:r>
              <a:rPr lang="en-US" altLang="zh-CN" sz="180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delattr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(emp1, 'age')    # </a:t>
            </a:r>
            <a:r>
              <a:rPr lang="zh-CN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删除属性</a:t>
            </a:r>
            <a:r>
              <a:rPr lang="en-US" altLang="zh-CN" sz="18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'age'</a:t>
            </a:r>
            <a:endParaRPr lang="zh-CN" altLang="zh-CN" sz="1800" dirty="0">
              <a:solidFill>
                <a:srgbClr val="0D0D0D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altLang="zh-CN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93514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面向对象编程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1.4.2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继承机制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继承可以理解成类之间的父子关系，通常称为父类与子类，或称为基类与派生类。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定义了继承关系后，派生类中会共享基类的类变量和类方法。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继承语法的形式如下：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330" indent="0" algn="just">
              <a:lnSpc>
                <a:spcPct val="125000"/>
              </a:lnSpc>
              <a:buNone/>
            </a:pPr>
            <a:r>
              <a:rPr lang="en-US" altLang="zh-CN" sz="2000" b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派生类名（基类名</a:t>
            </a:r>
            <a:r>
              <a:rPr lang="en-US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1[, </a:t>
            </a: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基类名</a:t>
            </a:r>
            <a:r>
              <a:rPr lang="en-US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2,...]):</a:t>
            </a:r>
            <a:endParaRPr lang="zh-CN" altLang="zh-CN" sz="200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330" indent="0" algn="just">
              <a:lnSpc>
                <a:spcPct val="125000"/>
              </a:lnSpc>
              <a:buNone/>
            </a:pPr>
            <a:r>
              <a:rPr lang="en-US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"</a:t>
            </a: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类说明字符串</a:t>
            </a:r>
            <a:r>
              <a:rPr lang="en-US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zh-CN" altLang="zh-CN" sz="200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330" indent="0" algn="just">
              <a:lnSpc>
                <a:spcPct val="125000"/>
              </a:lnSpc>
              <a:buNone/>
            </a:pPr>
            <a:r>
              <a:rPr lang="en-US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类体</a:t>
            </a:r>
            <a:r>
              <a:rPr lang="en-US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zh-CN" sz="200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330" indent="0" algn="just">
              <a:lnSpc>
                <a:spcPct val="125000"/>
              </a:lnSpc>
              <a:buNone/>
            </a:pPr>
            <a:r>
              <a:rPr lang="en-US" altLang="zh-CN" sz="20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其中，（基类名）是一个元组，因此，派生类可以源自多个基类。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93514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面向对象编程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107979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1.4.2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继承机制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）在继承中基类的构造函数（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方法）不会被自动调用，它需要在其派生类的构造函数中专门调用；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）在调用基类的方法时，需要加上基类的类名前缀，且需要带上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参数变量；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）在调用类方法时，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总是先在本类中查找类方法的函数，找不到时就到基类中去查找；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）如果在继承元组中列了一个以上的类，那么它被称作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多重继承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7238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面向对象编程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67685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1.4.2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继承机制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父类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的方法中，必须加上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参数，调用类变量时必须加上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类名，才能在派生类中正常调用其父类的方法。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324344" y="1474004"/>
            <a:ext cx="40294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Parent:      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定义父类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parentAttr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= 100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__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init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__(self):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print( "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调用父类构造函数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")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parentMethod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(self):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print( '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调用父类方法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')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setAttr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(self,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attr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):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Parent.parentAttr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attr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getAttr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(self):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print( "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父类属性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:",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Parent.parentAttr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9235" algn="just"/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Child(Parent):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定义子类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__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init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__(self):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print( "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调用子类构造方法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")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childMethod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(self):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print( '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调用子类方法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')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45025" y="3314641"/>
            <a:ext cx="51723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 = Child()        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实例化子类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c.childMethod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()    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调用子类的方法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c.parentMethod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()   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调用父类方法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c.setAttr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(200)     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再次调用父类的方法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设置属性值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c.getAttr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()        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再次调用父类的方法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微软雅黑" panose="020B0503020204020204" charset="-122"/>
              </a:rPr>
              <a:t>获取属性值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tabLst>
                <a:tab pos="3425825" algn="l"/>
              </a:tabLst>
            </a:pP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调用子类构造方法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调用子类方法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调用父类方法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父类属性 : 200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76882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面向对象编程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51591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1.4.2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继承机制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330" indent="0" algn="l">
              <a:lnSpc>
                <a:spcPct val="125000"/>
              </a:lnSpc>
              <a:buNone/>
            </a:pPr>
            <a:r>
              <a:rPr lang="zh-CN" altLang="zh-CN" sz="2400" b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方法重载：</a:t>
            </a:r>
            <a:endParaRPr lang="zh-CN" altLang="zh-CN" sz="240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如果父类方法的功能不能满足子类的需求，那么可以在子类中重写该父类方法，实际调用时以当前类方法为准，称为对父类方法进行了重载。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477002" y="2009179"/>
            <a:ext cx="47908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class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Parent:        # 定义父类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myMethod(self):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print('这是父类的myMethod方法')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9235" algn="just"/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class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Child(Parent): # 定义子类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myMethod(self):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print('这是子类的myMethod方法')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 = Child()          # 子类实例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c.myMethod()         # 子类调用重写方法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04800" algn="just">
              <a:tabLst>
                <a:tab pos="3425825" algn="l"/>
              </a:tabLst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这是子类的myMethod方法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07533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面向对象编程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51591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1.4.3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类变量与方法的属性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在面向对象的编程中，为了控制类变量和方法在定义、继承中的作用域，通常分为公共、私有、保护三种访问属性。</a:t>
            </a:r>
            <a:endParaRPr lang="en-US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使用特殊的命名规则来定义类变量和方法的属性，即使用单下划线、双下划线、头尾双下划线进行区分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2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907742" y="1825624"/>
            <a:ext cx="5446058" cy="4091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tabLst>
                <a:tab pos="3425825" algn="l"/>
              </a:tabLst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value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：普通变量或方法的命名，属于公有的属性，类内可以直接访问，类外需要使用“类名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.value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”进行访问；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__value_():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前后由双下划线定义的是特殊方法，一般是由系统约定的名字 ，例如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__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init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__()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是约定的构造函数。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_value: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以单下划线开头的表示的是保护属性（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protected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）的变量或方法，即保护属性只能允许其本身或者其派生的子类进行访问，访问时需要使用“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self._value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”的形式。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 algn="just">
              <a:tabLst>
                <a:tab pos="3425825" algn="l"/>
              </a:tabLst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__value: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双下划线开头的表示的是私有类型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(private)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的变量或方法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只能在类本身进行访问，派生的子类也不能访问。类本身访问时也需要使用“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self.__value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”的形式。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96879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面向对象编程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2" y="1825625"/>
            <a:ext cx="51591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1.4.3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类变量与方法的属性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55812" y="2386032"/>
            <a:ext cx="66069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class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JustCounter: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__secretCount = 0  # 私有变量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publicCount = 0    # 公开变量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count(self):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self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.__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secretCount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+= 1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self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.publicCount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+= 1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 print(self.__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secretCount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counter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JustCounter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counter.count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counter.count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print(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counter.publicCount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print(counter.__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secretCount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) 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报错，实例不能访问私有变量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82671" y="3429000"/>
            <a:ext cx="674145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3425825" algn="l"/>
              </a:tabLst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Traceback (most recent call last):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File "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xxxxxxxxxxxxxxxxxxxxxxxxx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", line 14, in &lt;module&gt;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print(counter.__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secretCount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) 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报错，实例不能访问私有变量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AttributeError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: '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JustCounter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' object has no attribute '__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secretCount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'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8114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39905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1.5.1 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NumpPy的安装与导入</a:t>
            </a:r>
            <a:endParaRPr lang="zh-CN" altLang="zh-CN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属于第三方库，需要安装及导入才能使用。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进行安装：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 install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进行安装：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install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使用前需要用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导入：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  <a:endParaRPr lang="zh-CN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这里的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指将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库导入并定义别名为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，在后面的编程中可用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代表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进行调用。</a:t>
            </a:r>
            <a:endParaRPr lang="zh-CN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93806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3990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1.5.1 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数组的定义</a:t>
            </a:r>
            <a:endParaRPr lang="zh-CN" altLang="zh-CN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生成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NumPy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数组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的传入参数可以是列表。</a:t>
            </a:r>
            <a:endParaRPr lang="en-US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55811" y="3609218"/>
            <a:ext cx="34827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np.array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([1.0, 2.0, 3.0])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print(x)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[ 1. 2. 3.]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type(x)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&lt;class '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numpy.ndarray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'&gt;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38600" y="3609218"/>
            <a:ext cx="33348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A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np.array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([[1, 2], [3, 4]])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print(A)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[[1 2]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[3 4]]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A.shape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(2, 2)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A.dtype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dtype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('int64')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41024" y="3609218"/>
            <a:ext cx="36127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B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np.array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([[3, 0],[0, 6]])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A + B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array([[ 4,  2],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[ 3, 10]])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A * B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array([[ 3,  0],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[ 0, 24]])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76609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3990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1.5.1 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NumPy</a:t>
            </a: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数组元素访问</a:t>
            </a:r>
            <a:endParaRPr lang="zh-CN" altLang="zh-CN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 NumPy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数组元素的索引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数组的内容可以通过索引或切片来访问和修改，与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list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的切片操作一样。</a:t>
            </a:r>
            <a:endParaRPr lang="en-US" altLang="zh-CN" sz="1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38200" y="3681333"/>
            <a:ext cx="461234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np.array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([[51, 55], [14, 19], [0, 4]])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print(X)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[[51 55]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[14 19]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[ 0 4]]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X[0]   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行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array([51, 55])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X[0][1]  # (0,1)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的元素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55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32930" y="4350918"/>
            <a:ext cx="34155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row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X: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...     print(row)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...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[51 55]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[14 19]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[0 4]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3718" y="383356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3990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1.5.1 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NumPy</a:t>
            </a: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数组元素访问</a:t>
            </a:r>
            <a:endParaRPr lang="zh-CN" altLang="zh-CN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 NumPy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数组切片的操作</a:t>
            </a:r>
            <a:endParaRPr lang="en-US" altLang="zh-CN" sz="2000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数组可以通过内置的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slice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函数，并设置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start, stop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及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step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参数进行，从原数组中切割出一个新数组。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55811" y="4027486"/>
            <a:ext cx="610048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numpy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np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np.arange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(10)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 = slice(2,7,2) 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从索引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2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开始到索引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7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停止，间隔为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print (a[s])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/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[2  4  6]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91518" y="4001293"/>
            <a:ext cx="61004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numpy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np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np.arange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(10)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b = a[2:7:2] 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从索引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2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开始到索引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7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停止，间隔为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2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print(b)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/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输出结果为：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[2  4  6]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41987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3990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1.5.1 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NumPy</a:t>
            </a: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数组元素访问</a:t>
            </a:r>
            <a:endParaRPr lang="zh-CN" altLang="zh-CN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 NumPy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数组切片的操作</a:t>
            </a:r>
            <a:endParaRPr lang="en-US" altLang="zh-CN" sz="2000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38200" y="3404335"/>
            <a:ext cx="50157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numpy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np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np.arange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(10)  # [0 1 2 3 4 5 6 7 8 9]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b = a[5]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print(b)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print(a[2:])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print(a[2:5])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输出结果为：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[2  3  4  5  6  7  8  9]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[2  3  4]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710828" y="3404335"/>
            <a:ext cx="43590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numpy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np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np.array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([[1,2,3],[3,4,5],[4,5,6]])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从某个索引处开始切割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print(a[1:])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输出结果为：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[[3 4 5]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[4 5 6]]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36443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3990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1.5.1 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NumPy</a:t>
            </a: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数组元素访问</a:t>
            </a:r>
            <a:endParaRPr lang="zh-CN" altLang="zh-CN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(3) NumPy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数组的其他访问操作</a:t>
            </a:r>
            <a:endParaRPr lang="en-US" altLang="zh-CN" sz="2000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使用数组访问各个元素</a:t>
            </a:r>
            <a:r>
              <a:rPr lang="zh-CN" altLang="en-US" sz="20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55811" y="3851719"/>
            <a:ext cx="61004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np.array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([[51, 55], [14, 19], [0, 4]])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X.flatten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()        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转换为一维数组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print(X)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[51 55 14 19  0  4]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X[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np.array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([0, 2, 4])] 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获取索引为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的元素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array([51, 14,  0])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6000" y="3851719"/>
            <a:ext cx="58136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 &gt; 15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array([ True, True, False, True, False, False],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dtype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=bool)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X[X&gt;15]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array([51, 55, 19])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0193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5146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1.5.1 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NumPy数组的运算</a:t>
            </a:r>
            <a:endParaRPr lang="zh-CN" altLang="zh-CN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 NumPy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的算术运算</a:t>
            </a:r>
            <a:endParaRPr lang="en-US" altLang="zh-CN" sz="20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的元素个数相同时，进行元素级别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element-wise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的算术运算</a:t>
            </a:r>
            <a:r>
              <a:rPr lang="zh-CN" altLang="en-US" sz="20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489702" y="3078133"/>
            <a:ext cx="486409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np.array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([1.0, 2.0, 3.0])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y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np.array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([2.0, 4.0, 6.0])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 + y 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对应元素的加法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array([ 3.,  6., 9.])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 - y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array([ -1.,  -2., -3.])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 * y  # element-wise product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array([  2.,   8.,  18.])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 / y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array([ 0.5,  0.5,  0.5])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52680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3990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1.5.1 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NumPy数组的运算</a:t>
            </a:r>
            <a:endParaRPr lang="zh-CN" altLang="zh-CN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 NumPy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的算术运算</a:t>
            </a:r>
            <a:endParaRPr lang="en-US" altLang="zh-CN" sz="20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en-US" sz="2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数组与标量的运算：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60293" y="3815697"/>
            <a:ext cx="44733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np.array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([1.0, 2.0, 3.0])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x / 2.0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array([ 0.5,  1. ,  1.5])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96970" y="3815697"/>
            <a:ext cx="37136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&gt;&gt;&gt; A = </a:t>
            </a:r>
            <a:r>
              <a:rPr lang="en-US" altLang="zh-CN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np.array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([[1, 2], [3, 4]]) </a:t>
            </a:r>
            <a:endParaRPr lang="en-US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print(A)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[[1 2]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[3 4]]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A * 10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array([[ 10, 20],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[ 30, 40]])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40304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3990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1.5.1 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NumPy数组的运算</a:t>
            </a:r>
            <a:endParaRPr lang="zh-CN" altLang="zh-CN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 NumPy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数组的位运算</a:t>
            </a:r>
            <a:endParaRPr lang="zh-CN" altLang="zh-CN" sz="20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438400" y="3429000"/>
          <a:ext cx="7315199" cy="28412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7145"/>
                <a:gridCol w="5088054"/>
              </a:tblGrid>
              <a:tr h="356905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zh-CN" sz="1800">
                          <a:effectLst/>
                        </a:rPr>
                        <a:t>函数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zh-CN" sz="1800">
                          <a:effectLst/>
                        </a:rPr>
                        <a:t>描述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/>
                </a:tc>
              </a:tr>
              <a:tr h="496868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zh-CN" sz="1800">
                          <a:effectLst/>
                        </a:rPr>
                        <a:t>bitwise_and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zh-CN" sz="1800">
                          <a:effectLst/>
                        </a:rPr>
                        <a:t>对数组元素执行位与操作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/>
                </a:tc>
              </a:tr>
              <a:tr h="496868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zh-CN" sz="1800">
                          <a:effectLst/>
                        </a:rPr>
                        <a:t>bitwise_or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zh-CN" sz="1800">
                          <a:effectLst/>
                        </a:rPr>
                        <a:t>对数组元素执行位或操作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/>
                </a:tc>
              </a:tr>
              <a:tr h="496868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zh-CN" sz="1800">
                          <a:effectLst/>
                        </a:rPr>
                        <a:t>invert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zh-CN" sz="1800">
                          <a:effectLst/>
                        </a:rPr>
                        <a:t>按位取反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/>
                </a:tc>
              </a:tr>
              <a:tr h="496868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zh-CN" sz="1800">
                          <a:effectLst/>
                        </a:rPr>
                        <a:t>left_shift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zh-CN" sz="1800">
                          <a:effectLst/>
                        </a:rPr>
                        <a:t>向左移动二进制表示的位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/>
                </a:tc>
              </a:tr>
              <a:tr h="496868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zh-CN" sz="1800">
                          <a:effectLst/>
                        </a:rPr>
                        <a:t>right_shift</a:t>
                      </a:r>
                      <a:endParaRPr lang="zh-CN" sz="2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zh-CN" sz="1800" dirty="0">
                          <a:effectLst/>
                        </a:rPr>
                        <a:t>向右移动二进制表示的位</a:t>
                      </a:r>
                      <a:endParaRPr lang="zh-CN" sz="2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804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3990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1.5.1 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NumPy数组的运算</a:t>
            </a:r>
            <a:endParaRPr lang="zh-CN" altLang="zh-CN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(3) NumPy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数组的广播运算</a:t>
            </a:r>
            <a:endParaRPr lang="en-US" altLang="zh-CN" sz="2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形状不同的数组之间也可以进行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广播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运算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076076" y="4879022"/>
            <a:ext cx="38548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A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np.array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([[1, 2], [3, 4]])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B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np.array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([10, 20])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&gt;&gt;&gt; A * B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array([[ 10, 40],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indent="228600" algn="just"/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   [ 30, 80]])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36800" y="3833572"/>
            <a:ext cx="7188200" cy="866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07540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3990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1.5.2 Matplotlib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库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lang="zh-CN" altLang="en-US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绘制简单图形</a:t>
            </a:r>
            <a:endParaRPr lang="en-US" altLang="zh-CN" sz="24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7051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matplotlib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pyplot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函数的默认配置可以快速绘制简单的图形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31159" y="3429000"/>
            <a:ext cx="61004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numpy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np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matplotlib.pyplot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生成数据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x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np.arange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(0, 6, 0.1)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0.1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为单位，生成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的数据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y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np.sin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(x)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绘制图形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plt.plot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(x, y)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plt.show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03457" y="3527426"/>
            <a:ext cx="2876065" cy="244625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04310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7979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1.5.2 Matplotlib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                                         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宋体" panose="02010600030101010101" pitchFamily="2" charset="-122"/>
              </a:rPr>
              <a:t>matlibplot.pylot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宋体" panose="02010600030101010101" pitchFamily="2" charset="-122"/>
              </a:rPr>
              <a:t>常用绘图函数</a:t>
            </a:r>
            <a:endParaRPr lang="en-US" altLang="zh-CN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宋体" panose="02010600030101010101" pitchFamily="2" charset="-122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lang="en-US" altLang="zh-CN" sz="2400" b="1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pyplot</a:t>
            </a:r>
            <a:r>
              <a:rPr lang="zh-CN" altLang="en-US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功能介绍</a:t>
            </a:r>
            <a:endParaRPr lang="en-US" altLang="zh-CN" sz="24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matlibplot.pylot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常用函数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93911" y="3530600"/>
          <a:ext cx="4173071" cy="1463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6766"/>
                <a:gridCol w="2716305"/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函数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说明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plt.xlabel()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对</a:t>
                      </a:r>
                      <a:r>
                        <a:rPr lang="en-US" sz="1600" kern="100" dirty="0">
                          <a:effectLst/>
                        </a:rPr>
                        <a:t>X</a:t>
                      </a:r>
                      <a:r>
                        <a:rPr lang="zh-CN" sz="1600" kern="100" dirty="0">
                          <a:effectLst/>
                        </a:rPr>
                        <a:t>轴增加文本标签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plt.ylabel()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对</a:t>
                      </a:r>
                      <a:r>
                        <a:rPr lang="en-US" sz="1600" kern="100" dirty="0">
                          <a:effectLst/>
                        </a:rPr>
                        <a:t>Y</a:t>
                      </a:r>
                      <a:r>
                        <a:rPr lang="zh-CN" sz="1600" kern="100" dirty="0">
                          <a:effectLst/>
                        </a:rPr>
                        <a:t>轴增加文本标签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plt.title()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对图形整体增加文本标签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plt.text()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在任意位置增加文本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plt.annotate() 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在图形中增加带箭头的注解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927748" y="2308410"/>
          <a:ext cx="6426052" cy="4145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23299"/>
                <a:gridCol w="2502753"/>
              </a:tblGrid>
              <a:tr h="212780"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函数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说明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plt.plot(x,y,fmt,…)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绘制一个坐标图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plt.boxplot(data,notch,position)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绘制一个箱形图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plt.bar(left,height,width,bottom)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绘制一个条形图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plt.barh(width,bottom,left,height)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绘制一个横向条形图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plt.polar(theta, r)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绘制极坐标图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plt.pie(data, explode)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绘制饼图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plt.psd(x,NFFT=256,pad_to,Fs)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绘制功率谱密度图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plt.specgram(x,NFFT=256,pad_to,F)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绘制谱图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plt.cohere(x,y,NFFT=256,Fs)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</a:t>
                      </a:r>
                      <a:r>
                        <a:rPr lang="en-US" sz="1600" kern="100">
                          <a:effectLst/>
                        </a:rPr>
                        <a:t>X‐Y</a:t>
                      </a:r>
                      <a:r>
                        <a:rPr lang="zh-CN" sz="1600" kern="100">
                          <a:effectLst/>
                        </a:rPr>
                        <a:t>的相关性函数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plt.scatter(x,y)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绘制散点图</a:t>
                      </a:r>
                      <a:r>
                        <a:rPr lang="en-US" sz="1600" kern="100">
                          <a:effectLst/>
                        </a:rPr>
                        <a:t>(x</a:t>
                      </a:r>
                      <a:r>
                        <a:rPr lang="zh-CN" sz="1600" kern="100">
                          <a:effectLst/>
                        </a:rPr>
                        <a:t>和</a:t>
                      </a:r>
                      <a:r>
                        <a:rPr lang="en-US" sz="1600" kern="100">
                          <a:effectLst/>
                        </a:rPr>
                        <a:t>y</a:t>
                      </a:r>
                      <a:r>
                        <a:rPr lang="zh-CN" sz="1600" kern="100">
                          <a:effectLst/>
                        </a:rPr>
                        <a:t>长度相同</a:t>
                      </a:r>
                      <a:r>
                        <a:rPr lang="en-US" sz="1600" kern="100">
                          <a:effectLst/>
                        </a:rPr>
                        <a:t>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plt.step(x,y,where)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绘制步阶图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plt.hist(x,bins,normed)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绘制直方图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plt.contour(X,Y,Z,N)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绘制等值图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plt.vlines()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绘制垂直图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plt.stem(x,y,linefmt,markerfmt)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绘制柴火图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2780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plt.plot_date()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绘制数据日期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92517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3990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1.5.2 Matplotlib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lang="en-US" altLang="zh-CN" sz="2400" b="1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pyplot</a:t>
            </a:r>
            <a:r>
              <a:rPr lang="zh-CN" altLang="en-US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功能介绍</a:t>
            </a:r>
            <a:endParaRPr lang="en-US" altLang="zh-CN" sz="24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031189" y="2433610"/>
            <a:ext cx="544830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numpy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np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9235" algn="just"/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matplotlib.pyplot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生成数据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x =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np.arange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(0, 6, 0.1)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以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0.1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为单位，生成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的数据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y1 =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np.sin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(x)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y2 =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np.cos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(x)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绘制图形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plt.plot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(x, y1, label="sin")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plt.plot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(x, y2,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linestyle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= "--", label="cos")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用虚线绘制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plt.xlabel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("x") # x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轴标签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plt.ylabel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("y") # y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轴标签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plt.title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('sin &amp;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cos'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)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标题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plt.legend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plt.show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5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46783" y="3539739"/>
            <a:ext cx="3206557" cy="2726917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9888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71530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1.5.2 Matplotlib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 </a:t>
            </a:r>
            <a:r>
              <a:rPr lang="zh-CN" altLang="en-US" sz="2400" b="1" dirty="0">
                <a:effectLst/>
                <a:latin typeface="+mn-ea"/>
                <a:cs typeface="Times New Roman" panose="02020603050405020304" pitchFamily="18" charset="0"/>
              </a:rPr>
              <a:t>简单图像操作</a:t>
            </a:r>
            <a:endParaRPr lang="en-US" altLang="zh-CN" sz="2400" b="1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）图像读取与显示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一般采用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matplotlib.image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模块的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imread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 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方法读取图像，以及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matplotlib.pyplot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模块的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imshow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进行图像显示。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70510" indent="-2286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8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608418" y="4242594"/>
            <a:ext cx="61004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matplotlib.pyplot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from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matplotlib.image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imread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img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imread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('test.png')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读入图像（设定合适的路径！）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plt.imshow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img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plt.show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760" y="3160077"/>
            <a:ext cx="3241040" cy="275653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1586"/>
            <a:ext cx="10515600" cy="97844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Python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常用库介绍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811" y="1825625"/>
            <a:ext cx="103990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1.5.2 Matplotlib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库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1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简单图像操作</a:t>
            </a:r>
            <a:endParaRPr lang="en-US" altLang="zh-CN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）图像保存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可以使用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matplotlib.pyplot.savefig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进行图像保存。</a:t>
            </a:r>
            <a:endParaRPr lang="en-US" altLang="zh-CN" sz="18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>
                <a:sym typeface="+mn-ea"/>
              </a:rPr>
              <a:t>深度学习基础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8CECD-4AF4-4E96-AD6D-215F227B9D37}" type="slidenum">
              <a:rPr lang="zh-CN" altLang="en-US" smtClean="0"/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F38F-8A0F-4A49-8B9C-5345C0EE21A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531971" y="2206645"/>
            <a:ext cx="657112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matplotlib.pyplot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numpy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np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9235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def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f(t):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np.exp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(-t)*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np.cos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(2*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np.pi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*t)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np.arange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(0,5,0.02)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plt.subplot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(211)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plt.plot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a,f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(a))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plt.subplot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(212)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plt.plot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a,np.cos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(2*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np.pi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*a),color='r',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linestyle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='--', marker='.') 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等价于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plt.plot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a,np.cos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(2*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np.pi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*a),'r--.') 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plt.savefig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('example.jpg')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286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plt.show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1319" y="3760657"/>
            <a:ext cx="2841363" cy="2416306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Freeform: Shap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21733" y="5626100"/>
            <a:ext cx="256881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54A9E70-2B6A-45C0-AB3B-96FADC4A4979}" type="datetime1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21733" y="5991225"/>
            <a:ext cx="256881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zh-CN" altLang="en-US">
                <a:sym typeface="+mn-ea"/>
              </a:rPr>
              <a:t>深度学习基础</a:t>
            </a:r>
            <a:endParaRPr lang="zh-CN" altLang="en-US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1732" y="6356350"/>
            <a:ext cx="256881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B818CECD-4AF4-4E96-AD6D-215F227B9D37}" type="slidenum">
              <a:rPr lang="en-US" altLang="zh-CN">
                <a:solidFill>
                  <a:srgbClr val="FFFFFF"/>
                </a:solidFill>
              </a:rPr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28" name="Freeform: Shap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204642" y="2353641"/>
            <a:ext cx="5782716" cy="2150719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 sz="7200" b="1" kern="1200" dirty="0">
                <a:solidFill>
                  <a:srgbClr val="080808"/>
                </a:solidFill>
                <a:latin typeface="+mj-lt"/>
                <a:ea typeface="+mj-ea"/>
                <a:cs typeface="+mj-cs"/>
              </a:rPr>
              <a:t>谢谢！</a:t>
            </a:r>
            <a:endParaRPr lang="en-US" altLang="zh-CN" sz="7200" b="1" kern="1200" dirty="0">
              <a:solidFill>
                <a:srgbClr val="080808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" name="Freeform: Shap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Rectangl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22587</Words>
  <Application>WPS 演示</Application>
  <PresentationFormat>宽屏</PresentationFormat>
  <Paragraphs>1918</Paragraphs>
  <Slides>73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4" baseType="lpstr">
      <vt:lpstr>Arial</vt:lpstr>
      <vt:lpstr>宋体</vt:lpstr>
      <vt:lpstr>Wingdings</vt:lpstr>
      <vt:lpstr>Segoe UI Black</vt:lpstr>
      <vt:lpstr>Times New Roman</vt:lpstr>
      <vt:lpstr>Calibri</vt:lpstr>
      <vt:lpstr>等线</vt:lpstr>
      <vt:lpstr>等线 Light</vt:lpstr>
      <vt:lpstr>微软雅黑</vt:lpstr>
      <vt:lpstr>Arial Unicode MS</vt:lpstr>
      <vt:lpstr>Office 主题​​</vt:lpstr>
      <vt:lpstr>单元一 Python编程基础</vt:lpstr>
      <vt:lpstr>1.1 Python简介</vt:lpstr>
      <vt:lpstr>1.2 Python安装与运行</vt:lpstr>
      <vt:lpstr>1.2 Python安装与运行</vt:lpstr>
      <vt:lpstr>1.2 Python安装与运行</vt:lpstr>
      <vt:lpstr>1.2 Python安装与运行</vt:lpstr>
      <vt:lpstr>1.2 Python安装与运行</vt:lpstr>
      <vt:lpstr>1.2 Python安装与运行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1.3 Python基础编程</vt:lpstr>
      <vt:lpstr>1.4 Python面向对象编程</vt:lpstr>
      <vt:lpstr>1.4 Python面向对象编程</vt:lpstr>
      <vt:lpstr>1.4 Python面向对象编程</vt:lpstr>
      <vt:lpstr>1.4 Python面向对象编程</vt:lpstr>
      <vt:lpstr>1.4 Python面向对象编程</vt:lpstr>
      <vt:lpstr>1.4 Python面向对象编程</vt:lpstr>
      <vt:lpstr>1.4 Python面向对象编程</vt:lpstr>
      <vt:lpstr>1.4 Python面向对象编程</vt:lpstr>
      <vt:lpstr>1.4 Python面向对象编程</vt:lpstr>
      <vt:lpstr>1.5 Python常用库介绍</vt:lpstr>
      <vt:lpstr>1.5 Python常用库介绍</vt:lpstr>
      <vt:lpstr>1.5 Python常用库介绍</vt:lpstr>
      <vt:lpstr>1.5 Python常用库介绍</vt:lpstr>
      <vt:lpstr>1.5 Python常用库介绍</vt:lpstr>
      <vt:lpstr>1.5 Python常用库介绍</vt:lpstr>
      <vt:lpstr>1.5 Python常用库介绍</vt:lpstr>
      <vt:lpstr>1.5 Python常用库介绍</vt:lpstr>
      <vt:lpstr>1.5 Python常用库介绍</vt:lpstr>
      <vt:lpstr>1.5 Python常用库介绍</vt:lpstr>
      <vt:lpstr>1.5 Python常用库介绍</vt:lpstr>
      <vt:lpstr>1.5 Python常用库介绍</vt:lpstr>
      <vt:lpstr>1.5 Python常用库介绍</vt:lpstr>
      <vt:lpstr>1.5 Python常用库介绍</vt:lpstr>
      <vt:lpstr>1.5 Python常用库介绍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Xiaolei LI</dc:creator>
  <cp:lastModifiedBy>Radar</cp:lastModifiedBy>
  <cp:revision>42</cp:revision>
  <dcterms:created xsi:type="dcterms:W3CDTF">2022-07-25T00:08:00Z</dcterms:created>
  <dcterms:modified xsi:type="dcterms:W3CDTF">2026-03-10T13:50:10Z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0D602C53F50840649B5F61BCCD004D36_12</vt:lpwstr>
  </property>
  <property fmtid="{D5CDD505-2E9C-101B-9397-08002B2CF9AE}" pid="3" name="KSOProductBuildVer">
    <vt:lpwstr>2052-12.1.0.25225</vt:lpwstr>
  </property>
</Properties>
</file>