
<file path=[Content_Types].xml><?xml version="1.0" encoding="utf-8"?>
<Types xmlns="http://schemas.openxmlformats.org/package/2006/content-types">
  <Default Extension="xml" ContentType="application/xml"/>
  <Default Extension="jpeg" ContentType="image/jpeg"/>
  <Default Extension="JPG" ContentType="image/.jpg"/>
  <Default Extension="wdp" ContentType="image/vnd.ms-photo"/>
  <Default Extension="png" ContentType="image/png"/>
  <Default Extension="rels" ContentType="application/vnd.openxmlformats-package.relationshi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1"/>
  </p:notesMasterIdLst>
  <p:sldIdLst>
    <p:sldId id="259" r:id="rId4"/>
    <p:sldId id="262" r:id="rId5"/>
    <p:sldId id="263" r:id="rId6"/>
    <p:sldId id="258" r:id="rId7"/>
    <p:sldId id="265" r:id="rId8"/>
    <p:sldId id="284" r:id="rId9"/>
    <p:sldId id="266" r:id="rId10"/>
    <p:sldId id="282" r:id="rId11"/>
    <p:sldId id="283" r:id="rId12"/>
    <p:sldId id="290" r:id="rId13"/>
    <p:sldId id="267" r:id="rId14"/>
    <p:sldId id="285" r:id="rId15"/>
    <p:sldId id="286" r:id="rId16"/>
    <p:sldId id="287" r:id="rId17"/>
    <p:sldId id="288" r:id="rId18"/>
    <p:sldId id="289" r:id="rId19"/>
    <p:sldId id="311" r:id="rId20"/>
    <p:sldId id="314" r:id="rId21"/>
    <p:sldId id="315" r:id="rId22"/>
    <p:sldId id="416" r:id="rId23"/>
    <p:sldId id="319" r:id="rId24"/>
    <p:sldId id="320" r:id="rId25"/>
    <p:sldId id="321" r:id="rId26"/>
    <p:sldId id="325" r:id="rId27"/>
    <p:sldId id="322" r:id="rId28"/>
    <p:sldId id="323" r:id="rId29"/>
    <p:sldId id="324" r:id="rId30"/>
    <p:sldId id="326" r:id="rId31"/>
    <p:sldId id="327" r:id="rId32"/>
    <p:sldId id="328" r:id="rId33"/>
    <p:sldId id="329" r:id="rId34"/>
    <p:sldId id="330" r:id="rId35"/>
    <p:sldId id="331" r:id="rId36"/>
    <p:sldId id="332" r:id="rId37"/>
    <p:sldId id="417" r:id="rId38"/>
    <p:sldId id="333" r:id="rId39"/>
    <p:sldId id="317" r:id="rId40"/>
    <p:sldId id="418" r:id="rId41"/>
    <p:sldId id="419" r:id="rId42"/>
    <p:sldId id="353" r:id="rId43"/>
    <p:sldId id="363" r:id="rId44"/>
    <p:sldId id="354" r:id="rId45"/>
    <p:sldId id="355" r:id="rId46"/>
    <p:sldId id="356" r:id="rId47"/>
    <p:sldId id="357" r:id="rId48"/>
    <p:sldId id="421" r:id="rId49"/>
    <p:sldId id="420" r:id="rId50"/>
    <p:sldId id="358" r:id="rId51"/>
    <p:sldId id="359" r:id="rId52"/>
    <p:sldId id="373" r:id="rId53"/>
    <p:sldId id="360" r:id="rId54"/>
    <p:sldId id="361" r:id="rId55"/>
    <p:sldId id="422" r:id="rId56"/>
    <p:sldId id="362" r:id="rId57"/>
    <p:sldId id="374" r:id="rId58"/>
    <p:sldId id="423" r:id="rId59"/>
    <p:sldId id="415" r:id="rId60"/>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2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2.xml"/><Relationship Id="rId66" Type="http://schemas.openxmlformats.org/officeDocument/2006/relationships/customXml" Target="../customXml/item1.xml"/><Relationship Id="rId65" Type="http://schemas.openxmlformats.org/officeDocument/2006/relationships/customXmlProps" Target="../customXml/itemProps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notesMaster" Target="notesMasters/notes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B3B16-CF5C-426B-ABCC-5FFC277FEE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A7CB6-9882-4267-9499-AC56C1439C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23751"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ctrTitle"/>
          </p:nvPr>
        </p:nvSpPr>
        <p:spPr>
          <a:xfrm>
            <a:off x="349211" y="1927004"/>
            <a:ext cx="7543800" cy="1303869"/>
          </a:xfrm>
        </p:spPr>
        <p:txBody>
          <a:bodyPr anchor="b">
            <a:noAutofit/>
          </a:bodyPr>
          <a:lstStyle>
            <a:lvl1pPr algn="ctr">
              <a:defRPr sz="4800">
                <a:solidFill>
                  <a:schemeClr val="bg1"/>
                </a:solidFill>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38"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23751"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ctrTitle"/>
          </p:nvPr>
        </p:nvSpPr>
        <p:spPr>
          <a:xfrm>
            <a:off x="349211" y="1927004"/>
            <a:ext cx="7543800" cy="1303869"/>
          </a:xfrm>
        </p:spPr>
        <p:txBody>
          <a:bodyPr anchor="b">
            <a:noAutofit/>
          </a:bodyPr>
          <a:lstStyle>
            <a:lvl1pPr algn="ctr">
              <a:defRPr sz="4800">
                <a:solidFill>
                  <a:schemeClr val="bg1"/>
                </a:solidFill>
              </a:defRPr>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5938"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hdphoto" Target="../media/image8.wdp"/><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hdphoto" Target="../media/image10.wdp"/><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microsoft.com/office/2007/relationships/hdphoto" Target="../media/image12.wdp"/><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jpeg"/><Relationship Id="rId2" Type="http://schemas.microsoft.com/office/2007/relationships/hdphoto" Target="../media/image14.wdp"/><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50.wdp"/><Relationship Id="rId1"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lang="en-US" altLang="zh-CN" dirty="0">
                <a:solidFill>
                  <a:schemeClr val="bg1"/>
                </a:solidFill>
                <a:latin typeface="Times New Roman Regular" panose="02020603050405020304" charset="0"/>
                <a:cs typeface="Times New Roman Regular" panose="02020603050405020304" charset="0"/>
              </a:rPr>
              <a:t>第5章</a:t>
            </a:r>
            <a:r>
              <a:rPr lang="zh-CN" altLang="en-US" dirty="0">
                <a:solidFill>
                  <a:schemeClr val="bg1"/>
                </a:solidFill>
                <a:latin typeface="Times New Roman Regular" panose="02020603050405020304" charset="0"/>
                <a:cs typeface="Times New Roman Regular" panose="02020603050405020304" charset="0"/>
              </a:rPr>
              <a:t>序列到序列</a:t>
            </a:r>
            <a:r>
              <a:rPr lang="en-US" altLang="zh-CN" dirty="0" err="1">
                <a:solidFill>
                  <a:schemeClr val="bg1"/>
                </a:solidFill>
                <a:latin typeface="Times New Roman Regular" panose="02020603050405020304" charset="0"/>
                <a:cs typeface="Times New Roman Regular" panose="02020603050405020304" charset="0"/>
              </a:rPr>
              <a:t>网络</a:t>
            </a:r>
            <a:endParaRPr lang="en-US" altLang="zh-CN" dirty="0">
              <a:solidFill>
                <a:schemeClr val="bg1"/>
              </a:solidFill>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日期占位符 7"/>
          <p:cNvSpPr>
            <a:spLocks noGrp="1"/>
          </p:cNvSpPr>
          <p:nvPr>
            <p:ph type="dt" sz="half" idx="10"/>
          </p:nvPr>
        </p:nvSpPr>
        <p:spPr/>
        <p:txBody>
          <a:bodyPr/>
          <a:lstStyle/>
          <a:p>
            <a:fld id="{223324E9-F7C3-44A3-AC2A-B78C44D67144}" type="datetime1">
              <a:rPr lang="zh-CN" altLang="en-US" smtClean="0"/>
            </a:fld>
            <a:endParaRPr lang="zh-CN" altLang="en-US" dirty="0"/>
          </a:p>
        </p:txBody>
      </p:sp>
      <p:sp>
        <p:nvSpPr>
          <p:cNvPr id="7" name="副标题 6"/>
          <p:cNvSpPr>
            <a:spLocks noGrp="1"/>
          </p:cNvSpPr>
          <p:nvPr>
            <p:ph type="subTitle" idx="1"/>
          </p:nvPr>
        </p:nvSpPr>
        <p:spPr>
          <a:xfrm>
            <a:off x="1548514" y="4704981"/>
            <a:ext cx="5842000" cy="778933"/>
          </a:xfrm>
        </p:spPr>
        <p:txBody>
          <a:bodyPr anchor="ctr" anchorCtr="1"/>
          <a:lstStyle/>
          <a:p>
            <a:r>
              <a:rPr lang="en-US" altLang="zh-CN" dirty="0"/>
              <a:t>AI</a:t>
            </a:r>
            <a:r>
              <a:rPr lang="zh-CN" altLang="en-US" dirty="0"/>
              <a:t>工程师学院</a:t>
            </a:r>
            <a:r>
              <a:rPr lang="en-US" altLang="zh-CN" dirty="0"/>
              <a:t> </a:t>
            </a:r>
            <a:r>
              <a:rPr lang="zh-CN" altLang="en-US" dirty="0"/>
              <a:t>王传传</a:t>
            </a:r>
            <a:endParaRPr lang="zh-CN" altLang="en-US" dirty="0"/>
          </a:p>
        </p:txBody>
      </p:sp>
      <p:sp>
        <p:nvSpPr>
          <p:cNvPr id="2" name="副标题 6"/>
          <p:cNvSpPr>
            <a:spLocks noGrp="1"/>
          </p:cNvSpPr>
          <p:nvPr/>
        </p:nvSpPr>
        <p:spPr>
          <a:xfrm>
            <a:off x="1675514" y="4831981"/>
            <a:ext cx="5842000" cy="778933"/>
          </a:xfrm>
          <a:prstGeom prst="rect">
            <a:avLst/>
          </a:prstGeom>
        </p:spPr>
        <p:txBody>
          <a:bodyPr vert="horz" lIns="91440" tIns="45720" rIns="91440" bIns="45720" rtlCol="0" anchor="ctr" anchorCtr="1">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dirty="0"/>
              <a:t>AI</a:t>
            </a:r>
            <a:r>
              <a:rPr lang="zh-CN" altLang="en-US" dirty="0"/>
              <a:t>工程师学院</a:t>
            </a:r>
            <a:r>
              <a:rPr lang="en-US" altLang="zh-CN" dirty="0"/>
              <a:t> </a:t>
            </a:r>
            <a:r>
              <a:rPr lang="zh-CN" altLang="en-US" dirty="0"/>
              <a:t>王传传</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solidFill>
                  <a:schemeClr val="bg1"/>
                </a:solidFill>
              </a:rPr>
              <a:t>绪论</a:t>
            </a:r>
            <a:endParaRPr lang="zh-CN" altLang="en-US">
              <a:solidFill>
                <a:schemeClr val="bg1"/>
              </a:solidFill>
            </a:endParaRPr>
          </a:p>
        </p:txBody>
      </p:sp>
      <p:sp>
        <p:nvSpPr>
          <p:cNvPr id="3" name="内容占位符 2"/>
          <p:cNvSpPr>
            <a:spLocks noGrp="1"/>
          </p:cNvSpPr>
          <p:nvPr>
            <p:ph idx="1"/>
          </p:nvPr>
        </p:nvSpPr>
        <p:spPr/>
        <p:txBody>
          <a:bodyPr/>
          <a:lstStyle/>
          <a:p>
            <a:pPr marL="0" indent="0">
              <a:buNone/>
            </a:pPr>
            <a:r>
              <a:rPr lang="zh-CN" altLang="en-US" sz="2000" b="1" dirty="0">
                <a:latin typeface="Times New Roman Regular" panose="02020603050405020304" charset="0"/>
                <a:cs typeface="Times New Roman Regular" panose="02020603050405020304" charset="0"/>
              </a:rPr>
              <a:t>什么是序列到序列（</a:t>
            </a:r>
            <a:r>
              <a:rPr lang="zh-CN" altLang="en-US" sz="2000" b="1" dirty="0">
                <a:latin typeface="Times New Roman Regular" panose="02020603050405020304" charset="0"/>
                <a:cs typeface="Times New Roman Regular" panose="02020603050405020304" charset="0"/>
                <a:sym typeface="+mn-ea"/>
              </a:rPr>
              <a:t>Sequence-to-Sequence）</a:t>
            </a:r>
            <a:endParaRPr lang="zh-CN" altLang="en-US" sz="2000" b="1" dirty="0">
              <a:latin typeface="Times New Roman Regular" panose="02020603050405020304" charset="0"/>
              <a:cs typeface="Times New Roman Regular" panose="02020603050405020304" charset="0"/>
            </a:endParaRPr>
          </a:p>
          <a:p>
            <a:r>
              <a:rPr lang="zh-CN" altLang="en-US" sz="2000" dirty="0">
                <a:latin typeface="Times New Roman Regular" panose="02020603050405020304" charset="0"/>
                <a:cs typeface="Times New Roman Regular" panose="02020603050405020304" charset="0"/>
              </a:rPr>
              <a:t>在上一章介绍的全连接神经网络和卷积神经网络中，网络所接收的输入数据都是互相独立且完整的样本，可以编码为一个向量（全连接层输入一维向量，卷积网络输入二维向量），能够在单次前向传播后输出预测结果，例如输入一张完整的图片，输出预测的图像类别。然而，针对视频、语音、文本这类具有时序结构的数据的相关任务却无法采用这种模式，这是因为它们的输入和输出均为向量序列，因此此类问题称为Sequence-to-Sequence（常缩写为Seq2seq）。</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normAutofit/>
          </a:bodyPr>
          <a:lstStyle/>
          <a:p>
            <a:r>
              <a:rPr lang="zh-CN" altLang="en-US">
                <a:sym typeface="+mn-ea"/>
              </a:rPr>
              <a:t>绪论</a:t>
            </a:r>
            <a:endParaRPr lang="zh-CN" altLang="en-US">
              <a:solidFill>
                <a:schemeClr val="bg1"/>
              </a:solidFill>
            </a:endParaRPr>
          </a:p>
        </p:txBody>
      </p:sp>
      <p:sp>
        <p:nvSpPr>
          <p:cNvPr id="3" name="内容占位符 2"/>
          <p:cNvSpPr>
            <a:spLocks noGrp="1"/>
          </p:cNvSpPr>
          <p:nvPr>
            <p:ph idx="1"/>
          </p:nvPr>
        </p:nvSpPr>
        <p:spPr>
          <a:xfrm>
            <a:off x="838200" y="1825625"/>
            <a:ext cx="10515600" cy="750570"/>
          </a:xfrm>
        </p:spPr>
        <p:txBody>
          <a:bodyPr>
            <a:normAutofit lnSpcReduction="10000"/>
          </a:bodyPr>
          <a:lstStyle/>
          <a:p>
            <a:pPr marL="0" indent="0">
              <a:buNone/>
            </a:pPr>
            <a:r>
              <a:rPr lang="en-US" altLang="zh-CN" sz="2000" b="1">
                <a:latin typeface="Times New Roman Regular" panose="02020603050405020304" charset="0"/>
                <a:cs typeface="Times New Roman Regular" panose="02020603050405020304" charset="0"/>
              </a:rPr>
              <a:t>RNN</a:t>
            </a:r>
            <a:r>
              <a:rPr lang="zh-CN" altLang="en-US" sz="2000" b="1">
                <a:latin typeface="Times New Roman Regular" panose="02020603050405020304" charset="0"/>
                <a:cs typeface="Times New Roman Regular" panose="02020603050405020304" charset="0"/>
              </a:rPr>
              <a:t>分类</a:t>
            </a:r>
            <a:endParaRPr lang="zh-CN" altLang="en-US" sz="2000" b="1">
              <a:latin typeface="Times New Roman Regular" panose="02020603050405020304" charset="0"/>
              <a:cs typeface="Times New Roman Regular" panose="02020603050405020304" charset="0"/>
            </a:endParaRPr>
          </a:p>
          <a:p>
            <a:pPr marL="0" indent="0">
              <a:buNone/>
            </a:pPr>
            <a:r>
              <a:rPr lang="zh-CN" altLang="en-US" sz="2000">
                <a:latin typeface="Times New Roman Regular" panose="02020603050405020304" charset="0"/>
                <a:cs typeface="Times New Roman Regular" panose="02020603050405020304" charset="0"/>
              </a:rPr>
              <a:t>根据</a:t>
            </a:r>
            <a:r>
              <a:rPr lang="zh-CN" altLang="en-US" sz="2000" u="sng">
                <a:latin typeface="Times New Roman Regular" panose="02020603050405020304" charset="0"/>
                <a:cs typeface="Times New Roman Regular" panose="02020603050405020304" charset="0"/>
              </a:rPr>
              <a:t>输入与输出向量序列的长度</a:t>
            </a:r>
            <a:r>
              <a:rPr lang="zh-CN" altLang="en-US" sz="2000">
                <a:latin typeface="Times New Roman Regular" panose="02020603050405020304" charset="0"/>
                <a:cs typeface="Times New Roman Regular" panose="02020603050405020304" charset="0"/>
              </a:rPr>
              <a:t>，常见的模型有以下几类</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394" name="Picture 2394" descr="图形用户界面, 文本, 应用程序, 聊天或短信&#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81710" y="4633595"/>
            <a:ext cx="3030855" cy="587375"/>
          </a:xfrm>
          <a:prstGeom prst="rect">
            <a:avLst/>
          </a:prstGeom>
        </p:spPr>
      </p:pic>
      <p:sp>
        <p:nvSpPr>
          <p:cNvPr id="7" name="内容占位符 2"/>
          <p:cNvSpPr>
            <a:spLocks noGrp="1"/>
          </p:cNvSpPr>
          <p:nvPr/>
        </p:nvSpPr>
        <p:spPr>
          <a:xfrm>
            <a:off x="838200" y="2625090"/>
            <a:ext cx="3317240" cy="3917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a:cs typeface="+mn-lt"/>
            </a:endParaRPr>
          </a:p>
          <a:p>
            <a:r>
              <a:rPr lang="zh-CN" altLang="en-US" sz="2000">
                <a:cs typeface="+mn-lt"/>
              </a:rPr>
              <a:t>输入向量序列与输出向量序列长度一致，常见于词性分析，即对文本数据的每个单词预测词性：</a:t>
            </a:r>
            <a:endParaRPr lang="zh-CN" altLang="en-US" sz="2000">
              <a:cs typeface="+mn-lt"/>
            </a:endParaRPr>
          </a:p>
        </p:txBody>
      </p:sp>
      <p:sp>
        <p:nvSpPr>
          <p:cNvPr id="8" name="内容占位符 2"/>
          <p:cNvSpPr>
            <a:spLocks noGrp="1"/>
          </p:cNvSpPr>
          <p:nvPr/>
        </p:nvSpPr>
        <p:spPr>
          <a:xfrm>
            <a:off x="4446905" y="2625090"/>
            <a:ext cx="3317240" cy="3917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a:cs typeface="+mn-lt"/>
            </a:endParaRPr>
          </a:p>
          <a:p>
            <a:r>
              <a:rPr lang="zh-CN" altLang="en-US" sz="2000">
                <a:latin typeface="Times New Roman Regular" panose="02020603050405020304" charset="0"/>
                <a:cs typeface="Times New Roman Regular" panose="02020603050405020304" charset="0"/>
                <a:sym typeface="+mn-ea"/>
              </a:rPr>
              <a:t>输入向量序列长度不定，输出向量序列长度为1，常见于文本分类：</a:t>
            </a:r>
            <a:endParaRPr lang="zh-CN" altLang="en-US" sz="2000">
              <a:cs typeface="+mn-lt"/>
            </a:endParaRPr>
          </a:p>
        </p:txBody>
      </p:sp>
      <p:sp>
        <p:nvSpPr>
          <p:cNvPr id="9" name="内容占位符 2"/>
          <p:cNvSpPr>
            <a:spLocks noGrp="1"/>
          </p:cNvSpPr>
          <p:nvPr/>
        </p:nvSpPr>
        <p:spPr>
          <a:xfrm>
            <a:off x="8055610" y="2625090"/>
            <a:ext cx="3317240" cy="3917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a:cs typeface="+mn-lt"/>
            </a:endParaRPr>
          </a:p>
          <a:p>
            <a:r>
              <a:rPr lang="zh-CN" altLang="en-US" sz="2000">
                <a:sym typeface="+mn-ea"/>
              </a:rPr>
              <a:t>输入向量序列与输出向量序列的长度均不固定，常见于机器翻译</a:t>
            </a:r>
            <a:endParaRPr lang="zh-CN" altLang="en-US" sz="2000">
              <a:cs typeface="+mn-lt"/>
            </a:endParaRPr>
          </a:p>
        </p:txBody>
      </p:sp>
      <p:pic>
        <p:nvPicPr>
          <p:cNvPr id="2395" name="Picture 2395" descr="图片包含 图标&#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02175" y="4614545"/>
            <a:ext cx="2810510" cy="410210"/>
          </a:xfrm>
          <a:prstGeom prst="rect">
            <a:avLst/>
          </a:prstGeom>
        </p:spPr>
      </p:pic>
      <p:pic>
        <p:nvPicPr>
          <p:cNvPr id="2396" name="Picture 2396" descr="图形用户界面, 文本, 应用程序, 聊天或短信&#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8625" y="4573270"/>
            <a:ext cx="3500120" cy="657860"/>
          </a:xfrm>
          <a:prstGeom prst="rect">
            <a:avLst/>
          </a:prstGeom>
        </p:spPr>
      </p:pic>
      <p:sp>
        <p:nvSpPr>
          <p:cNvPr id="10" name="Rectangles 9"/>
          <p:cNvSpPr/>
          <p:nvPr/>
        </p:nvSpPr>
        <p:spPr>
          <a:xfrm>
            <a:off x="859155" y="5092700"/>
            <a:ext cx="271780" cy="27178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s 10"/>
          <p:cNvSpPr/>
          <p:nvPr/>
        </p:nvSpPr>
        <p:spPr>
          <a:xfrm>
            <a:off x="3886835" y="4495800"/>
            <a:ext cx="271780" cy="27178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s 11"/>
          <p:cNvSpPr/>
          <p:nvPr/>
        </p:nvSpPr>
        <p:spPr>
          <a:xfrm>
            <a:off x="3907155" y="5092700"/>
            <a:ext cx="271780" cy="27178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sym typeface="+mn-ea"/>
              </a:rPr>
              <a:t>绪论</a:t>
            </a:r>
            <a:endParaRPr lang="zh-CN" altLang="en-US">
              <a:solidFill>
                <a:schemeClr val="bg1"/>
              </a:solidFill>
            </a:endParaRPr>
          </a:p>
        </p:txBody>
      </p:sp>
      <p:sp>
        <p:nvSpPr>
          <p:cNvPr id="3" name="内容占位符 2"/>
          <p:cNvSpPr>
            <a:spLocks noGrp="1"/>
          </p:cNvSpPr>
          <p:nvPr>
            <p:ph idx="1"/>
          </p:nvPr>
        </p:nvSpPr>
        <p:spPr>
          <a:xfrm>
            <a:off x="838835" y="2427605"/>
            <a:ext cx="4947285" cy="3501390"/>
          </a:xfrm>
        </p:spPr>
        <p:txBody>
          <a:bodyPr/>
          <a:lstStyle/>
          <a:p>
            <a:pPr algn="just"/>
            <a:r>
              <a:rPr lang="zh-CN" altLang="en-US" sz="2000">
                <a:latin typeface="Times New Roman Regular" panose="02020603050405020304" charset="0"/>
                <a:cs typeface="Times New Roman Regular" panose="02020603050405020304" charset="0"/>
              </a:rPr>
              <a:t>对于语音数据，常用的编码方法是使用25ms的滑动窗口，以10ms为步长，对窗口内的语音数据提取特征，得到语音的向量序列。</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283" name="Picture 2283" descr="图表, 图示&#10;&#10;中度可信度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54760" y="4100195"/>
            <a:ext cx="4114800" cy="1828800"/>
          </a:xfrm>
          <a:prstGeom prst="rect">
            <a:avLst/>
          </a:prstGeom>
        </p:spPr>
      </p:pic>
      <p:sp>
        <p:nvSpPr>
          <p:cNvPr id="7" name="内容占位符 2"/>
          <p:cNvSpPr>
            <a:spLocks noGrp="1"/>
          </p:cNvSpPr>
          <p:nvPr/>
        </p:nvSpPr>
        <p:spPr>
          <a:xfrm>
            <a:off x="6200140" y="2427605"/>
            <a:ext cx="5153025" cy="35013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a:latin typeface="Times New Roman Regular" panose="02020603050405020304" charset="0"/>
                <a:cs typeface="Times New Roman Regular" panose="02020603050405020304" charset="0"/>
              </a:rPr>
              <a:t>对于文本数据，则常常将每个单词映射到特征向量，这一过程称为Word Embedding，其中具有相似语义的单词特征向量可以形成聚类。</a:t>
            </a:r>
            <a:endParaRPr lang="en-US" altLang="zh-CN" sz="2000">
              <a:latin typeface="Times New Roman Regular" panose="02020603050405020304" charset="0"/>
              <a:cs typeface="Times New Roman Regular" panose="02020603050405020304" charset="0"/>
            </a:endParaRPr>
          </a:p>
        </p:txBody>
      </p:sp>
      <p:pic>
        <p:nvPicPr>
          <p:cNvPr id="2284" name="Picture 2284" descr="图示&#10;&#10;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8425" y="3991610"/>
            <a:ext cx="4699000" cy="2046605"/>
          </a:xfrm>
          <a:prstGeom prst="rect">
            <a:avLst/>
          </a:prstGeom>
        </p:spPr>
      </p:pic>
      <p:sp>
        <p:nvSpPr>
          <p:cNvPr id="8" name="内容占位符 2"/>
          <p:cNvSpPr>
            <a:spLocks noGrp="1"/>
          </p:cNvSpPr>
          <p:nvPr/>
        </p:nvSpPr>
        <p:spPr>
          <a:xfrm>
            <a:off x="838835" y="1772285"/>
            <a:ext cx="10515600" cy="434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a:latin typeface="Times New Roman Regular" panose="02020603050405020304" charset="0"/>
                <a:ea typeface="+mn-lt"/>
                <a:cs typeface="Times New Roman Regular" panose="02020603050405020304" charset="0"/>
              </a:rPr>
              <a:t>序列生成方法</a:t>
            </a:r>
            <a:endParaRPr lang="zh-CN" altLang="en-US" sz="2000" b="1">
              <a:latin typeface="Times New Roman Regular" panose="02020603050405020304" charset="0"/>
              <a:ea typeface="+mn-lt"/>
              <a:cs typeface="Times New Roman Regular"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sym typeface="+mn-ea"/>
              </a:rPr>
              <a:t>绪论</a:t>
            </a:r>
            <a:endParaRPr lang="zh-CN" altLang="en-US">
              <a:solidFill>
                <a:schemeClr val="bg1"/>
              </a:solidFill>
            </a:endParaRPr>
          </a:p>
        </p:txBody>
      </p:sp>
      <p:sp>
        <p:nvSpPr>
          <p:cNvPr id="3" name="内容占位符 2"/>
          <p:cNvSpPr>
            <a:spLocks noGrp="1"/>
          </p:cNvSpPr>
          <p:nvPr>
            <p:ph idx="1"/>
          </p:nvPr>
        </p:nvSpPr>
        <p:spPr>
          <a:xfrm>
            <a:off x="838200" y="1825625"/>
            <a:ext cx="9895205" cy="4351655"/>
          </a:xfrm>
        </p:spPr>
        <p:txBody>
          <a:bodyPr/>
          <a:lstStyle/>
          <a:p>
            <a:pPr algn="just"/>
            <a:r>
              <a:rPr lang="zh-CN" altLang="en-US" sz="2000">
                <a:latin typeface="Times New Roman Regular" panose="02020603050405020304" charset="0"/>
                <a:cs typeface="Times New Roman Regular" panose="02020603050405020304" charset="0"/>
              </a:rPr>
              <a:t>为了解决单个输入样本是一个向量序列的问题，在本章将首先介绍循环神经网络（Recurrent neural networks），与卷积神经网络不同，它的输入是长度不定的向量序列，其同时对序列中每个向量都进行特征提取得到输出。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201" name="Picture 2200" descr="图示&#10;&#10;描述已自动生成"/>
          <p:cNvPicPr>
            <a:picLocks noChangeAspect="1"/>
          </p:cNvPicPr>
          <p:nvPr/>
        </p:nvPicPr>
        <p:blipFill>
          <a:blip r:embed="rId1">
            <a:extLst>
              <a:ext uri="{BEBA8EAE-BF5A-486C-A8C5-ECC9F3942E4B}">
                <a14:imgProps xmlns:a14="http://schemas.microsoft.com/office/drawing/2010/main">
                  <a14:imgLayer r:embed="rId2">
                    <a14:imgEffect>
                      <a14:sharpenSoften amount="25000"/>
                    </a14:imgEffect>
                  </a14:imgLayer>
                </a14:imgProps>
              </a:ext>
            </a:extLst>
          </a:blip>
          <a:srcRect/>
          <a:stretch>
            <a:fillRect/>
          </a:stretch>
        </p:blipFill>
        <p:spPr>
          <a:xfrm>
            <a:off x="1756410" y="2785745"/>
            <a:ext cx="8679815" cy="344424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41501"/>
            <a:ext cx="10515600" cy="978446"/>
          </a:xfrm>
        </p:spPr>
        <p:txBody>
          <a:bodyPr>
            <a:noAutofit/>
          </a:bodyPr>
          <a:lstStyle/>
          <a:p>
            <a:r>
              <a:rPr lang="zh-CN" altLang="en-US" dirty="0">
                <a:solidFill>
                  <a:schemeClr val="bg1"/>
                </a:solidFill>
                <a:latin typeface="Times New Roman Regular" panose="02020603050405020304" charset="0"/>
                <a:cs typeface="Times New Roman Regular" panose="02020603050405020304" charset="0"/>
              </a:rPr>
              <a:t>5.1</a:t>
            </a:r>
            <a:r>
              <a:rPr lang="en-US" altLang="zh-CN" dirty="0">
                <a:solidFill>
                  <a:schemeClr val="bg1"/>
                </a:solidFill>
                <a:latin typeface="Times New Roman Regular" panose="02020603050405020304" charset="0"/>
                <a:cs typeface="Times New Roman Regular" panose="02020603050405020304" charset="0"/>
              </a:rPr>
              <a:t> </a:t>
            </a:r>
            <a:r>
              <a:rPr lang="zh-CN" altLang="en-US" dirty="0">
                <a:solidFill>
                  <a:schemeClr val="bg1"/>
                </a:solidFill>
                <a:latin typeface="Times New Roman Regular" panose="02020603050405020304" charset="0"/>
                <a:cs typeface="Times New Roman Regular" panose="02020603050405020304" charset="0"/>
              </a:rPr>
              <a:t>循环神经网络(RNN)</a:t>
            </a:r>
            <a:endParaRPr lang="zh-CN" altLang="en-US" dirty="0">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a:xfrm>
            <a:off x="838200" y="1583690"/>
            <a:ext cx="10515600" cy="4593590"/>
          </a:xfrm>
        </p:spPr>
        <p:txBody>
          <a:bodyPr/>
          <a:lstStyle/>
          <a:p>
            <a:pPr marL="0" indent="0" algn="just">
              <a:buNone/>
            </a:pPr>
            <a:r>
              <a:rPr lang="en-US" altLang="zh-CN" sz="2400" b="1">
                <a:latin typeface="Times New Roman Regular" panose="02020603050405020304" charset="0"/>
                <a:cs typeface="Times New Roman Regular" panose="02020603050405020304" charset="0"/>
              </a:rPr>
              <a:t>5.1.1 RNN</a:t>
            </a:r>
            <a:r>
              <a:rPr lang="zh-CN" altLang="en-US" sz="2400" b="1">
                <a:latin typeface="Times New Roman Regular" panose="02020603050405020304" charset="0"/>
                <a:cs typeface="Times New Roman Regular" panose="02020603050405020304" charset="0"/>
              </a:rPr>
              <a:t>的基本原理</a:t>
            </a:r>
            <a:endParaRPr lang="zh-CN" altLang="en-US" sz="24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RNN的基础结构下图所示，它的基本单元称为cell，它能够以隐藏状态（hidden state）的形式来连接序列数据。RNN cell的每个时间步（timestep，即序列数据中的各个元素的位置）的输入是向量序列数据的一个元素和隐藏状态，并输出一个新的隐藏状态。在初始时刻，隐藏状态使用随机初始化，随着序列数据的输入，它被逐步进行编码，每个时间步的输出都依赖于</a:t>
            </a:r>
            <a:r>
              <a:rPr lang="zh-CN" altLang="en-US" sz="2000" u="sng">
                <a:latin typeface="Times New Roman Regular" panose="02020603050405020304" charset="0"/>
                <a:cs typeface="Times New Roman Regular" panose="02020603050405020304" charset="0"/>
              </a:rPr>
              <a:t>之前所有时间步</a:t>
            </a:r>
            <a:r>
              <a:rPr lang="zh-CN" altLang="en-US" sz="2000">
                <a:latin typeface="Times New Roman Regular" panose="02020603050405020304" charset="0"/>
                <a:cs typeface="Times New Roman Regular" panose="02020603050405020304" charset="0"/>
              </a:rPr>
              <a:t>的数据。</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532" name="Picture 2532" descr="图示&#10;&#10;描述已自动生成"/>
          <p:cNvPicPr>
            <a:picLocks noChangeAspect="1"/>
          </p:cNvPicPr>
          <p:nvPr/>
        </p:nvPicPr>
        <p:blipFill>
          <a:blip r:embed="rId1" cstate="print">
            <a:extLst>
              <a:ext uri="{BEBA8EAE-BF5A-486C-A8C5-ECC9F3942E4B}">
                <a14:imgProps xmlns:a14="http://schemas.microsoft.com/office/drawing/2010/main">
                  <a14:imgLayer r:embed="rId2">
                    <a14:imgEffect>
                      <a14:sharpenSoften amount="25000"/>
                    </a14:imgEffect>
                  </a14:imgLayer>
                </a14:imgProps>
              </a:ext>
              <a:ext uri="{28A0092B-C50C-407E-A947-70E740481C1C}">
                <a14:useLocalDpi xmlns:a14="http://schemas.microsoft.com/office/drawing/2010/main" val="0"/>
              </a:ext>
            </a:extLst>
          </a:blip>
          <a:srcRect l="241" t="-8" r="-1"/>
          <a:stretch>
            <a:fillRect/>
          </a:stretch>
        </p:blipFill>
        <p:spPr>
          <a:xfrm>
            <a:off x="1561465" y="3764915"/>
            <a:ext cx="9069070" cy="2065020"/>
          </a:xfrm>
          <a:prstGeom prst="snipRoundRect">
            <a:avLst/>
          </a:prstGeom>
          <a:ln w="9525" cap="flat" cmpd="sng" algn="ctr">
            <a:solidFill>
              <a:sysClr val="window" lastClr="FFFFFF"/>
            </a:solidFill>
            <a:prstDash val="solid"/>
            <a:round/>
            <a:headEnd type="none" w="med" len="med"/>
            <a:tailEnd type="none" w="med" len="me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41501"/>
            <a:ext cx="10515600" cy="978446"/>
          </a:xfrm>
        </p:spPr>
        <p:txBody>
          <a:bodyPr>
            <a:noAutofit/>
          </a:bodyPr>
          <a:lstStyle/>
          <a:p>
            <a:r>
              <a:rPr lang="zh-CN" altLang="en-US" dirty="0">
                <a:latin typeface="Times New Roman Regular" panose="02020603050405020304" charset="0"/>
                <a:cs typeface="Times New Roman Regular" panose="02020603050405020304" charset="0"/>
                <a:sym typeface="+mn-ea"/>
              </a:rPr>
              <a:t>5.1</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循环神经网络(RNN)</a:t>
            </a:r>
            <a:endParaRPr lang="zh-CN" altLang="en-US" dirty="0">
              <a:solidFill>
                <a:schemeClr val="bg1"/>
              </a:solidFill>
              <a:latin typeface="Times New Roman Regular" panose="02020603050405020304" charset="0"/>
              <a:cs typeface="Times New Roman Regular" panose="02020603050405020304" charset="0"/>
              <a:sym typeface="+mn-ea"/>
            </a:endParaRPr>
          </a:p>
        </p:txBody>
      </p:sp>
      <p:sp>
        <p:nvSpPr>
          <p:cNvPr id="3" name="内容占位符 2"/>
          <p:cNvSpPr>
            <a:spLocks noGrp="1"/>
          </p:cNvSpPr>
          <p:nvPr>
            <p:ph idx="1"/>
          </p:nvPr>
        </p:nvSpPr>
        <p:spPr/>
        <p:txBody>
          <a:bodyPr/>
          <a:lstStyle/>
          <a:p>
            <a:pPr marL="0" indent="0">
              <a:buNone/>
            </a:pPr>
            <a:r>
              <a:rPr lang="en-US" altLang="zh-CN" sz="2000" b="1">
                <a:latin typeface="Times New Roman Regular" panose="02020603050405020304" charset="0"/>
                <a:cs typeface="Times New Roman Regular" panose="02020603050405020304" charset="0"/>
              </a:rPr>
              <a:t>RNN</a:t>
            </a:r>
            <a:r>
              <a:rPr lang="zh-CN" altLang="en-US" sz="2000" b="1">
                <a:latin typeface="Times New Roman Regular" panose="02020603050405020304" charset="0"/>
                <a:cs typeface="Times New Roman Regular" panose="02020603050405020304" charset="0"/>
              </a:rPr>
              <a:t>的输出形式</a:t>
            </a:r>
            <a:endParaRPr lang="zh-CN" altLang="en-US" sz="2000" b="1">
              <a:latin typeface="Times New Roman Regular" panose="02020603050405020304" charset="0"/>
              <a:cs typeface="Times New Roman Regular" panose="02020603050405020304" charset="0"/>
            </a:endParaRPr>
          </a:p>
          <a:p>
            <a:pPr marL="0" indent="0">
              <a:buNone/>
            </a:pPr>
            <a:r>
              <a:rPr lang="zh-CN" altLang="en-US" sz="2000"/>
              <a:t>隐藏状态可以被进一步编码得到输出向量，针对不同的任务，最终的输出形式有所不同。</a:t>
            </a:r>
            <a:endParaRPr lang="zh-CN" altLang="en-US" sz="2000"/>
          </a:p>
          <a:p>
            <a:r>
              <a:rPr lang="zh-CN" altLang="en-US" sz="2000"/>
              <a:t>在</a:t>
            </a:r>
            <a:r>
              <a:rPr lang="zh-CN" altLang="en-US" sz="2000" u="sng"/>
              <a:t>输入向量序列与输出向量序列长度</a:t>
            </a:r>
            <a:r>
              <a:rPr lang="zh-CN" altLang="en-US" sz="2000"/>
              <a:t>一致的任务中，对</a:t>
            </a:r>
            <a:r>
              <a:rPr lang="zh-CN" altLang="en-US" sz="2000" u="sng"/>
              <a:t>每个隐藏状态</a:t>
            </a:r>
            <a:r>
              <a:rPr lang="zh-CN" altLang="en-US" sz="2000"/>
              <a:t>都预测输出向量。</a:t>
            </a:r>
            <a:endParaRPr lang="zh-CN" altLang="en-US" sz="2000"/>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724" name="Picture 2724" descr="图示&#10;&#10;描述已自动生成"/>
          <p:cNvPicPr>
            <a:picLocks noChangeAspect="1"/>
          </p:cNvPicPr>
          <p:nvPr/>
        </p:nvPicPr>
        <p:blipFill>
          <a:blip r:embed="rId1" cstate="print">
            <a:extLst>
              <a:ext uri="{BEBA8EAE-BF5A-486C-A8C5-ECC9F3942E4B}">
                <a14:imgProps xmlns:a14="http://schemas.microsoft.com/office/drawing/2010/main">
                  <a14:imgLayer r:embed="rId2">
                    <a14:imgEffect>
                      <a14:sharpenSoften amount="34000"/>
                    </a14:imgEffect>
                  </a14:imgLayer>
                </a14:imgProps>
              </a:ext>
              <a:ext uri="{28A0092B-C50C-407E-A947-70E740481C1C}">
                <a14:useLocalDpi xmlns:a14="http://schemas.microsoft.com/office/drawing/2010/main" val="0"/>
              </a:ext>
            </a:extLst>
          </a:blip>
          <a:stretch>
            <a:fillRect/>
          </a:stretch>
        </p:blipFill>
        <p:spPr>
          <a:xfrm>
            <a:off x="1233032" y="3061970"/>
            <a:ext cx="9279890" cy="29146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41501"/>
            <a:ext cx="10515600" cy="978446"/>
          </a:xfrm>
        </p:spPr>
        <p:txBody>
          <a:bodyPr>
            <a:noAutofit/>
          </a:bodyPr>
          <a:lstStyle/>
          <a:p>
            <a:r>
              <a:rPr lang="zh-CN" altLang="en-US" dirty="0">
                <a:latin typeface="Times New Roman Regular" panose="02020603050405020304" charset="0"/>
                <a:cs typeface="Times New Roman Regular" panose="02020603050405020304" charset="0"/>
                <a:sym typeface="+mn-ea"/>
              </a:rPr>
              <a:t>5.1</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循环神经网络(RNN)</a:t>
            </a:r>
            <a:endParaRPr lang="zh-CN" altLang="en-US" dirty="0">
              <a:solidFill>
                <a:schemeClr val="bg1"/>
              </a:solidFill>
            </a:endParaRPr>
          </a:p>
        </p:txBody>
      </p:sp>
      <p:sp>
        <p:nvSpPr>
          <p:cNvPr id="3" name="内容占位符 2"/>
          <p:cNvSpPr>
            <a:spLocks noGrp="1"/>
          </p:cNvSpPr>
          <p:nvPr>
            <p:ph idx="1"/>
          </p:nvPr>
        </p:nvSpPr>
        <p:spPr>
          <a:xfrm>
            <a:off x="838200" y="1825625"/>
            <a:ext cx="5829935" cy="4351655"/>
          </a:xfrm>
        </p:spPr>
        <p:txBody>
          <a:bodyPr/>
          <a:lstStyle/>
          <a:p>
            <a:pPr algn="just"/>
            <a:r>
              <a:rPr lang="zh-CN" altLang="en-US" sz="2000"/>
              <a:t>而对于仅需要</a:t>
            </a:r>
            <a:r>
              <a:rPr lang="zh-CN" altLang="en-US" sz="2000" u="sng"/>
              <a:t>单一输出向量</a:t>
            </a:r>
            <a:r>
              <a:rPr lang="zh-CN" altLang="en-US" sz="2000"/>
              <a:t>的任务，则一般只对</a:t>
            </a:r>
            <a:r>
              <a:rPr lang="zh-CN" altLang="en-US" sz="2000" u="sng"/>
              <a:t>最后一个隐藏状态进行编码输出</a:t>
            </a:r>
            <a:r>
              <a:rPr lang="zh-CN" altLang="en-US" sz="2000"/>
              <a:t>，如下图所示</a:t>
            </a:r>
            <a:endParaRPr lang="zh-CN" altLang="en-US" sz="2000"/>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2" name="图片 22" descr="https://blog.floydhub.com/content/images/2019/04/Slide6.jpg"/>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30000"/>
                    </a14:imgEffect>
                  </a14:imgLayer>
                </a14:imgProps>
              </a:ext>
              <a:ext uri="{28A0092B-C50C-407E-A947-70E740481C1C}">
                <a14:useLocalDpi xmlns:a14="http://schemas.microsoft.com/office/drawing/2010/main" val="0"/>
              </a:ext>
            </a:extLst>
          </a:blip>
          <a:srcRect/>
          <a:stretch>
            <a:fillRect/>
          </a:stretch>
        </p:blipFill>
        <p:spPr>
          <a:xfrm>
            <a:off x="958850" y="2822575"/>
            <a:ext cx="6306820" cy="2131695"/>
          </a:xfrm>
          <a:prstGeom prst="rect">
            <a:avLst/>
          </a:prstGeom>
          <a:noFill/>
          <a:ln>
            <a:noFill/>
          </a:ln>
        </p:spPr>
      </p:pic>
      <p:sp>
        <p:nvSpPr>
          <p:cNvPr id="7" name="内容占位符 2"/>
          <p:cNvSpPr>
            <a:spLocks noGrp="1"/>
          </p:cNvSpPr>
          <p:nvPr/>
        </p:nvSpPr>
        <p:spPr>
          <a:xfrm>
            <a:off x="7403465" y="1825625"/>
            <a:ext cx="394970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a:latin typeface="Times New Roman Regular" panose="02020603050405020304" charset="0"/>
                <a:cs typeface="Times New Roman Regular" panose="02020603050405020304" charset="0"/>
              </a:rPr>
              <a:t>应该注意的是，在左图中序列数据的每个时间步使用同一个cell单元，即同一个cell单元在RNN网络中被重复使用，因此也可以表示为</a:t>
            </a:r>
            <a:endParaRPr lang="zh-CN" altLang="en-US" sz="2000">
              <a:latin typeface="Times New Roman Regular" panose="02020603050405020304" charset="0"/>
              <a:cs typeface="Times New Roman Regular" panose="02020603050405020304" charset="0"/>
            </a:endParaRPr>
          </a:p>
        </p:txBody>
      </p:sp>
      <p:pic>
        <p:nvPicPr>
          <p:cNvPr id="2669" name="Picture 2669" descr="图示&#10;&#10;描述已自动生成"/>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32140" y="3322320"/>
            <a:ext cx="2708275" cy="27451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41501"/>
            <a:ext cx="10515600" cy="978446"/>
          </a:xfrm>
        </p:spPr>
        <p:txBody>
          <a:bodyPr>
            <a:noAutofit/>
          </a:bodyPr>
          <a:lstStyle/>
          <a:p>
            <a:r>
              <a:rPr lang="zh-CN" altLang="en-US" dirty="0">
                <a:latin typeface="Times New Roman Regular" panose="02020603050405020304" charset="0"/>
                <a:cs typeface="Times New Roman Regular" panose="02020603050405020304" charset="0"/>
                <a:sym typeface="+mn-ea"/>
              </a:rPr>
              <a:t>5.1</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循环神经网络(RNN)</a:t>
            </a:r>
            <a:endParaRPr lang="zh-CN" altLang="en-US" dirty="0">
              <a:solidFill>
                <a:schemeClr val="bg1"/>
              </a:solidFill>
            </a:endParaRPr>
          </a:p>
        </p:txBody>
      </p:sp>
      <p:sp>
        <p:nvSpPr>
          <p:cNvPr id="3" name="内容占位符 2"/>
          <p:cNvSpPr>
            <a:spLocks noGrp="1"/>
          </p:cNvSpPr>
          <p:nvPr>
            <p:ph idx="1"/>
          </p:nvPr>
        </p:nvSpPr>
        <p:spPr>
          <a:xfrm>
            <a:off x="838200" y="1825625"/>
            <a:ext cx="10515600" cy="4351655"/>
          </a:xfrm>
        </p:spPr>
        <p:txBody>
          <a:bodyPr/>
          <a:lstStyle/>
          <a:p>
            <a:pPr marL="0" indent="0" algn="just">
              <a:buNone/>
            </a:pPr>
            <a:r>
              <a:rPr lang="en-US" altLang="zh-CN" sz="2000" b="1">
                <a:latin typeface="Times New Roman Regular" panose="02020603050405020304" charset="0"/>
                <a:cs typeface="Times New Roman Regular" panose="02020603050405020304" charset="0"/>
              </a:rPr>
              <a:t>RNN</a:t>
            </a:r>
            <a:r>
              <a:rPr lang="zh-CN" altLang="en-US" sz="2000" b="1">
                <a:latin typeface="Times New Roman Regular" panose="02020603050405020304" charset="0"/>
                <a:cs typeface="Times New Roman Regular" panose="02020603050405020304" charset="0"/>
              </a:rPr>
              <a:t>计算逻辑</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RNN cell的内部计算逻辑可以用下图表示，输入向量首先经过权重矩阵和偏置向量编码，上个时间步的隐藏状态经过权重矩阵编码，二者相加得到特征向量，并作为当前时间步更新后的隐藏状态。如果当前时间步的隐藏状态需要预测输出向量，则进一步对特征向量经过权重矩阵和偏置向量的编码，得到输出特征向量</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409" name="图片 409" descr="C:\Users\zyd19\AppData\Local\Temp\ksohtml12036\wps35.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512185" y="3773805"/>
            <a:ext cx="5098415" cy="258254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normAutofit/>
          </a:bodyPr>
          <a:lstStyle/>
          <a:p>
            <a:r>
              <a:rPr lang="zh-CN" altLang="en-US" dirty="0">
                <a:solidFill>
                  <a:schemeClr val="bg1"/>
                </a:solidFill>
                <a:latin typeface="Times New Roman Regular" panose="02020603050405020304" charset="0"/>
                <a:cs typeface="Times New Roman Regular" panose="02020603050405020304" charset="0"/>
              </a:rPr>
              <a:t>5.2</a:t>
            </a:r>
            <a:r>
              <a:rPr lang="en-US" altLang="zh-CN" dirty="0">
                <a:solidFill>
                  <a:schemeClr val="bg1"/>
                </a:solidFill>
                <a:latin typeface="Times New Roman Regular" panose="02020603050405020304" charset="0"/>
                <a:cs typeface="Times New Roman Regular" panose="02020603050405020304" charset="0"/>
              </a:rPr>
              <a:t> </a:t>
            </a:r>
            <a:r>
              <a:rPr lang="zh-CN" altLang="en-US" dirty="0">
                <a:solidFill>
                  <a:schemeClr val="bg1"/>
                </a:solidFill>
                <a:latin typeface="Times New Roman Regular" panose="02020603050405020304" charset="0"/>
                <a:cs typeface="Times New Roman Regular" panose="02020603050405020304" charset="0"/>
              </a:rPr>
              <a:t>长短期记忆网络LSTM</a:t>
            </a:r>
            <a:endParaRPr lang="zh-CN" altLang="en-US" dirty="0">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a:xfrm>
            <a:off x="838200" y="1825625"/>
            <a:ext cx="10515600" cy="978535"/>
          </a:xfrm>
        </p:spPr>
        <p:txBody>
          <a:bodyPr>
            <a:normAutofit/>
          </a:bodyPr>
          <a:lstStyle/>
          <a:p>
            <a:pPr marL="0" indent="0">
              <a:buNone/>
            </a:pPr>
            <a:r>
              <a:rPr lang="en-US" altLang="zh-CN" sz="2000" b="1">
                <a:latin typeface="Times New Roman Regular" panose="02020603050405020304" charset="0"/>
                <a:cs typeface="Times New Roman Regular" panose="02020603050405020304" charset="0"/>
              </a:rPr>
              <a:t>RNN</a:t>
            </a:r>
            <a:r>
              <a:rPr lang="zh-CN" altLang="en-US" sz="2000" b="1">
                <a:latin typeface="Times New Roman Regular" panose="02020603050405020304" charset="0"/>
                <a:cs typeface="Times New Roman Regular" panose="02020603050405020304" charset="0"/>
              </a:rPr>
              <a:t>的缺陷</a:t>
            </a:r>
            <a:endParaRPr lang="zh-CN" altLang="en-US" sz="2000" b="1">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上节介绍的RNN中，虽然实现了对序列数据的处理，但其自身的结构却存在严重的缺陷</a:t>
            </a:r>
            <a:endParaRPr lang="zh-CN" altLang="en-US" sz="2000">
              <a:latin typeface="Times New Roman Regular" panose="02020603050405020304" charset="0"/>
              <a:cs typeface="Times New Roman Regular" panose="02020603050405020304" charset="0"/>
            </a:endParaRPr>
          </a:p>
          <a:p>
            <a:pPr marL="0" indent="0">
              <a:buNone/>
            </a:pP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
        <p:nvSpPr>
          <p:cNvPr id="7" name="内容占位符 2"/>
          <p:cNvSpPr>
            <a:spLocks noGrp="1"/>
          </p:cNvSpPr>
          <p:nvPr/>
        </p:nvSpPr>
        <p:spPr>
          <a:xfrm>
            <a:off x="1209675" y="2804160"/>
            <a:ext cx="5360035" cy="1930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a:latin typeface="Times New Roman Regular" panose="02020603050405020304" charset="0"/>
                <a:cs typeface="Times New Roman Regular" panose="02020603050405020304" charset="0"/>
                <a:sym typeface="+mn-ea"/>
              </a:rPr>
              <a:t>1.当模型的参数值较大时，经过指数缩放后得到一个很大的梯度值，使得网络参数剧烈地调整，而这种大幅度调整往往使得模型泛化性能更差，进而得到更大的训练误差，造成恶性循环，最终模型无法收敛。这种情况称为梯度爆炸；</a:t>
            </a:r>
            <a:endParaRPr lang="zh-CN" altLang="en-US" sz="2000">
              <a:latin typeface="Times New Roman Regular" panose="02020603050405020304" charset="0"/>
              <a:cs typeface="Times New Roman Regular" panose="02020603050405020304" charset="0"/>
              <a:sym typeface="+mn-ea"/>
            </a:endParaRPr>
          </a:p>
          <a:p>
            <a:endParaRPr lang="zh-CN" altLang="en-US" sz="2000">
              <a:latin typeface="Times New Roman Regular" panose="02020603050405020304" charset="0"/>
              <a:cs typeface="Times New Roman Regular" panose="02020603050405020304" charset="0"/>
              <a:sym typeface="+mn-ea"/>
            </a:endParaRPr>
          </a:p>
          <a:p>
            <a:endParaRPr lang="zh-CN" altLang="en-US" sz="2000">
              <a:latin typeface="Times New Roman Regular" panose="02020603050405020304" charset="0"/>
              <a:cs typeface="Times New Roman Regular" panose="02020603050405020304" charset="0"/>
              <a:sym typeface="+mn-ea"/>
            </a:endParaRPr>
          </a:p>
          <a:p>
            <a:endParaRPr lang="zh-CN" altLang="en-US" sz="2000">
              <a:latin typeface="Times New Roman Regular" panose="02020603050405020304" charset="0"/>
              <a:cs typeface="Times New Roman Regular" panose="02020603050405020304" charset="0"/>
            </a:endParaRPr>
          </a:p>
          <a:p>
            <a:endParaRPr lang="en-US" altLang="zh-CN" sz="2000">
              <a:latin typeface="Times New Roman Regular" panose="02020603050405020304" charset="0"/>
              <a:cs typeface="Times New Roman Regular" panose="02020603050405020304" charset="0"/>
            </a:endParaRPr>
          </a:p>
        </p:txBody>
      </p:sp>
      <p:sp>
        <p:nvSpPr>
          <p:cNvPr id="8" name="内容占位符 2"/>
          <p:cNvSpPr>
            <a:spLocks noGrp="1"/>
          </p:cNvSpPr>
          <p:nvPr/>
        </p:nvSpPr>
        <p:spPr>
          <a:xfrm>
            <a:off x="7025640" y="2804160"/>
            <a:ext cx="3790950" cy="181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a:latin typeface="Times New Roman Regular" panose="02020603050405020304" charset="0"/>
                <a:cs typeface="Times New Roman Regular" panose="02020603050405020304" charset="0"/>
                <a:sym typeface="+mn-ea"/>
              </a:rPr>
              <a:t>2.当模型的参数值较小时，经过指数级缩放后趋于零，此时网络参数将几乎不发生变化，即模型收敛到一定程度后就难以继续优化了，这种情况称为梯度消失。</a:t>
            </a:r>
            <a:endParaRPr lang="zh-CN" altLang="en-US" sz="2000">
              <a:latin typeface="Times New Roman Regular" panose="02020603050405020304" charset="0"/>
              <a:cs typeface="Times New Roman Regular" panose="02020603050405020304" charset="0"/>
            </a:endParaRPr>
          </a:p>
          <a:p>
            <a:endParaRPr lang="en-US" altLang="zh-CN" sz="2000">
              <a:latin typeface="Times New Roman Regular" panose="02020603050405020304" charset="0"/>
              <a:cs typeface="Times New Roman Regular" panose="02020603050405020304" charset="0"/>
            </a:endParaRPr>
          </a:p>
        </p:txBody>
      </p:sp>
      <p:sp>
        <p:nvSpPr>
          <p:cNvPr id="9" name="内容占位符 2"/>
          <p:cNvSpPr>
            <a:spLocks noGrp="1"/>
          </p:cNvSpPr>
          <p:nvPr/>
        </p:nvSpPr>
        <p:spPr>
          <a:xfrm>
            <a:off x="838200" y="4478655"/>
            <a:ext cx="10515600" cy="18770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为了避免发生梯度爆炸与梯度消失问题，RNN一般</a:t>
            </a:r>
            <a:r>
              <a:rPr lang="zh-CN" altLang="en-US" sz="2000" u="sng">
                <a:latin typeface="Times New Roman Regular" panose="02020603050405020304" charset="0"/>
                <a:cs typeface="Times New Roman Regular" panose="02020603050405020304" charset="0"/>
              </a:rPr>
              <a:t>仅适用于处理长度较短的序列数据</a:t>
            </a:r>
            <a:r>
              <a:rPr lang="zh-CN" altLang="en-US" sz="2000">
                <a:latin typeface="Times New Roman Regular" panose="02020603050405020304" charset="0"/>
                <a:cs typeface="Times New Roman Regular" panose="02020603050405020304" charset="0"/>
              </a:rPr>
              <a:t>，也可说RNN只具有“短期记忆”的能力。</a:t>
            </a:r>
            <a:endParaRPr lang="zh-CN" altLang="en-US" sz="2000">
              <a:latin typeface="Times New Roman Regular" panose="02020603050405020304" charset="0"/>
              <a:cs typeface="Times New Roman Regular"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normAutofit/>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dirty="0">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p:txBody>
          <a:bodyPr/>
          <a:lstStyle/>
          <a:p>
            <a:pPr marL="0" indent="0" algn="just">
              <a:buNone/>
            </a:pPr>
            <a:r>
              <a:rPr lang="zh-CN" altLang="en-US" sz="2000" b="1" dirty="0">
                <a:latin typeface="Times New Roman Regular" panose="02020603050405020304" charset="0"/>
                <a:cs typeface="Times New Roman Regular" panose="02020603050405020304" charset="0"/>
              </a:rPr>
              <a:t>LSTM基本原理</a:t>
            </a: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为了克服梯度爆炸与梯度消失问题，LSTM将使用</a:t>
            </a:r>
            <a:r>
              <a:rPr lang="zh-CN" altLang="en-US" sz="2000" u="sng" dirty="0">
                <a:latin typeface="Times New Roman Regular" panose="02020603050405020304" charset="0"/>
                <a:cs typeface="Times New Roman Regular" panose="02020603050405020304" charset="0"/>
              </a:rPr>
              <a:t>门控机制</a:t>
            </a:r>
            <a:r>
              <a:rPr lang="zh-CN" altLang="en-US" sz="2000" dirty="0">
                <a:latin typeface="Times New Roman Regular" panose="02020603050405020304" charset="0"/>
                <a:cs typeface="Times New Roman Regular" panose="02020603050405020304" charset="0"/>
              </a:rPr>
              <a:t>来过滤每个时间步的信息作为核心，以此保留住序列早期的关键信息，防止被后期信息所覆盖。LSTM的基本单元结构如下图所示：</a:t>
            </a:r>
            <a:endParaRPr lang="zh-CN" altLang="en-US" sz="2000" dirty="0">
              <a:latin typeface="Times New Roman Regular" panose="02020603050405020304" charset="0"/>
              <a:cs typeface="Times New Roman Regular" panose="02020603050405020304" charset="0"/>
            </a:endParaRPr>
          </a:p>
          <a:p>
            <a:pPr algn="just"/>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077" name="Picture 3076" descr="图示&#10;&#10;描述已自动生成"/>
          <p:cNvPicPr>
            <a:picLocks noChangeAspect="1"/>
          </p:cNvPicPr>
          <p:nvPr/>
        </p:nvPicPr>
        <p:blipFill>
          <a:blip r:embed="rId1"/>
          <a:srcRect/>
          <a:stretch>
            <a:fillRect/>
          </a:stretch>
        </p:blipFill>
        <p:spPr>
          <a:xfrm>
            <a:off x="3299460" y="3307080"/>
            <a:ext cx="5129530" cy="256476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dirty="0">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可以看到LSTM单元中存在两种状态，除了RNN中就已存在的hidden state，还有cell state，它们也常被形象地称为短期记忆（short-term memory）和长期记忆(long-term memory)，同时其内部的运算过程相较RNN也更为复杂，下面将详细介绍用</a:t>
            </a:r>
            <a:r>
              <a:rPr lang="zh-CN" altLang="en-US" sz="2000">
                <a:latin typeface="Times New Roman Regular" panose="02020603050405020304" charset="0"/>
                <a:cs typeface="Times New Roman Regular" panose="02020603050405020304" charset="0"/>
                <a:sym typeface="+mn-ea"/>
              </a:rPr>
              <a:t>来维持长期记忆的</a:t>
            </a:r>
            <a:r>
              <a:rPr lang="zh-CN" altLang="en-US" sz="2000">
                <a:latin typeface="Times New Roman Regular" panose="02020603050405020304" charset="0"/>
                <a:cs typeface="Times New Roman Regular" panose="02020603050405020304" charset="0"/>
              </a:rPr>
              <a:t>LSTM输入门、遗忘门和输出门三个门控机制。</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000" b="1">
                <a:latin typeface="Times New Roman Regular" panose="02020603050405020304" charset="0"/>
                <a:cs typeface="Times New Roman Regular" panose="02020603050405020304" charset="0"/>
              </a:rPr>
              <a:t>（</a:t>
            </a:r>
            <a:r>
              <a:rPr lang="en-US" altLang="zh-CN" sz="2000" b="1">
                <a:latin typeface="Times New Roman Regular" panose="02020603050405020304" charset="0"/>
                <a:cs typeface="Times New Roman Regular" panose="02020603050405020304" charset="0"/>
              </a:rPr>
              <a:t>1</a:t>
            </a:r>
            <a:r>
              <a:rPr lang="zh-CN" altLang="en-US" sz="2000" b="1">
                <a:latin typeface="Times New Roman Regular" panose="02020603050405020304" charset="0"/>
                <a:cs typeface="Times New Roman Regular" panose="02020603050405020304" charset="0"/>
              </a:rPr>
              <a:t>）输入门（input gate）</a:t>
            </a:r>
            <a:endParaRPr lang="zh-CN" altLang="en-US" sz="24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与RNN类似，LSTM的输入为当前时间步的输入向量以及上个时间步的hidden state，首先hidden state和输入向量在维度方向上被拼接在一起，再将得到的拼接向量分别经过两个独立的全连接层以及sigmoid激活函数和tanh激活函数得到特征向量和，随后和逐元素相乘，得到输入门的编码结果。</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105" name="Picture 3105" descr="日程表&#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256280" y="3648710"/>
            <a:ext cx="4897120" cy="22599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使用sigmoid函数编码hidden state能够将值转换为 0 和 1 之间的值，越接近 0 表示该信息越不重要，而 越接近1 表示该信息被保留越多。当通过反向传播进行训练时，sigmoid中的权重函数将被更新，以便学会只让有用的通过而丢弃不太重要的特征，这是使用LSTM门控机制起作用的关键。而使用tanh函数则能够较好保留原始信息。</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输入门的计算过程可以用数学表达式表示如下：</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9" name="334E55B0-647D-440b-865C-3EC943EB4CBC-1" descr="wpsoffice"/>
          <p:cNvPicPr>
            <a:picLocks noChangeAspect="1"/>
          </p:cNvPicPr>
          <p:nvPr/>
        </p:nvPicPr>
        <p:blipFill>
          <a:blip r:embed="rId1"/>
          <a:stretch>
            <a:fillRect/>
          </a:stretch>
        </p:blipFill>
        <p:spPr>
          <a:xfrm>
            <a:off x="3462020" y="3855085"/>
            <a:ext cx="5267325" cy="13258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400" b="1">
                <a:latin typeface="Times New Roman Regular" panose="02020603050405020304" charset="0"/>
                <a:cs typeface="Times New Roman Regular" panose="02020603050405020304" charset="0"/>
              </a:rPr>
              <a:t>（2）遗忘门（</a:t>
            </a:r>
            <a:r>
              <a:rPr lang="en-US" altLang="zh-CN" sz="2400" b="1">
                <a:latin typeface="Times New Roman Regular" panose="02020603050405020304" charset="0"/>
                <a:cs typeface="Times New Roman Regular" panose="02020603050405020304" charset="0"/>
              </a:rPr>
              <a:t>forget gate</a:t>
            </a:r>
            <a:r>
              <a:rPr lang="zh-CN" altLang="en-US" sz="2400" b="1">
                <a:latin typeface="Times New Roman Regular" panose="02020603050405020304" charset="0"/>
                <a:cs typeface="Times New Roman Regular" panose="02020603050405020304" charset="0"/>
              </a:rPr>
              <a:t>）</a:t>
            </a:r>
            <a:endParaRPr lang="zh-CN" altLang="en-US" sz="24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类似于输入门，遗忘门同样使用一组独立的全连接层以及sigmoid激活函数对上一时间步的hidden state和当前输入向量进行编码得到特征向量，随后与上一个时间步的cell state相乘，起到选择性保留cell state中有用信息的作用。最后再把该特征向量与输入门的输出逐元素相加，得到当前时间步的cell state。</a:t>
            </a:r>
            <a:endParaRPr lang="zh-CN" altLang="en-US">
              <a:latin typeface="Times New Roman Regular" panose="02020603050405020304" charset="0"/>
              <a:cs typeface="Times New Roman Regular" panose="02020603050405020304" charset="0"/>
            </a:endParaRPr>
          </a:p>
          <a:p>
            <a:pPr marL="0" indent="0" algn="just">
              <a:buNone/>
            </a:pPr>
            <a:endParaRPr lang="en-US" altLang="zh-CN">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106" name="Picture 3106" descr="图示&#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85820" y="3618865"/>
            <a:ext cx="5073650" cy="23729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a:solidFill>
                <a:schemeClr val="bg1"/>
              </a:solidFill>
            </a:endParaRPr>
          </a:p>
        </p:txBody>
      </p:sp>
      <p:sp>
        <p:nvSpPr>
          <p:cNvPr id="3" name="内容占位符 2"/>
          <p:cNvSpPr>
            <a:spLocks noGrp="1"/>
          </p:cNvSpPr>
          <p:nvPr>
            <p:ph idx="1"/>
          </p:nvPr>
        </p:nvSpPr>
        <p:spPr/>
        <p:txBody>
          <a:bodyPr/>
          <a:lstStyle/>
          <a:p>
            <a:r>
              <a:rPr lang="zh-CN" altLang="en-US" sz="2000"/>
              <a:t>遗忘门的计算过程可以用数学表达式表示如下：</a:t>
            </a:r>
            <a:endParaRPr lang="zh-CN" altLang="en-US" sz="2000"/>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334E55B0-647D-440b-865C-3EC943EB4CBC-2" descr="wpsoffice"/>
          <p:cNvPicPr>
            <a:picLocks noChangeAspect="1"/>
          </p:cNvPicPr>
          <p:nvPr/>
        </p:nvPicPr>
        <p:blipFill>
          <a:blip r:embed="rId1"/>
          <a:stretch>
            <a:fillRect/>
          </a:stretch>
        </p:blipFill>
        <p:spPr>
          <a:xfrm>
            <a:off x="3003550" y="2986405"/>
            <a:ext cx="6185535" cy="8851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dirty="0">
                <a:latin typeface="Times New Roman Regular" panose="02020603050405020304" charset="0"/>
                <a:cs typeface="Times New Roman Regular" panose="02020603050405020304" charset="0"/>
                <a:sym typeface="+mn-ea"/>
              </a:rPr>
              <a:t>5.2</a:t>
            </a:r>
            <a:r>
              <a:rPr lang="en-US" altLang="zh-CN" dirty="0">
                <a:latin typeface="Times New Roman Regular" panose="02020603050405020304" charset="0"/>
                <a:cs typeface="Times New Roman Regular" panose="02020603050405020304" charset="0"/>
                <a:sym typeface="+mn-ea"/>
              </a:rPr>
              <a:t> </a:t>
            </a:r>
            <a:r>
              <a:rPr lang="zh-CN" altLang="en-US" dirty="0">
                <a:latin typeface="Times New Roman Regular" panose="02020603050405020304" charset="0"/>
                <a:cs typeface="Times New Roman Regular" panose="02020603050405020304" charset="0"/>
                <a:sym typeface="+mn-ea"/>
              </a:rPr>
              <a:t>长短期记忆网络LSTM</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400" b="1">
                <a:latin typeface="Times New Roman Regular" panose="02020603050405020304" charset="0"/>
                <a:cs typeface="Times New Roman Regular" panose="02020603050405020304" charset="0"/>
              </a:rPr>
              <a:t>（3）输出门（output gate）</a:t>
            </a:r>
            <a:endParaRPr lang="zh-CN" altLang="en-US" sz="24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输出门将第三次使用一组独立全连接层以及sigmoid函数对上一时间步的hidden state和当前输入向量进行编码得到特征向量，并利用tanh函数对当前时间步的cell state进行编码得到特征向量，二者相乘后得到当前时间步的hidden state 。与RNN类似，当前时间步的隐藏状态也同样可以用于根据任务需要编码为当前时间步的输出。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3134" name="Picture 3134" descr="图示&#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58845" y="3739198"/>
            <a:ext cx="5274310" cy="24377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solidFill>
                  <a:schemeClr val="bg1"/>
                </a:solidFill>
                <a:latin typeface="Times New Roman Regular" panose="02020603050405020304" charset="0"/>
                <a:cs typeface="Times New Roman Regular" panose="02020603050405020304" charset="0"/>
              </a:rPr>
              <a:t>5.2</a:t>
            </a:r>
            <a:r>
              <a:rPr lang="en-US" altLang="zh-CN">
                <a:solidFill>
                  <a:schemeClr val="bg1"/>
                </a:solidFill>
                <a:latin typeface="Times New Roman Regular" panose="02020603050405020304" charset="0"/>
                <a:cs typeface="Times New Roman Regular" panose="02020603050405020304" charset="0"/>
              </a:rPr>
              <a:t> </a:t>
            </a:r>
            <a:r>
              <a:rPr lang="zh-CN" altLang="en-US">
                <a:solidFill>
                  <a:schemeClr val="bg1"/>
                </a:solidFill>
                <a:latin typeface="Times New Roman Regular" panose="02020603050405020304" charset="0"/>
                <a:cs typeface="Times New Roman Regular" panose="02020603050405020304" charset="0"/>
              </a:rPr>
              <a:t>长短期记忆网络LSTM</a:t>
            </a:r>
            <a:endParaRPr lang="zh-CN" altLang="en-US">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输出门的计算过程用数学表达式表示如下：</a:t>
            </a:r>
            <a:endParaRPr lang="zh-CN" altLang="en-US" sz="2000">
              <a:latin typeface="Times New Roman Regular" panose="02020603050405020304" charset="0"/>
              <a:cs typeface="Times New Roman Regular" panose="02020603050405020304" charset="0"/>
            </a:endParaRPr>
          </a:p>
          <a:p>
            <a:pPr algn="just"/>
            <a:endParaRPr lang="zh-CN" altLang="en-US" sz="2000">
              <a:latin typeface="Times New Roman Regular" panose="02020603050405020304" charset="0"/>
              <a:cs typeface="Times New Roman Regular" panose="02020603050405020304" charset="0"/>
            </a:endParaRPr>
          </a:p>
          <a:p>
            <a:pPr algn="just"/>
            <a:endParaRPr lang="zh-CN" altLang="en-US" sz="2000">
              <a:latin typeface="Times New Roman Regular" panose="02020603050405020304" charset="0"/>
              <a:cs typeface="Times New Roman Regular" panose="02020603050405020304" charset="0"/>
            </a:endParaRPr>
          </a:p>
          <a:p>
            <a:pPr algn="just"/>
            <a:endParaRPr lang="zh-CN" altLang="en-US" sz="2000">
              <a:latin typeface="Times New Roman Regular" panose="02020603050405020304" charset="0"/>
              <a:cs typeface="Times New Roman Regular" panose="02020603050405020304" charset="0"/>
            </a:endParaRPr>
          </a:p>
          <a:p>
            <a:pPr algn="just"/>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正是由于LSTM在输入门、遗忘门和输出门三个门控单元结构中，利用sigmoid函数作为过滤器控制信息的传递，因此LSTM具有保留“长期记忆”的能力，这种能力在处理序列数据（特别是长序列数据）的任务中，是尤为重要的。</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334E55B0-647D-440b-865C-3EC943EB4CBC-3" descr="wpsoffice"/>
          <p:cNvPicPr>
            <a:picLocks noChangeAspect="1"/>
          </p:cNvPicPr>
          <p:nvPr/>
        </p:nvPicPr>
        <p:blipFill>
          <a:blip r:embed="rId1"/>
          <a:stretch>
            <a:fillRect/>
          </a:stretch>
        </p:blipFill>
        <p:spPr>
          <a:xfrm>
            <a:off x="3418205" y="2469515"/>
            <a:ext cx="5355590" cy="10934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solidFill>
                  <a:schemeClr val="bg1"/>
                </a:solidFill>
                <a:latin typeface="Times New Roman Regular" panose="02020603050405020304" charset="0"/>
                <a:cs typeface="Times New Roman Regular" panose="02020603050405020304" charset="0"/>
              </a:rPr>
              <a:t>5.</a:t>
            </a:r>
            <a:r>
              <a:rPr lang="en-US" altLang="zh-CN">
                <a:solidFill>
                  <a:schemeClr val="bg1"/>
                </a:solidFill>
                <a:latin typeface="Times New Roman Regular" panose="02020603050405020304" charset="0"/>
                <a:cs typeface="Times New Roman Regular" panose="02020603050405020304" charset="0"/>
              </a:rPr>
              <a:t>3 Transformer</a:t>
            </a:r>
            <a:r>
              <a:rPr lang="zh-CN" altLang="en-US">
                <a:solidFill>
                  <a:schemeClr val="bg1"/>
                </a:solidFill>
                <a:latin typeface="Times New Roman Regular" panose="02020603050405020304" charset="0"/>
                <a:cs typeface="Times New Roman Regular" panose="02020603050405020304" charset="0"/>
              </a:rPr>
              <a:t>网络</a:t>
            </a:r>
            <a:endParaRPr lang="zh-CN" altLang="en-US">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a:xfrm>
            <a:off x="838200" y="1825625"/>
            <a:ext cx="10515600" cy="4126230"/>
          </a:xfrm>
        </p:spPr>
        <p:txBody>
          <a:bodyPr>
            <a:normAutofit/>
          </a:bodyPr>
          <a:lstStyle/>
          <a:p>
            <a:pPr marL="0" indent="0" algn="just">
              <a:buNone/>
            </a:pPr>
            <a:r>
              <a:rPr lang="en-US" altLang="zh-CN" sz="2000" b="1">
                <a:latin typeface="Times New Roman Regular" panose="02020603050405020304" charset="0"/>
                <a:cs typeface="Times New Roman Regular" panose="02020603050405020304" charset="0"/>
              </a:rPr>
              <a:t>RNN</a:t>
            </a:r>
            <a:r>
              <a:rPr lang="zh-CN" altLang="en-US" sz="2000" b="1">
                <a:latin typeface="Times New Roman Regular" panose="02020603050405020304" charset="0"/>
                <a:cs typeface="Times New Roman Regular" panose="02020603050405020304" charset="0"/>
              </a:rPr>
              <a:t>和</a:t>
            </a:r>
            <a:r>
              <a:rPr lang="en-US" altLang="zh-CN" sz="2000" b="1">
                <a:latin typeface="Times New Roman Regular" panose="02020603050405020304" charset="0"/>
                <a:cs typeface="Times New Roman Regular" panose="02020603050405020304" charset="0"/>
              </a:rPr>
              <a:t>LSTM</a:t>
            </a:r>
            <a:r>
              <a:rPr lang="zh-CN" altLang="en-US" sz="2000" b="1">
                <a:latin typeface="Times New Roman Regular" panose="02020603050405020304" charset="0"/>
                <a:cs typeface="Times New Roman Regular" panose="02020603050405020304" charset="0"/>
              </a:rPr>
              <a:t>存在的问题</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在前面介绍的RNN和LSTM中，模型是沿着输入序列从前往后计算来处理时序信息的，即输入序列中的第t时刻的隐藏状态由第t-1时刻隐藏状态和第t时刻的输入数据共同生成，历史信息随着序列输入逐步传递。这种计算方式带来了两个问题：</a:t>
            </a:r>
            <a:endParaRPr lang="zh-CN" altLang="en-US" sz="2000">
              <a:latin typeface="Times New Roman Regular" panose="02020603050405020304" charset="0"/>
              <a:cs typeface="Times New Roman Regular" panose="02020603050405020304" charset="0"/>
            </a:endParaRPr>
          </a:p>
          <a:p>
            <a:pPr algn="just"/>
            <a:endParaRPr lang="zh-CN" altLang="en-US" sz="2000">
              <a:latin typeface="Times New Roman Regular" panose="02020603050405020304" charset="0"/>
              <a:cs typeface="Times New Roman Regular" panose="02020603050405020304" charset="0"/>
            </a:endParaRPr>
          </a:p>
          <a:p>
            <a:pPr marL="0" indent="0" algn="just">
              <a:buNone/>
            </a:pPr>
            <a:r>
              <a:rPr lang="zh-CN" altLang="en-US" sz="2000">
                <a:latin typeface="Times New Roman Regular" panose="02020603050405020304" charset="0"/>
                <a:cs typeface="Times New Roman Regular" panose="02020603050405020304" charset="0"/>
              </a:rPr>
              <a:t>（1）序列数据必须逐一输入网络，导致网络的并行度低；</a:t>
            </a:r>
            <a:endParaRPr lang="zh-CN" altLang="en-US" sz="2000">
              <a:latin typeface="Times New Roman Regular" panose="02020603050405020304" charset="0"/>
              <a:cs typeface="Times New Roman Regular" panose="02020603050405020304" charset="0"/>
            </a:endParaRPr>
          </a:p>
          <a:p>
            <a:pPr marL="0" indent="0" algn="just">
              <a:buNone/>
            </a:pPr>
            <a:endParaRPr lang="zh-CN" altLang="en-US" sz="2000">
              <a:latin typeface="Times New Roman Regular" panose="02020603050405020304" charset="0"/>
              <a:cs typeface="Times New Roman Regular" panose="02020603050405020304" charset="0"/>
            </a:endParaRPr>
          </a:p>
          <a:p>
            <a:pPr marL="0" indent="0" algn="just">
              <a:buNone/>
            </a:pPr>
            <a:r>
              <a:rPr lang="zh-CN" altLang="en-US" sz="2000">
                <a:latin typeface="Times New Roman Regular" panose="02020603050405020304" charset="0"/>
                <a:cs typeface="Times New Roman Regular" panose="02020603050405020304" charset="0"/>
              </a:rPr>
              <a:t>（2）处理长序列的时序信息时受到内存约束。</a:t>
            </a:r>
            <a:endParaRPr lang="zh-CN" altLang="en-US" sz="2000">
              <a:latin typeface="Times New Roman Regular" panose="02020603050405020304" charset="0"/>
              <a:cs typeface="Times New Roman Regular" panose="02020603050405020304" charset="0"/>
            </a:endParaRPr>
          </a:p>
          <a:p>
            <a:pPr marL="0" indent="0" algn="just">
              <a:buNone/>
            </a:pP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solidFill>
                  <a:schemeClr val="bg1"/>
                </a:solidFill>
                <a:latin typeface="Times New Roman Regular" panose="02020603050405020304" charset="0"/>
                <a:cs typeface="Times New Roman Regular" panose="02020603050405020304" charset="0"/>
              </a:rPr>
              <a:t>5.</a:t>
            </a:r>
            <a:r>
              <a:rPr lang="en-US" altLang="zh-CN">
                <a:solidFill>
                  <a:schemeClr val="bg1"/>
                </a:solidFill>
                <a:latin typeface="Times New Roman Regular" panose="02020603050405020304" charset="0"/>
                <a:cs typeface="Times New Roman Regular" panose="02020603050405020304" charset="0"/>
              </a:rPr>
              <a:t>3 Transformer</a:t>
            </a:r>
            <a:r>
              <a:rPr lang="zh-CN" altLang="en-US">
                <a:solidFill>
                  <a:schemeClr val="bg1"/>
                </a:solidFill>
                <a:latin typeface="Times New Roman Regular" panose="02020603050405020304" charset="0"/>
                <a:cs typeface="Times New Roman Regular" panose="02020603050405020304" charset="0"/>
              </a:rPr>
              <a:t>网络</a:t>
            </a:r>
            <a:endParaRPr lang="zh-CN" altLang="en-US">
              <a:solidFill>
                <a:schemeClr val="bg1"/>
              </a:solidFill>
              <a:latin typeface="Times New Roman Regular" panose="02020603050405020304" charset="0"/>
              <a:cs typeface="Times New Roman Regular" panose="02020603050405020304" charset="0"/>
            </a:endParaRPr>
          </a:p>
        </p:txBody>
      </p:sp>
      <p:sp>
        <p:nvSpPr>
          <p:cNvPr id="3" name="内容占位符 2"/>
          <p:cNvSpPr>
            <a:spLocks noGrp="1"/>
          </p:cNvSpPr>
          <p:nvPr>
            <p:ph idx="1"/>
          </p:nvPr>
        </p:nvSpPr>
        <p:spPr/>
        <p:txBody>
          <a:bodyPr>
            <a:normAutofit/>
          </a:bodyPr>
          <a:lstStyle/>
          <a:p>
            <a:pPr marL="0" indent="0" algn="just">
              <a:buNone/>
            </a:pPr>
            <a:r>
              <a:rPr lang="zh-CN" altLang="en-US" sz="2000" b="1">
                <a:latin typeface="Times New Roman Regular" panose="02020603050405020304" charset="0"/>
                <a:cs typeface="Times New Roman Regular" panose="02020603050405020304" charset="0"/>
              </a:rPr>
              <a:t>完全基于注意力机制的</a:t>
            </a:r>
            <a:r>
              <a:rPr lang="en-US" altLang="zh-CN" sz="2000" b="1">
                <a:latin typeface="Times New Roman Regular" panose="02020603050405020304" charset="0"/>
                <a:cs typeface="Times New Roman Regular" panose="02020603050405020304" charset="0"/>
              </a:rPr>
              <a:t>Transformer</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Transformer抛弃了循环网络的时序输入结构，转而使用完全基于注意力机制的架构，使得模型能够并行处理完整的序列数据，同时能够有效地对时序信息进行处理，相比循环神经网络能够在更少的训练成本下达到更好的性能表现。</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下面首先介绍Transformer的核心模块——自注意力层，然后从网络结构和实现分别来介绍Transformer。</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en-US" altLang="zh-CN" sz="2400" b="1">
                <a:latin typeface="Times New Roman Regular" panose="02020603050405020304" charset="0"/>
                <a:cs typeface="Times New Roman Regular" panose="02020603050405020304" charset="0"/>
              </a:rPr>
              <a:t>5.3.1 自注意力层（Self-attention Layer）</a:t>
            </a:r>
            <a:endParaRPr lang="en-US" altLang="zh-CN" sz="2400" b="1">
              <a:latin typeface="Times New Roman Regular" panose="02020603050405020304" charset="0"/>
              <a:cs typeface="Times New Roman Regular" panose="02020603050405020304" charset="0"/>
            </a:endParaRPr>
          </a:p>
          <a:p>
            <a:pPr algn="just"/>
            <a:r>
              <a:rPr lang="en-US" altLang="zh-CN" sz="2000">
                <a:latin typeface="Times New Roman Regular" panose="02020603050405020304" charset="0"/>
                <a:cs typeface="Times New Roman Regular" panose="02020603050405020304" charset="0"/>
              </a:rPr>
              <a:t>对于序列数据（既可以是原始输入数据序列，也可以是网络中的特征序列），在自注意力层中，序列中的每个元素将与所有其它元素发生信息交换并得到对应的输出元素，即每个输出向量都是所有输入向量共同作用，综合了完整序列信息的结果。</a:t>
            </a:r>
            <a:endParaRPr lang="en-US" altLang="zh-CN"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图片 2" descr="图示&#10;&#10;描述已自动生成"/>
          <p:cNvPicPr>
            <a:picLocks noChangeAspect="1"/>
          </p:cNvPicPr>
          <p:nvPr/>
        </p:nvPicPr>
        <p:blipFill>
          <a:blip r:embed="rId1"/>
          <a:stretch>
            <a:fillRect/>
          </a:stretch>
        </p:blipFill>
        <p:spPr>
          <a:xfrm>
            <a:off x="4431665" y="4000500"/>
            <a:ext cx="3328035" cy="21767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01495"/>
            <a:ext cx="10515600" cy="4375785"/>
          </a:xfrm>
        </p:spPr>
        <p:txBody>
          <a:bodyPr/>
          <a:lstStyle/>
          <a:p>
            <a:pPr marL="0" indent="0" algn="just">
              <a:buNone/>
            </a:pPr>
            <a:r>
              <a:rPr lang="zh-CN" altLang="en-US" sz="2000" b="1">
                <a:latin typeface="Times New Roman Regular" panose="02020603050405020304" charset="0"/>
                <a:cs typeface="Times New Roman Regular" panose="02020603050405020304" charset="0"/>
              </a:rPr>
              <a:t>注意力分数</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信息交换过程中，对于每个输入向量，首先需要衡量它与其他输入向量的相关（relevant）程度，用注意力分数（Attention Score）表示。当两个输入向量的相关程度越高，其对应的注意力分数就越高。有两种常用的计算注意力分数的方法：</a:t>
            </a:r>
            <a:endParaRPr lang="zh-CN" altLang="en-US" sz="2000">
              <a:latin typeface="Times New Roman Regular" panose="02020603050405020304" charset="0"/>
              <a:cs typeface="Times New Roman Regular" panose="02020603050405020304" charset="0"/>
            </a:endParaRPr>
          </a:p>
          <a:p>
            <a:pPr algn="just"/>
            <a:endParaRPr lang="zh-CN" altLang="en-US" sz="2000">
              <a:latin typeface="Times New Roman Regular" panose="02020603050405020304" charset="0"/>
              <a:cs typeface="Times New Roman Regular" panose="02020603050405020304" charset="0"/>
            </a:endParaRPr>
          </a:p>
          <a:p>
            <a:pPr marL="0" indent="0" algn="just">
              <a:buNone/>
            </a:pPr>
            <a:r>
              <a:rPr lang="en-US" altLang="zh-CN" sz="2000">
                <a:latin typeface="Times New Roman Regular" panose="02020603050405020304" charset="0"/>
                <a:cs typeface="Times New Roman Regular" panose="02020603050405020304" charset="0"/>
              </a:rPr>
              <a:t>	</a:t>
            </a:r>
            <a:r>
              <a:rPr lang="zh-CN" altLang="en-US" sz="2000">
                <a:latin typeface="Times New Roman Regular" panose="02020603050405020304" charset="0"/>
                <a:cs typeface="Times New Roman Regular" panose="02020603050405020304" charset="0"/>
              </a:rPr>
              <a:t>1）点积注意力</a:t>
            </a:r>
            <a:endParaRPr lang="zh-CN" altLang="en-US" sz="2000">
              <a:latin typeface="Times New Roman Regular" panose="02020603050405020304" charset="0"/>
              <a:cs typeface="Times New Roman Regular" panose="02020603050405020304" charset="0"/>
            </a:endParaRPr>
          </a:p>
          <a:p>
            <a:pPr marL="0" indent="0" algn="just">
              <a:buNone/>
            </a:pPr>
            <a:endParaRPr lang="zh-CN" altLang="en-US" sz="2000">
              <a:latin typeface="Times New Roman Regular" panose="02020603050405020304" charset="0"/>
              <a:cs typeface="Times New Roman Regular" panose="02020603050405020304" charset="0"/>
            </a:endParaRPr>
          </a:p>
          <a:p>
            <a:pPr marL="0" indent="0" algn="just">
              <a:buNone/>
            </a:pPr>
            <a:r>
              <a:rPr lang="en-US" altLang="zh-CN" sz="2000">
                <a:latin typeface="Times New Roman Regular" panose="02020603050405020304" charset="0"/>
                <a:cs typeface="Times New Roman Regular" panose="02020603050405020304" charset="0"/>
              </a:rPr>
              <a:t>	</a:t>
            </a:r>
            <a:r>
              <a:rPr lang="zh-CN" altLang="en-US" sz="2000">
                <a:latin typeface="Times New Roman Regular" panose="02020603050405020304" charset="0"/>
                <a:cs typeface="Times New Roman Regular" panose="02020603050405020304" charset="0"/>
              </a:rPr>
              <a:t>2）加性注意力</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2838450"/>
                <a:ext cx="6697980" cy="3338830"/>
              </a:xfrm>
            </p:spPr>
            <p:txBody>
              <a:bodyPr>
                <a:normAutofit fontScale="92500"/>
              </a:bodyPr>
              <a:lstStyle/>
              <a:p>
                <a:pPr marL="0" indent="0" algn="just">
                  <a:buNone/>
                </a:pPr>
                <a:r>
                  <a:rPr lang="en-US" altLang="zh-CN" sz="2000" b="1" dirty="0">
                    <a:latin typeface="Times New Roman Regular" panose="02020603050405020304" charset="0"/>
                    <a:cs typeface="Times New Roman Regular" panose="02020603050405020304" charset="0"/>
                  </a:rPr>
                  <a:t>1</a:t>
                </a:r>
                <a:r>
                  <a:rPr lang="zh-CN" altLang="en-US" sz="2000" b="1" dirty="0">
                    <a:latin typeface="Times New Roman Regular" panose="02020603050405020304" charset="0"/>
                    <a:cs typeface="Times New Roman Regular" panose="02020603050405020304" charset="0"/>
                  </a:rPr>
                  <a:t>）点积注意力</a:t>
                </a:r>
                <a:endParaRPr lang="zh-CN" altLang="en-US" sz="2000" b="1" dirty="0">
                  <a:latin typeface="Times New Roman Regular" panose="02020603050405020304" charset="0"/>
                  <a:cs typeface="Times New Roman Regular" panose="02020603050405020304" charset="0"/>
                </a:endParaRPr>
              </a:p>
              <a:p>
                <a:pPr marL="0" indent="0" algn="just">
                  <a:buNone/>
                </a:pPr>
                <a:r>
                  <a:rPr lang="zh-CN" altLang="en-US" sz="2000" dirty="0">
                    <a:latin typeface="Times New Roman Regular" panose="02020603050405020304" charset="0"/>
                    <a:cs typeface="Times New Roman Regular" panose="02020603050405020304" charset="0"/>
                  </a:rPr>
                  <a:t>将两个向量分别经过两个权重矩阵</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𝑞</m:t>
                        </m:r>
                      </m:sup>
                    </m:sSup>
                  </m:oMath>
                </a14:m>
                <a:r>
                  <a:rPr sz="2000" dirty="0">
                    <a:latin typeface="Times New Roman Regular" panose="02020603050405020304" charset="0"/>
                    <a:cs typeface="Times New Roman Regular" panose="02020603050405020304" charset="0"/>
                  </a:rPr>
                  <a:t>和</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𝑘</m:t>
                        </m:r>
                      </m:sup>
                    </m:sSup>
                  </m:oMath>
                </a14:m>
                <a:r>
                  <a:rPr lang="zh-CN" altLang="en-US" sz="2000" dirty="0">
                    <a:latin typeface="Times New Roman Regular" panose="02020603050405020304" charset="0"/>
                    <a:cs typeface="Times New Roman Regular" panose="02020603050405020304" charset="0"/>
                  </a:rPr>
                  <a:t>的映射后分别得到query向量和key向量，再做向量乘法得到注意力分数。</a:t>
                </a:r>
                <a:endParaRPr lang="zh-CN" altLang="en-US" sz="2000" dirty="0">
                  <a:latin typeface="Times New Roman Regular" panose="02020603050405020304" charset="0"/>
                  <a:cs typeface="Times New Roman Regular" panose="020206030504050203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2838450"/>
                <a:ext cx="6697980" cy="3338830"/>
              </a:xfrm>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图片 3" descr="图示, 示意图&#10;&#10;描述已自动生成"/>
          <p:cNvPicPr>
            <a:picLocks noChangeAspect="1"/>
          </p:cNvPicPr>
          <p:nvPr/>
        </p:nvPicPr>
        <p:blipFill>
          <a:blip r:embed="rId2"/>
          <a:stretch>
            <a:fillRect/>
          </a:stretch>
        </p:blipFill>
        <p:spPr>
          <a:xfrm>
            <a:off x="8210606" y="2088558"/>
            <a:ext cx="2647315" cy="34975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2832100"/>
                <a:ext cx="6697980" cy="3345180"/>
              </a:xfrm>
            </p:spPr>
            <p:txBody>
              <a:bodyPr/>
              <a:lstStyle/>
              <a:p>
                <a:pPr marL="0" indent="0" algn="just">
                  <a:buNone/>
                </a:pPr>
                <a:r>
                  <a:rPr lang="en-US" altLang="zh-CN" sz="2000" b="1" dirty="0">
                    <a:latin typeface="Times New Roman Regular" panose="02020603050405020304" charset="0"/>
                    <a:cs typeface="Times New Roman Regular" panose="02020603050405020304" charset="0"/>
                  </a:rPr>
                  <a:t>2</a:t>
                </a:r>
                <a:r>
                  <a:rPr lang="zh-CN" altLang="en-US" sz="2000" b="1" dirty="0">
                    <a:latin typeface="Times New Roman Regular" panose="02020603050405020304" charset="0"/>
                    <a:cs typeface="Times New Roman Regular" panose="02020603050405020304" charset="0"/>
                  </a:rPr>
                  <a:t>）加性注意力</a:t>
                </a:r>
                <a:endParaRPr lang="zh-CN" altLang="en-US" sz="2000" b="1" dirty="0">
                  <a:latin typeface="Times New Roman Regular" panose="02020603050405020304" charset="0"/>
                  <a:cs typeface="Times New Roman Regular" panose="02020603050405020304" charset="0"/>
                </a:endParaRPr>
              </a:p>
              <a:p>
                <a:pPr marL="0" indent="0" algn="just">
                  <a:buNone/>
                </a:pPr>
                <a:r>
                  <a:rPr sz="2000" dirty="0">
                    <a:latin typeface="Times New Roman Regular" panose="02020603050405020304" charset="0"/>
                    <a:cs typeface="Times New Roman Regular" panose="02020603050405020304" charset="0"/>
                  </a:rPr>
                  <a:t>将两个向量分别经过两个权重矩阵</a:t>
                </a:r>
                <a14:m>
                  <m:oMath xmlns:m="http://schemas.openxmlformats.org/officeDocument/2006/math">
                    <m:sSup>
                      <m:sSupPr>
                        <m:ctrlPr>
                          <a:rPr lang="ar-AE" altLang="zh-CN" sz="2000" i="1" smtClean="0">
                            <a:latin typeface="Cambria Math" panose="02040503050406030204" pitchFamily="18" charset="0"/>
                            <a:cs typeface="DejaVu Math TeX Gyre" panose="02000503000000000000" charset="0"/>
                          </a:rPr>
                        </m:ctrlPr>
                      </m:sSupPr>
                      <m:e>
                        <m:r>
                          <a:rPr lang="zh-CN" altLang="ar-AE" sz="2000" i="1">
                            <a:latin typeface="Cambria Math" panose="02040503050406030204" pitchFamily="18" charset="0"/>
                            <a:cs typeface="DejaVu Math TeX Gyre" panose="02000503000000000000" charset="0"/>
                          </a:rPr>
                          <m:t>𝑊</m:t>
                        </m:r>
                      </m:e>
                      <m:sup>
                        <m:r>
                          <a:rPr lang="zh-CN" altLang="ar-AE" sz="2000" i="1">
                            <a:latin typeface="Cambria Math" panose="02040503050406030204" pitchFamily="18" charset="0"/>
                            <a:cs typeface="DejaVu Math TeX Gyre" panose="02000503000000000000" charset="0"/>
                          </a:rPr>
                          <m:t>𝑞</m:t>
                        </m:r>
                      </m:sup>
                    </m:sSup>
                  </m:oMath>
                </a14:m>
                <a:r>
                  <a:rPr lang="zh-CN" altLang="en-US" sz="2000" dirty="0">
                    <a:latin typeface="Times New Roman Regular" panose="02020603050405020304" charset="0"/>
                    <a:cs typeface="Times New Roman Regular" panose="02020603050405020304" charset="0"/>
                  </a:rPr>
                  <a:t>和</a:t>
                </a:r>
                <a14:m>
                  <m:oMath xmlns:m="http://schemas.openxmlformats.org/officeDocument/2006/math">
                    <m:sSup>
                      <m:sSupPr>
                        <m:ctrlPr>
                          <a:rPr lang="ar-AE" altLang="zh-CN" sz="2000" i="1">
                            <a:latin typeface="Cambria Math" panose="02040503050406030204" pitchFamily="18" charset="0"/>
                            <a:cs typeface="DejaVu Math TeX Gyre" panose="02000503000000000000" charset="0"/>
                          </a:rPr>
                        </m:ctrlPr>
                      </m:sSupPr>
                      <m:e>
                        <m:r>
                          <a:rPr lang="zh-CN" altLang="ar-AE" sz="2000" i="1">
                            <a:latin typeface="Cambria Math" panose="02040503050406030204" pitchFamily="18" charset="0"/>
                            <a:cs typeface="DejaVu Math TeX Gyre" panose="02000503000000000000" charset="0"/>
                          </a:rPr>
                          <m:t>𝑊</m:t>
                        </m:r>
                      </m:e>
                      <m:sup>
                        <m:r>
                          <a:rPr lang="zh-CN" altLang="ar-AE" sz="2000" i="1">
                            <a:latin typeface="Cambria Math" panose="02040503050406030204" pitchFamily="18" charset="0"/>
                            <a:cs typeface="DejaVu Math TeX Gyre" panose="02000503000000000000" charset="0"/>
                          </a:rPr>
                          <m:t>𝑘</m:t>
                        </m:r>
                      </m:sup>
                    </m:sSup>
                  </m:oMath>
                </a14:m>
                <a:r>
                  <a:rPr sz="2000" dirty="0">
                    <a:latin typeface="Times New Roman Regular" panose="02020603050405020304" charset="0"/>
                    <a:cs typeface="Times New Roman Regular" panose="02020603050405020304" charset="0"/>
                  </a:rPr>
                  <a:t>的映射后分别得到query向量和key向量，再相加，随后再经过激活函数（常用tanh）和另一个权重矩阵，得到注意力分数</a:t>
                </a:r>
                <a:r>
                  <a:rPr lang="zh-CN" sz="2000" dirty="0">
                    <a:latin typeface="Times New Roman Regular" panose="02020603050405020304" charset="0"/>
                    <a:cs typeface="Times New Roman Regular" panose="02020603050405020304" charset="0"/>
                  </a:rPr>
                  <a:t>。</a:t>
                </a:r>
                <a:endParaRPr lang="zh-CN" sz="2000" dirty="0">
                  <a:latin typeface="Times New Roman Regular" panose="02020603050405020304" charset="0"/>
                  <a:cs typeface="Times New Roman Regular" panose="020206030504050203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2832100"/>
                <a:ext cx="6697980" cy="3345180"/>
              </a:xfrm>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图片 5" descr="图示&#10;&#10;描述已自动生成"/>
          <p:cNvPicPr>
            <a:picLocks noChangeAspect="1"/>
          </p:cNvPicPr>
          <p:nvPr/>
        </p:nvPicPr>
        <p:blipFill>
          <a:blip r:embed="rId2"/>
          <a:stretch>
            <a:fillRect/>
          </a:stretch>
        </p:blipFill>
        <p:spPr>
          <a:xfrm>
            <a:off x="8448620" y="1722893"/>
            <a:ext cx="2271395" cy="43510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753235"/>
                <a:ext cx="10515600" cy="4351338"/>
              </a:xfrm>
            </p:spPr>
            <p:txBody>
              <a:bodyPr>
                <a:normAutofit/>
              </a:bodyPr>
              <a:lstStyle/>
              <a:p>
                <a:pPr marL="0" indent="0" algn="just">
                  <a:buNone/>
                </a:pPr>
                <a:r>
                  <a:rPr lang="zh-CN" altLang="en-US" sz="2000" b="1" dirty="0">
                    <a:latin typeface="Times New Roman Regular" panose="02020603050405020304" charset="0"/>
                    <a:cs typeface="Times New Roman Regular" panose="02020603050405020304" charset="0"/>
                  </a:rPr>
                  <a:t>自注意力层中的运算</a:t>
                </a: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在自注意力层中，序列中的每个输入向量，都被权重矩阵</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𝑞</m:t>
                        </m:r>
                      </m:sup>
                    </m:sSup>
                  </m:oMath>
                </a14:m>
                <a:r>
                  <a:rPr lang="zh-CN" altLang="en-US" sz="2000" dirty="0">
                    <a:latin typeface="Times New Roman Regular" panose="02020603050405020304" charset="0"/>
                    <a:cs typeface="Times New Roman Regular" panose="02020603050405020304" charset="0"/>
                  </a:rPr>
                  <a:t>和</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𝑘</m:t>
                        </m:r>
                      </m:sup>
                    </m:sSup>
                  </m:oMath>
                </a14:m>
                <a:r>
                  <a:rPr lang="zh-CN" altLang="en-US" sz="2000" dirty="0">
                    <a:latin typeface="Times New Roman Regular" panose="02020603050405020304" charset="0"/>
                    <a:cs typeface="Times New Roman Regular" panose="02020603050405020304" charset="0"/>
                  </a:rPr>
                  <a:t>映射为query向量和key向量，因此每个输入向量都可以与其他向量两两计算注意力分数。如下图所示，以序列中的第一个向量为例，它的query向量与每个key向量（包括自身）均计算注意力分数，随后接Softmax层，得到与每个输入向量的最终注意力分数，其代表了它与其他输入向量的相关程度。</a:t>
                </a:r>
                <a:endParaRPr lang="zh-CN" altLang="en-US" sz="2000" dirty="0">
                  <a:latin typeface="Times New Roman Regular" panose="02020603050405020304" charset="0"/>
                  <a:cs typeface="Times New Roman Regular" panose="020206030504050203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753235"/>
                <a:ext cx="10515600" cy="4351338"/>
              </a:xfrm>
              <a:blipFill rotWithShape="1">
                <a:blip r:embed="rId1"/>
                <a:stretch>
                  <a:fillRect b="7"/>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图片 7" descr="交通信号灯&#10;&#10;描述已自动生成"/>
          <p:cNvPicPr>
            <a:picLocks noChangeAspect="1"/>
          </p:cNvPicPr>
          <p:nvPr/>
        </p:nvPicPr>
        <p:blipFill>
          <a:blip r:embed="rId2"/>
          <a:stretch>
            <a:fillRect/>
          </a:stretch>
        </p:blipFill>
        <p:spPr>
          <a:xfrm>
            <a:off x="3774468" y="3458734"/>
            <a:ext cx="4643064" cy="2897616"/>
          </a:xfrm>
          <a:prstGeom prst="rect">
            <a:avLst/>
          </a:prstGeom>
        </p:spPr>
      </p:pic>
      <p:sp>
        <p:nvSpPr>
          <p:cNvPr id="8" name="Rectangles 7"/>
          <p:cNvSpPr/>
          <p:nvPr/>
        </p:nvSpPr>
        <p:spPr>
          <a:xfrm>
            <a:off x="3636645" y="6317615"/>
            <a:ext cx="4847590" cy="80645"/>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s 8"/>
          <p:cNvSpPr/>
          <p:nvPr/>
        </p:nvSpPr>
        <p:spPr>
          <a:xfrm>
            <a:off x="4883150" y="6243955"/>
            <a:ext cx="4847590" cy="80645"/>
          </a:xfrm>
          <a:prstGeom prst="rect">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normAutofit/>
          </a:bodyPr>
          <a:lstStyle/>
          <a:p>
            <a:pPr algn="just"/>
            <a:r>
              <a:rPr lang="zh-CN" altLang="en-US" sz="2000" dirty="0">
                <a:latin typeface="Times New Roman Regular" panose="02020603050405020304" charset="0"/>
                <a:cs typeface="Times New Roman Regular" panose="02020603050405020304" charset="0"/>
              </a:rPr>
              <a:t>有了注意力分数来衡量向量之间的相关程度，为了对每个输入向量进行特征编码，自注意力层还需要进一步综合输入向量的信息。如下图所示，对每个输入向量，使用第三个权重矩阵编码得到value向量，对于每个输入向量，所有的value向量与其对应的注意力分数做加权求和，便得到对应的输出向量。</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0" name="图片 20" descr="手机屏幕截图&#10;&#10;低可信度描述已自动生成"/>
          <p:cNvPicPr>
            <a:picLocks noChangeAspect="1"/>
          </p:cNvPicPr>
          <p:nvPr/>
        </p:nvPicPr>
        <p:blipFill>
          <a:blip r:embed="rId1"/>
          <a:stretch>
            <a:fillRect/>
          </a:stretch>
        </p:blipFill>
        <p:spPr>
          <a:xfrm>
            <a:off x="3681300" y="3239538"/>
            <a:ext cx="4829400" cy="276013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lgn="just">
                  <a:buNone/>
                </a:pPr>
                <a:r>
                  <a:rPr lang="zh-CN" altLang="en-US" sz="2000" b="1" dirty="0">
                    <a:latin typeface="Times New Roman Regular" panose="02020603050405020304" charset="0"/>
                    <a:cs typeface="Times New Roman Regular" panose="02020603050405020304" charset="0"/>
                  </a:rPr>
                  <a:t>自注意力层中可以并行计算</a:t>
                </a: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在自注意力层中，每个输入向量均经过三个共享权重矩阵</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𝑞</m:t>
                        </m:r>
                      </m:sup>
                    </m:sSup>
                  </m:oMath>
                </a14:m>
                <a:r>
                  <a:rPr lang="zh-CN" altLang="en-US" sz="2000" dirty="0">
                    <a:latin typeface="Times New Roman Regular" panose="02020603050405020304" charset="0"/>
                    <a:cs typeface="Times New Roman Regular" panose="02020603050405020304" charset="0"/>
                  </a:rPr>
                  <a:t>，</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𝑘</m:t>
                        </m:r>
                      </m:sup>
                    </m:sSup>
                  </m:oMath>
                </a14:m>
                <a:r>
                  <a:rPr lang="zh-CN" altLang="en-US" sz="2000" dirty="0">
                    <a:latin typeface="Times New Roman Regular" panose="02020603050405020304" charset="0"/>
                    <a:cs typeface="Times New Roman Regular" panose="02020603050405020304" charset="0"/>
                  </a:rPr>
                  <a:t>，</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𝑣</m:t>
                        </m:r>
                      </m:sup>
                    </m:sSup>
                  </m:oMath>
                </a14:m>
                <a:r>
                  <a:rPr lang="zh-CN" altLang="en-US" sz="2000" dirty="0">
                    <a:latin typeface="Times New Roman Regular" panose="02020603050405020304" charset="0"/>
                    <a:cs typeface="Times New Roman Regular" panose="02020603050405020304" charset="0"/>
                  </a:rPr>
                  <a:t>编码，并综合所有向量的信息得到对应输出向量。由于自注意力层的权重矩阵共享参数，因此该计算过程能够被并行计算，如下图所示，输入向量序列可以被拼接为输入矩阵，并与权重矩阵直接相乘得到对应的Q，K，V矩阵，其对应的列向量即为query向量，key向量和value向量。</a:t>
                </a:r>
                <a:endParaRPr lang="zh-CN" altLang="en-US" sz="2000" dirty="0">
                  <a:latin typeface="Times New Roman Regular" panose="02020603050405020304" charset="0"/>
                  <a:cs typeface="Times New Roman Regular" panose="02020603050405020304"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72" name="图片 172" descr="图片包含 公司名称&#10;&#10;描述已自动生成"/>
          <p:cNvPicPr>
            <a:picLocks noChangeAspect="1"/>
          </p:cNvPicPr>
          <p:nvPr/>
        </p:nvPicPr>
        <p:blipFill>
          <a:blip r:embed="rId2"/>
          <a:stretch>
            <a:fillRect/>
          </a:stretch>
        </p:blipFill>
        <p:spPr>
          <a:xfrm>
            <a:off x="3537267" y="3585531"/>
            <a:ext cx="5117465" cy="28530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2469515"/>
            <a:ext cx="4538980" cy="3707765"/>
          </a:xfrm>
        </p:spPr>
        <p:txBody>
          <a:bodyPr/>
          <a:lstStyle/>
          <a:p>
            <a:r>
              <a:rPr lang="zh-CN" altLang="en-US" sz="2000">
                <a:latin typeface="Times New Roman Regular" panose="02020603050405020304" charset="0"/>
              </a:rPr>
              <a:t>在计算注意力分数时，如果独立看各个输入向量，如下图所示</a:t>
            </a:r>
            <a:endParaRPr lang="zh-CN" altLang="en-US" sz="2000">
              <a:latin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73" name="图片 173" descr="图片包含 文本&#10;&#10;描述已自动生成"/>
          <p:cNvPicPr>
            <a:picLocks noChangeAspect="1"/>
          </p:cNvPicPr>
          <p:nvPr/>
        </p:nvPicPr>
        <p:blipFill>
          <a:blip r:embed="rId1"/>
          <a:stretch>
            <a:fillRect/>
          </a:stretch>
        </p:blipFill>
        <p:spPr>
          <a:xfrm>
            <a:off x="1320800" y="4025900"/>
            <a:ext cx="3750945" cy="1200150"/>
          </a:xfrm>
          <a:prstGeom prst="rect">
            <a:avLst/>
          </a:prstGeom>
        </p:spPr>
      </p:pic>
      <p:sp>
        <p:nvSpPr>
          <p:cNvPr id="7" name="内容占位符 2"/>
          <p:cNvSpPr>
            <a:spLocks noGrp="1"/>
          </p:cNvSpPr>
          <p:nvPr/>
        </p:nvSpPr>
        <p:spPr>
          <a:xfrm>
            <a:off x="6321425" y="2468880"/>
            <a:ext cx="4539615" cy="3708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a:t>该过程同样可以通过矩阵并行计算得到，如下图所示</a:t>
            </a:r>
            <a:endParaRPr lang="zh-CN" altLang="en-US" sz="2000"/>
          </a:p>
        </p:txBody>
      </p:sp>
      <p:pic>
        <p:nvPicPr>
          <p:cNvPr id="190" name="图片 190" descr="表格&#10;&#10;低可信度描述已自动生成"/>
          <p:cNvPicPr>
            <a:picLocks noChangeAspect="1"/>
          </p:cNvPicPr>
          <p:nvPr/>
        </p:nvPicPr>
        <p:blipFill>
          <a:blip r:embed="rId2"/>
          <a:stretch>
            <a:fillRect/>
          </a:stretch>
        </p:blipFill>
        <p:spPr>
          <a:xfrm>
            <a:off x="6290945" y="4025900"/>
            <a:ext cx="5274310" cy="13500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5625"/>
            <a:ext cx="4893945" cy="4351655"/>
          </a:xfrm>
        </p:spPr>
        <p:txBody>
          <a:bodyPr/>
          <a:lstStyle/>
          <a:p>
            <a:pPr algn="just"/>
            <a:r>
              <a:rPr lang="zh-CN" altLang="en-US" sz="2000">
                <a:latin typeface="Times New Roman Regular" panose="02020603050405020304" charset="0"/>
                <a:cs typeface="Times New Roman Regular" panose="02020603050405020304" charset="0"/>
              </a:rPr>
              <a:t>而最后利用注意力分数对所有value向量的加权求和，同样可以通过矩阵并行计算</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
        <p:nvSpPr>
          <p:cNvPr id="7" name="内容占位符 2"/>
          <p:cNvSpPr>
            <a:spLocks noGrp="1"/>
          </p:cNvSpPr>
          <p:nvPr/>
        </p:nvSpPr>
        <p:spPr>
          <a:xfrm>
            <a:off x="6233160" y="1825625"/>
            <a:ext cx="4893945"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a:latin typeface="Times New Roman Regular" panose="02020603050405020304" charset="0"/>
              </a:rPr>
              <a:t>自注意力层完整的并行计算过程如下图所示</a:t>
            </a:r>
            <a:endParaRPr lang="zh-CN" altLang="en-US" sz="2000">
              <a:latin typeface="Times New Roman Regular" panose="02020603050405020304" charset="0"/>
            </a:endParaRPr>
          </a:p>
        </p:txBody>
      </p:sp>
      <p:pic>
        <p:nvPicPr>
          <p:cNvPr id="191" name="图片 191" descr="图片包含 图形用户界面&#10;&#10;描述已自动生成"/>
          <p:cNvPicPr>
            <a:picLocks noChangeAspect="1"/>
          </p:cNvPicPr>
          <p:nvPr/>
        </p:nvPicPr>
        <p:blipFill>
          <a:blip r:embed="rId1"/>
          <a:stretch>
            <a:fillRect/>
          </a:stretch>
        </p:blipFill>
        <p:spPr>
          <a:xfrm>
            <a:off x="1369986" y="3847147"/>
            <a:ext cx="4135755" cy="1415415"/>
          </a:xfrm>
          <a:prstGeom prst="rect">
            <a:avLst/>
          </a:prstGeom>
        </p:spPr>
      </p:pic>
      <p:pic>
        <p:nvPicPr>
          <p:cNvPr id="192" name="图片 192" descr="瀑布图&#10;&#10;描述已自动生成"/>
          <p:cNvPicPr>
            <a:picLocks noChangeAspect="1"/>
          </p:cNvPicPr>
          <p:nvPr/>
        </p:nvPicPr>
        <p:blipFill>
          <a:blip r:embed="rId2"/>
          <a:stretch>
            <a:fillRect/>
          </a:stretch>
        </p:blipFill>
        <p:spPr>
          <a:xfrm>
            <a:off x="6671613" y="2860869"/>
            <a:ext cx="4304665" cy="32448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上述计算过程说明了自注意力层处理序列数据时，对于每一个输入向量，通过计算注意力分数聚合序列所有向量的信息来提取特征，同时所有计算过程均可转化为矩阵形式的单次运算，提高了网络的并行度。另外，在RNN和LSTM中，序列数据需要时序输入，且依靠隐藏状态来存储历史信息，而在自注意力层中，序列数据可以一次性输入，且序列中任意两个向量均可跨过其他向量直接建立联系，这使得自注意力层对于序列数据拥有更强大的建模能力。</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lgn="just">
                  <a:buNone/>
                </a:pPr>
                <a:r>
                  <a:rPr lang="zh-CN" altLang="en-US" sz="2000" b="1">
                    <a:latin typeface="Times New Roman Regular" panose="02020603050405020304" charset="0"/>
                    <a:cs typeface="Times New Roman Regular" panose="02020603050405020304" charset="0"/>
                  </a:rPr>
                  <a:t>多头自注意力层</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上述自注意力层相比卷积层，缺少了一项重要的性质。在卷积网络中，通过设置多个卷积核，能够对输入特征图提取得到多个通道的输出特征图，每个通道在特征空间中代表了一种潜在的模式。而一般的自注意力层仅仅使用一组权重矩阵</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𝑞</m:t>
                        </m:r>
                      </m:sup>
                    </m:sSup>
                  </m:oMath>
                </a14:m>
                <a:r>
                  <a:rPr lang="zh-CN" altLang="en-US" sz="2000">
                    <a:latin typeface="Times New Roman Regular" panose="02020603050405020304" charset="0"/>
                    <a:cs typeface="Times New Roman Regular" panose="02020603050405020304" charset="0"/>
                  </a:rPr>
                  <a:t>，</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𝑘</m:t>
                        </m:r>
                      </m:sup>
                    </m:sSup>
                  </m:oMath>
                </a14:m>
                <a:r>
                  <a:rPr lang="zh-CN" altLang="en-US" sz="2000">
                    <a:latin typeface="Times New Roman Regular" panose="02020603050405020304" charset="0"/>
                    <a:cs typeface="Times New Roman Regular" panose="02020603050405020304" charset="0"/>
                  </a:rPr>
                  <a:t>，</a:t>
                </a:r>
                <a14:m>
                  <m:oMath xmlns:m="http://schemas.openxmlformats.org/officeDocument/2006/math">
                    <m:sSup>
                      <m:sSupPr>
                        <m:ctrlPr>
                          <a:rPr lang="en-US" sz="2000" i="1">
                            <a:latin typeface="Cambria Math" panose="02040503050406030204" pitchFamily="18" charset="0"/>
                            <a:cs typeface="DejaVu Math TeX Gyre" panose="02000503000000000000" charset="0"/>
                          </a:rPr>
                        </m:ctrlPr>
                      </m:sSupPr>
                      <m:e>
                        <m:r>
                          <a:rPr lang="en-US" sz="2000" i="1">
                            <a:latin typeface="Cambria Math" panose="02040503050406030204" pitchFamily="18" charset="0"/>
                            <a:cs typeface="DejaVu Math TeX Gyre" panose="02000503000000000000" charset="0"/>
                          </a:rPr>
                          <m:t>𝑊</m:t>
                        </m:r>
                      </m:e>
                      <m:sup>
                        <m:r>
                          <a:rPr lang="en-US" sz="2000" i="1">
                            <a:latin typeface="Cambria Math" panose="02040503050406030204" pitchFamily="18" charset="0"/>
                            <a:cs typeface="DejaVu Math TeX Gyre" panose="02000503000000000000" charset="0"/>
                          </a:rPr>
                          <m:t>𝑣</m:t>
                        </m:r>
                      </m:sup>
                    </m:sSup>
                  </m:oMath>
                </a14:m>
                <a:r>
                  <a:rPr lang="zh-CN" altLang="en-US" sz="2000">
                    <a:latin typeface="Times New Roman Regular" panose="02020603050405020304" charset="0"/>
                    <a:cs typeface="Times New Roman Regular" panose="02020603050405020304" charset="0"/>
                  </a:rPr>
                  <a:t>来对数据进行特征映射，因此只能够学习到单一的模式。</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为了弥补该缺陷，多头自注意力层</a:t>
                </a:r>
                <a:r>
                  <a:rPr lang="zh-CN" altLang="en-US" sz="2000">
                    <a:latin typeface="Times New Roman Regular" panose="02020603050405020304" charset="0"/>
                    <a:cs typeface="Times New Roman Regular" panose="02020603050405020304" charset="0"/>
                    <a:sym typeface="+mn-ea"/>
                  </a:rPr>
                  <a:t>（Multi-head Self-attention）通过构建多个</a:t>
                </a:r>
                <a:r>
                  <a:rPr lang="en-US" altLang="zh-CN" sz="2000">
                    <a:latin typeface="Times New Roman Regular" panose="02020603050405020304" charset="0"/>
                    <a:cs typeface="Times New Roman Regular" panose="02020603050405020304" charset="0"/>
                    <a:sym typeface="+mn-ea"/>
                  </a:rPr>
                  <a:t>head</a:t>
                </a:r>
                <a:r>
                  <a:rPr lang="zh-CN" altLang="en-US" sz="2000">
                    <a:latin typeface="Times New Roman Regular" panose="02020603050405020304" charset="0"/>
                    <a:cs typeface="Times New Roman Regular" panose="02020603050405020304" charset="0"/>
                    <a:sym typeface="+mn-ea"/>
                  </a:rPr>
                  <a:t>实现类似卷积神经网络中</a:t>
                </a:r>
                <a:r>
                  <a:rPr lang="zh-CN" altLang="en-US" sz="2000" u="sng">
                    <a:latin typeface="Times New Roman Regular" panose="02020603050405020304" charset="0"/>
                    <a:cs typeface="Times New Roman Regular" panose="02020603050405020304" charset="0"/>
                    <a:sym typeface="+mn-ea"/>
                  </a:rPr>
                  <a:t>多通道特征提取</a:t>
                </a:r>
                <a:r>
                  <a:rPr lang="zh-CN" altLang="en-US" sz="2000">
                    <a:latin typeface="Times New Roman Regular" panose="02020603050405020304" charset="0"/>
                    <a:cs typeface="Times New Roman Regular" panose="02020603050405020304" charset="0"/>
                    <a:sym typeface="+mn-ea"/>
                  </a:rPr>
                  <a:t>。</a:t>
                </a:r>
                <a:endParaRPr lang="zh-CN" altLang="en-US" sz="2000">
                  <a:latin typeface="Times New Roman Regular" panose="02020603050405020304" charset="0"/>
                  <a:cs typeface="Times New Roman Regular" panose="02020603050405020304" charset="0"/>
                  <a:sym typeface="+mn-ea"/>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marL="0" indent="0" algn="just" fontAlgn="auto">
                  <a:lnSpc>
                    <a:spcPct val="110000"/>
                  </a:lnSpc>
                  <a:buNone/>
                </a:pPr>
                <a:r>
                  <a:rPr lang="zh-CN" altLang="en-US" sz="2000" b="1"/>
                  <a:t>多头自注意力的计算过程</a:t>
                </a:r>
                <a:endParaRPr lang="zh-CN" altLang="en-US" sz="2000" b="1"/>
              </a:p>
              <a:p>
                <a:pPr algn="just" fontAlgn="auto">
                  <a:lnSpc>
                    <a:spcPct val="110000"/>
                  </a:lnSpc>
                </a:pPr>
                <a:r>
                  <a:rPr lang="zh-CN" altLang="en-US" sz="2000"/>
                  <a:t>多头自注意力层</a:t>
                </a:r>
                <a:r>
                  <a:rPr lang="zh-CN" altLang="en-US" sz="2000">
                    <a:latin typeface="Times New Roman Regular" panose="02020603050405020304" charset="0"/>
                    <a:cs typeface="Times New Roman Regular" panose="02020603050405020304" charset="0"/>
                  </a:rPr>
                  <a:t>和普通自注意力层一样，先使用一组权重矩</a:t>
                </a:r>
                <a:r>
                  <a:rPr lang="zh-CN" altLang="en-US" sz="2000"/>
                  <a:t>阵</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𝑞</m:t>
                        </m:r>
                      </m:sup>
                    </m:sSup>
                  </m:oMath>
                </a14:m>
                <a:r>
                  <a:rPr lang="zh-CN" altLang="en-US" sz="2000"/>
                  <a:t>，</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𝑘</m:t>
                        </m:r>
                      </m:sup>
                    </m:sSup>
                  </m:oMath>
                </a14:m>
                <a:r>
                  <a:rPr lang="zh-CN" altLang="en-US" sz="2000"/>
                  <a:t>，</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𝑣</m:t>
                        </m:r>
                      </m:sup>
                    </m:sSup>
                  </m:oMath>
                </a14:m>
                <a:r>
                  <a:rPr lang="zh-CN" altLang="en-US" sz="2000"/>
                  <a:t>把输入序列中的所有向量映射</a:t>
                </a:r>
                <a:r>
                  <a:rPr lang="zh-CN" altLang="en-US" sz="2000">
                    <a:latin typeface="Times New Roman Regular" panose="02020603050405020304" charset="0"/>
                    <a:cs typeface="Times New Roman Regular" panose="02020603050405020304" charset="0"/>
                  </a:rPr>
                  <a:t>为query，key和value向量，随后又</a:t>
                </a:r>
                <a:r>
                  <a:rPr lang="zh-CN" altLang="en-US" sz="2000"/>
                  <a:t>分别使用两组权重矩阵</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𝑞</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zh-CN" altLang="en-US" sz="2000"/>
                  <a:t>，</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𝑘</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en-US" altLang="zh-CN" sz="2000"/>
                  <a:t>,</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𝑣</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zh-CN" altLang="en-US" sz="2000"/>
                  <a:t>和</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𝑞</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r>
                  <a:rPr lang="zh-CN" altLang="en-US" sz="2000"/>
                  <a:t>，</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𝑘</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r>
                  <a:rPr lang="zh-CN" altLang="en-US" sz="2000"/>
                  <a:t>，</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𝑣</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r>
                  <a:rPr lang="zh-CN" altLang="en-US" sz="2000"/>
                  <a:t>做进一步映射</a:t>
                </a:r>
                <a:endParaRPr lang="zh-CN" altLang="en-US" sz="2000"/>
              </a:p>
              <a:p>
                <a:pPr algn="just" fontAlgn="auto">
                  <a:lnSpc>
                    <a:spcPct val="110000"/>
                  </a:lnSpc>
                </a:pPr>
                <a:r>
                  <a:rPr lang="zh-CN" altLang="en-US" sz="2000"/>
                  <a:t>输入向量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𝑎</m:t>
                        </m:r>
                      </m:e>
                      <m:sup>
                        <m:r>
                          <a:rPr lang="en-US" sz="2000" i="1">
                            <a:latin typeface="Cambria Math" panose="02040503050406030204" pitchFamily="18" charset="0"/>
                            <a:cs typeface="Cambria Math" panose="02040503050406030204" pitchFamily="18" charset="0"/>
                          </a:rPr>
                          <m:t>𝑖</m:t>
                        </m:r>
                      </m:sup>
                    </m:sSup>
                  </m:oMath>
                </a14:m>
                <a:r>
                  <a:rPr lang="zh-CN" altLang="en-US" sz="2000"/>
                  <a:t>的</a:t>
                </a:r>
                <a:r>
                  <a:rPr lang="zh-CN" altLang="en-US" sz="2000">
                    <a:latin typeface="Times New Roman Regular" panose="02020603050405020304" charset="0"/>
                    <a:cs typeface="Times New Roman Regular" panose="02020603050405020304" charset="0"/>
                  </a:rPr>
                  <a:t>query向</a:t>
                </a:r>
                <a:r>
                  <a:rPr lang="zh-CN" altLang="en-US" sz="2000"/>
                  <a:t>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𝑞</m:t>
                        </m:r>
                      </m:e>
                      <m:sup>
                        <m:r>
                          <a:rPr lang="en-US" sz="2000" i="1">
                            <a:latin typeface="Cambria Math" panose="02040503050406030204" pitchFamily="18" charset="0"/>
                            <a:cs typeface="Cambria Math" panose="02040503050406030204" pitchFamily="18" charset="0"/>
                          </a:rPr>
                          <m:t>𝑖</m:t>
                        </m:r>
                      </m:sup>
                    </m:sSup>
                  </m:oMath>
                </a14:m>
                <a:r>
                  <a:rPr lang="zh-CN" altLang="en-US" sz="2000"/>
                  <a:t>被两组新的权重矩阵</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𝑞</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zh-CN" altLang="en-US" sz="2000"/>
                  <a:t>和</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𝑊</m:t>
                        </m:r>
                      </m:e>
                      <m:sup>
                        <m:r>
                          <a:rPr lang="en-US" sz="2000" i="1">
                            <a:latin typeface="Cambria Math" panose="02040503050406030204" pitchFamily="18" charset="0"/>
                            <a:cs typeface="Cambria Math" panose="02040503050406030204" pitchFamily="18" charset="0"/>
                          </a:rPr>
                          <m:t>𝑞</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r>
                  <a:rPr lang="zh-CN" altLang="en-US" sz="2000"/>
                  <a:t>映射为</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𝑞</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zh-CN" altLang="en-US" sz="2000"/>
                  <a:t>和</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𝑞</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r>
                  <a:rPr lang="zh-CN" altLang="en-US" sz="2000">
                    <a:latin typeface="Times New Roman Regular" panose="02020603050405020304" charset="0"/>
                    <a:cs typeface="Times New Roman Regular" panose="02020603050405020304" charset="0"/>
                  </a:rPr>
                  <a:t>，key向量与value向量同理。在</a:t>
                </a:r>
                <a:r>
                  <a:rPr lang="zh-CN" altLang="en-US" sz="2000"/>
                  <a:t>与输入向量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𝑎</m:t>
                        </m:r>
                      </m:e>
                      <m:sup>
                        <m:r>
                          <a:rPr lang="en-US" sz="2000" i="1">
                            <a:latin typeface="Cambria Math" panose="02040503050406030204" pitchFamily="18" charset="0"/>
                            <a:cs typeface="Cambria Math" panose="02040503050406030204" pitchFamily="18" charset="0"/>
                          </a:rPr>
                          <m:t>𝑗</m:t>
                        </m:r>
                      </m:sup>
                    </m:sSup>
                  </m:oMath>
                </a14:m>
                <a:r>
                  <a:rPr lang="zh-CN" altLang="en-US" sz="2000"/>
                  <a:t>求自注意力分数时</a:t>
                </a:r>
                <a:r>
                  <a:rPr lang="zh-CN" altLang="en-US" sz="2000">
                    <a:latin typeface="Times New Roman Regular" panose="02020603050405020304" charset="0"/>
                    <a:cs typeface="Times New Roman Regular" panose="02020603050405020304" charset="0"/>
                  </a:rPr>
                  <a:t>并与value向</a:t>
                </a:r>
                <a:r>
                  <a:rPr lang="zh-CN" altLang="en-US" sz="2000"/>
                  <a:t>量加权求和时，第一组向量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𝑞</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r>
                      <a:rPr lang="en-US" sz="2000" i="1">
                        <a:latin typeface="Cambria Math" panose="02040503050406030204" pitchFamily="18" charset="0"/>
                        <a:cs typeface="Cambria Math" panose="02040503050406030204" pitchFamily="18" charset="0"/>
                      </a:rPr>
                      <m:t>,</m:t>
                    </m:r>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𝑘</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 </m:t>
                        </m:r>
                        <m:r>
                          <a:rPr lang="en-US" sz="2000" i="1">
                            <a:latin typeface="Cambria Math" panose="02040503050406030204" pitchFamily="18" charset="0"/>
                            <a:cs typeface="Cambria Math" panose="02040503050406030204" pitchFamily="18" charset="0"/>
                          </a:rPr>
                          <m:t>1</m:t>
                        </m:r>
                      </m:sup>
                    </m:sSup>
                  </m:oMath>
                </a14:m>
                <a:r>
                  <a:rPr lang="zh-CN" altLang="en-US" sz="2000"/>
                  <a:t>和</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𝑣</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zh-CN" altLang="en-US" sz="2000"/>
                  <a:t>参与计算得</a:t>
                </a:r>
                <a:r>
                  <a:rPr lang="zh-CN" altLang="en-US" sz="2000">
                    <a:latin typeface="Times New Roman Regular" panose="02020603050405020304" charset="0"/>
                    <a:cs typeface="Times New Roman Regular" panose="02020603050405020304" charset="0"/>
                  </a:rPr>
                  <a:t>到head-1输</a:t>
                </a:r>
                <a:r>
                  <a:rPr lang="zh-CN" altLang="en-US" sz="2000"/>
                  <a:t>出向量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𝑏</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1</m:t>
                        </m:r>
                      </m:sup>
                    </m:sSup>
                  </m:oMath>
                </a14:m>
                <a:r>
                  <a:rPr lang="zh-CN" altLang="en-US" sz="2000"/>
                  <a:t>，同理第二组向量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𝑞</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r>
                      <a:rPr lang="en-US" sz="2000" i="1">
                        <a:latin typeface="Cambria Math" panose="02040503050406030204" pitchFamily="18" charset="0"/>
                        <a:cs typeface="Cambria Math" panose="02040503050406030204" pitchFamily="18" charset="0"/>
                      </a:rPr>
                      <m:t>,</m:t>
                    </m:r>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𝑘</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 </m:t>
                        </m:r>
                        <m:r>
                          <a:rPr lang="en-US" sz="2000" i="1">
                            <a:latin typeface="Cambria Math" panose="02040503050406030204" pitchFamily="18" charset="0"/>
                            <a:cs typeface="Cambria Math" panose="02040503050406030204" pitchFamily="18" charset="0"/>
                          </a:rPr>
                          <m:t>2</m:t>
                        </m:r>
                      </m:sup>
                    </m:sSup>
                    <m:r>
                      <a:rPr lang="en-US" sz="2000" i="1">
                        <a:latin typeface="Cambria Math" panose="02040503050406030204" pitchFamily="18" charset="0"/>
                        <a:cs typeface="Cambria Math" panose="02040503050406030204" pitchFamily="18" charset="0"/>
                      </a:rPr>
                      <m:t>,</m:t>
                    </m:r>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𝑣</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r>
                  <a:rPr lang="zh-CN" altLang="en-US" sz="2000"/>
                  <a:t>参与计算得</a:t>
                </a:r>
                <a:r>
                  <a:rPr lang="zh-CN" altLang="en-US" sz="2000">
                    <a:latin typeface="Times New Roman Regular" panose="02020603050405020304" charset="0"/>
                    <a:cs typeface="Times New Roman Regular" panose="02020603050405020304" charset="0"/>
                  </a:rPr>
                  <a:t>到2-head输出</a:t>
                </a:r>
                <a:r>
                  <a:rPr lang="zh-CN" altLang="en-US" sz="2000"/>
                  <a:t>向量</a:t>
                </a:r>
                <a14:m>
                  <m:oMath xmlns:m="http://schemas.openxmlformats.org/officeDocument/2006/math">
                    <m:sSup>
                      <m:sSupPr>
                        <m:ctrlPr>
                          <a:rPr lang="en-US" sz="2000" i="1">
                            <a:latin typeface="Cambria Math" panose="02040503050406030204" pitchFamily="18" charset="0"/>
                            <a:cs typeface="Cambria Math" panose="02040503050406030204" pitchFamily="18" charset="0"/>
                          </a:rPr>
                        </m:ctrlPr>
                      </m:sSupPr>
                      <m:e>
                        <m:r>
                          <a:rPr lang="en-US" sz="2000" i="1">
                            <a:latin typeface="Cambria Math" panose="02040503050406030204" pitchFamily="18" charset="0"/>
                            <a:cs typeface="Cambria Math" panose="02040503050406030204" pitchFamily="18" charset="0"/>
                          </a:rPr>
                          <m:t>𝑏</m:t>
                        </m:r>
                      </m:e>
                      <m:sup>
                        <m:r>
                          <a:rPr lang="en-US" sz="2000" i="1">
                            <a:latin typeface="Cambria Math" panose="02040503050406030204" pitchFamily="18" charset="0"/>
                            <a:cs typeface="Cambria Math" panose="02040503050406030204" pitchFamily="18" charset="0"/>
                          </a:rPr>
                          <m:t>𝑖</m:t>
                        </m:r>
                        <m:r>
                          <a:rPr lang="en-US" sz="2000" i="1">
                            <a:latin typeface="Cambria Math" panose="02040503050406030204" pitchFamily="18" charset="0"/>
                            <a:cs typeface="Cambria Math" panose="02040503050406030204" pitchFamily="18" charset="0"/>
                          </a:rPr>
                          <m:t>,</m:t>
                        </m:r>
                        <m:r>
                          <a:rPr lang="en-US" sz="2000" i="1">
                            <a:latin typeface="Cambria Math" panose="02040503050406030204" pitchFamily="18" charset="0"/>
                            <a:cs typeface="Cambria Math" panose="02040503050406030204" pitchFamily="18" charset="0"/>
                          </a:rPr>
                          <m:t>2</m:t>
                        </m:r>
                      </m:sup>
                    </m:sSup>
                  </m:oMath>
                </a14:m>
                <a:endParaRPr lang="zh-CN" altLang="en-US" sz="200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93" name="图片 193" descr="图示&#10;&#10;描述已自动生成"/>
          <p:cNvPicPr>
            <a:picLocks noGrp="1" noChangeAspect="1"/>
          </p:cNvPicPr>
          <p:nvPr>
            <p:ph idx="1"/>
          </p:nvPr>
        </p:nvPicPr>
        <p:blipFill>
          <a:blip r:embed="rId1"/>
          <a:stretch>
            <a:fillRect/>
          </a:stretch>
        </p:blipFill>
        <p:spPr>
          <a:xfrm>
            <a:off x="1190625" y="2875280"/>
            <a:ext cx="4115435" cy="2874010"/>
          </a:xfrm>
          <a:prstGeom prst="rect">
            <a:avLst/>
          </a:prstGeom>
        </p:spPr>
      </p:pic>
      <p:pic>
        <p:nvPicPr>
          <p:cNvPr id="194" name="图片 194" descr="箱线图&#10;&#10;低可信度描述已自动生成"/>
          <p:cNvPicPr>
            <a:picLocks noChangeAspect="1"/>
          </p:cNvPicPr>
          <p:nvPr/>
        </p:nvPicPr>
        <p:blipFill>
          <a:blip r:embed="rId2"/>
          <a:stretch>
            <a:fillRect/>
          </a:stretch>
        </p:blipFill>
        <p:spPr>
          <a:xfrm>
            <a:off x="6439535" y="2875280"/>
            <a:ext cx="4133850" cy="2874010"/>
          </a:xfrm>
          <a:prstGeom prst="rect">
            <a:avLst/>
          </a:prstGeom>
        </p:spPr>
      </p:pic>
      <p:sp>
        <p:nvSpPr>
          <p:cNvPr id="3" name="内容占位符 2"/>
          <p:cNvSpPr>
            <a:spLocks noGrp="1"/>
          </p:cNvSpPr>
          <p:nvPr/>
        </p:nvSpPr>
        <p:spPr>
          <a:xfrm>
            <a:off x="838200" y="1623695"/>
            <a:ext cx="10515600" cy="11391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a:latin typeface="Times New Roman Regular" panose="02020603050405020304" charset="0"/>
                <a:cs typeface="Times New Roman Regular" panose="02020603050405020304" charset="0"/>
              </a:rPr>
              <a:t>多头自注意力计算图示</a:t>
            </a:r>
            <a:endParaRPr lang="zh-CN" altLang="en-US" sz="2000" b="1">
              <a:latin typeface="Times New Roman Regular" panose="02020603050405020304" charset="0"/>
              <a:cs typeface="Times New Roman Regular" panose="02020603050405020304" charset="0"/>
            </a:endParaRPr>
          </a:p>
          <a:p>
            <a:pPr marL="0" indent="0">
              <a:buNone/>
            </a:pPr>
            <a:r>
              <a:rPr lang="zh-CN" altLang="en-US" sz="2000">
                <a:sym typeface="+mn-ea"/>
              </a:rPr>
              <a:t>在各</a:t>
            </a:r>
            <a:r>
              <a:rPr lang="zh-CN" altLang="en-US" sz="2000">
                <a:latin typeface="Times New Roman Regular" panose="02020603050405020304" charset="0"/>
                <a:cs typeface="Times New Roman Regular" panose="02020603050405020304" charset="0"/>
                <a:sym typeface="+mn-ea"/>
              </a:rPr>
              <a:t>个head计算</a:t>
            </a:r>
            <a:r>
              <a:rPr lang="zh-CN" altLang="en-US" sz="2000">
                <a:sym typeface="+mn-ea"/>
              </a:rPr>
              <a:t>完输出向量之后，所</a:t>
            </a:r>
            <a:r>
              <a:rPr lang="zh-CN" altLang="en-US" sz="2000">
                <a:latin typeface="Times New Roman Regular" panose="02020603050405020304" charset="0"/>
                <a:cs typeface="Times New Roman Regular" panose="02020603050405020304" charset="0"/>
                <a:sym typeface="+mn-ea"/>
              </a:rPr>
              <a:t>有head的</a:t>
            </a:r>
            <a:r>
              <a:rPr lang="zh-CN" altLang="en-US" sz="2000">
                <a:sym typeface="+mn-ea"/>
              </a:rPr>
              <a:t>输出向量被拼接并被一组输出权重矩阵映射到特征维度。</a:t>
            </a:r>
            <a:endParaRPr lang="zh-CN" altLang="en-US" sz="2000" b="1">
              <a:latin typeface="Times New Roman Regular" panose="02020603050405020304" charset="0"/>
              <a:cs typeface="Times New Roman Regular"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916430"/>
            <a:ext cx="9077960" cy="676910"/>
          </a:xfrm>
        </p:spPr>
        <p:txBody>
          <a:bodyPr>
            <a:normAutofit/>
          </a:bodyPr>
          <a:lstStyle/>
          <a:p>
            <a:r>
              <a:rPr lang="zh-CN" altLang="en-US" sz="2000" dirty="0">
                <a:latin typeface="Times New Roman Regular" panose="02020603050405020304" charset="0"/>
                <a:cs typeface="Times New Roman Regular" panose="02020603050405020304" charset="0"/>
              </a:rPr>
              <a:t>在各个head计算完输出向量之后，所有head的输出向量被拼接并被一组输出权重矩阵映射到特征维度</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195" name="图片 195" descr="图形用户界面, 应用程序&#10;&#10;描述已自动生成"/>
          <p:cNvPicPr>
            <a:picLocks noChangeAspect="1"/>
          </p:cNvPicPr>
          <p:nvPr/>
        </p:nvPicPr>
        <p:blipFill>
          <a:blip r:embed="rId1"/>
          <a:stretch>
            <a:fillRect/>
          </a:stretch>
        </p:blipFill>
        <p:spPr>
          <a:xfrm>
            <a:off x="4303643" y="3108767"/>
            <a:ext cx="3134995" cy="145669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
        <p:nvSpPr>
          <p:cNvPr id="7" name="内容占位符 2"/>
          <p:cNvSpPr>
            <a:spLocks noGrp="1"/>
          </p:cNvSpPr>
          <p:nvPr/>
        </p:nvSpPr>
        <p:spPr>
          <a:xfrm>
            <a:off x="838200" y="1756410"/>
            <a:ext cx="7510780" cy="33449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08000"/>
              </a:lnSpc>
              <a:buNone/>
            </a:pPr>
            <a:r>
              <a:rPr lang="zh-CN" altLang="en-US" sz="2000" b="1" dirty="0">
                <a:latin typeface="Times New Roman Regular" panose="02020603050405020304" charset="0"/>
                <a:cs typeface="Times New Roman Regular" panose="02020603050405020304" charset="0"/>
              </a:rPr>
              <a:t>位置编码</a:t>
            </a:r>
            <a:endParaRPr lang="zh-CN" altLang="en-US" sz="2000" b="1" dirty="0">
              <a:latin typeface="Times New Roman Regular" panose="02020603050405020304" charset="0"/>
              <a:cs typeface="Times New Roman Regular" panose="02020603050405020304" charset="0"/>
            </a:endParaRPr>
          </a:p>
          <a:p>
            <a:pPr algn="just" fontAlgn="auto">
              <a:lnSpc>
                <a:spcPct val="108000"/>
              </a:lnSpc>
            </a:pPr>
            <a:r>
              <a:rPr lang="zh-CN" altLang="en-US" sz="2000" dirty="0">
                <a:latin typeface="Times New Roman Regular" panose="02020603050405020304" charset="0"/>
                <a:cs typeface="Times New Roman Regular" panose="02020603050405020304" charset="0"/>
              </a:rPr>
              <a:t>在上述自注意力层中，对于输入序列没有强调“时序”的概念，这是因为输入序列的每个向量均两两独立计算注意力分数并产生信息交换，该过程与向量的位置没有关系。为了对向量的位置进行建模，通常还需要在进入自注意力层前，对输入向量进行位置编码（Positional Encoding），即对输入向量直接加上一个表征序列位置的特殊向量</a:t>
            </a:r>
            <a:endParaRPr lang="zh-CN" altLang="en-US" sz="2000" dirty="0">
              <a:latin typeface="Times New Roman Regular" panose="02020603050405020304" charset="0"/>
              <a:cs typeface="Times New Roman Regular" panose="02020603050405020304" charset="0"/>
            </a:endParaRPr>
          </a:p>
        </p:txBody>
      </p:sp>
      <p:pic>
        <p:nvPicPr>
          <p:cNvPr id="198" name="图片 198" descr="图示&#10;&#10;描述已自动生成"/>
          <p:cNvPicPr>
            <a:picLocks noChangeAspect="1"/>
          </p:cNvPicPr>
          <p:nvPr/>
        </p:nvPicPr>
        <p:blipFill>
          <a:blip r:embed="rId1"/>
          <a:stretch>
            <a:fillRect/>
          </a:stretch>
        </p:blipFill>
        <p:spPr>
          <a:xfrm>
            <a:off x="8638981" y="2666548"/>
            <a:ext cx="2714625" cy="17424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6260"/>
            <a:ext cx="5257800" cy="4351020"/>
          </a:xfrm>
        </p:spPr>
        <p:txBody>
          <a:bodyPr/>
          <a:lstStyle/>
          <a:p>
            <a:endParaRPr lang="zh-CN" altLang="en-US" sz="2000" dirty="0"/>
          </a:p>
          <a:p>
            <a:r>
              <a:rPr lang="zh-CN" altLang="en-US" sz="2000" dirty="0"/>
              <a:t>位置向量可以人为手工设置，最常用的是正弦波位置编码</a:t>
            </a:r>
            <a:endParaRPr lang="zh-CN" altLang="en-US" sz="2000" dirty="0"/>
          </a:p>
          <a:p>
            <a:endParaRPr lang="zh-CN" altLang="en-US" sz="2000" dirty="0"/>
          </a:p>
          <a:p>
            <a:endParaRPr lang="zh-CN" altLang="en-US" sz="2000" dirty="0"/>
          </a:p>
          <a:p>
            <a:endParaRPr lang="zh-CN" altLang="en-US" sz="2000" dirty="0"/>
          </a:p>
          <a:p>
            <a:r>
              <a:rPr lang="zh-CN" altLang="en-US" sz="2000" dirty="0">
                <a:latin typeface="Times New Roman Regular" panose="02020603050405020304" charset="0"/>
                <a:cs typeface="Times New Roman Regular" panose="02020603050405020304" charset="0"/>
                <a:sym typeface="+mn-ea"/>
              </a:rPr>
              <a:t>其中，pos代表向量在序列中的位置，</a:t>
            </a:r>
            <a:r>
              <a:rPr lang="zh-CN" altLang="en-US" sz="2000" i="1" dirty="0">
                <a:latin typeface="Times New Roman Regular" panose="02020603050405020304" charset="0"/>
                <a:cs typeface="Times New Roman Regular" panose="02020603050405020304" charset="0"/>
                <a:sym typeface="+mn-ea"/>
              </a:rPr>
              <a:t>i</a:t>
            </a:r>
            <a:r>
              <a:rPr lang="zh-CN" altLang="en-US" sz="2000" dirty="0">
                <a:latin typeface="Times New Roman Regular" panose="02020603050405020304" charset="0"/>
                <a:cs typeface="Times New Roman Regular" panose="02020603050405020304" charset="0"/>
                <a:sym typeface="+mn-ea"/>
              </a:rPr>
              <a:t>代表特征向量的维度。正弦波位置编码的可视化如右图所示</a:t>
            </a:r>
            <a:endParaRPr lang="zh-CN" altLang="en-US" sz="2000" dirty="0"/>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
        <p:nvSpPr>
          <p:cNvPr id="9" name="内容占位符 2"/>
          <p:cNvSpPr>
            <a:spLocks noGrp="1"/>
          </p:cNvSpPr>
          <p:nvPr/>
        </p:nvSpPr>
        <p:spPr>
          <a:xfrm>
            <a:off x="6446548" y="1825624"/>
            <a:ext cx="4535170" cy="43516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2000" dirty="0">
              <a:latin typeface="Times New Roman Regular" panose="02020603050405020304" charset="0"/>
              <a:cs typeface="Times New Roman Regular" panose="02020603050405020304" charset="0"/>
            </a:endParaRPr>
          </a:p>
        </p:txBody>
      </p:sp>
      <p:pic>
        <p:nvPicPr>
          <p:cNvPr id="206" name="图片 206" descr="形状&#10;&#10;描述已自动生成"/>
          <p:cNvPicPr>
            <a:picLocks noChangeAspect="1"/>
          </p:cNvPicPr>
          <p:nvPr/>
        </p:nvPicPr>
        <p:blipFill>
          <a:blip r:embed="rId1"/>
          <a:stretch>
            <a:fillRect/>
          </a:stretch>
        </p:blipFill>
        <p:spPr>
          <a:xfrm>
            <a:off x="6926746" y="3429000"/>
            <a:ext cx="3710305" cy="2673985"/>
          </a:xfrm>
          <a:prstGeom prst="rect">
            <a:avLst/>
          </a:prstGeom>
        </p:spPr>
      </p:pic>
      <p:pic>
        <p:nvPicPr>
          <p:cNvPr id="8" name="334E55B0-647D-440b-865C-3EC943EB4CBC-4" descr="wpsoffice"/>
          <p:cNvPicPr>
            <a:picLocks noChangeAspect="1"/>
          </p:cNvPicPr>
          <p:nvPr/>
        </p:nvPicPr>
        <p:blipFill>
          <a:blip r:embed="rId2"/>
          <a:stretch>
            <a:fillRect/>
          </a:stretch>
        </p:blipFill>
        <p:spPr>
          <a:xfrm>
            <a:off x="6808470" y="1997075"/>
            <a:ext cx="3947160" cy="88074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algn="just"/>
            <a:r>
              <a:rPr lang="zh-CN" altLang="en-US" sz="2000">
                <a:latin typeface="Times New Roman Regular" panose="02020603050405020304" charset="0"/>
                <a:cs typeface="Times New Roman Regular" panose="02020603050405020304" charset="0"/>
              </a:rPr>
              <a:t>加上位置编码后，每个输入向量在序列中的位置信息就直接编码到其原始向量上，参与后续计算。</a:t>
            </a:r>
            <a:endParaRPr lang="zh-CN" altLang="en-US"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多头自注意力层构成了Transformer框架的基本模块，而正是自注意力机制赋予了Transformer强大的特征表达能力。在下一节将详细介绍Transformer的网络结构。</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5625"/>
            <a:ext cx="6809740" cy="4692474"/>
          </a:xfrm>
        </p:spPr>
        <p:txBody>
          <a:bodyPr>
            <a:noAutofit/>
          </a:bodyPr>
          <a:lstStyle/>
          <a:p>
            <a:pPr marL="0" indent="0" algn="just">
              <a:buNone/>
            </a:pPr>
            <a:r>
              <a:rPr lang="zh-CN" altLang="en-US" sz="2400" b="1" dirty="0">
                <a:latin typeface="Times New Roman Regular" panose="02020603050405020304" charset="0"/>
                <a:cs typeface="Times New Roman Regular" panose="02020603050405020304" charset="0"/>
              </a:rPr>
              <a:t>5.3.2Transformer网络结构</a:t>
            </a:r>
            <a:endParaRPr lang="zh-CN" altLang="en-US" sz="2400" b="1" dirty="0">
              <a:latin typeface="Times New Roman Regular" panose="02020603050405020304" charset="0"/>
              <a:cs typeface="Times New Roman Regular" panose="02020603050405020304" charset="0"/>
            </a:endParaRPr>
          </a:p>
          <a:p>
            <a:pPr marL="0" indent="0" algn="just" fontAlgn="auto">
              <a:lnSpc>
                <a:spcPct val="130000"/>
              </a:lnSpc>
              <a:buNone/>
            </a:pPr>
            <a:r>
              <a:rPr lang="zh-CN" altLang="en-US" sz="2000" dirty="0">
                <a:latin typeface="Times New Roman Regular" panose="02020603050405020304" charset="0"/>
                <a:cs typeface="Times New Roman Regular" panose="02020603050405020304" charset="0"/>
              </a:rPr>
              <a:t>Transformer网络采用了编码器-解码器结构（Encoder-Decoder）。以机器翻译任务为例，编码器将输入的单词序列进行特征编码，解码器则对编码后的特征序列解码为另一种语言的单词序列。</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07" name="图片 207" descr="图示&#10;&#10;描述已自动生成"/>
          <p:cNvPicPr>
            <a:picLocks noChangeAspect="1"/>
          </p:cNvPicPr>
          <p:nvPr/>
        </p:nvPicPr>
        <p:blipFill>
          <a:blip r:embed="rId1"/>
          <a:stretch>
            <a:fillRect/>
          </a:stretch>
        </p:blipFill>
        <p:spPr>
          <a:xfrm>
            <a:off x="7814917" y="1633220"/>
            <a:ext cx="3117850" cy="45440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2976880"/>
            <a:ext cx="3117850" cy="2300605"/>
          </a:xfrm>
        </p:spPr>
        <p:txBody>
          <a:bodyPr>
            <a:noAutofit/>
          </a:bodyPr>
          <a:lstStyle/>
          <a:p>
            <a:pPr marL="0" indent="0" algn="just" fontAlgn="auto">
              <a:lnSpc>
                <a:spcPct val="130000"/>
              </a:lnSpc>
              <a:buNone/>
            </a:pPr>
            <a:r>
              <a:rPr lang="zh-CN" altLang="en-US" sz="2000" dirty="0">
                <a:latin typeface="Times New Roman Regular" panose="02020603050405020304" charset="0"/>
                <a:cs typeface="Times New Roman Regular" panose="02020603050405020304" charset="0"/>
              </a:rPr>
              <a:t>蓝色部分所示编码器部分用于将输入的数据编码为向量序列，然后利用多头自注意力层对向量序列进行特征编码。</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07" name="图片 207" descr="图示&#10;&#10;描述已自动生成"/>
          <p:cNvPicPr>
            <a:picLocks noChangeAspect="1"/>
          </p:cNvPicPr>
          <p:nvPr/>
        </p:nvPicPr>
        <p:blipFill>
          <a:blip r:embed="rId1"/>
          <a:stretch>
            <a:fillRect/>
          </a:stretch>
        </p:blipFill>
        <p:spPr>
          <a:xfrm>
            <a:off x="4537047" y="1601470"/>
            <a:ext cx="3117850" cy="4544060"/>
          </a:xfrm>
          <a:prstGeom prst="rect">
            <a:avLst/>
          </a:prstGeom>
        </p:spPr>
      </p:pic>
      <p:sp>
        <p:nvSpPr>
          <p:cNvPr id="7" name="内容占位符 2"/>
          <p:cNvSpPr>
            <a:spLocks noGrp="1"/>
          </p:cNvSpPr>
          <p:nvPr/>
        </p:nvSpPr>
        <p:spPr>
          <a:xfrm>
            <a:off x="8235950" y="2650490"/>
            <a:ext cx="3117850" cy="24460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30000"/>
              </a:lnSpc>
              <a:buNone/>
            </a:pPr>
            <a:r>
              <a:rPr lang="zh-CN" altLang="en-US" sz="2000" dirty="0">
                <a:latin typeface="Times New Roman Regular" panose="02020603050405020304" charset="0"/>
                <a:cs typeface="Times New Roman Regular" panose="02020603050405020304" charset="0"/>
              </a:rPr>
              <a:t>橙色部分所示解码器中，则将经过编码器所编码的特征向量序列再次使用多头注意力机制对特征向量进行解码，映射到输出空间中。</a:t>
            </a:r>
            <a:endParaRPr lang="zh-CN" altLang="en-US" sz="2000" dirty="0">
              <a:latin typeface="Times New Roman Regular" panose="02020603050405020304" charset="0"/>
              <a:cs typeface="Times New Roman Regular" panose="02020603050405020304" charset="0"/>
            </a:endParaRPr>
          </a:p>
        </p:txBody>
      </p:sp>
      <p:sp>
        <p:nvSpPr>
          <p:cNvPr id="8" name="Rectangles 7"/>
          <p:cNvSpPr/>
          <p:nvPr/>
        </p:nvSpPr>
        <p:spPr>
          <a:xfrm>
            <a:off x="4269105" y="2975610"/>
            <a:ext cx="1755775" cy="3035935"/>
          </a:xfrm>
          <a:prstGeom prst="rect">
            <a:avLst/>
          </a:prstGeom>
          <a:noFill/>
          <a:ln w="28575">
            <a:solidFill>
              <a:schemeClr val="accent1">
                <a:lumMod val="75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s 8"/>
          <p:cNvSpPr/>
          <p:nvPr/>
        </p:nvSpPr>
        <p:spPr>
          <a:xfrm>
            <a:off x="6102985" y="1540510"/>
            <a:ext cx="2049780" cy="4685665"/>
          </a:xfrm>
          <a:prstGeom prst="rect">
            <a:avLst/>
          </a:prstGeom>
          <a:noFill/>
          <a:ln w="28575">
            <a:solidFill>
              <a:schemeClr val="accent2">
                <a:lumMod val="75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marL="0" indent="0">
              <a:buNone/>
            </a:pPr>
            <a:r>
              <a:rPr lang="zh-CN" altLang="en-US" sz="2400" b="1" dirty="0">
                <a:latin typeface="Times New Roman Regular" panose="02020603050405020304" charset="0"/>
                <a:cs typeface="Times New Roman Regular" panose="02020603050405020304" charset="0"/>
              </a:rPr>
              <a:t>1.编码器（Encoder）</a:t>
            </a:r>
            <a:endParaRPr lang="zh-CN" altLang="en-US" sz="24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编码器的输入与输出是同样长度的向量序列。对于输入数据（Inputs），首先需要编码为向量序列（Input Embedding）。在自然语言处理任务中，输入数据往往是文本序列，所以和RNN与LSTM类似，需要对每个单词进行编码得到单词编码序列。在加上位置编码（Positional Encoding）后，向量序列被输入多头自注意力层（Multi-Head Attention）进行信息聚合。随后，采用了与第四章介绍的ResNet所一致的残差连接，将多头自注意力层的输入直接与输出相加（Add）。随后，特征向量序列将经过Layer Normalization处理。</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en-US" altLang="zh-CN" sz="2000" b="1" dirty="0">
                <a:latin typeface="Times New Roman Bold" panose="02020603050405020304" charset="0"/>
                <a:cs typeface="Times New Roman Bold" panose="02020603050405020304" charset="0"/>
              </a:rPr>
              <a:t>Layer Normalization</a:t>
            </a:r>
            <a:endParaRPr lang="zh-CN" altLang="en-US" sz="2000" b="1" dirty="0">
              <a:latin typeface="Times New Roman Bold" panose="02020603050405020304" charset="0"/>
              <a:cs typeface="Times New Roman Bold" panose="02020603050405020304" charset="0"/>
            </a:endParaRPr>
          </a:p>
          <a:p>
            <a:pPr algn="just"/>
            <a:r>
              <a:rPr lang="zh-CN" altLang="en-US" sz="2000" dirty="0">
                <a:latin typeface="Times New Roman Regular" panose="02020603050405020304" charset="0"/>
                <a:cs typeface="Times New Roman Regular" panose="02020603050405020304" charset="0"/>
              </a:rPr>
              <a:t>在Batch Normalization中，训练过程使用当前mini-batch数据的均值和方差，推理过程中使用训练集的全局均值和方差，因此要求训练过程中保留全局均值和方差。而Layer Normalization计算过程中各条数据相互独立，因此Layer Normalization在训练过程中不需要保留训练过程中的全局均值和方差，无论训练还是测试阶段，对每条数据在通道维度内独立进行归一化即可。</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图片 6"/>
          <p:cNvPicPr>
            <a:picLocks noChangeAspect="1"/>
          </p:cNvPicPr>
          <p:nvPr/>
        </p:nvPicPr>
        <p:blipFill>
          <a:blip r:embed="rId1"/>
          <a:stretch>
            <a:fillRect/>
          </a:stretch>
        </p:blipFill>
        <p:spPr>
          <a:xfrm>
            <a:off x="2976562" y="4001294"/>
            <a:ext cx="6238875" cy="20288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r>
              <a:rPr lang="zh-CN" altLang="en-US" sz="2000">
                <a:latin typeface="Times New Roman Regular" panose="02020603050405020304" charset="0"/>
                <a:cs typeface="Times New Roman Regular" panose="02020603050405020304" charset="0"/>
              </a:rPr>
              <a:t>在计算机视觉问题中，Layer Normalization是指在特征图的通道维度上做归一化。而在自然语言处理问题中，Layer Normalization是指对句子的单个token特征进行归一化</a:t>
            </a:r>
            <a:endParaRPr lang="zh-CN" altLang="en-US" sz="2000">
              <a:latin typeface="Times New Roman Regular" panose="02020603050405020304" charset="0"/>
              <a:cs typeface="Times New Roman Regular" panose="02020603050405020304" charset="0"/>
            </a:endParaRPr>
          </a:p>
          <a:p>
            <a:r>
              <a:rPr lang="zh-CN" altLang="en-US" sz="2000">
                <a:latin typeface="Times New Roman Regular" panose="02020603050405020304" charset="0"/>
                <a:cs typeface="Times New Roman Regular" panose="02020603050405020304" charset="0"/>
              </a:rPr>
              <a:t>Layer Normalization的计算过程为：</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334E55B0-647D-440b-865C-3EC943EB4CBC-5" descr="wpsoffice"/>
          <p:cNvPicPr>
            <a:picLocks noChangeAspect="1"/>
          </p:cNvPicPr>
          <p:nvPr/>
        </p:nvPicPr>
        <p:blipFill>
          <a:blip r:embed="rId1"/>
          <a:stretch>
            <a:fillRect/>
          </a:stretch>
        </p:blipFill>
        <p:spPr>
          <a:xfrm>
            <a:off x="4291965" y="3477260"/>
            <a:ext cx="3608070" cy="72009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zh-CN" altLang="en-US" sz="2000" b="1">
                <a:latin typeface="Times New Roman Regular" panose="02020603050405020304" charset="0"/>
                <a:cs typeface="Times New Roman Regular" panose="02020603050405020304" charset="0"/>
              </a:rPr>
              <a:t>前馈神经网络</a:t>
            </a:r>
            <a:endParaRPr lang="zh-CN" altLang="en-US" sz="2000" b="1">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编码器中经过了残差连接和Layer Normalization（Add &amp; Norm）的特征向量序列被进一步输入一个由全连接层构成的前馈神经网络（Feed Forward Network, FFN）。与多头注意力层相同，FFN的输入与输出同样通过残差连接和Layer Normalization（Add &amp; Norm）。经过重复的N次多头注意力层和FFN（N组独立、不共享的参数），就得到了编码器的最终的输出向量序列。在原文中，编码器采用了N=6的重复堆叠结构</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lstStyle/>
          <a:p>
            <a:pPr marL="0" indent="0" algn="just">
              <a:buNone/>
            </a:pPr>
            <a:r>
              <a:rPr lang="en-US" altLang="zh-CN" sz="2000" b="1" dirty="0">
                <a:latin typeface="Times New Roman Regular" panose="02020603050405020304" charset="0"/>
                <a:cs typeface="Times New Roman Regular" panose="02020603050405020304" charset="0"/>
                <a:sym typeface="+mn-ea"/>
              </a:rPr>
              <a:t>2</a:t>
            </a:r>
            <a:r>
              <a:rPr lang="zh-CN" altLang="en-US" sz="2000" b="1" dirty="0">
                <a:latin typeface="Times New Roman Regular" panose="02020603050405020304" charset="0"/>
                <a:cs typeface="Times New Roman Regular" panose="02020603050405020304" charset="0"/>
                <a:sym typeface="+mn-ea"/>
              </a:rPr>
              <a:t>.</a:t>
            </a:r>
            <a:r>
              <a:rPr lang="en-US" altLang="zh-CN" sz="2000" b="1" dirty="0">
                <a:latin typeface="Times New Roman Regular" panose="02020603050405020304" charset="0"/>
                <a:cs typeface="Times New Roman Regular" panose="02020603050405020304" charset="0"/>
                <a:sym typeface="+mn-ea"/>
              </a:rPr>
              <a:t> </a:t>
            </a:r>
            <a:r>
              <a:rPr lang="zh-CN" altLang="en-US" sz="2000" b="1" dirty="0">
                <a:latin typeface="Times New Roman Regular" panose="02020603050405020304" charset="0"/>
                <a:cs typeface="Times New Roman Regular" panose="02020603050405020304" charset="0"/>
                <a:sym typeface="+mn-ea"/>
              </a:rPr>
              <a:t>解码器（</a:t>
            </a:r>
            <a:r>
              <a:rPr lang="en-US" altLang="zh-CN" sz="2000" b="1" dirty="0">
                <a:latin typeface="Times New Roman Regular" panose="02020603050405020304" charset="0"/>
                <a:cs typeface="Times New Roman Regular" panose="02020603050405020304" charset="0"/>
                <a:sym typeface="+mn-ea"/>
              </a:rPr>
              <a:t>De</a:t>
            </a:r>
            <a:r>
              <a:rPr lang="zh-CN" altLang="en-US" sz="2000" b="1" dirty="0">
                <a:latin typeface="Times New Roman Regular" panose="02020603050405020304" charset="0"/>
                <a:cs typeface="Times New Roman Regular" panose="02020603050405020304" charset="0"/>
                <a:sym typeface="+mn-ea"/>
              </a:rPr>
              <a:t>coder）</a:t>
            </a:r>
            <a:endParaRPr lang="en-US" altLang="zh-CN" sz="2000">
              <a:latin typeface="Times New Roman Regular" panose="02020603050405020304" charset="0"/>
              <a:cs typeface="Times New Roman Regular" panose="02020603050405020304" charset="0"/>
            </a:endParaRPr>
          </a:p>
          <a:p>
            <a:pPr algn="just"/>
            <a:r>
              <a:rPr lang="zh-CN" altLang="en-US" sz="2000">
                <a:latin typeface="Times New Roman Regular" panose="02020603050405020304" charset="0"/>
                <a:cs typeface="Times New Roman Regular" panose="02020603050405020304" charset="0"/>
              </a:rPr>
              <a:t>以语音识别任务为例，首先设置一个初始向量作为解码器的输入，这里称为输出编码（Output Embedding）向量序列。解码器的输入被命名为输出编码的原因是解码器在机器翻译任务中，是逐个单词解码的，已解码的单词会作为解码器的输入，来预测下一个单词。而在初始时刻，仅仅设置一个无实际意义的初始标识向量“START”，而将其他位置的输入使用掩码（Mask）填充</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610360"/>
            <a:ext cx="5726430" cy="2629535"/>
          </a:xfrm>
        </p:spPr>
        <p:txBody>
          <a:bodyPr>
            <a:normAutofit/>
          </a:bodyPr>
          <a:lstStyle/>
          <a:p>
            <a:pPr marL="0" indent="0" algn="just">
              <a:buNone/>
            </a:pPr>
            <a:r>
              <a:rPr lang="en-US" altLang="zh-CN" sz="2000" b="1" dirty="0">
                <a:latin typeface="Times New Roman Regular" panose="02020603050405020304" charset="0"/>
                <a:cs typeface="Times New Roman Regular" panose="02020603050405020304" charset="0"/>
              </a:rPr>
              <a:t>Cross-attention</a:t>
            </a:r>
            <a:r>
              <a:rPr lang="zh-CN" altLang="en-US" sz="2000" b="1" dirty="0">
                <a:latin typeface="Times New Roman Regular" panose="02020603050405020304" charset="0"/>
                <a:cs typeface="Times New Roman Regular" panose="02020603050405020304" charset="0"/>
              </a:rPr>
              <a:t>层</a:t>
            </a:r>
            <a:endParaRPr lang="zh-CN" altLang="en-US" sz="2000" b="1" dirty="0">
              <a:latin typeface="Times New Roman Regular" panose="02020603050405020304" charset="0"/>
              <a:cs typeface="Times New Roman Regular" panose="02020603050405020304" charset="0"/>
            </a:endParaRPr>
          </a:p>
          <a:p>
            <a:pPr marL="0" indent="0" algn="just">
              <a:buNone/>
            </a:pPr>
            <a:endParaRPr lang="zh-CN" altLang="en-US" sz="2000" b="1" dirty="0">
              <a:latin typeface="Times New Roman Regular" panose="02020603050405020304" charset="0"/>
              <a:cs typeface="Times New Roman Regular" panose="02020603050405020304" charset="0"/>
            </a:endParaRPr>
          </a:p>
          <a:p>
            <a:pPr marL="0" indent="0" algn="just">
              <a:buNone/>
            </a:pP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第二次多头注意力层对编码器提供的特征向量和解码器的输出编码向量求注意力分数并聚合信息，它称为Cross-attention层，在</a:t>
            </a:r>
            <a:r>
              <a:rPr lang="en-US" altLang="zh-CN" sz="2000" dirty="0">
                <a:latin typeface="Times New Roman Regular" panose="02020603050405020304" charset="0"/>
                <a:cs typeface="Times New Roman Regular" panose="02020603050405020304" charset="0"/>
              </a:rPr>
              <a:t>Transformer</a:t>
            </a:r>
            <a:r>
              <a:rPr lang="zh-CN" altLang="en-US" sz="2000" dirty="0">
                <a:latin typeface="Times New Roman Regular" panose="02020603050405020304" charset="0"/>
                <a:cs typeface="Times New Roman Regular" panose="02020603050405020304" charset="0"/>
              </a:rPr>
              <a:t>结构中如右图所示</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07" name="图片 207" descr="图示&#10;&#10;描述已自动生成"/>
          <p:cNvPicPr>
            <a:picLocks noChangeAspect="1"/>
          </p:cNvPicPr>
          <p:nvPr/>
        </p:nvPicPr>
        <p:blipFill>
          <a:blip r:embed="rId1"/>
          <a:stretch>
            <a:fillRect/>
          </a:stretch>
        </p:blipFill>
        <p:spPr>
          <a:xfrm>
            <a:off x="7509482" y="1610360"/>
            <a:ext cx="3117850" cy="4544060"/>
          </a:xfrm>
          <a:prstGeom prst="rect">
            <a:avLst/>
          </a:prstGeom>
        </p:spPr>
      </p:pic>
      <p:sp>
        <p:nvSpPr>
          <p:cNvPr id="8" name="Rectangles 7"/>
          <p:cNvSpPr/>
          <p:nvPr/>
        </p:nvSpPr>
        <p:spPr>
          <a:xfrm>
            <a:off x="7508875" y="3159125"/>
            <a:ext cx="3118485" cy="862330"/>
          </a:xfrm>
          <a:prstGeom prst="rect">
            <a:avLst/>
          </a:prstGeom>
          <a:noFill/>
          <a:ln w="28575">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30000"/>
                    </a14:imgEffect>
                  </a14:imgLayer>
                </a14:imgProps>
              </a:ext>
            </a:extLst>
          </a:blip>
          <a:stretch>
            <a:fillRect/>
          </a:stretch>
        </p:blipFill>
        <p:spPr>
          <a:xfrm>
            <a:off x="2686050" y="3314382"/>
            <a:ext cx="6819900" cy="2628900"/>
          </a:xfrm>
          <a:prstGeom prst="rect">
            <a:avLst/>
          </a:prstGeom>
        </p:spPr>
      </p:pic>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610360"/>
            <a:ext cx="10515600" cy="1703705"/>
          </a:xfrm>
        </p:spPr>
        <p:txBody>
          <a:bodyPr>
            <a:normAutofit/>
          </a:bodyPr>
          <a:lstStyle/>
          <a:p>
            <a:pPr marL="0" indent="0" algn="just">
              <a:buNone/>
            </a:pPr>
            <a:r>
              <a:rPr lang="en-US" altLang="zh-CN" sz="2000" b="1" dirty="0">
                <a:latin typeface="Times New Roman Regular" panose="02020603050405020304" charset="0"/>
                <a:cs typeface="Times New Roman Regular" panose="02020603050405020304" charset="0"/>
              </a:rPr>
              <a:t>Cross-attention</a:t>
            </a:r>
            <a:r>
              <a:rPr lang="zh-CN" altLang="en-US" sz="2000" b="1" dirty="0">
                <a:latin typeface="Times New Roman Regular" panose="02020603050405020304" charset="0"/>
                <a:cs typeface="Times New Roman Regular" panose="02020603050405020304" charset="0"/>
              </a:rPr>
              <a:t>层计算过程</a:t>
            </a: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在解码器的第二个多头注意力层中，对编码器的特征向量序列计算key向量和value向量，对解码器的带掩码多头注意力层输出向量计算query向量，随后使用query向量对key向量和value向量求注意力分数并做加权求和，得到</a:t>
            </a:r>
            <a:r>
              <a:rPr lang="en-US" altLang="zh-CN" sz="2000" dirty="0">
                <a:latin typeface="Times New Roman Regular" panose="02020603050405020304" charset="0"/>
                <a:cs typeface="Times New Roman Regular" panose="02020603050405020304" charset="0"/>
              </a:rPr>
              <a:t>Cross-attention</a:t>
            </a:r>
            <a:r>
              <a:rPr lang="zh-CN" altLang="en-US" sz="2000" dirty="0">
                <a:latin typeface="Times New Roman Regular" panose="02020603050405020304" charset="0"/>
                <a:cs typeface="Times New Roman Regular" panose="02020603050405020304" charset="0"/>
              </a:rPr>
              <a:t>层的输出结果，计算过程如下图所示。</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610360"/>
            <a:ext cx="10515600" cy="2629535"/>
          </a:xfrm>
        </p:spPr>
        <p:txBody>
          <a:bodyPr>
            <a:normAutofit/>
          </a:bodyPr>
          <a:lstStyle/>
          <a:p>
            <a:pPr marL="0" indent="0" algn="just">
              <a:buNone/>
            </a:pPr>
            <a:r>
              <a:rPr lang="zh-CN" altLang="en-US" sz="2000" b="1" dirty="0">
                <a:latin typeface="Times New Roman Regular" panose="02020603050405020304" charset="0"/>
                <a:cs typeface="Times New Roman Regular" panose="02020603050405020304" charset="0"/>
              </a:rPr>
              <a:t>解码器工作过程</a:t>
            </a:r>
            <a:endParaRPr lang="zh-CN" altLang="en-US" sz="2000" b="1" dirty="0">
              <a:latin typeface="Times New Roman Regular" panose="02020603050405020304" charset="0"/>
              <a:cs typeface="Times New Roman Regular" panose="02020603050405020304" charset="0"/>
            </a:endParaRPr>
          </a:p>
          <a:p>
            <a:pPr algn="just"/>
            <a:r>
              <a:rPr lang="zh-CN" altLang="en-US" sz="2000" dirty="0">
                <a:latin typeface="Times New Roman Regular" panose="02020603050405020304" charset="0"/>
                <a:cs typeface="Times New Roman Regular" panose="02020603050405020304" charset="0"/>
              </a:rPr>
              <a:t>在预测第一个单词时，解码器的自注意力层将“START”向量以外的向量用掩码填充，不参与注意力的计算，这个特殊的自注意力层称为带掩码的多头注意力层（Masked Multi-Head Attention），计算结果输入</a:t>
            </a:r>
            <a:r>
              <a:rPr lang="en-US" altLang="zh-CN" sz="2000" dirty="0">
                <a:latin typeface="Times New Roman Regular" panose="02020603050405020304" charset="0"/>
                <a:cs typeface="Times New Roman Regular" panose="02020603050405020304" charset="0"/>
              </a:rPr>
              <a:t>Cross-attention</a:t>
            </a:r>
            <a:r>
              <a:rPr lang="zh-CN" altLang="en-US" sz="2000" dirty="0">
                <a:latin typeface="Times New Roman Regular" panose="02020603050405020304" charset="0"/>
                <a:cs typeface="Times New Roman Regular" panose="02020603050405020304" charset="0"/>
              </a:rPr>
              <a:t>层计算与编码器得到的特征进行计算，其输出经过全连接层（Fully Connect Layer,）预测第一个单词。</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2621915"/>
            <a:ext cx="4573270" cy="2065020"/>
          </a:xfrm>
        </p:spPr>
        <p:txBody>
          <a:bodyPr/>
          <a:lstStyle/>
          <a:p>
            <a:pPr algn="just"/>
            <a:r>
              <a:rPr lang="zh-CN" altLang="en-US" sz="2000" dirty="0">
                <a:latin typeface="Times New Roman Regular" panose="02020603050405020304" charset="0"/>
                <a:cs typeface="Times New Roman Regular" panose="02020603050405020304" charset="0"/>
              </a:rPr>
              <a:t>在预测下一个单词时，上一个预测单词被加入到输出编码中，同样经过Cross-attention层与编码器输出的特征向量求注意力分数并聚合信息。在语音识别任务中，解码器就这样逐个预测单词，并将已预测单词用于下一个单词的解码</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211" name="图片 211" descr="图表, 箱线图&#10;&#10;描述已自动生成"/>
          <p:cNvPicPr>
            <a:picLocks noChangeAspect="1"/>
          </p:cNvPicPr>
          <p:nvPr/>
        </p:nvPicPr>
        <p:blipFill>
          <a:blip r:embed="rId1"/>
          <a:stretch>
            <a:fillRect/>
          </a:stretch>
        </p:blipFill>
        <p:spPr>
          <a:xfrm>
            <a:off x="5758180" y="1724025"/>
            <a:ext cx="5590540" cy="38608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normAutofit/>
          </a:bodyPr>
          <a:lstStyle/>
          <a:p>
            <a:pPr marL="0" indent="0" algn="just" fontAlgn="auto">
              <a:lnSpc>
                <a:spcPct val="120000"/>
              </a:lnSpc>
              <a:buNone/>
            </a:pPr>
            <a:r>
              <a:rPr lang="zh-CN" altLang="en-US" sz="2105" b="1" dirty="0">
                <a:latin typeface="Times New Roman Regular" panose="02020603050405020304" charset="0"/>
                <a:cs typeface="Times New Roman Regular" panose="02020603050405020304" charset="0"/>
              </a:rPr>
              <a:t>强大的</a:t>
            </a:r>
            <a:r>
              <a:rPr lang="en-US" altLang="zh-CN" sz="2105" b="1" dirty="0">
                <a:latin typeface="Times New Roman Regular" panose="02020603050405020304" charset="0"/>
                <a:cs typeface="Times New Roman Regular" panose="02020603050405020304" charset="0"/>
              </a:rPr>
              <a:t>Transformer</a:t>
            </a:r>
            <a:endParaRPr lang="zh-CN" altLang="en-US" sz="2105" b="1" dirty="0">
              <a:latin typeface="Times New Roman Regular" panose="02020603050405020304" charset="0"/>
              <a:cs typeface="Times New Roman Regular" panose="02020603050405020304" charset="0"/>
            </a:endParaRPr>
          </a:p>
          <a:p>
            <a:pPr algn="just" fontAlgn="auto">
              <a:lnSpc>
                <a:spcPct val="120000"/>
              </a:lnSpc>
            </a:pPr>
            <a:r>
              <a:rPr lang="zh-CN" altLang="en-US" sz="2000" dirty="0">
                <a:latin typeface="Times New Roman Regular" panose="02020603050405020304" charset="0"/>
                <a:cs typeface="Times New Roman Regular" panose="02020603050405020304" charset="0"/>
              </a:rPr>
              <a:t>采用编码器-解码器结构，对于序列数据，Transformer能够有效地进行特征编码，而且由于注意力机制中对序列中的向量能够跨过时序性输入直接进行信息聚合，因此Transformer也具备了对长序列的建模能力，能够捕捉序列数据中的长距离依赖关系和全局特征，因此理论上，Transformer能够编码无限长的文本。</a:t>
            </a:r>
            <a:endParaRPr lang="zh-CN" altLang="en-US" sz="2000" dirty="0">
              <a:latin typeface="Times New Roman Regular" panose="02020603050405020304" charset="0"/>
              <a:cs typeface="Times New Roman Regular" panose="02020603050405020304" charset="0"/>
            </a:endParaRPr>
          </a:p>
          <a:p>
            <a:pPr algn="just" fontAlgn="auto">
              <a:lnSpc>
                <a:spcPct val="120000"/>
              </a:lnSpc>
            </a:pPr>
            <a:r>
              <a:rPr lang="zh-CN" altLang="en-US" sz="2000" dirty="0">
                <a:latin typeface="Times New Roman Regular" panose="02020603050405020304" charset="0"/>
                <a:cs typeface="Times New Roman Regular" panose="02020603050405020304" charset="0"/>
              </a:rPr>
              <a:t>同时，由于不需要依靠RNN或LSTM的隐藏状态来存储时序信息，Transformer能够极大突破内存的限制，且显著地提高了网络的并行度。Transformer自2017年提出以来，在自然语言处理领域取得了一系列重大突破，其中影响力最大的当属BERT，作为谷歌开源的自然语言预训练模型，一经推出就刷新了11项任务的SOTA记录，并被用于谷歌搜索引擎中改善搜索结果，目前已经支持70多种语言的搜索服务。</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p:txBody>
          <a:bodyPr>
            <a:normAutofit/>
          </a:bodyPr>
          <a:lstStyle/>
          <a:p>
            <a:pPr fontAlgn="auto">
              <a:lnSpc>
                <a:spcPct val="120000"/>
              </a:lnSpc>
            </a:pPr>
            <a:r>
              <a:rPr lang="zh-CN" altLang="en-US" sz="2000" dirty="0">
                <a:latin typeface="Times New Roman Regular" panose="02020603050405020304" charset="0"/>
                <a:cs typeface="Times New Roman Regular" panose="02020603050405020304" charset="0"/>
                <a:sym typeface="+mn-ea"/>
              </a:rPr>
              <a:t>在自然语言处理中大获成功的Transformer迅速出圈到其他领域，近年来在计算机视觉领域同样大放异彩。在下一节中，将从代码实现的角度，介绍Transformer在图像分类任务上的一个应用——Vision Transformer（ViT）。</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5627"/>
            <a:ext cx="10515600" cy="3152774"/>
          </a:xfrm>
        </p:spPr>
        <p:txBody>
          <a:bodyPr>
            <a:normAutofit fontScale="75000" lnSpcReduction="20000"/>
          </a:bodyPr>
          <a:lstStyle/>
          <a:p>
            <a:pPr marL="0" indent="0" fontAlgn="auto">
              <a:lnSpc>
                <a:spcPct val="130000"/>
              </a:lnSpc>
              <a:buNone/>
            </a:pPr>
            <a:r>
              <a:rPr lang="zh-CN" altLang="en-US" sz="3200" b="1" dirty="0">
                <a:latin typeface="Times New Roman Regular" panose="02020603050405020304" charset="0"/>
                <a:cs typeface="Times New Roman Regular" panose="02020603050405020304" charset="0"/>
              </a:rPr>
              <a:t>5.3.3Vision Transformer (ViT)网络</a:t>
            </a:r>
            <a:endParaRPr lang="zh-CN" altLang="en-US" sz="3200" b="1" dirty="0">
              <a:latin typeface="Times New Roman Regular" panose="02020603050405020304" charset="0"/>
              <a:cs typeface="Times New Roman Regular" panose="02020603050405020304" charset="0"/>
            </a:endParaRPr>
          </a:p>
          <a:p>
            <a:pPr marL="0" indent="0" fontAlgn="auto">
              <a:lnSpc>
                <a:spcPct val="130000"/>
              </a:lnSpc>
              <a:buNone/>
            </a:pPr>
            <a:r>
              <a:rPr lang="zh-CN" altLang="en-US" sz="2700" dirty="0">
                <a:latin typeface="Times New Roman Regular" panose="02020603050405020304" charset="0"/>
                <a:cs typeface="Times New Roman Regular" panose="02020603050405020304" charset="0"/>
              </a:rPr>
              <a:t>近年来，由于在自然语言处理领域内的成功，Transformer在人工智能社区迅速出圈，迁移到计算机视觉领域的众多主流任务上同样也取得了突破性的进展，其中最为重要的一项工作就是由Google Researsh在ICLR2021上所提出的Vision Transformer(ViT)。作为首个完全基于Transformer来做图像分类的工作，ViT创新性地提出了一种将图像数据编码为序列的方法，以适应Transformer的Seq2seq架构，在大规模图像分类数据集ImageNet-21K和JFT-300M上预训练，并迁移到ImageNet，CIFAR-100，VTAB等较小规模的数据集上进行微调，取得了媲美甚至超越卷积神经网络的性能。</a:t>
            </a:r>
            <a:endParaRPr lang="zh-CN" altLang="en-US" sz="27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5625"/>
            <a:ext cx="5588000" cy="4351655"/>
          </a:xfrm>
        </p:spPr>
        <p:txBody>
          <a:bodyPr>
            <a:noAutofit/>
          </a:bodyPr>
          <a:lstStyle/>
          <a:p>
            <a:pPr algn="just" fontAlgn="auto">
              <a:lnSpc>
                <a:spcPct val="120000"/>
              </a:lnSpc>
            </a:pPr>
            <a:r>
              <a:rPr lang="zh-CN" altLang="en-US" sz="2000" dirty="0">
                <a:latin typeface="Times New Roman Regular" panose="02020603050405020304" charset="0"/>
                <a:cs typeface="Times New Roman Regular" panose="02020603050405020304" charset="0"/>
              </a:rPr>
              <a:t>与前面介绍的用于机器翻译的Transformer不同，ViT只包含一个编码器（Transformer Encoder）。对于输入图片，首先将图片切割为均匀的N</a:t>
            </a:r>
            <a:r>
              <a:rPr lang="en-US" altLang="zh-CN" sz="2000" dirty="0">
                <a:latin typeface="Times New Roman Regular" panose="02020603050405020304" charset="0"/>
                <a:cs typeface="Times New Roman Regular" panose="02020603050405020304" charset="0"/>
              </a:rPr>
              <a:t> </a:t>
            </a:r>
            <a:r>
              <a:rPr lang="zh-CN" altLang="en-US" sz="2000" dirty="0">
                <a:latin typeface="Times New Roman Regular" panose="02020603050405020304" charset="0"/>
                <a:cs typeface="Times New Roman Regular" panose="02020603050405020304" charset="0"/>
              </a:rPr>
              <a:t>x</a:t>
            </a:r>
            <a:r>
              <a:rPr lang="en-US" altLang="zh-CN" sz="2000" dirty="0">
                <a:latin typeface="Times New Roman Regular" panose="02020603050405020304" charset="0"/>
                <a:cs typeface="Times New Roman Regular" panose="02020603050405020304" charset="0"/>
              </a:rPr>
              <a:t> </a:t>
            </a:r>
            <a:r>
              <a:rPr lang="zh-CN" altLang="en-US" sz="2000" dirty="0">
                <a:latin typeface="Times New Roman Regular" panose="02020603050405020304" charset="0"/>
                <a:cs typeface="Times New Roman Regular" panose="02020603050405020304" charset="0"/>
              </a:rPr>
              <a:t>N个图像块（Image Patch）并展开。每个图像块被拉伸为一维向量并经过全连接层编码后，加入位置编码。</a:t>
            </a:r>
            <a:endParaRPr lang="zh-CN" altLang="en-US" sz="2000" dirty="0">
              <a:latin typeface="Times New Roman Regular" panose="02020603050405020304" charset="0"/>
              <a:cs typeface="Times New Roman Regular" panose="02020603050405020304" charset="0"/>
            </a:endParaRPr>
          </a:p>
          <a:p>
            <a:pPr algn="just" fontAlgn="auto">
              <a:lnSpc>
                <a:spcPct val="120000"/>
              </a:lnSpc>
            </a:pPr>
            <a:r>
              <a:rPr lang="zh-CN" altLang="en-US" sz="2000" dirty="0">
                <a:latin typeface="Times New Roman Regular" panose="02020603050405020304" charset="0"/>
                <a:cs typeface="Times New Roman Regular" panose="02020603050405020304" charset="0"/>
              </a:rPr>
              <a:t>应该注意的是，这里的输入序列的首个元素（0号输入向量）为随机初始化的可学习参数，它将用于捕捉所有图像块的信息，并用于最后的分类，从1号向量开始随后的序列元素才是图像块的编码。</a:t>
            </a:r>
            <a:endParaRPr lang="zh-CN" altLang="en-US" sz="2000" dirty="0">
              <a:latin typeface="Times New Roman Regular" panose="02020603050405020304" charset="0"/>
              <a:cs typeface="Times New Roman Regular" panose="02020603050405020304" charset="0"/>
            </a:endParaRPr>
          </a:p>
          <a:p>
            <a:pPr marL="0" indent="0" algn="just" fontAlgn="auto">
              <a:lnSpc>
                <a:spcPct val="120000"/>
              </a:lnSpc>
              <a:buNone/>
            </a:pP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Picture 7"/>
          <p:cNvPicPr>
            <a:picLocks noChangeAspect="1"/>
          </p:cNvPicPr>
          <p:nvPr/>
        </p:nvPicPr>
        <p:blipFill>
          <a:blip r:embed="rId1"/>
          <a:stretch>
            <a:fillRect/>
          </a:stretch>
        </p:blipFill>
        <p:spPr>
          <a:xfrm>
            <a:off x="6802755" y="2268220"/>
            <a:ext cx="4761230" cy="313817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5625"/>
            <a:ext cx="5434330" cy="4351655"/>
          </a:xfrm>
        </p:spPr>
        <p:txBody>
          <a:bodyPr>
            <a:noAutofit/>
          </a:bodyPr>
          <a:lstStyle/>
          <a:p>
            <a:pPr algn="just" fontAlgn="auto">
              <a:lnSpc>
                <a:spcPct val="120000"/>
              </a:lnSpc>
            </a:pPr>
            <a:r>
              <a:rPr lang="zh-CN" altLang="en-US" sz="2000" dirty="0">
                <a:latin typeface="Times New Roman Regular" panose="02020603050405020304" charset="0"/>
                <a:cs typeface="Times New Roman Regular" panose="02020603050405020304" charset="0"/>
              </a:rPr>
              <a:t>Transformer编码器与常规版本不同的是其归一化放置在模块输入之前（也称为PreNorm），随后采用了多头注意力机制和残差连接来交换序列元素的信息并传递至下一层。经过L层编码器的堆叠结构后，0号特征向量接多层感知机（MLP Head）来预测图像类别。</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7" name="Picture 6"/>
          <p:cNvPicPr>
            <a:picLocks noChangeAspect="1"/>
          </p:cNvPicPr>
          <p:nvPr/>
        </p:nvPicPr>
        <p:blipFill>
          <a:blip r:embed="rId1"/>
          <a:stretch>
            <a:fillRect/>
          </a:stretch>
        </p:blipFill>
        <p:spPr>
          <a:xfrm>
            <a:off x="8025765" y="1825625"/>
            <a:ext cx="1906270" cy="363156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726440" y="2468880"/>
            <a:ext cx="5083175" cy="1919605"/>
          </a:xfrm>
        </p:spPr>
        <p:txBody>
          <a:bodyPr>
            <a:normAutofit/>
          </a:bodyPr>
          <a:lstStyle/>
          <a:p>
            <a:pPr algn="just"/>
            <a:r>
              <a:rPr lang="zh-CN" altLang="en-US" sz="2000" dirty="0">
                <a:latin typeface="Times New Roman Regular" panose="02020603050405020304" charset="0"/>
                <a:cs typeface="Times New Roman Regular" panose="02020603050405020304" charset="0"/>
              </a:rPr>
              <a:t>ViT的整体结构非常简洁，将图像分块并拉伸为序列的做法，在每个小块内部实现了局部感知，这和卷积网络的局部感受野具有异曲同工之妙，同时利用了注意力机制对图像上下文信息同样也进行了有效的感知，提取全局特征。</a:t>
            </a:r>
            <a:endParaRPr lang="zh-CN" altLang="en-US" sz="2000" dirty="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pic>
        <p:nvPicPr>
          <p:cNvPr id="8" name="Picture 7"/>
          <p:cNvPicPr>
            <a:picLocks noChangeAspect="1"/>
          </p:cNvPicPr>
          <p:nvPr/>
        </p:nvPicPr>
        <p:blipFill>
          <a:blip r:embed="rId1"/>
          <a:stretch>
            <a:fillRect/>
          </a:stretch>
        </p:blipFill>
        <p:spPr>
          <a:xfrm>
            <a:off x="7166610" y="1731010"/>
            <a:ext cx="2231390" cy="339661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9901"/>
            <a:ext cx="10515600" cy="978446"/>
          </a:xfrm>
        </p:spPr>
        <p:txBody>
          <a:bodyPr/>
          <a:lstStyle/>
          <a:p>
            <a:r>
              <a:rPr lang="zh-CN" altLang="en-US">
                <a:latin typeface="Times New Roman Regular" panose="02020603050405020304" charset="0"/>
                <a:cs typeface="Times New Roman Regular" panose="02020603050405020304" charset="0"/>
                <a:sym typeface="+mn-ea"/>
              </a:rPr>
              <a:t>5.</a:t>
            </a:r>
            <a:r>
              <a:rPr lang="en-US" altLang="zh-CN">
                <a:latin typeface="Times New Roman Regular" panose="02020603050405020304" charset="0"/>
                <a:cs typeface="Times New Roman Regular" panose="02020603050405020304" charset="0"/>
                <a:sym typeface="+mn-ea"/>
              </a:rPr>
              <a:t>3 Transformer</a:t>
            </a:r>
            <a:r>
              <a:rPr lang="zh-CN" altLang="en-US">
                <a:latin typeface="Times New Roman Regular" panose="02020603050405020304" charset="0"/>
                <a:cs typeface="Times New Roman Regular" panose="02020603050405020304" charset="0"/>
                <a:sym typeface="+mn-ea"/>
              </a:rPr>
              <a:t>网络</a:t>
            </a:r>
            <a:endParaRPr lang="zh-CN" altLang="en-US">
              <a:solidFill>
                <a:schemeClr val="bg1"/>
              </a:solidFill>
            </a:endParaRPr>
          </a:p>
        </p:txBody>
      </p:sp>
      <p:sp>
        <p:nvSpPr>
          <p:cNvPr id="3" name="内容占位符 2"/>
          <p:cNvSpPr>
            <a:spLocks noGrp="1"/>
          </p:cNvSpPr>
          <p:nvPr>
            <p:ph idx="1"/>
          </p:nvPr>
        </p:nvSpPr>
        <p:spPr>
          <a:xfrm>
            <a:off x="838200" y="1825625"/>
            <a:ext cx="10515600" cy="4773295"/>
          </a:xfrm>
        </p:spPr>
        <p:txBody>
          <a:bodyPr>
            <a:normAutofit/>
          </a:bodyPr>
          <a:lstStyle/>
          <a:p>
            <a:pPr marL="0" indent="0" fontAlgn="auto">
              <a:lnSpc>
                <a:spcPct val="100000"/>
              </a:lnSpc>
              <a:buNone/>
            </a:pPr>
            <a:r>
              <a:rPr lang="zh-CN" altLang="en-US" sz="2000">
                <a:latin typeface="Times New Roman Regular" panose="02020603050405020304" charset="0"/>
                <a:cs typeface="Times New Roman Regular" panose="02020603050405020304" charset="0"/>
              </a:rPr>
              <a:t>ViT证明了完全基于Transformer的网络架构也能胜任计算机视觉的底层任务，尤其是在具有大规模数据集的情况下性能表现更好。同时ViT提供了一种将图像数据编码为序列数据的思路，启发了后续一系列的相关研究，成为计算机视觉领域的里程碑著作。</a:t>
            </a:r>
            <a:endParaRPr lang="zh-CN" altLang="en-US" sz="2000">
              <a:latin typeface="Times New Roman Regular" panose="02020603050405020304" charset="0"/>
              <a:cs typeface="Times New Roman Regular" panose="02020603050405020304" charset="0"/>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6" name="日期占位符 5"/>
          <p:cNvSpPr>
            <a:spLocks noGrp="1"/>
          </p:cNvSpPr>
          <p:nvPr>
            <p:ph type="dt" sz="half" idx="10"/>
          </p:nvPr>
        </p:nvSpPr>
        <p:spPr/>
        <p:txBody>
          <a:bodyPr/>
          <a:lstStyle/>
          <a:p>
            <a:fld id="{D4A8F38F-8A0F-4A49-8B9C-5345C0EE21A1}" type="datetime1">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831850" y="1989220"/>
            <a:ext cx="10515600" cy="1820779"/>
          </a:xfrm>
        </p:spPr>
        <p:txBody>
          <a:bodyPr>
            <a:normAutofit/>
          </a:bodyPr>
          <a:lstStyle/>
          <a:p>
            <a:pPr algn="ctr"/>
            <a:r>
              <a:rPr lang="zh-CN" altLang="en-US" sz="2800" dirty="0">
                <a:sym typeface="+mn-ea"/>
              </a:rPr>
              <a:t>本书代码请参考：</a:t>
            </a:r>
            <a:br>
              <a:rPr lang="en-US" altLang="zh-CN" sz="2800" dirty="0">
                <a:sym typeface="+mn-ea"/>
              </a:rPr>
            </a:br>
            <a:r>
              <a:rPr lang="en-US" altLang="zh-CN" sz="2800" dirty="0">
                <a:sym typeface="+mn-ea"/>
              </a:rPr>
              <a:t>https://github.com/drwangusm/dl</a:t>
            </a:r>
            <a:br>
              <a:rPr lang="zh-CN" altLang="en-US" sz="2800" dirty="0">
                <a:sym typeface="+mn-ea"/>
              </a:rPr>
            </a:br>
            <a:endParaRPr lang="zh-CN" altLang="en-US" sz="2800" dirty="0"/>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13"/>
          <p:cNvSpPr>
            <a:spLocks noGrp="1" noRot="1" noChangeAspect="1" noMove="1" noResize="1" noEditPoints="1" noAdjustHandles="1" noChangeArrowheads="1" noChangeShapeType="1" noTextEdit="1"/>
          </p:cNvSpPr>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15"/>
          <p:cNvSpPr>
            <a:spLocks noGrp="1" noRot="1" noChangeAspect="1" noMove="1" noResize="1" noEditPoints="1" noAdjustHandles="1" noChangeArrowheads="1" noChangeShapeType="1" noTextEdit="1"/>
          </p:cNvSpPr>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17"/>
          <p:cNvSpPr>
            <a:spLocks noGrp="1" noRot="1" noChangeAspect="1" noMove="1" noResize="1" noEditPoints="1" noAdjustHandles="1" noChangeArrowheads="1" noChangeShapeType="1" noTextEdit="1"/>
          </p:cNvSpPr>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Rectangle 19"/>
          <p:cNvSpPr>
            <a:spLocks noGrp="1" noRot="1" noChangeAspect="1" noMove="1" noResize="1" noEditPoints="1" noAdjustHandles="1" noChangeArrowheads="1" noChangeShapeType="1" noTextEdit="1"/>
          </p:cNvSpPr>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21"/>
          <p:cNvSpPr>
            <a:spLocks noGrp="1" noRot="1" noChangeAspect="1" noMove="1" noResize="1" noEditPoints="1" noAdjustHandles="1" noChangeArrowheads="1" noChangeShapeType="1" noTextEdit="1"/>
          </p:cNvSpPr>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Rectangle 23"/>
          <p:cNvSpPr>
            <a:spLocks noGrp="1" noRot="1" noChangeAspect="1" noMove="1" noResize="1" noEditPoints="1" noAdjustHandles="1" noChangeArrowheads="1" noChangeShapeType="1" noTextEdit="1"/>
          </p:cNvSpPr>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6" name="Freeform: Shape 25"/>
          <p:cNvSpPr>
            <a:spLocks noGrp="1" noRot="1" noChangeAspect="1" noMove="1" noResize="1" noEditPoints="1" noAdjustHandles="1" noChangeArrowheads="1" noChangeShapeType="1" noTextEdit="1"/>
          </p:cNvSpPr>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日期占位符 3"/>
          <p:cNvSpPr>
            <a:spLocks noGrp="1"/>
          </p:cNvSpPr>
          <p:nvPr>
            <p:ph type="dt" sz="half" idx="10"/>
          </p:nvPr>
        </p:nvSpPr>
        <p:spPr>
          <a:xfrm>
            <a:off x="321733" y="5626100"/>
            <a:ext cx="2568811" cy="365125"/>
          </a:xfrm>
        </p:spPr>
        <p:txBody>
          <a:bodyPr vert="horz" lIns="91440" tIns="45720" rIns="91440" bIns="45720" rtlCol="0" anchor="ctr">
            <a:normAutofit/>
          </a:bodyPr>
          <a:lstStyle/>
          <a:p>
            <a:pPr>
              <a:spcAft>
                <a:spcPts val="600"/>
              </a:spcAft>
            </a:pPr>
            <a:fld id="{A54A9E70-2B6A-45C0-AB3B-96FADC4A4979}" type="datetime1">
              <a:rPr lang="en-US" altLang="zh-CN">
                <a:solidFill>
                  <a:srgbClr val="FFFFFF"/>
                </a:solidFill>
                <a:latin typeface="等线" panose="02010600030101010101" charset="-122"/>
                <a:ea typeface="等线" panose="02010600030101010101" charset="-122"/>
              </a:rPr>
            </a:fld>
            <a:endParaRPr lang="en-US" altLang="zh-CN">
              <a:solidFill>
                <a:srgbClr val="FFFFFF"/>
              </a:solidFill>
              <a:latin typeface="等线" panose="02010600030101010101" charset="-122"/>
              <a:ea typeface="等线" panose="02010600030101010101" charset="-122"/>
            </a:endParaRPr>
          </a:p>
        </p:txBody>
      </p:sp>
      <p:sp>
        <p:nvSpPr>
          <p:cNvPr id="5" name="页脚占位符 4"/>
          <p:cNvSpPr>
            <a:spLocks noGrp="1"/>
          </p:cNvSpPr>
          <p:nvPr>
            <p:ph type="ftr" sz="quarter" idx="11"/>
          </p:nvPr>
        </p:nvSpPr>
        <p:spPr>
          <a:xfrm>
            <a:off x="321733" y="5991225"/>
            <a:ext cx="2568811" cy="365125"/>
          </a:xfrm>
        </p:spPr>
        <p:txBody>
          <a:bodyPr vert="horz" lIns="91440" tIns="45720" rIns="91440" bIns="45720" rtlCol="0" anchor="ctr">
            <a:normAutofit/>
          </a:bodyPr>
          <a:lstStyle/>
          <a:p>
            <a:pPr algn="l">
              <a:spcAft>
                <a:spcPts val="600"/>
              </a:spcAft>
            </a:pPr>
            <a:r>
              <a:rPr lang="zh-CN" altLang="en-US">
                <a:sym typeface="+mn-ea"/>
              </a:rPr>
              <a:t>深度学习</a:t>
            </a:r>
            <a:r>
              <a:rPr lang="zh-CN" altLang="en-US">
                <a:cs typeface="+mn-ea"/>
                <a:sym typeface="+mn-lt"/>
              </a:rPr>
              <a:t>技术基础及应用</a:t>
            </a:r>
            <a:endParaRPr lang="zh-CN" altLang="en-US" kern="1200">
              <a:solidFill>
                <a:srgbClr val="FFFFFF"/>
              </a:solidFill>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a:xfrm>
            <a:off x="321732" y="6356350"/>
            <a:ext cx="2568811" cy="365125"/>
          </a:xfrm>
        </p:spPr>
        <p:txBody>
          <a:bodyPr vert="horz" lIns="91440" tIns="45720" rIns="91440" bIns="45720" rtlCol="0" anchor="ctr">
            <a:normAutofit/>
          </a:bodyPr>
          <a:lstStyle/>
          <a:p>
            <a:pPr algn="l">
              <a:spcAft>
                <a:spcPts val="600"/>
              </a:spcAft>
            </a:pPr>
            <a:fld id="{B818CECD-4AF4-4E96-AD6D-215F227B9D37}" type="slidenum">
              <a:rPr lang="en-US" altLang="zh-CN">
                <a:solidFill>
                  <a:srgbClr val="FFFFFF"/>
                </a:solidFill>
              </a:rPr>
            </a:fld>
            <a:endParaRPr lang="en-US" altLang="zh-CN">
              <a:solidFill>
                <a:srgbClr val="FFFFFF"/>
              </a:solidFill>
            </a:endParaRPr>
          </a:p>
        </p:txBody>
      </p:sp>
      <p:sp>
        <p:nvSpPr>
          <p:cNvPr id="28" name="Freeform: Shape 27"/>
          <p:cNvSpPr>
            <a:spLocks noGrp="1" noRot="1" noChangeAspect="1" noMove="1" noResize="1" noEditPoints="1" noAdjustHandles="1" noChangeArrowheads="1" noChangeShapeType="1" noTextEdit="1"/>
          </p:cNvSpPr>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7" name="标题 6"/>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zh-CN" altLang="en-US" sz="7200" kern="1200" dirty="0">
                <a:solidFill>
                  <a:srgbClr val="080808"/>
                </a:solidFill>
                <a:latin typeface="等线" panose="02010600030101010101" charset="-122"/>
                <a:ea typeface="等线" panose="02010600030101010101" charset="-122"/>
                <a:cs typeface="+mj-cs"/>
              </a:rPr>
              <a:t>谢谢！</a:t>
            </a:r>
            <a:endParaRPr lang="zh-CN" altLang="en-US" sz="7200" kern="1200" dirty="0">
              <a:solidFill>
                <a:srgbClr val="080808"/>
              </a:solidFill>
              <a:latin typeface="等线" panose="02010600030101010101" charset="-122"/>
              <a:ea typeface="等线" panose="02010600030101010101" charset="-122"/>
              <a:cs typeface="+mj-cs"/>
            </a:endParaRPr>
          </a:p>
        </p:txBody>
      </p:sp>
      <p:sp>
        <p:nvSpPr>
          <p:cNvPr id="30" name="Freeform: Shape 29"/>
          <p:cNvSpPr>
            <a:spLocks noGrp="1" noRot="1" noChangeAspect="1" noMove="1" noResize="1" noEditPoints="1" noAdjustHandles="1" noChangeArrowheads="1" noChangeShapeType="1" noTextEdit="1"/>
          </p:cNvSpPr>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Rectangle 31"/>
          <p:cNvSpPr>
            <a:spLocks noGrp="1" noRot="1" noChangeAspect="1" noMove="1" noResize="1" noEditPoints="1" noAdjustHandles="1" noChangeArrowheads="1" noChangeShapeType="1" noTextEdit="1"/>
          </p:cNvSpPr>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tags/tag2.xml><?xml version="1.0" encoding="utf-8"?>
<p:tagLst xmlns:p="http://schemas.openxmlformats.org/presentationml/2006/main">
  <p:tag name="COMMONDATA" val="eyJoZGlkIjoiYWM1NDg3NzVkNmZjNmY5ODY4NjM3MjhiZTFlNzk1Y2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WEdKbFoybHVlMmRoZEdobGNtVmtmUXBwWHpFOVhITnBaMjFoWEd4bFpuUW9WMTk3YVY4eGZTQmNZMlJ2ZEZ4c1pXWjBLRWhmZTNRdE1YMHNJSGhmZEZ4eWFXZG9kQ2tyWEhSbGVIUWdleUJpYVdGeklIMWZlMmxmTVgxY2NtbG5hSFFwSUZ4Y0NtbGZNajFjZEdGdWFDQmNiR1ZtZENoWFgzdHBYeko5SUZ4alpHOTBYR3hsWm5Rb1NGOTdkQzB4ZlN3Z2VGOTBYSEpwWjJoMEtTdGNkR1Y0ZENCN0lHSnBZWE1nZlY5N2FWOHlmVnh5YVdkb2RDa2dYRndLYVY5N1hIUmxlSFFnZTJsdWNIVjBJSDE5UFdsZk1TQXFJR2xmTWdwY1pXNWtlMmRoZEdobGNtVmtmU0JjWFE9PSIsCgkiTGF0ZXhJbWdCYXNlNjQiIDogImlWQk9SdzBLR2dvQUFBQU5TVWhFVWdBQUJUTUFBQUZQQkFNQUFBQmpUMGRWQUFBQU1GQk1WRVgvLy84QUFBQUFBQUFBQUFBQUFBQUFBQUFBQUFBQUFBQUFBQUFBQUFBQUFBQUFBQUFBQUFBQUFBQUFBQUFBQUFBdjNhQjdBQUFBRDNSU1RsTUFaczFFcXlKMnU0bnZFRlF5M1pudmZtbGtBQUFBQ1hCSVdYTUFBQTdFQUFBT3hBR1ZLdzRiQUFBZ0FFbEVRVlI0QWUxOWUzQnN5Vm5mMGRYVjQ0NWV0N1pTMktZcUhuRjVPQXUxR2NIaXNnMkZSMnlDRjBQV0krTWt4UVpzcWZKUGpFT2ltOFNoWWlnelNzS2pUQldyNnhkZUJkK2NLWmU5OXQ2d0pVRWV4bFFjVGV4S0dVTElYRGJZenJxNEdaVlpzS0ZnZGJrc1hzL3U2blorL1R6OU9xK1pNeVBKZFAraDA0K3Z2Ni83NjkvNXV2dnJQcU1vT3V2aGsyc1RiK0VwaUN6WXg1bDNGeVE4dzJSZkMzMWc2bDBlYkV4YXphY2dzbkFYKzFjTGs1NVp3cStGUGxEbHRsNmN1SXBQUVdUaFBqNXhwMU9ZOXF3U2ZpMzBBYnFkSXhPZnowOUJaSEVRemNSZktFNThSaW0vRnZvQTFUYitmT0w2UFFXUkpmcllPK21Vb000ai9jaHZmOTNQL1BOK040K3M0dkpxKzFCeDQ0cXl1MGgyR09sTWYzRDl5U3RYYmoyMVIyN1NqTmVRdlZ0WHJ0eDNhNDg4eDhwRnhxMzRMaytPOEZlS0ZDd3VrTUYxaUxweWF5OG1SOGhiSmdNcUdrMkplVk5HRURWTTFRV3lPa3kxbERvdFFrTTNwWFJjMmRYMllWeXR6T0c3SzVBM3hWVEkvdHltVlk1VitvUnprQmwzY2hqbUYwdVJncktuSkJGQ3R5QXJXcG8xSlo5anRSUzd6MWJJcjhWNjA2MlFZeUZXRmZiaG5qdHJoVVJXVFRSTm51Y3NhLy8wd1pocDhjbnZaeTM1emFmZndaSW5QLzNqbk9BM2Vmb0RQenRxRTVSSXdXajJrUWNiVE5RcjN2Q3ZONUMzSU5PZmY4UFBkUVhOUkI5TFpLczZlYi8rTkZWcjE4UHcxMDUyUExrVlpWWFhoNHVFL0dWRmpTckg1bkZ5V1ZWWWhnNEhiMVBKcUkzMGU1Tms5RHRJLzZHV0hqS3FpNVFzcUtoZmtBazhkNUgrUGkwOTBlZ01xZFJuc1JoN29RbHRpL2xvSEoycnJnOTFRcjR5amhibThteG84L01NOFBDQ1Z1TVFhY09XeCtTeld2R3dVVjJrNUlGcHo1aEZJWHFNNHlhbHBqMjNxNVdOOTZ6cmltcEN1enR1ZGxVNWxmV2hRY2prTjhyUXdwUmhyS0VzTWIwekJmV1FOalIxUE9nWTZhRVNwa2pCb2svSVgramNqZ241cXA2ZWJQeFN0Wmc1OUVJVFhSem5McSt5UHFDWnB6S2g3N005c1J6NDJHekZKdVozV2NTZTdTb21PbE1rNTE5RC8yL3JvdnFrMmtsVjU1MGZuNnBXZU5NTHpiYmQ1L3gybGFHb3JBOW81MDRad1ZYUnRraEhZOVUzQWJFUDVXbWxVVTFibCtyNTVlS21TRjUzQVpLdWFtd2NxR3BsazRqMnRXWE82UEl3KzNSZEx0UnFycnJabGVWVTFZZUhUMmYrV2lTR2w3SmhUcXNyVUY1SFU5VnlGUU5taWVUczZRWnNTNU0wYlVGVks1cEk5SkFjNU1oNStVWU9nVmJzaCtZbStuaFpvNm82bXQrSGdoTHY3eFFrckpSc3psaGIwaTI1dmcyNkJPWHBJN0JaeFpyREVzbTdzd1JKWGExbjgwaHZhZWxKUjVmSXRXeVJpNGFSejZhTi9OQ0VJOW5ZK2VVd0tWMmMyNGZTSENkYW9XY3NOYU9XNlNld0FkTStxcUJ4bGtqT2NSOVExSGxmUUhwTno1aHdmRGJQWDdKUVpnZmpoMmIwdjk5K01NNXU1Zlpobk1KSDU5MDJiQlgxSnVyN1lnb1lEU0RUVmV6UFlabTdicnNQaVR3TzVXVXJGbFRkR3VQTnFaRkJ0b0NwUExPcVYwK0JwazR5aG5odUg4WWdzenFXTmN0NXVFMk10ZWN4QUtLOTJFdFZlRjV0a2J3emtHUXdieEpTeGJwMmVFMjE5STU3Mkp3RGFHSU8xQWJQMDRjem5UVnJHTWtvcWh2TEgrcUIxeGZxOVpzVmRNWVd5Vm4yVGRlQWJiNHJrRnVTUlRObjgzd2VvSm5YaDVJcW1TejVrdVZNUFRUbTFia0JvTG1UdENqV0p2Y2t0MlRNRnNtcU83NmlodWtxS0NtakF2SVZTek0yeS9NQXpidysySDA2VSttZVpSdWF4anphZkJUUVBGSU5uaGRYbEZUR1VCRmJKR1BpK0lvZytQWlE3S3VxTkdmTkp6YmY4d0ROdkQ3WWZUcFQ2V1BkS0tKbFBlUDRwLytyUU1pNmFuQWxyaVBjdGR0UkhGWEU5aFZScUs2cTB0T0lURm1yY0xzTjV3R2FlWDJ3KzNTbTBzWUdIQzNiQnlSVUE2ZnVtR2MwclNOVk5FTEVGc2xZVVY5UlYyTktvYnFqcFNjZnhUcTdteVgxUEVBenJ3OVovVHZ0TWhnbnN3a3JPalFmZjlFd1hvdkd3WkJacjNqS0VjbXFHcThFY2s3YnJZa205TE5kL3VjQm1ubDlLRDVxazZlY3R6MDBGSm9kMlk3am8wVWtyOG5rQmNPN0kzUExQaDJSakVIVDJIN3hlKzVsT1ZkTTM4bys3amtYME16cFF4R05mVHgrWHhXYjN5S2lESm9MOWxwZlA1bWNJUjFqNDF5SjZ3ajJVUGZweTlic1dtN05uckVkazFTVlBILzRuU2YvakRINjRmN0pEMlp3ckdmdnc0YUE1dFJEOFh0ZXR5RkYxajc5cTQ4OCtOUzZURWJScTk4WlgvOEpWY3p5cDMvK0tmTGtIK0F6cmFPRXJFd3NwdzhGV0gyS1hCL2ZhV3J0NVUvQjlvbHdjbUEwWjhVNE1VY1JQWm1VTDhrY3JDU1N0MldOMkt3cnMwcytIWkdzZnNOeWEyNmJwMUlsWldTUmY0YVFtSG4zNThtQVIxS29lOW4zNHNwRDgyT0U3T0YrOUdVaGoxb0JmWlA1TGdJVUpNV1U2bU14K2FhbjMwbmV2WkJ0d0ZNNmdPeWNQcVJYbENYVCtLaWhyamxwWkg0bHorazJVNEg4YzgxZzJyVFZUOWQ0RW9GTjBDTDV2S2hSamVzb2NrUXk5cEJ6VzI5WmUxeHV6U255dXh1MVl6clU3WGQzb2xkbGFIMGwrMnAzYVdqT2trZTcwY3k3eU1rYTc2Z0Z6VStRNzkySVpuYko0RURwWVlIYzdTTHhXTndmMWx1UjB3Y2xLVFhTZTRFdXJsNU1MUitsWUxHUFVkZUNBUUNjdVpqcENGOG9xZU9mUHBRVUoxZUw5NnU0ZFVTLytiRkUwdDdSN2RaVnZadEllOGgwaWlIangvUlRnbG5NVVJmcE9lZzlHVnBmeXA3SVNrT3p4UmN5eDVMdDdDTnQ5SEpkOUdPZS9BbU4xZHJrcnNpQnF1NXNzRGdHWlZWbGxvcms5Q0dmRjUwcGw4emJEZm1WQ2xKZ0VXZUVIYU5lMjc0K28xMmJuS0pqMTA4bTJtcGNSN2pjY2ROb0FrdlliazI2L1ZwMXlVYlBtUit3MFk3SndTNzRvN2NjTHo3R0Y3TXZlSlNGNW5jSW5PRW0zTGNLY2JWV0FzMDZ6Qk1OR2d5bmxLWmF3eW9qcHc5Y1pNYmZaZnFlckdRcklxTjZadEVQVVZ4ZWorbGYvT1RBbFN2V3VqODJiVlVVYWY3RVM5U01ZdzBvZEZhTjY0amE0YXR1aTIyMzVpemF1K09Talo1VGZ6L2pjVXgrbjk1RFBUUnVERmpjZ1ZzcngwaVdoV2E4S3FyWHlVbEhSUGNWTkdmSXQ3QjNoaG9EQ2djYTl0V3FmMmxZYU9iMGdjdkorTnVqcXptMHNwTkJvNHArNWY2MDhFcEZrMFJtWXR3a1dvdWlqMk9vdTBtMmloRnlwT0lzUWpFaHNuYlhrWVAzV254TVY0M3JpSzVlQlg5d1YyRUZZdTJBWmxjZVpzUm9iNU1CQlVBN3kycENGUUl0M21hVWhhYTZUd2k0WEJVY3NkeGM1MUZrQ2hQUVZJdjlYZlZxVEEwTHpadytlRHVtWjdaM2tFS0w5THkwZUMwbXFXSExyZlN3OU1uVUUzMW9WRGd0c0NwaHVoR0tnK3NJbE1lU1FYUjRVNnM0Zk5RVlNYazFQWjBhWGtaNnpRdGY1V1ZRQjEwNXgxbWJMWnlFWmIwZFphR1piQ1ZpSWxwQi9TSHJ2RUYwVDlSaFVVd2dxenhQKzdSSFp2R0M0bjl6K3BESGFKRzluSzFpRXpyZEw2UUYrUzRtQW1kaWNyTEJrbmg5RXQwb0FuQzdyQklzUWs4bVYxbnNJbk93N3lxN1VvM3JpRzU0TEpGVUdzUTg5NHdXMm1OeWE5YXZzYjVGMi93RmhKaDFudUg1aS9XdXA2V0tzQ3cwcjZxYUVON2xDY0J3bmNkV29IY3VEU1BGOTVzMTdUaWt2Y3JKeXY3TjZVTWV1MlYybjhjNkRVbXQ5SHIwd1I5TzFweEtlQ3RYUldheWhOR29ZQ090U25UL2NaTlI5SzdSQjlSNGx5Vm5LN3JZNjRxazdCdldtd094MHJJdzZWWDlpUzl6VHNlODQyOFduZk95aDMzZjhSYnd6TExRVEhqdHExRXhvYm5GR0dNRStCSUtFUzRKZittZWJaaVEwNGM4bHBmb0lnUFdTcXcxOHNqTGxMZVNGdytMYjdjbU5qMWRNeGQ5RVNlVGpRTmFVcGV2ekw3SDZKcFZpNlZja2JRZXBON1c2N2V6WmxxZHNGeDhZU0Rvd1ovRnZuc2pnNEV5YVY2YTRhRTVwenFYUURNNTZzQUJIRGNHZ09hV2xGeGZsYkdTeit3KzVESHIwVUZCYzQyeHFUWFc4dXJsbHdQdmZHNEE2YVpjeStqVnNQaTJ4a2FkVERMWEVkdkRjbk41ZktSWGpCWWJQMm1rQ3lkY2thaEtseWxYZFJaSUcrclF5N0xpSHpKK0FNU2huSk9tdU5CNlFSazNody9OS0F2TkxjVUZVN2FZZ2hKb1lxamtaVmpwTmNCUUtHdlZYRmUxalVqdU1HVDN3ZURsU1d3ZklSTkduajVVK0o3a2pWRjVwU09QeS9VTGFxNDRCaEtaY0tKMUxLNEF4Zk0waTdtTzJQMU5abTF0MTlHbWRCeGIxWTNrVk9OYmpEUk5lRVJ5bDlXV1JrcVhGYXRhdW1oMHVwOTlBMlZGdkttWUc3SUptY0RzTmd3UFRkcTdEcE9RUUROS2ZqUk9nVFFtM0EwUDBtbE96eXJwZjNLSElic1BPaXRmL0ZYVWNHMmJ5SUd6Wjh0SFd5N3ZXSnZFQWMwRHA3WUhKMUFiR3ovbU9tTEdsazJDdHV2b1dMM2tEdE1rbzJYWlFscmlFY212d0hXVGVqaXRzZGQ1SGEwME5iclF6a0hjOGc2dkN4dmxtdGVPelZldXV1MThuaDRlbW5UNXdzZENnMllpUkVGekYzVGYwRWtLUExIY1ljanVnNGVqbTlYWFVQU1JiLzlqTkdyTEpTcVpneGxCK0NSUkVkQzg3TlRITXFKalpjWjhRMUlUQmZ0b0NhVTR2R2JTdFRYV1prbVNBZ0JjS285STFyaGt5UThHSURMM1o5dDgrWlh3ZG1PMU43MGNiUzlnREZFVnE0cmJOZ2RYUkN4VzNRbWw3bFIrTFhtdjVtRitaVUxraS9XTThVUTcxeGxWTmpTcDdzbko5M1o5REVWZTdqQzRmY2pnNWkzU1p4allGZko3UmxlOFZmSXpNUUFKb0FETkE2Y0tWR1BuTmJoQjRhNmpCRFI5cTNMVFhIL1lYRmlhQWt3dW9CU0JSeVJ6YXhxRWFLelJNRXlCSGNVaEpkTENNTFlLUWxQelhFaHVIaEhPc05aaXRDc2xiRWxHM21mUEdNKyt0R1VPTkdkKys2VlBLNlZSSHpNTmY2UHI1VWt6YzRmQjZVTXFxN1FDN0Z2Vmh1WGkzdS85T0JTMWxVWmJPSDlmWjdKcHJoZzRFdzlPMm56eHpWMUhISm9idUE5aHU0NW0vbk4rTStpdTAzRUxlRVF5dDZiY29EQzJHRWxESUY2eVhIR3Z2LzY2YnE4Z05LR1pIWXVoUjBUZk5xM2xuTXE2QUJPYURXbTBMV2krOFl2UUdJSjhUYmQ1a3B4WWRpSGhuRHNNVGgrU3VnVmpsNnpsYWlYUXJPdjdieWdIRUxPQ0J5Y3RQZ2x6MXhGMlE5Qk9GN3UwRjYyYVJaTFUvRXN0SzNxUFNPYldOTlorR0JNRHFwZGNQb3FoSGlrS3pVTnJ2UUFlSGhHdXhYazlldVFQSHFleTJURGQxTFQ5MEx3SG53eSs3ajl1SkVwYmlJV3dPeDJkV1ptNDI0Y3l0U2x0MDFvSlZnTE50bTZ6TU5wdW96d0x2Mk9HaWdWcHRJUy83WGpkclp5YlE0Mk1nVGhhd3lNeTM2MjVXZEFhRm9VbU9tbTMzaU1pVmpkL2JHS2FIbUViMUpaenBHNDFjWW1VZkk1YWp3U2EwWWNGTk1rSGZTMG9rcGZkaHlJY1dwYXVLb0dtWVhxOEI2R3dheDJyZWJ2TTR5dGNSM3hEY2hEeDgzU0xNais1N2M2YjNoMDZ4ZkNxemc3cDUvVjBuUlN6MmtXaDJUZlhDMVNVUjBUMnNGWU5UU2pyMjFpZk5XaEdqd0hGTEhSWlVmay8yWDBvd2srNldTVnRGZEEwUFNTeHp4SHBnU1kwaEIvVzIxNFhMYUdUOHVXSWZvb3hSRmo4RWo1cnNZSkhwSDRUajFHajl5WlVXOXArenVKbkpBdENFNjRMWTcxQWVYaEVXSTB3SkkxcU5XOHpicHJWeE8xRjBTWWRtbEgweG9jWU5HOWEwb3Ntcy90UWdBdjJZdWJNVndVMHNiWGlDcUFOZ0F0QUhTMGtEY0xhbjA0aGVqaWttcEd1SStabXdTcXBlVTBuR1NudUVZa3YyY3kxbitQV2pJV3pKVTl5UVdpYUx5MW42aEhoOGNwcURSakJhamJreUNUUW5JbVZDa3hvUnRGL09JWjZuRmRKYTBsV05Mc1BXVFZGR1pwb0RuNDZOQmMxWjVvWnRWMXJBTUZOSlJ1amZWc2xWQVRvWFZNSkhtblN6YkYwSGZGem1xUElkaDFaZGNva1BTS3B6OVZZKzFHdms5NHV2RmVYQzhrb0NFMW94bGd2Z0xkSEJHenJlb2JVRWFEWmx5T1RRUFB4eERqWjBJeWlsMW42eVdpVlZaVFRCNHZhbDl5MEYyV3AwS3pGYUdaSzJESlpZNERYVlE2Mk0xZFZRa1ZnUGc1VWdrZDY5SmRscE91SWZrVURMdUk4M2FJY0x1a1JHVFV0WHhGMUMzUTA5cGhVTnJSa2VyUWdOS0dNbXhZVGp3aWdkY2VpMHBNalFCUGRPMktzRW1pMkUwZWZoR2J0VVNXdVZmVGRWRFZFSktjUE5ya252YzExLzUwZFdaWUt6Ukt1TlF6QWx1UVhiWnAyU09SRHpHVkZ3aU1nSkpGMEhkRVZGVEQ5dUxVSm1YN0hlN2FzYW9XVEhwSDBsTmFZc1BCNkdQN1F3bCs0RklUbXZvUkdOTFV1R3U0UkFWWGJ5dEY3T1R3MFljcUVSVkRRaEZia3BTaXhRNzgvV2t4bUVpelFqM1RaUEY1Z0dITDY0UEowY3ZwOEtQcGRXWklLemFpNGF3MzlUbFM3Ni9VTVFrazdVcVI0WXRpSWNoM3hPMEdybHV1bzFyN1RPTm13NmhWTmVrUkc3V1EyWTJ3QVZYVXdPUjJqUVN6Y3pCZFJFSnFIRWhyUi9tMHdUUkVCKzc2V0lYSjRhRkx6d2hrcmFHS0dVenROWmpVWFQzQWRLeEVmZSthOElzT1EwNGVNN29raUFKRTJiRkc5T0hoak5JdVh6OEJMZ2U0ZXlBSUFRcDAyeVR6NmROL0dGZWp0elltVlJFUElaNDNaTllxZWVCWWJsMVdkVFptNEt4S3RNQmZDYlczUFJsY1VQTnpNbDFJUW1zZHF2YkJOdTVFaUF0a2JHU0tIaHlhVzIrSy9DeWhvYmliamc2SENPUVdENXBFU3YrdXNRSW9OUTA0ZkZQL1VpRmlXenlmL0RxRUthSUtyZXUwUVgvZUo3enNRbyt1OFZrS0x4UXA1enBodG82aTlnL3NSbnYyK1Q0Q2I1NHFrOEYvVkNXTjltMUs3Y1dPYnZIampSa2VuU0lublFiTjJQNnNvSmluRSsxczB3eThDT3FPRmFhRXNOSGNVSXdCUzJBa0Z6V2J5Y2tJYkVwclhWSlZEVTBFc3Y4Z3c1UFJCOFUrTkFBNVhVWGdwY1NCVkFVMTl3N0ZKVGpvKzhXM0xNOEIvV1VhemtuaUhiZS9CRk5hQkkveW1xQ3VTV3EwZHJYWDBkYmlwcFgwK1I3MDRpZHZRZk8zYjFjdkppSGJac1FvZmZKcVIvTnNFajF0enpsendKbEo0ckN3MGp4U0RucG80RkRUcmlaS2hEUW5OWlBMYWRDMUxvV0hJNllOcVVtcGtrNjhLTmU5aEZkQUVxcmFreUxaOFQyV0dlRzQ3WGhSb2kraFdFc2xrWGNCcUxlR1Z2MFR1V3B3S0oxMlJ0cStJYnIyT2RINnhPekI2Y1JLM29JbVpVKzhLZGUzVEExaVlFdEg2NUJhcVIwUk9IOHRDTTNuWldtbzlvYUM1blZoTjVFbG9KanJ1SlVNcGUxdG9HSEw2SUhtbFA1dThyWTNMaXFRS2FHSjNjVlV3eEdBY0tONTZ4UDI1Sm9xVGF4b0prdkk4WGVUV3dYVlR2NGo1eDJzYWZXN1VGYmtDR1IydEh2YWpSbk5oUmJlMDRveW9CYzJteFdnVGFkVEdKQ1gySFBXYmdwbFB4SDcyb3FVc05OWFZXY2lTcXlFRnpVTTF4MGZOQmxYNHduUDBxNVNPN091aHUrd3ROQXc1ZlpEczA1K0h6SE9ndnFrQ1lTWFFiSkxuaGN5NkhBdTdEZTdQTmRtNDZGdmZPbUo5ZGtCdnNTVzdxdThvQ2h3dTNCWFp0SHhGZExuYjBWb0tLOXJWa2hsUkM1b3dUOFlhcmM0RmJjZkNhc29mVEdBK01rZEVUK3VqUjJaWmFBNDJCQk00OVhaRVZLems2S3V1UnVqV0prWEQ3RjBLelhWQkY3VXM4NEQ4UXNPUTB3ZkpQdjNab3lZOFdwTHZFdUtWUUhOT2RsZGZkWnF0bUpON1JaVU5BMnVvb2FFcGlCSFZxQjhoY1dhODZWMkZiUnFYNFlvRWdwSU5JSWlBb01SWGdiVEg1OGhaT1g4dGFQWkpZb3dvN1RFRHdBejVhMHpmMk9PcTZkNG5vbTdNSG82c2t0RDhTa3RhNkZiUzJ4WDU2bENEMEdFaTVsNEFkTmVpQzM5Qm9Ta3Q3YUoxamczS1lzT1Ewd2VuVTA3R0NtdnM4ZFdrb0JKbzFtSXhEUnluWHFyQ2Iwd21RbGtNcS9BWDlheTIxSm5NblBrYzgzYkNkQ0xRWFZLL25OVjBSRDRHSHRoWnFiQVFJME9hR0pycnVVcXBpTTJJQmMwMkdDbDNJU2kzMlhaejdsbE1xUjBrYS8xMS9HWEJKNktWR0MxSnBqOUxRdlBtMHAwT3EvN1J4R2pTQnZHdDd3ejYvQVZhWEd2dndKRGNwTCtWQW1qS2RjMFR5czR5RnZSUHNXSEk2WVBpbGhxWnAyL3gvRWtuSWFnRW10SERISktmSXMvcEk1MUlZUml6aWpCN3J1c1VMWE1ud1l2d2t2Tkk3Y252LzQzRGN0Q0V4aE9STTI5OStnR01BRmIrZi92TGx5bkxsejd6cFppbTc3ejl5Mi9qSXVoc2wrRHJrN1RRREorVmRQVDd6NFFTdVhVUUpsc0p5Z2l2VlFUenRjMzYrQm82Vi9HZ2k1QjVzWFppSWZPMFowbG9ydFVhNzZXMUYvcHlwZm1XWjk1Qk8vSytONndodTRlWjRnRFBINE1oYjVQQmwwaVhRbFA4N3VGaTM1aFZLQnNXOG9jaHB3K1NVY2F6VHpZVzIreXRFVVRWUUhPbVQzNDJxdjBhT2FHZDl3ZjFZc3BpdkxNZEdhZlBZOSswdHAvTVNmUlQ5UzI5UW01Y0YwazNYVEpRWTAwMzV6SW9sT2xYS1Z1eU5Ia3FPZ2VhNEQ3UUIzV1czb2o4SkV6QVBIbTJVL3U0Wm9wMEVhSURHSUpPVmwvS1FSTnZ3VVh5YlJ1MS85NG5kd1hicHV6Q0ZzVFUybWpySDcyMFBjQUwraUVVQU1iVDVDdlQ4UzkxbytoSDJpa2F6aDJHdkQ1QWNGNzRFRG1Cc2pTcWFxQVpUY1gwTjVpZlEzZlRnbVB4cHkwcnVTc25GWjFEWFYvN2xJV21MbktaRFBadVBYbmx5cTJuWXJaaFdaRHBXM3ZKSXVSWU95djZ6QzBuL0VEU01zdHFSdi93NUczR3d2a1RaTkFubFA1bDVDUW0zNWhVMUVXSTNGbHp6WjNRaWxnNWFOSmRJN2Y0NzlzUURKcm8rcFg3ME5FdG1qRU5iQ0w4QW8zZk0vZ0cvRjNFcS9OaC9ndVVmMGh6M1pBN0RIbDljRm02T1MreC9zMUFSZENNcHIrSUg3YnZ1UEpVVHRNMmlqTlk2T2poMEJoYlVkTFFhNVdGcGlOU0YrZUw5OGxWWDdZbno0WW1TTXptLzZkN1QvNlUxWHRKL0FFZTRWdzhJdWJVSnNRakNGbWxvTWxadlByZXdlZmR5OVdDZmUzWEg0Zy8vL1dhTEhiejZMR0h5UFcvK1J0YXJoN05IWWE4UHVqTWlzYXJnbWF1dkV1Ni9XUFV0N3BHcGNlMXBad3N3RFppUjhiTFQraXV5SVNYTDZZZkhmakt0VHdYbXJWa1BhblIyVkdmaUgzeXZFMW1wSWVBcGxGLzlFVCtNT1QxWVpnMlRBeWFXSFdWYng5T1ZlU3NoTXBscldaWmtWajlkZ3UyMFlYbW9yNE5TdVhpRTdGTmpsTHBhY0hwUXpOL0dQTDZrTm5CbE1LSlFSUDJJcVVKR2RtbXE2VXNOTXVLaEtjMW95MUdrUXZOQlcyVFpKQWFDWitJZnM0TGNmclF6QitHdkQ0WVNpaVltQmcwaC9wdjdrM3EvMWlRTTMxWmFKWVZLZjRCdzl6bGZOMjUwRnhPcnN4a1ZQZUltTW5aQmNGcW1vdnlEUFpqS3NvZGh0dytETk93eVVGejB6aktLOVpXZGsySFhpOWdvVFEwUzRwYzRjN0szUjBoTCtQaFF2UFM3UXh5VmVRUnNld3N3aFUxajB3UG9UaUx4WWpKM0dISTdjTXdEWmdjTkpjSjlTZVdDcGlSaitCRGxFYWpORFJMaXVUM1FXcjY4amF0dVM0MGU2dHB0SHErUjhSK3JsdmczZ09keGVUaitjT1EzNGNoV2owNWFOYkVlWEtKUnZKTlErdXlxRklhbWlWRjFwbGJjeG5ISkxuQmhlYXhiR1ZtWFkrSTNaeWxaaWEvaVJUbUQ4Tlkrb0JEcXEySjlJOWVJdXFXbE1ST3dkbjFBbGF4TkRSTGlqeG1UdFNtTk5KWmpXMmFCNVU0WkltenlGV1pLNkkyak9kQzhadElKSGNZeHRNSFhMSlluMGovNkxYMnNwTFlHY09jdkJWVDJubFVWdVEyWGRRbDk5ZXkxTEp0QTZxUXJhWDNQbXdSOHpsZXpheFdUS2dzZHhqRzBJY2JIL24wTHU2Si9kZC9jR01Tblp6T1crODdqVmlrYXdEMndSY3JLbTgxeTRuczBhM3diNmszd1dtT3lLamQrTkZYNDZUdkIvK0gvaFhSNXI5TEl6ZnlYUkdiMlhjN2pOcW5sTWdkaHVyN1FDOURpYkExaVY0ZkQ4cEthUStpWlZ5U0VLRThOS05TSXVmSmkvam9jVXVLUzNzMnBkTDBTVjM3Y0NDdEhzMTNSVFRNQTg2c3lxZFdsamNNMWZkaG1sMXh3TGwvbkQ4ZVZhaGxLZWZZdzVYeEJIbUYraGVnNVUrRHdLK2N5Qlo1TUdZWHl0eVdhRGxOc25mOUZ1Nko3R25RNVArU1NTTktpOW9pcGtneGM1dkdieUw1T2NOd0x2cVFyYWdaV0tXUzRSL3QvVlJTWXdpcldVN2s0a01ubXJoRWNINnNYaFJndG9qa1A1Zm1Dems5aXV4aE9COTl5TmJlWVRJNVp4UDZTNGVBWmpTaVNIOURuTnpwMHM0SHlhSmQ2SHhUVXArSnB6TU01N0FQamlKblJ6dlhjSFRpQ0hBelJoVHBNdlRtTEh5ek56cy9jN24wR2llZjU3Z3A3R0U0ajMxd2RiUTd4TzJqaEl1dGs2UWtJemFheUF6R2xSUnRGN3BLVjRtb3lwall3M0FlKytBcVkxNi9mdWtXNStUWU9za2g1OFdqaVN3a1luaWloZEt1M3VGbFZWYlRHb1p6MlFlUE1yWnp2WWFlU2lLcjF0SjI2K2xrZHNrb0ltMWVWYWQ3ZDZ2bU9INSs5akNjeHo3NHRMUXc5SDdoZ1ZzeC9JblhuMXoxc2MzS0cxNWtGdGRLeW1xVGNkcFYwbGJCeEJtR2M5aUhGSDI4WlNPbElDKzdRYjJKZTN2NnQwSjVWVVQ1MENJTDhoK2VyUFo5dzljOXBack9NSnpEUHB5UzZvTFl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URm80Sk5yWTJDYXpmSVVSR1kzU0pVK2ZGbEZ6MjFrNXQzbnR1bG13NWNIdy80RFM1TlBpZFFwaUN6YXVxVnorSy9TbmI3MXJ6cFo1ektqOWVMRW0zMEtJb3Yyc2RiLzFxS2taNWZ1aVR1ZHM5dTQ0aTJiSXhPZnowOUJaSEY5UEh4eS9vZDFKdjVDOFE2ZkF1V1BmdmRibjc3djMrY0tidng1TGtuVkJLY2dzbmdYRmttbHcvcVIzLzY2bi9ubi9XNXgrWlZROXM3MCs3VkFhTGliMTlPTFpJZVJ6UFFIMTUrOGN1WFdVM3ZrSnMxNERkbTdkZVhLZmJmMmlGaDg4WXhiY1M1SHhpN3JqeFFwYUM2UXdYV0l1bkpyTHlaSHlGc21BeW9hVFlsNVU3SjRqYUhzOEU2VlRGdHNHTHBWc2l6QWE0R3NGcUE2TFpLQzBOd1Z5SnRpS21SL2J0TW1INnYwQ2UrQnpCaDk0S1JJb1ptZWtrUUlYYjZ2YUduV0ZFRTNxY2M4V2E5UVZJdjFwbHNoeDBLc2RwKzF5TzY1czJibG5GNXk1cEV2UWl0NU5tNmFQTStiV1B1bkQ4Wk1pMDkrUCt2RGJ6NzlEcFk4K2VrZjV3Uy95ZE1mK05sUnU2UkVDa2F6anp6WVlLSmU4WVovdllHOEJabisvQnQrcml0b0p2cm9mNlZDY2IvK05GV3JyeCsvZHJKVG9SeUwxUkxaTW5JdUV2S1hSc1lwSno2YUQ4M0h5V1hWeUdYb2NQQTJsWXphU0w4M1NVYS9nL1FmYXVraG83cEl5WUtLK2dXWndITVg2ZS9UMGhPTmJucVJOSFFURm1Ndk5LRnRNUjhOelRtajRnd3gvUzUxUXFwODRUSWtGeXVheVlkbVE1dWZRVTVlMERnZkltM01Bakg1ckZZOGJGUVhLWGxnMmpObUlJZ2U0N2hKcVNuUDJZcVh1SGpQdXE2b0pyUzc0MlpYbGJOdDZxOUJ5T1MzdTFsOXlZWG1sR0htb1N3eHZUT21QYVFON3NlRGpwRWVLbUdLRkN6NmhQeUZ6dTJZa0svcTZjbkc0MnBsSDNxaGlTNVcvQW9ZU3JwazRoN0N4akNoWDlBdG1TRStONUVMelgyMko1WjhZclA5bTVqZlpSRjd0czFKd2lncm5EQkY4bW8xYU82MnpxRlByQWxKTHh4N3ZPNnpjc05MYlhxaDJiYjdQTHdBWDgwcFU0R1F0dU1qR3kxdmFYaG94bm5ib0JicGFJM3JtNERZaC9LMDBxaW1yVXYxL0hKeFV5U3ZTNzBKVnpVMkRsUzFzZ2xFbDZwMXZXRDI2YnF0cGxaejFjMnVMS2V2TGRXaTZPR3h6RUtYeGdmTlJSTzZEWE5hWFlIeU9wcXFsbzNPYWdWbG9wWklYcFZ1d0xZMEx0TVdWTFdpU1VRWGpDVzNWK0xMTjd6WjNrdy9ORGZSeDh0ZSttb3lEOG1CenVqK2pwNnFLTDR5UG1qT0dXdEx1aVhYWlYyQzh2UVIyS3hpdFp0dWszUUFBQ0FBU1VSQlZHS0o1RHBhZ3FTdXBxNTVwTGUwOUtTamZYTWg0NHBmTkl5OFcyN2srS0VKUjdLeDh6T3FWSkJZSXRjcTRKTE5ZbE9IU3phcFhabzNvZmVNcFdiVU1qME1ObURhUnpiL0lkS1dTTTVoSDFEVWVWMUFlazNQbUhCOE8rL0ZXQ2l6Zy9GRE0vcmZiemZNV3RWZG5KMkF0NmcrUG1pMkRWdEZ2WW42M3BRQ1JnUEk5S0JUZ2Zvc2taempJWkhIb1R5OVlrRzFBcm1sV096bldaeXBQQUpkWEFvMGRaSXh4R3Nrei9TUExyUTFObWpXTE9maHRybWpQd1pBdEJkN3FRcWZyUzJTcXdlU0RPWk5RcXBZMXc2dCs0dkd3c2JENWh4QUUzT2dObmllUGxTUUZZOE5tck9Ha1l5aXVySDhvUjU0ZmFGZXYxbEJaMnlSbkdYZmRBM1k1cnNDdWVWWVRPZTlHZWNCbXMyeE9nQ29RcWZ6M3VBTXJlZXNOWmNzTit5aE1hL09EUURObllSN3JFM3VTVzdKbUMyU1ZYZDhSUTNUVlZCU1JnWGs1djdQWlhnZW9MbGlqYTdiaTFGejVzWUh6WjcxWGpXTmViVDVLS0I1cEpvL1g4bVhDYlpJeHQ3eEZVSHdiU1g0TkNKdC9aMzBOT0E4UUhQT21oTTkzUmd4cXpjK2FCNWJBOUF6am4vNnZ3cUVyS3ZXVitJNndsMjdIY1ZSUld4ZkVZWHFxaW85alVnOVp3ZCtIcUE1WmUwa3F0ZGpmM3pRTkRiZ2FQaytJS0U2TUhYSFBLTnBIYW1pRVNLMlNNYUsrb3E2R2xNSzFSMHRQZm5vcG5uTTV6VGdQRUFUZTRXdTAvQXFNM0RSN29XaCtXV3ZOV0djVE00ck9qUWZmOUV3WG92R3daQlpyM2pLRWNtcUdxOEVjazdiclJsRlM2Ykh3T25nZVlCbTFNL3p6anJkS3BmUkdoODA1KzE5S0lWbVJ6YnYrR2dSeVdzeWVjSHc3c2pjc2s5SEpHUFFOTFpmL0o1N1djN1YwbDgwL2F3TzgzTUJ6Wlk4c3ZwNC9MNHF0ckNXRmo0SmVOaFc4OVh2aksvL3hFWkMrS1BmL3RZdjNmZkxTQy84V1h6OVgzV1Rnb2hiemVrdld0bUM0b0s5VHRaUEptZEl4OWc0VitJNmdqM1VmZnF5cGJ1V1c3Tm5iTWNrVlNYUEgzN255VDlqakg2NGYvS0Q2Unh4aXBoZWlKSWhvRG4xVVB5ZTE2bFJxMzM2Vng5NThLbjFSSWc5cUNpWi92bW55Sk4vZ00rMGpoS3lNckc2MkV0K2lseXYva3owalg4R1pJcndvbXpWdXdoRWtaUExNczAvQWdKK1oyT3loNElEV1JCeGFFNDUyWUpneFFZOVBabGNFNFZ6c0pKSTNwYk1ZbzJ0ekN2L2RFUXlGZzNMcmJsdG5rcVZGNU5hNHpPRXhHeXVuaWNESHZHVFlzTG8ra3Q0Ym5sb2ZveXd3YmtzdUZJcm9HOHk3VUVGMmNkaThrMVB2NU84ZTBFYXY2d0crY3A2Zk1FOGpVOFQ2cHFyeFVkYVBxL09Pc0QvU0doK2duenZSalN6U3dZU0t4S2FNNDFIdTlGQ1gzOUJxTlgwWkl1R05PMjFQbDNqU2E3TmF3eWF6d3ZhYWx4SGtTT1NzWWZZMjdweTJ1TnlhMDZSMzkyb0hkT2hicis3RTcwcVk3eU13d2E5YlR4ZUdwcXpCSU16OHk1eXNzWVpXTkIwQmhWVElMbmJCZTFqY1orczhqcGwvNjd3aSswOVdLMFZlNmpMOG5Mb1gvdk1NMS9DT3V3Wkd2NkVsODRURnFtMWdUb2VaaDU1QUdQN1F2VHczUTR5QUs4am5vKy9GSnFlYkZHK2F3SWlpckRsVXNjLy9RTmFYWGx0OTZ1NGRVUy8rVEV3eUJzeURiRkFTeEtROXBBbDVVUEhqdWxIQ0xONGVTL1NjOUI3TXNhcnI3bk5QT0pLUTdQMVZjYmxXQnFPMlVmYTZPVzZZTzBPS2xSMVo0T1ZZbEJXQlZuSnh4SVhSdWU3cFp5MWMwbk9uQnlySHFBK0NYV1JNbHI4UXlDcThTa1hDMFJwWHhrMFp6elpnbHZiZHQ1cDF5YW42TmoxRTE3VnVJNGlSeVJ0aXUzV3BOdXZWVnBRZFpnZnNOR095Y0h1S3YzZTNidnc1VUpieVFiUTE0cXkwUHdPZ1RPTTVyY0tmclZXQWszUG9FNnB3V2tOcTR5TDdJTEhNalZoS3l6cTY4a0llUlkwWjhpMzhKY0p1S0V5ZWNCZ3ZuQkJmRnpUSXNrSFM3Q2FTNTVzVVNzMmJSWEh5QTR2dkVUeGpUV2dlQkdxY1IzUmQrV3FFSzQ5NkRxaXE2Vm5rZDdSMHBWRjYrOW5ySTdKNzlON3FJZkdqUUZMeUhHMjNTNEx6WGhWOEsrVGs0Nkk3aXRvK2daMVg2MzZoNzV6ajNjUG9ucDBUUVpaVXF5UTduLzh5djFwNFpWdUJRdWFFQ2ZRMGt6V2hYUlYrTUxoRnErTWZBRmVaalczUGRsQ2lqNzFzeXlLaVNOZXVMdU9KOTVyOFJsZU5hNGoyazdCbjB2aGYxY2cxZzVyT2tGRjhSa3gydHRrUU4vcWRwYlYzRlpMR2Evd3N0QWNkQVFiako5OE9iSGNYT2U1dmtIZFZTNkNLYklxS3BkOFlEaUJoUFlPcWpWelBBNkNjeTIyeHlGSmJ3bWE1R0ZCa3k2Zk82d1V0bVpWa1FGRDEwVUNMOGlXekkvSnM3NXNYb3pUQWtYSWN5QkxLQTZ1STJRZEs2Zk80VTFPTWVKZlZ5UmwyRXo2cjJJakN2Sld2OERYZS9TQ0ZWMDV4MW1iclVQekMwK2JYMWxvdnFnWXhFUzBBdXMvQ1UzZm9HcWY5bWpqck5nVWlXQi92Qll0TWtQVktqYWgwMVYvV3BCdlZDTFpnaWExTUpkWktkNkpaR3NTa3hOaFRPbnZzaHpKNnJHeXNVWTJMMFk3T0NkSmpVMmhoUHRGNW1EZlZYYUZMMWdWNGJBUlZ5VGxCREY4cDhlMmU4ODgweDZUVzdOK2piZDdtNytBRUxQT016eC9lM0srOEpRaHF5dzBrM0dGOEM3bkNkdXl6bU1yMExzMXFEWHRPS1M5eXNuSy9zVXk3M0swekc3bFdHY2FxWnhlajViNHc4bWFVOGtEelMxR0JNSEpSKzl4OGswelhrR2xpSlJzTGdTY0xYRjAvM0dURmZhdTBRZlVlSmNsWnl1NjJPdUtwT3dieVc2TFNZTllhVmxZdXFvLzhXWE82WmgzL00zYVl0MFJzWm5kaExMUTNGRUM5dVhiVDMwcDZ6eDdCWHJmWWxFMXFJandNdnlsZTdaaEF1YW9uWWg5OUFpYkl5MFhHTDMyWHZMa3Z4MkdvVlhIZ21iaUZjZFduT09HVmdBR2QwUkZVS3lLYUZvMkw4Ykd1Q3NKK1JOOUVSdlR4Z0hOcWN1WGJUK1prR2orWXVNbjZhTjhjRVZTSHBCNlcrZlZ6cHBwZFVJci9pSGpWeGFzUWpnS0J5SUwvRm5zdXpjY0dwV3hJcjA4S3NlSURBL05PZFc1QkpxZVFRVTB0NlRFK3FxTW1jL2NZYURZNzFIVlFtaWk0WmRCMzRRODJqR1pEWkd5b0FuOHkzdVQrZ1l6VGl3ZytubFR5a25KNXNWWWZGdGpBN1R6TGpEWEVkdkRjbk41ZkNRNXN1ZG05cmdadEViQ0ZZbGl6UEtKbmFma3NoVkcxZnpFZEQvN21IOU9tdUlpNjRVVmJVTDFpQzRMelMzRkErc3dNUVVsMFBRTUtvWkMyYm5tdXFwdFJIS0hnUnFwN1NQVWdhbW1EeGJlVEQ3M3lqZjlvajdseXBLeVR3dWFVZkw3WWdsSW1kWHNDTTRXTkgzWm5CS2VVVmtvcWxKUVBFL2p6SFVFdndPT1BXblNkaDBkcTllRGxxYUVxY2EzT0NVZWtVWGNtaDJIa1Nkam9aMXpXMmhGTE0weE43Z1l0a1dNRFpwMDBjU0ZKZEQwRFdwTStOa0tlanB0Tnc1NU5PUU9BNFhtcTZqNTJVNG15RVh5KzdRdWN0YnBjNVJnUXpQaFpVRlRGbGpROUdYelBBOU9vRFkyZnN4MUZFV2I0bXF4N1RwcWE2dGN5ZDk1dGl4YlNBazhJdmtWdUs1V0hYWkZyVTVZOXZaZHJkUWZyYjNwNVJoTEYzRTY5ZklPVDhGR09UTy9JMktGdjVSNmZUMCt2Tldrci84Qlk2VkJNMkd0Qm5VWGROL1FTUW84c2R4aFVQTm5QK25Odzg4eHBuaERSdjRLdmlnMDVVS0sraVMwQ2QyYnpidUpCUWhycGRacERDOWRWZFpFd1Q3VVEwc1ByMmswaURhVDZjRXMwRklBZ0F0Z2owajNDaHlJalAwWnROalJHSHVqZUE5T1dqblFsQld4cXJndDQrTHBpcmprZWx0MGQvUnJ5WHMxMy9RckxYWldzcWV0RzlrRXQ4NElzcUZKZFU5T3ZyZHI4ZEtUdWNNUWk1MkRQazgwVmptTHBuUUs2QnpMeGYzUW5QbnRsejZ0WGpBd2pKUFhBdEJVU0VySjVpMkFhdXltTkxoQjRhNmpCRFQ5QTVOdzVqK2JhVitLQWt5dWlsVzVSeVJ6YXhxRUs2aXBhaUFDS09sSmIvejExMS9YN1JXRUpoUzBhakZ4UmJqUXJNVm9WMHJZc3ZpWlNST2FmV2s2SEdnYWc0cHhaK0Z2ZEUxbVdpcDNHQ1Ewc2ZzVWl4bjRCenVjQXlhdzV6VmV3MFI5MEh6akYzbXpreEZOd1dCS05tK0hCeWR0dnZqbXJpTU96UTNjaHhqR2RRUUFKSytMN0xoSEpITnJ5ZzBLbzhOSUdnSXZ1UkNYL0l4blVXanVXK3NGTUhGRm9Qa0djNzViNDJwMy8xNjFhTTJrQ2MyR05Ob1dOTzFCM1JaaVRpeTdZUExPVFBYRjlBQi80cW9nbkpPTEk5MlNaakpKTC9SQTh4NHNBVi8zSHpkMHE1U0N3WlJzTHMyRGt4YWZoTG5yaUk0WVd6NWJycVAwdHVvbGVDdGRTSGxFTXJlbXNmYkRtQmhRM1N4b0RZdEM4OUJjTDlCR3V5SmNxeG05WG1ERmZYamMwYm9xZXNhRTN2WkQweG5VaFZnSXV0UFJtWldKUzZ2WlRDYnZmZktvNE5Cd0xVY1ozcUIxb0luN2h1UnpzR1ZZVDQ5bU5UMExQN0FHS2hhazBhS1didzA3d2ZXU2JhYmsxQ1ZrSUk1bWVrUzZ2cUsyVmJITzFyKzBlbllvQ2sxMDBtYmtpcmlVUFhBamJJUFFQVDY3NmxiVE42Z2ZoZ1paK0tEZDNLTHBXT3c2V2ttUGUrbzEyUzJ3aE04VzVFQnptNUJ2WTFWR2hTYnNXc2VTamViQzRBdlhFVU1TZHBQOFBOMml6RStpblRzMmxVY2t3L0NxVG9qaE1GWkJPZmZUVk5XaTBPeWI2d1ZhM3hVeFlXaDZCL1d4Tm9lbWZUS2llcHdYa2REVWR1Tk5OYmZYSGJkMkhqdTczSVltcm1hSzZXNE0wSVNHNEZMWVhoZU5vSlB5NVloK2lqRkVXUHdTUG11eGdnK2FXS01iR0thT3YxVzlYbHpRQTFjUW1uQm1HK3NGS3NvVk1UYS9adFQyVE9qK1FZMmlOejRFWmNodGs2NlRZbkdoU0VCSXpWK2J5cVYzNks1cmluRlZWQlkwWjJMRmNWUm9lbzVtME56bmxPdUk3WTF4WE5hOHBob3phc1Fqa2g0bEc3NGkyNjJKOWZybFFuSUxRdFBqMXZTSVdORldTeDdwSTB6b0RSZWFLWU5LNWY2SFk2akhlWlU4TGZKbENSaEN3Mm9Jc1VZNzRLVDF4QTJmMUYzVVhHSm0xT01nVTlEYzNhRWNIay9lZ0ZHaENYTzFsalNLeFpwMGN5eGRSL3ljNWlpeVhVZFduVEpKajBoNkpjcFkrOWx1VFNoZ281Q01ndERFNjJHc0Y4RGJJMkkvMnlNOUFqVDcwZ29tYTgyVVFlVzlwa2ZlaGZydkVHRitXS2VabTlxME5OUCtYVUdIR2RMUmF5MkdzSlN3SmVvbER3dWFiYldNSFhrYkJQTWhYaUFsclVlUGY2VHJpSDVGZzg2SjgzUkZNLzJPOTJ5cFJNbUlSMlRVZEh4RjVocVlmMFpRUUZCQmFNSnUzTFM0ZVVSc1pwdXFFYUFKblI0eCtRazBQWU5hZTFTMXNlV2ROZ29NQXlhREhjcEZnUEE3T3pTaFF0czlWR0RyZnJUUEc2NnFtakppUWhNTE1YVyt3NjNtL1l3d3hVdVVrczE1ZzlkbEtVVThOOUdvU0xxT21EVWhWeCtuNTBOSnFMWHZORTQya25TcG1FY2tWWnd4WWVIMVlBZjNsUEYwTExWa284a2p0aUEwOXlVMG9xbjFkQkZOOXloTEZ6azhOT2tWbWdQR1NrSFRONmlMaWFYRUF2MUlsODNpUllZQlRoSTJ3SDJ1MEg3WDRLSmZYRk1GcFJ4a0pqUXgyNmxOQ1lQbUloL0dGQXltWlBPV1FFazdxazA4Z21FanluWEVIVUNybHV2b2lXZXhPbHkxNmhWTmVrVFNiWUZhcEZNK2dLcDBDek96emNGWkhUUVBKVFNpL2RzUVIyY0dIZ3dSaDJhajdBNE9EMDNxVk9QY0ZEUjlnenF0TGJaaTgySVdxMTFrR0RCSHJZRVl5S2VZV1ZRMmpURkF2K1VKRVVzUDhjZUU1bWJDRU1NTXYrWUkwTVNLNE1ocTBBcjA5dWJFU3FKVDVMT1doNm05ZzVQREY2eDZoWk91U0xUQ1BOSnVhOWZCb3RxTkc5dmt4UnMzT2dVa0ZMU2F4MnE5c0wxS3VmcEZWUHh0MEJhVnhBS1cyK0plaFlMbXBtZFFwN1d4MlhWV0lPeUxuOXhoQVBvMklGTXNydWZONnh5WFBFTWhtbGowQWVoeklMUzJVS1daakNOd015STArNDcxUTN0SmExMDFEWXNWOHB3eDIwWlRzTklqL0hDaks1TENmMVZKUkNTMnRpbXV6MUduMXVKNTBLenh0WStZM2xDeHZ5VnFlMFJVL0VYbGpwREU3bGtKYTZXZzJmUU02blN5cVk0T1RRVlJWb1dHQVppa3RCalVxL1JoekUxUlBWa1pVcUpoQW9hT2YyZkJsb0QxeEErQWQySkVhTGExN3ZPbTBlTWZ6VXJTZFpGRnN3UzlYaUpxeGkzYkkxY2t1bUdzSytqcllFeXRNZDltNWt1eW9mbmF0OVBwTEFtNzVJTkk4RGVhNWliL05zRWpvbTAySXVIQ1kyVW45Q1BGb0tlc2xZSm1QVkd5R3RScDdRaHMwOVZBb1dHWTQydk1UYjdrYkY1VGJVQUVhbjYvbmg0bURoN2NickZWTEJaaXR3VVg5R3hFYUc0N1hoVHdGTks0RUNTdFhYejlLblZHOEpkbGlPNjRJajIrSW0wdVl6cmNLaWJJZ2labVRzUGdJMDBQWUdGS3hJdWxicUZDeFk2STJHaUUwNEN5MEx5cE9MVFV1NitnNlJ2VWFkbEtWT3k1elNzMERNS0VOTG5FeG1YVkJrUWd2S3VuaDRySEZJRUl6Sm9kSnN1U1pvT3Flb0VYcHV4M1VySkZPOFRQTllrVWZWQ2NYTlBTU01yemRKRkxuWnk3YWdHOThGQjhQZm4xTTYxaVd0UVZ1UUlaSFkwYysxSGpiY0JhdTZzVlowUXRhRFl0UnB0SW96YW1ON0dSckV1OGVFUmd2a0JIMDBOWmFLcDNHYStCWEtncmFCNTZCaFc3cFk0VWYrZzZJQXNOd3o0WGRjaW1idlZsRk9kNm5MM05rNkt6bjhkOFVURE50dUxRcjl5aDM5cWtCYlBjQkdnK0plaGVvU3NsV3dnVVA5ZWtpYmR4MGJlK2RZeHFFSW5WNEZWZVp6WW1vTGpUMVRqa1JGMlJUY0tuSFZtUkxuYzdNb0dueCtlb2xlcFJDNW93VDhZYXJjNEZiY2ZDSHNrZlRQQ0t3TFMvb2ZPMjQyV2hPWkRjc0dUYUVjekVHcEM1eEoxQkJUVFhwZENXWlI2d2RTczBERDF1UW5yTXRwbi82WFNXRExxUy9mQlBqTjBhYWw5a3N4UEZUb2Z4bW5zQnZWeUwrTS9KMEVXaGxBQXo5THlJcDJSTHlqbTVWNVFaZExZejFORFFGTVNJWmo3SFhFb0hMRkZyZks0VC9VamZuRGNWTDIvRUZRa0VHVnRISUlqcVhRWDNLcVVxc2lJV05QdlFpZTRlT1dadjlRejVhMklXZWtKTjl4NFJVMllqTEVuVTQzdk55VXZOUU1OYU4wVnBLK2t0Qm1xVjVmb0dGZENVbG5iUk5YREZocUhPRzhrL0RqMitxcmV2VHI2Z0o0ZU1ZNUtsWERjWjNtWml3cG5XMmp2WXU5K01EbG1mc1k1UzY1RnR0Wmd5ZnVkS3k1WU53VzlNeXFoNFloWCtvcDdWbGkrQ25nbE44dVFGWnJFeEhSN3B4Wmx4UitSamFEbWJEMFMxQlhUUU1GaWJhcHFJSXZvN3VGYjRiQ0xPZ21ZYmxOSVlVU0lvQUhxY2V4WlRhZ2ZKV244ZGYxblFSWWlzaXdtQ1JJNzVLQW5ObTB0M09vekJSeE9qU1J2RU44MitRUVUwNVpMaUNXVm5qVGJrRDBPTEc5NTUraTdPbi9BR2NCWlQ0dlUwR0paUDFHSnFsbXI5SFZhMUI2TnlnTmlQSWE5TkJsOGkzV2p4bVMvRjZNamdwNS9aaU43eXpEc1FKUjk0NWsvVHNyVUdvUHNiV2hKUndHeGR6Mm41TEtJNlhoWTNsT3J1VzYzek1PS0d5Sm0zUHYwQWJTMTU3bTkvK1RJbGV5bnZDYm56OWkrL1RWYlRyMUsyR0xYeFJ3T2ZCYzA2NlBocWg3UGFKTEQ0RWN6WE51dmphL2dpblpicElqZ3RWcVRTWm9rTTYxRVNtbXUxeG5zcGg0VytYR21LZ1hyZkc5YVE3UmxVS0VyODd1RmkzNWhWVkVQeWh5RVdwMzE5c3JIWU5xeGszWTkyeGJ0bzVNMkUvSXUvOXpLaHlWb2JJUHlqbDdZSEdNc1BRZm5vTWF5bkNHdFJVMFpmU012V3Bhb1hVMmFDVlVmRzZmUFlOMjhwS01hUE10bzVjeEdnMTNmanVraTY2WktCR211OEdDb295T2tPeHMvY2NzSVBKQ0lzYUlMN1FCL1VXWHJOOVpNd0h2UGsyVTd0NDlyZzZDSUV1eDVoazFUQzNJcVZneWJHN2lMNXRvM2FmKytUdXgzT3FTbDd1b1cwWjFDbnlWZW00MS9xUnRHUHROVjh5R3ZLdjduRGdQVnloeEYvaUp5Z3k3SWVubE1saklsV3pZM1NHOUNKTlp0dTB4VDVCVXAzeitBYjhIZUI3RjEvOHNwOVQrMWg2ZGtjN04yNmN1WFdYa3loNmMzVytRdUxuMlJOVzFaeVYwNHFDUW45WU9JYVMySm1QS0FSNEhsREw4K002eUtYQ1ZyN0pKcjdWTXhXWFFzeWZXdVB1U0Fabzc3Y2MyV3lwWVVXTktOL2VQSTJZK0g4Q1RMb0V3cmxsNUdUbUh4andzOGpZbHNzQXhNaU0xWU9tblRKeXhjajc1T2FZZ04xSHpxNlJSbTdnN3FJVitmRCtHWDBtT0RucnIwaGR4aG1sY2w0aWZWdkJ1cERYNEt3VzFKN3liMG5mMGRsMW43OWdmanpYNitTbzBTYXRsR2N3ZXBWRDRmRzJQSVNJSEtIeFdRRXp6VzlVbWJjRVpsSkRZT1NMS0p6S0Ixb2d0NXMvbis2OStSUEdaT1h4Qi9nRVpieWlXaUx1VEJOWmlsb2NpYXZ2bmZ3ZWZkeXRSRGdEQ3E3ZWZUWVErVDYzL3dOZnh1azlxbnpmSWVTT01Nd2w3WW9tU1UveVhpK1hMNG5MSFcyL2x4eURQdXRydEhDeDdWZGhpekFsa3QwS2VaV0UwTjdJQXR6bjY3STdDb3d5ZDFzQ2xWcVcwM2dPbGxQS2lvMzRoR0JMblZjUWkxbkNHaHF0YXVJNWcvRGZ0cWlaRnVzYy9wbkdKcFlkWlhYVXVKcStSVGRWN0NqdjdYQ2JNcUtoRHVyS0c4WG1vdjZOaWlWalVmRXJMR0I4dFE4ZldqbUQ4TTJPZkswbk42MTJ1SDVoVFhyWlRQZVRCaUg4Z0thNUFXc0x6VnppdDFMcHpDYnNpTEY3K1BQWGM2WDRFSnpRVzJtc21wN1JDeVpQalMzOXVsRE0zOFkraW56emJad1BpeWF5eDIzazZlYU04eC9jMmZYZE9qMUFoa3VsTEs5SlVXdWNOOGsvL3BFU3ZRL1hXZ3VjNytobjF6bGVrUnM1dXlDc01lOXFlcWZUaVIzR0diVUxzaHM0S3pjR1ZpMzVFeXFVMC9sRG9IYlFwaTlJK3lHdFpFNUpQL09KVXZOS1NtU0g3clg1UEkybFMwS1hHaGV1cDFGTDhzOElvN2w4RWthK3ptZGgxMjdRdFhwL0dGWWRqWVN2QTNiNytmUFdyUFFuRkoxdzR2eVc4NmJ1RnhHZk5QUVNpYllXci9FTG9qZS9ESE9tMXdCWms2ZDNiUmEvcXFaNjAyNTBPeXRlZ210VEZkRUxmK3c1TjREaTh1RWsvbkRzTy8zdXVIMGZJOEdPQ0FMelNrVDdwY1NWMkFNRksySXNLTkdkcjFBWktUNktPeWFQRjFTNURIemJ6VTFJKzFuaTl5bWNTNUp5WTZURnlpMWxqeFgwRVhNbDN0OU1uaVByU2gvR0hiOVM4MWQ2aFhuUVZ1VWphMmR3ek5PYVg4R1ErYkluZE9POFVvdUhuR2xycHZCM2k1aXZ1L2trcEJkcktlMzdUVnZMZGFMVStPdWlIM3p1RGExNWlrVzVBNUR6ZFlHYnl5OWJTSEQ3Vk5zZjc3b3BkS0RzRWduTy81VkRXTi9rZi9LYmI0b1NWRk9aSS91TjM1TGV4TWtHL05adS9HanI0YkdmL0IvNkY4UkZWb0cwRFdxTFdLM2hNdkJiTWZFVXJuRE1PLzNhdUs0WGdWMCt3eUg2ZklManZZZ1dzWkp0QXp0c3E3UmNpTHAzRHFiY29vc200Qm5VK2xiVzl0dkZ0dWVPU0ptMG81Uk5JR25IczBiaGszL2VkYWhVbFJ5OW4zcWZmRTM0SGpnejAvUGZZSzhRdjJmeFNoNndxK0I5T3BZMjVVUzJTSVB4dXpXVGhaTFFIUHYraTBjeHUvcDYwM3prNFAwK3JhSTRUOW1UcGRSZVVuZU1EVE90TmV5aURxV1VvNE1NdXIrbzcyZlVxV0xNZlc5MTFTNlNLU2N5TVdIVGhKeFJkZ3JHdjdQbkZReVBXS0xxQTg2NmNSbnBpUjdHS1pLZWZUT1RLZjBoc3lNdGhsdHNxUEE3VFdkWlY1OFJKRjU3RlY1dmRoOHJ1aGxwRlora1NPcm50YlRIWWJrdjYrZVZwdEdsM3VvclJ0TGM1dmlMczFXcDFUTmtVUVdsalJkeWhPZ3NaM0xYOXBxMUdjaDZobUd0cmJtUGd0TkhLWU5zNk9jYSt4K014Tlp6RW1qV2plU1NNVWxMN0xBMjVaSDVwWWZzNW5BelQrN09lNHdMSmRmcDUzQjd1MlczV0luZlJDL1dmOVkyUlgzQ0NJVDRlT0t6ZnBQVWNZbHJnSytubUhZTG5RZHNBTFpZMlV4TCs5SWxaWlNhd2hQUkZrek03ekkwbTBzWCtGdytGZTF2TEFxYW5pR1lhRzB1N3FLaGxUUFExNlNLczM1WWVraks3MnVHVnBrNlRhV3JyQjQ3cVpDenpEMHlocUwwbXFhVElXRklmY0wrTlJUaE5MM0JJWVZPUUdGN0pkK3p5YlFxQ3dSbm1Hb25idU5YRm9IMzdLUlZwS1pqeS8yUkhnK2s4NVhPS1JJSDZ1Szh6NDhuRElxYmtVSmRwNWhxSDFmaWZxQk5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0lHZ2dhQ0JvSUdnZ2FDQm9JR2dnYUNCb1lMd2FtR3A4NDNnRmpNcjluanRybzdKZzlhdmlVMGxqQXBNQ0dtZ1JzbEdBN05SSUxoTHlsMVVJcjRwUEZXMEpQSXBvWUlvUXNsV0U4TFJvNm9SOHBRclpWZkdwb2kyQlJ4RU5YQUEwTHhjaFBDMmFCaUYvWG9Yc3F2aFUwWmJBbzRnR1ZnRE5NejJobzMyVlRPaFY4U21pMUVCVGhRYm1DUGxxRlh6R3hxTk55RTRWekt2aVUwVmJBbzhpR3BpSnF4bjVJcktHb25tNG9sZW5LajVEZFNKVUdrWUQwOTgxVEswSjFybS9VNDJ3cXZoVTA1ckFKV2dnYUNCb0lHZ2dhQ0JvSUdnZ2FDQm9JR2dnYUNCb0lHZ2dhQ0JvSUdnZ2FDQm9JR2dnYUNCbzRBeHJZUHFQem5EalF0UCtLbXVnZDhiUFhQOHFqMDNadmkrOFkvQzN5dGFaS1AzSDQvZVZ1T0plSjZzcHJTdkhKNFZKeUo2Y0JoWWJnejVabjV5ODBwSStSYTZUWjR2WFNvVm1TVDdGSlFiS01XbWdlWGRqaXR3ZEUvTUsyRTZUUDR6cTVLZ3dwME55MVV0YmxvK1hTY2ljb0FZV3lVRVVFZEtkb01oeW9ub3ZSTkVLZWJGd3BXWUtqTXZ5S1N3d0VJNUpBNWN3OGxFL3hkS01TV1lwdGpGZW5TWHlYT0U2bXluYm9MSjhDZ3NNaEdQU3dQRVJHQk55YlV6c1IyYTdUTmNhSzJSUW1ORysveXVuMG53S0N3eUU0OUhBSXVsRVVZMlE1OGZEM3MrMTl1bjcwOEtHWGFOSFc3WlBhRFB6d2ovNUUwcXhRbGNvVVhUUEQ5Qy9TU2pCSjZrVVlxZW9nVG42VGRBMEliY24yWWJIOGZWWVNuQSs2VzN2b0dWTlF2TGJ0MEFHYTZDNlJPamZqOXBMZ09KODhpVUZpa2xvb0VjL1ZNUVBCMXliaERBcEEwaExDL2FhY3BGOTZka3FNcUV2ODIvdkx0QWEwN0VGNWhKOFpDdkQ4M1ExY0h3Vjh2R3RMMzNROE9Ick8rdzUxajhYQVp5VThIOHN3Y3NNcThTMmdSWVZTOEwyazIrT29qazY5KzhTeXhWYWdvK1BkOGlidkFib3ZqVTZKSHg5aG1qampMazRtUU5oZ1JEcVIxQ2gxbGhUY1MzeUdXRHpjclNNdWYrSENCblFqaVhCdytlMTk1SW4vMjFDRVdKblN3T0xiQTNYVnJNZnRUeWRzOVRFM20yMEJwL0owNGNLMzVQeUt6akE1clBSL0NEQzcrU2NYRmJVTE9MeWVSbTZTc2lqSFpNdXBNNktCbWFwYXdZYmRIa2FSSC84cUh0V0drZmJzWDJFUDlpZzA0Y01IMC85Z2FhL1M4Z0haKzlFTFhKaTJrd1BuemVUejczeVRiOVkwZS9WeUphRlozVWFtUDZYNERWTDFHSExES0E1SXZlcEV1ZmQrYUpldFFHYWJlMTkrY2kzL3pIYXVKVlM4eTJFL09QbmZzdEZabVR6V1NTL1QxbUE4M29LcTVCOUJqU3dSTWhOMll6amtYLzJhclpTYUxKMjljbUpiQitjQ2VUMzBxRVpmWXdNQmlUdHR6ZzFQZzgvMTZFc0YrM3RrcFFUbm1kQ0E1dmFVQzg4MHgyeFRjdVZReE9tWExrN0wrNzkzbzhEVDF1cGpmeFluSXBNblU5amxYTm9udkdmeUV2dDUxK05BbmhhNkxSWlVaaXJISnJ6MXMvRVpVSnpzVTErT2FVbkdwOEZ1ZG1ERlg0K2hUeGtuNzRHWUdjcWJNU2x5cUY1aVpCVnZZRlowSnh1WThiL1haMDZpV3Q4NXVTK1Q3ZWtDV1dJblEwTndHRlV5YytxaXQ0MEs0ZW1QZWxtUUhPNlFUNzMzREY1dDFlekdwOTk4cWdnYVNUcldHK2xrSG1LR3NDY2RydEM4YTNLb2RteXZBYnAwRnpBaWNIVUhaeFMvbExIMHlPTlQwOHRWN0dhOGRGNnFvZXNpV3RncFZJSHlveDExS1NOemdBQUJ3ZEpSRUZVUWxoQmQreGRkQ28wRi9wa3NEWjdncnNkNUtzZFY3REdCd1owbFJQVUsxMW91MEpEemdnYXdPQ3NqVkRkcXJwVU9UUnhEUEFYaHBBMGFFNzFDZmxKZGxDNWpVT0VqbEVIQ1ozUHBybzFjRmhwNzIyWklUMlNCaHBGcnZVVWx0QXVBczBTOXpXakNQOEQ0Wm9oUGdXYXRRWnpNbDNFbWNFaVFHcWN1dFA2T2grNGNnODR6N3Jtempla2hNU3Bhd0I3Vkhwbms0WEZ0ejc5emowVyt5K1BQUERVZWhUOXQzc0gvMCtZMUttM1BuZ2Y5ZzZ2dlhmd1RXSlVvLy95eUlQM010ZkwxNEdhdytjN3RGbVQ4L1Q4TFhOZk00cGc0WFlNSmluUWhHL29wRXNSdU1HdStUbjM0blUrTTIyNWk0ZUJCWDBJWjFFRE9LYWtkemFuNmExd1hIa1VXNDQrSXV2Ulh5ZmY5QTV5d29kdUV6bGZqWDZNREdJRmxUNnlHRFR4WkpadDVpRWFvK0ZxVmxlYmpNVDd4NzZ2Q1RZQ1BOL1prU3hUb0ltT0hJRmtpVjBDcUxzYmI0Y1A0OWV1ZE02UVRRelBLalFnamltWFhnU3pxZnVBRjhiMG9SalFYTDV6UUpGQlM2TG9RMDhCbXI5RC9qU3EvWFZzTmxqV0EzMEJ6U3Vndm9ZczNGNFRJUk9hRjBHZUV1ejdtbUFxamhmN1hTWVRmMUtnV2V2L01xVllZU3ZubVlhNVBrV0J3NGRTNDdNbzZlSmt5ZkRuREdtZ3gvMG9QUXF0S0hwWU9tcmc3Vnh2YnlGbldkbWZRM0tIWDRZNGxnZUhBQWsvUzhFV2c5Vy9jZU54OHR3TmhBNXFWaE1nZ3g1VExpWVRkQW8wb3hrbWNJVi90c1lUV2hOY1ByUlF6QmthWFlpZUdRMGNjOGZlN2pwckVSWnNvbVV0OGpybWljZVFIdkFzbkthd0hEcnZiL0dzaG9BbVRCS0hOajdOcWRpdkNXRVUvdk1KMnpSbzhpWnR5cmJ4cFBycjhxRkY2Tk9SSWdtUnM2V0JtSC9jRUsreFpzR0tpT2J0a3Y0Umk4Wnk4REQxNy9EQ2huVG5IRXRvdHNjR1RZRG5LcVJlU2lib2JHajJaSE41VTlWZmx3OHRxb2VscHRMUVdZdGdnMDVONGJTWUx6RXppeGJ1Y210S3Y4bFk1VmtYMU5TK0tRZDBkL3pRM09SM2c1ckNLcU1wMmRCczhrV0g2RVh5Y1BtZ0RMMS9mMElTWW1kS0ExaFQwdm55QXArcXFWOWFORzlYenN4dGVadnpncm9HZ3JQTkxVYW1vTmthbTlWczhsZWtjVm0wS3crYWRma21LWG9lY2ZrZ0g3N09ya1VYa21kRkE5aFVVM3QwS0l5U0RzMFhlQnNWNmhKb3dtNXgrZ2xBODVCWjZJVmtGNVJqTmJmbG0yUnAyT1VEZ21PNU1yR0lRL0lNYUFBb3U0cG05QTk0VzNSb3ZzaXpQTkNNWXNJTEp3RE5IbHNMTDRuM2hEWXBlMEkvVFBHcHVuem8vbnpRNVowTWY4K2dCdUFrZ29kSXVycDFhSEsvRUQ0Q0V4WTFzWnBSRzk1M0dpWUF6Ulcyc0dEZnl6T1JlZEJjZnMrR29ETWZMaCs2Q2ZxQ1NSUlNaMGtEdTlUSzdNb2hLZ2pOWGZHYkJST0E1andWTlgvU1NYU1diVFVUT2pQbThzSENXcjZSSm1sSW5RME5MT0djOGpOcTVBdENjMXZzaUNZQXphaFBOaGJiOHRXaE9oc09taTRmR00yZHN6RUdvUlZlRGVEQ1RwK29uMVVyQ0UzcERwd0VORDlFVHNpekhhM3RRMExUNFRNVjlrQ2FWczlpZEVyL053TUZvVGxKcXhtOXhQbzNBME5DMCtGVEZ4ZFh6dUtnaERZNUdpZ0lUZW4wVExXYS84dmhYRjNHc05DMFdqQ0xlOGMwdk55L2JiS29RL0swTlZBUW1zNE8zVHFvWEt6eUcwMWJKeFZCYzF1Y3l2Y0RORzBObjhsMFFXaktuNkpSVnJNaFBVejhlc2M1Z09hczNBUEo0Njh6T1I2aFVVb0R4YUNKMDgyYnJNcTJQRU9QengwMHQ4WFI3RmpmSXFYWEVCbFpBOFdnT1Njdnl0VUZOSEZONGhxWGZZbjVDcWZINlRDc1pFS2ZsZC9xYWJmdFJ0WmVZREJHRFdSRDgwUkk3c21MSG9jQ21yaExKNkRKajR5cS9iazRxNytWUUhOYjNEaXFOZFh2S1ZsaVF2SnNhY0FEVGJYRHdUV2RMZDdhdnJ4S3RzbStLMkkzY20veklseEtRbVIrbk9PTjVZUm9CeGM1ekYrY251L1JRT3d2aVlkaEZ1cE1RZ1A2TFhkeHZhTWhmOXdEME9UM2VRRy9MbS9Na3JqMzNtcEpJdUFHWlpmb2wzRGpDakRSNjZQeXhtMVVHY2JaMUZHYkdlcExEZFErOGdsQy9zNE5KRys4RVQvdC8xMGRSUDQrUHQvOW40alF5NDBEL2kxR2kzeVFwaEdtK013Ky81VnRjZDhEZDVnb2JyYXZzdUl4L0xueGtVOERWcy8rMTM5QVd6bDB3QnVvZ2pEM1EvTUtGU2VoQVd4dkVPalZ5RDZMWVJQTG52d0tISmFScjNsMkk0cGVSdmp2cHRJV0hkTXp6c1hHMFRZaDcvbVhySWs5Y3Jjek83WnZ1MkdVWmRoaTRvYjcwNU5NOEx3NUhJdFFhNklhbUJ0Y2YvSytQUWJOdlZ0WGJzVVVtb2c4RmJPNUhkQ3N0VTdlM3RCL1d4VnIwODgvQ0RwQWsrTTNtdW5EdUVxcldubnJwN0ZHdlBYa2ZiZjJZckkxQXZORERacnJJL0FKVmMrR0J1am11L1p2NHVzL0FjdXB3c0lYKzRPZjZFVGJUNzc5eTIvam1Rc1B4UCszbzhwREpHaGcvQnJnZnFIeHl3a1NnZ1pLYWlCQXM2VENBdm1rTkJDZ09TbE5CemtsTlJDZ1dWSmhnWHhTR2dqUW5KU21nNXlTR2xpU0orY2w2d1h5b0lFeGErQVNjOGFQV1VoZ0h6UlFWZ08xWDhFQjRjK09kRHhZVm1TZ0R4b29vb0ZOZm9DaXU5dUxWQXMwUVFQajFzQW1EakZ2N1kzdGNIemN6Zityd2YvL0E3cC9HQWdJRUt0TUFBQUFBRWxGVGtTdVFtQ0MiCn0K"/>
    </extobj>
    <extobj name="334E55B0-647D-440b-865C-3EC943EB4CBC-2">
      <extobjdata type="334E55B0-647D-440b-865C-3EC943EB4CBC" data="ewoJIkltZ1NldHRpbmdKc29uIiA6ICJ7XCJkcGlcIjpcIjYwMFwiLFwiZm9ybWF0XCI6XCJQTkdcIixcInRyYW5zcGFyZW50XCI6dHJ1ZSxcImF1dG9cIjpmYWxzZX0iLAoJIkxhdGV4IiA6ICJYRnNnWEdKbFoybHVlMmRoZEdobGNtVmtmUXBtUFZ4emFXZHRZVnhzWldaMEtGZGZlMXgwWlhoMElIdG1iM0puWlhRZ2ZYMGdYR05rYjNSY2JHVm1kQ2hJWDN0MExURjlMQ0I0WDNSY2NtbG5hSFFwSzF4MFpYaDBJSHNnWW1saGN5QjlYM3RjZEdWNGRDQjdabTl5WjJWMElIMTlYSEpwWjJoMEtTQmNYQXBEWDNROVExOTdkQzB4ZlNBcUlHWXJhVjk3WEhSbGVIUWdlMmx1Y0hWMElIMTlDbHhsYm1SN1oyRjBhR1Z5WldSOUlGeGQiLAoJIkxhdGV4SW1nQmFzZTY0IiA6ICJpVkJPUncwS0dnb0FBQUFOU1VoRVVnQUFCYnNBQUFEU0JBTUFBQUNSRWdDSkFBQUFNRkJNVkVYLy8vOEFBQUFBQUFBQUFBQUFBQUFBQUFBQUFBQUFBQUFBQUFBQUFBQUFBQUFBQUFBQUFBQUFBQUFBQUFBQUFBQXYzYUI3QUFBQUQzUlNUbE1BRUdhNzNYYnZpYXN5Vk0xRW1TSTd3cXhRQUFBQUNYQklXWE1BQUE3RUFBQU94QUdWS3c0YkFBQWdBRWxFUVZSNEFlMTlmWEJrVjNYbmEyazBHbW1rbG1TY1NZZ0xwRjJIaEMwWGthQW1MQWtoclRERFlIQkN5NXZkTmQ2cXBSV1lIUWlHUExHcFRVR0k2YzZhT0FrR1doUXNiSW9rTFRBNDJhSllpY0kxUlRFazNRa1ViUEdsb2FnTlptSG9adU0xbnlrSlJtNlBMZHQzZi9mcnZYdmZ1KytyKzNWTHc5ejNSNy83ZWM2NTUvN2V2ZWVlZTk5cnh6bTQ2ME90ZytQZE8rZkozK2k5N21CckZsODVXUHBYQy9YRG9ZZnBidWRxVVpncVovdDMxZGloQ3BlWERwVTRCeWJNb2RCRC9kRURhMzhmakkrUjlUNXFEN2JxOWZ1emcyVndsVkEvREhvWUphMnJSRnVhbUtYSHRlaWhpaFRkWHo5VThoeVVNTkY2dU83azNpOE5ad2hvL3ZpZ1d0OFAzK05rb1ovcUE2N2IyTXV6N3dyZisrQnRkOTEvTmM2eFVYb1lJK1FNZVdUQW5jRElIeU5yN0Y0c2Q4L2VjdUhDNlRQbnlESk4rQ3c1ZC9yQ2hmdFBueU9YV2I1SU9PMCt3YU1IL0Z2WGxIT2NkTTlDMmd1bno3bmtJaVNiSmwwcVBWcmo4dFlNV2RwSnNwVWp4Mk9FWGxjanZLUDBVTUxnZEoxYnkxRkhVYVNxQXIwalRJZnNaNWVXYlh2eFBWNVZKdXhIVVJwbStqaFpVdGsxUEdFSnk1aFI0cXcxYXVGaGhLdFhjdVJ5OWNMYk1ldGhsRDZySHlGRE1DK255STk0UnhUKzQxMHVBOFV0ZjlLaUtlOTc0TGtzdXZlQzIzbUI5L0g0cTk3Q293Zjd1MDFtVlFIRzdyeXJ5YVQ5K0R2K2N3Y1prekorNmgzL1pWMHRPS3p3RWJLU0g2dkpPKzlHNDB5ajkyVHp4Zm14R1FRbHN4N2FwT2FNRTVMbkVCQWgvQW5GaHAyR0VydTMrZ1ZMaUwvT2p6cnZRZnhiU3Z6Z2dnVTN2R0NnMHI1QkVhbUsrRHVWK0ZDRFJTTWFleGZodldaNHQ4bUIyRjdwMjJIVXd3UWhHODQya1ZadmVtclpTellWVzZNSVFEeW1rTmhFdktYRUhaZThUSTBlWFBpNHdiYXRCNFlEU0MvTXFvT1FzNUl2YjR4MWh0RjdDaDJrclVFT29xWHhQRTE2T0U0dzk1YUdJZm9JZVZJUkQ5b1NwZ3BMYkNDdTVNSWU3Mm9tZ1pZMzFNZ2k2WVQ0bFlsdXpMV0hvYitRRkRMaHFGaXh5M2lmOTBranZPbDBtKzlqMUtlWTRlb21QVFNvME1IdUNsZk5JV1dlT1Jva0laZG9hTitCclNLejJMMWtHRUcwQWtPS0ZFallmVk5BVisrcS9LRy9BeFIzSkYvbUdLY05qUmxGbS9VQlNGWEFvUWliOUZDbjNWY25NTUFIZmRXMUpWb0FFZk1CNVJVVU8zM1Fnc1hTUDZaTk1yd294amZObXhLQ2V5ekYvRFBMaXRYWFAzV1lxd1o0MDlFN1Z6YjlDeHFpWU5BRE00R3ZOd3hSb2NwOUprem9QSnI2L0Q0RDdhbld5UFJoVVdWRG0zTzREbWhYcTk0S2FwY3U5YW1lZnFwdll2a1VmNDFrV0thYjRVMFhTK0UxZGp6WFllZUc5WUNlb1JieDUxVm9EVWFxVVgwWUxPbEx5NlBRWGtkaHZLUGE2VXI2MElNbDdhbmo3STlBMkhWRkVpekdOTGdyV1VNSkhpR3JDWHdhWXNjaG9SakxOc1BiV1J6R0RKOUd2dWd5WVQyZ1ozYWp5K2VaRXhnR1lRODlySkFQSXFaMFVjazh3R0JnenVHU3pBUE9xa3hZbnBPV21qRGs4SmltU2hQenpReXJ3Z2g0VDN6MWJTYktoeWt0ckFmMHpOSndKQ3hwQTU1VDFaME5GREV0WDVDcHcrSTNZWnRldmx3OHRCbndvMUxMS2xobW1QRkNZRmtlNXIyb3I5dkRCWlNVQ0hnckpRNXJNS3dIOU16YVVLUXRCTnhLRmFMWjRtMGdaTU1YNUlnNnN2dkp3dy9ObS9ZeUlLd20zL1pCcjdycXF1NU1Tcm8yNEEwWHlZYmUraDBOVlhwZXJyR3h3S2JBb3JZelFoY3VxcTlrY1RsWDVyMFRxNWllL25MQXQxRFZaNkxldWZWYWM5dXc5YVRSdWtiZ0hkSURVTmJSRkRHb3lCSE56ZTA0bTlvRVA5b0Z2SlZweEcwTlNvNk1kTXNHOVlUOGdFM2RDNVNSUlE3Rlp3TEtEWkc4UnVBZDBrTjdXRlpqSXpEQWJHc1QrdmFyQVc5L05UbWVZYUVmNnNvOEV5Wk12dDZRSHhDeTcrYkpOVE90MGNEVUdDSndqY0E3cEllbXFmOUMyc2tob2EwT3pxRFgwTFlweXg4RVJHb2VtMFBqRnB3MjRTYm9CNlJ3My9Ka1A0akFTR0JoRTVMaEdvRjNTQS82QWkra2x2d1NOTWNJeU00REV4NzFrWDE5STdEdUQrUmVtUU1Kek9oblM3Z00xQSs0cm9oRDRiNm14SWNmeE5KRkZTZ3N3RFVDNzZBZTRBUWF6bFlVUmpoZDZUTXF2RTg4cW8yQUU0YXRGTDMyc0dMYkpxdGpYaFVka2h5MDJ4c2lsQk8ybGE0UmVBZjFnUGRtRE9jTEJnQ2U4YUFSUk9FOUt4bTFMK0k1ODdmZWptdHVOMW5vSU81Vms5V0JaWU8yTnRDZTFJT1FraDRhV29wbGZLM0FPNkFIbko3WWpkVkxYcG5IZzBhc3VndGZKTE9hTitMUXVBV2Rwc25xcUFiYzNnMXRsWnlYeGhpZDc1emNldzRQbFBmaU5nMFhFN3F4QjNnLzgwejNFNi93R3ZQVXovL0NBeWRmNDBXZHFkODcwejNsWjdPTXo1MTA5LzYyNVV5OTNpODI3SkNpaDNFWEl5YS84am0vVkhqV0dVa1FaNE0zdEtiTmFDOHZJSXZ1d3JkRWtWR00xb2g2RDVxN0lUSU8vR2JjRldnR3Byekt3TnplN3liRVpUdEk0NlRMQXhFYWFTUk13cG5oWGFoU2p1U0ZraC9EeWhVWmM0Q2RibG5KUmtiaDk4bitPKzRxZHhjMnRhbk5xektVZ0tJSENqQjU1Y0Y3cWlTcHNmdXFSbk03cUg5cXNHNklJdHNvaTZoOHZlSFF1QVVkckFqV3RXYXdDRVQxbmtTYVVCcVUyM3VFdkxCVGFGTzdvL1RLV2VmVGl1YzBLTlJNd2hJcU03d3IzVGM1em5kY0lyOCtwOE43MHIzeWk4Z201TFcrSUp2azY0Z1UvdjFlMEF6MWl3dytwT2hoNnM1TGwrcUV2T0RTcFV1MzU4QjRBayt6ZW1rSXdCRVRQZTdRVjdJWEJOdnlob09Yejd5dGlma25jeEFuRnhMd2lZVHAwRlV3RU9kZmlBY2E1K2YxRldyVFpmOFlYb005UnFmWG00SWpoRUw3U01LN3NsbmhMVDdaQWR1MXhybmM5bFcwMGh1OXEwL00wdVNuS0hzVjQrVHZlTW42UWNJN29JZHQ0L0RFNWN6NFcwWDcxV3ROcTE4S250MVF6a3lQME03RHcvR29xSEZvM0lMT3FNbWZUUDJBSzByajZLcDRTNG5uRmh6dmRpZ3RsMnhVUVI4S2kzN1g4VmpDb2FxTThINjhLYkM2U1BablJYdCt4b2YzaUp4M0ZTZ3Z5ak9KeHc0UzNnRTlWRXpEazJoUHR0c1BLTFRQWWd3bUJOKzB1WEFoc0JCeTlRSFBvUy9ueTJYYlVZcnJwbmYrKy9DNEJaMmp1b3VFYXlUbzlzWm5rR1JMc3Frc3FmUWkvM0JubTd5RW5nelk5T0VWcmdqc2h4T1ZsSXp3N3NyRkdEeHI4aHR2V1B6TDBYdG4veFdjTnV6Yml6eFU4RGNJRE8vTUtKSU1OaGpRUTkwMFBIRUpudnJGcU92TEJoR0xBUFlUTGNlNUYzMjlic2ozOUNEektDaUVhcW8xSk5ZOUQvemhjUXM2TTlxcFJpSDZEQ1FQWGkyUmwrZXRTRGpWQ3VuUzF6MUxjYU0zdE5tSjQ1MFIzdVMzSmJHMi80QzdIcnpiY3RrRU8rMHhYbkxjdDg4VzViTWhhUXp4SHRCRDJSTTVLRU1CZUkyNlZvS0ZIZWNoNlN4YkRCaW12Q2kya3dLVk1DNklBUjF1UVJScVN3TE81bktZL0FHbDdPZ0hYN2tVMndhMURFSys0OElXZ1VicFlnVDlFZjJwSld6NnR1Smt5QXJ2ZFVuc3FEOHorVmlCS01JTjRKM3BPT0xiWnpNSENHOWRENWh3b25aUTZBSXE2bHFTamZmdUdMejNPaXlHNTBmYTBGNnVRMTBRQzBvVVFib0x2OFdTampFUnF0N2dkSGpjZ3ZqK2kyRlBGNUpleG5MY3Uwb0RjbnN2cm5LTlZmZzRBRFkxbm1ENGhmMi9ZRWoya2pMQzIzZnRLZDNaOUlaQzRzMjBrSzNEbU16NzhCNDlRSGpyZWdEcUlrZUV1OUVJODdYWDh0UW1BekRDT0ZicEdwRk9wWUVMWTNWTFQ2SUxzbVdXMUZpbHQ0bzgvVEttYStjNzUvZmV6b29keE0raVNUM053QU1NeWFQWGZIMUk3Uzd3eW0ydXV3ZE5lcFhrTVR1dXliRHBuaEhlZm5zd0FNciswT0F0UnNXR2ZLd2F2bkV5TGlzRUJDbSsyYjI1RlVqTE82cnJBYyttZERiM3gwaGRRcHZNZVN3azEzVU9FRVRzd2pjM2FBNm1ZRDVtekd1RC96K1J2WlBCVmFsT2FKQ3hxbWttZ3VDN0t0TlN6QmlobHNzWW5wVHZqNEUrcS9yNVRneUZ1S0VkMVhxR056WDVXNXl2RCsreTErSjV1WUJxK0dZQWM0U0ZSUzJXeUtteVB5MkVDK1NTb3VrQnp1ZlZQS2pDMHFEbUlidDJsTE1rTW8xNnRUcGVoQVV3TEhDVUNHMXN5bUdpZlZFcE9FWDJPOEgzZkpUc1FRZmJmck04VnRScVcvSmlDTWlHcUdscHdqZEVUcHlzOXFnY1FxVmlZbW42czZleFdFWjRLeFpyeGFQc3d4dDlKVFF3SStFMEwxZWJNRVNsZzBXWFpCdU84VXI4SEtOWDZDbm1TVXRydzZiUWVxb25pcWgwUXM1UkNLUEY2eUU2ZUk1bUE0bEFCWnM1bUZ1UW5mOW1ubFBkTGJoTmFpQW94N0VBaFh5ak4rMnZoQWpXRFpOYlhtN3ZxYklDb2hCbjZGRU1HSmptNGd1eXVscTNocW4xRHUrR044SDc4UFkvRm92TzVnRENFcFJ2OVlEMzM0ZjUwOVVYVUovVGFHcWlMOUkwUFVDNnRaaXlxYlBhaWtFQ21odWhpbVo0c3c2czFsanBIZkY2ZytZV0xMaEFObkpDOVBKUGdJVGhtZE1FNzJTM2QvQkJOZ283V1VwQTdiVG9HY3lNNFdFK3hFSXVaSXk4TWhzbnl2T0U3aFMrUHgvZVBoUGtMckVZZmVqMy80V2ZFUXFkZ0oyQUozVTNsSkZ2Z3FZSFBKb2JPWkNIb2VGN0dORGloUkJOZktFdTJDTXVYNkVWUk1ZODlFT3JiYTRxbGNjcEJJNTZpeHNsSjF0d3hEeGZxa1Eyd1g5QlRhRGhrbUgwUnZ1MHg0MStmSytsVnF3WWx0WnFQc0tGSHo0THpWZEFGTWhYbzdEclFwZ0lzM0JEVm1iaEw1UjlpM1pYaVh5eG85SVBoYkhvVnlURHNDeVVGd3R2YW1zU2N2Ty9DbEdUQ1ZYcUdYWTlCNFJNem54ZnJNVlcwZlN3R0RLSlkrdEdaYUlIVnIwOGRQK0dGNUVCREhreUtPOU5QaXB4dHlDemFWZ1JldjdFdTQ1U2VFMmMvelV2b2NmQVdESzhTK2lkcFNENVpoaFpvWTlGQitFT2RBU2Y1Q0JadW9lMVYxZEJGQ3JoSnloT0tabG9ZS0YxS3lzSGd6SHFVdEFyU1NwM0hkNWdMN2JiUS9EKzNnZnZSRU9FMGhZNXMvMDNLWlRVb0V1MTh2NVhkZFMwWHNLVldtd3RUUS90TU9waUswZGt6cXViTmpzbTI5c0E3eEtmOVJxcm5PZ00xTlBCQVNMTnE5UlFIcHNJM3FtU3A1UGhYUWIvNVNBeEU3eXJBVDlnSTdEMEMrd0xCMG15K04xbi8zaTlrUkxlODJFRDBzQ2lISG9RdDlHZ2lDdHNoYWxTNnZDbXRoalAxZUZkZkZhVFV4ZndoaE9PWHk5VmFYbmhpYndXVU8yYVI5TVUwUFRRN0gvZXB6d1cxVW1nb1Vha0JBWjQxN2xGMDl6Z1pUQUowaVhwdk9ZV0RIMjNRdExMZUI5TmhqZkVrUU9SVDl3RTcyYkFGcTRFNEc0OHArS1Q5RUpwNGIwWnNIMUF3TUJDRzdVWWoyTXVXbVMrNUNsWFR4WXRvTU9iMmw0OFc0UDNTSk9RMS95SEw4LzRTcnRQOHZxWVJrMUU0QUl6SldkUEs5Vmk2Mmg2a0ZzcHNUV1NNMHR5L3FKRksxSWRhajJEN2QxbXNKaVVyY1lrU0UxWS9lRmNEQ05PcFpvNmZEUVozdHVjdjA3U1pIdWozSzVhcWhTQXUzRWpYNjBnd21uaDNRN3IwOEFpNFYvWmV2ZWNVSGgzbU1ncXZKOEdrK1VWU0ZYZ1hhaWpKTDI2R0tWQzE0aGg0UjRxbENZaDRUL09WRDFnSmVzdkNkUFFqaWlqalY5MTB6Ums4SnhVMmJNbDNJSU96cDVTbTUyZlAvSFk1QVh2N1dSNFkzS1ZqbWFQUFd6azBLNFhkWHR2K1NXMDl6Qlk4aUxSSmlDMXFCWk9DKzl5ZU53enNGQzdWV1BESXpuREc4cmEzNkNVRlhnN2hkK0NhdWhsYW45ZThKNGlOY28zOGxMMUFKK1RTWlRJdWhFWnV1dktQMWltRkRmQXUwSUlRRmVwaVZJb0FjOEZmUzFOdWZLQ2R6MFozczVmdnFDbGNPWkJBN3lWZzd5c0RLWnlIZTcxbE91RmxQQ0dTeUwwMkJsWUJJUUl0cVEvZUhOcS91aGRiTXIxZ0Fwdnh5aytzd3h0cUZPNUowZGU4RDZXQUc5VkQrZ3FiWjcxaE1rVzBNaGdSbmdzWEIyTG9VNGdkWk02bXFWYmtKM1doK3RvZTFVcmxSTzhpL1JCNnVVeTdGclNwVlpMb1VXWFZHdEtITTZ2bWhxTkRLZUV0ejUyY0dvR0ZyNE5iR1RZTzd4TlM4dUhQSHRNaHpjOG5oK2wrTmIwd2VYSkM5NDdDZHBWOVFDRFlObW9EWm80b1hwS3RYRHd2RGV3NjVOQmR4c2VHVHdCTFVwVXViYXB4MEc2QmZuckRSY2R6UzFJMTZ4TFNvMmVnNEZYbE5MVHFZWjNWTkNobW8rVEdsVXRoU0llN3dVbEdoMU1DVzhvTjJnZ0dWaGdqSzlGcytwblc4ZmdHS1JucFZ1Y1d4RGVqak9DVEFNQThvSjNPYjZkbWg3Z3JZaFVTb2J6M3VoaG53elVZWUFreHFBTnJoRHZ0MEczS2FWYmtMNVNDQ3JCMHppWjRmMzkyNEpzS0w5U3I2UDNabmdtMmc3NEFhRkR6YytOczVFZHlqUHhTZ2x2NkhNNVFNdkFBb2hmQzVUU29yMlAzZ0R3RTV5VVo1eWd2NlVONmNIN2hNY2VWcVpoUVpjWjNzVVAvNEhXQWg3Um9HYkkxL1F3ci9xckE0WHBFaXJxQ3VBWFBiRGkxZDd4bm13dkNRRllxQXRxSEdFVUpFNXpRNmF5MXh0T1BDcWovSzdDdS9ETTg5MVBmRURrUCtPTnp5OTNuTEhuM3JIQkV5YmU3Sjc5cjQ3ekJROTdVOTl3eno1bmxtY2l0VWZqcEJIdXFVckFGbTRFYk0zQTIzNUNYc010SmJ6bjVaazhaNlFtcUJoWW9MY1dERHk4cE43aERmN0MyUFRnalNhdkNzb2MzbE10cDdIcjhXSi9SdWJGUkVDRDkzWDN1SGU4VFhUT3lHMTMzZitrNC96V3VVK0trdTg3MzcxNXdabHFlbGIwbDg1M1Q0bnRmcHBhQzVKVzQ1b2V0bzFRRk1YdkpsSFhYa3VseUQ1Q3R1Q2xWSTBlSUV3YWExNFJIcGdIZWM4dHlGNTRJRnZ0bWxLSUFwNWQ2elN4V0NlbjduSEZmLy9pSWNVZ09lbmVJWENMWnQ5UkpnOC9yZnVIRC9KdXhoUjU2ank1UWxWWWZDdW5ZcHhWRkhhbTRIeDRXVmZ5N0U1ZW9lS05ibWlESzFrdG02anBhU25odmVuTmUvTzdJQkRCQXJOalN5ZXZ4M3FITnpCQytlTHk0QTBWclBBazRUbHBMRHZiajRzVW8xZCtVZWlGajE3ZkpYdlBRK2QwV0kwZFpEM3AzTmR0Q3R4K2dYVHZKK1RXOXF1L1hPYVR3TStUdmVlNzVJOW80ZStXQlozSWZTbE5EeFY5WG1Yc2V2akJqTEVocXdISGVCYkRsemNHZVZrekVQVkJmN1NtSG9pWEJhZDUzcHAxV3FkTjNnS290dmxUVW9BR1NHZnpwWGhZV3pTelNuNlpHdXJkRmVqN0l1TDRLTVd0ZEN5bk9rZUx4YlZFaTJhNkRPOWFndGF1U3FQa2pXN2N3T0s4bHRVaTVuQktlTGU5UHFwc2dSQzE0Zmlsc1VCeXg4eUdwL1lPNzZvM1hrcDQwN0ZGTXB0bmd3YUZ0N0Jnd0c0ODdEcFo1Q0lUMXQzNDZpNnEvN01ZT1c0QVpKK2MzTnZZNXN1Y2NYSjUzY0hBOXAvZ2NXVWszME1lbnFWamVRdVVOd1VaNHdpS2ZLYWVEZ3ZRSDZPTDJzdE5IY0RxcHlVTEkxeVRZZlZlMXIxbnlLSkdhOTB2UzVWMldYZUJ6YzFWeUkvbTV1WW9uUnY0WnpTSzVmMVpHcVV2MnYvd01qMUd2b2JJTk5NRTluMW40VDV2SVdHVC8yTjNuVVhtNWs2UXl5QXp4MnNpTy9WMWhPd0h5b2I4Z0s2NjlDdFFrUjlOeHlrSjNvVXZNdFpsRHl6bEZacGdaZ0ZGQkFUVm94bmhyZlJEMDhPeWhEYzFXeVgxaGdkdi85RHlaRWhwRVBxbkNCRTlVR2p1ZDJqMUI4bkhPSlVxZVhKN0NjTVhZOXBtdzFPRHZzdGM0b1BUSGkxOWpJRWZiWGZKczJsWDhwcmhYMDBQNWVqSElGd3pPa1ZkTis2UVBTT0tTbVExUUFBV3V6Y3dJUXZEUGdtVjhUNFpWeWdMbkYwdlAweUFvWCtaZ3B6MitTWi9kaXIwOWk3RXB5alFjUjBYVG9lanBFZmJlelMwUlVWSHp6VktXMXowcVZ5V0VYbzMrS1RWYkQ4Y2hQZlVWOS91WnlKVUpiK0RYenhPWWliMi8wM0x3TUw0UVJhRlhFWjQrME14K011SWhEZkdWZy9MRlEvZS9pRi9veHNXbFlRNDE0dUJybEFXU01GZktweW16YVhMVmZGb2pORW5aSUwyNGJaNGFiOHBKbmFEVDFScEprWTMrYmtWcEFaV1NXcTVMR0VnYzBXV0w1bHRFd2Zqc0N3aTd0U2hxb3dTOUtVWDM4WVJaVHg0SDVka0oyUnZsMG0xNWVBOE9OV0J5dzN1ZWJrSTJoR0JDUUhybnVFTk1GUDZ5Z1ZEekorcWtJNXVZK09OVnlSQi8xNDVKd2p2cXY3YzRNbWxUelNHSXdFdi95QzhnY1ZSV2NxbnI0VXl3dHZIQ1B3Z3N1TWt2T2tUTG9rM2ZYaGZsR2tUbmw5RnB1RHV3N3NwTFp1R2NMRWRJWTlnbkQ3QmNIeVVyK1dCcUExV0dhTUhEelJJalNVWTJzN1N4WStxQnp5WmRQenYveXA1dmtEMHhvYVJYb1BiWFVvZUJjcXFFa2RVak5CK29nZnZxb2VodW5pVStGNzFkWFJKamRseW5kYngzTnROYVFtSmY4YnBHZDdRRUtQc1N6UURNVlhFMDgzV0RUK2JudGhmVWFJeHdRQzg2WlQvbUZKOEIzRkVZY0lKSjV6MzJWd1RDKy9KVmlpb3dZenc1c01GSlFBeE5nUWhDVys2bU9ud3RLbDk1dC9ZWE1Jb0s1OENqTUNHMVpjSDczSHZRVHdtV29acGZBdXo5NytrYXBXZm9pd0xOQitYbUpCL3paUUFiMVVQWU9uSkpKclEyODF2MjZMc2pDQWg1ZHVHSWlzSWpMTGhoSUNFTjU3bWRWRk44bXI2WUpCanJIU1lBU2tMdkxSWWlmWU1iMHdwZ3BMZ0R2MnIweDlmUWRCK2tSZDBLaVdWU1JIM0FMeXBPdFRIZTVFenFyZ0NEdktqUG13Z0RMRm9tQ0NsTU00Szc5K1ZkY3YrRE91S2laUGFZeXM4LzhqTDJCQlZ1UWk5ZVBiZk1UbTRTQnIwN3NGNzNodm4wRTFNYzVqR04yUlJPY2xMKzh2N0VvZjhGNWdFZUt0NndGQzdMT24yZFIrVm9GYXRjSjNpcU45OGtRSHVhbmM2VFNLZVdLV2loRGZLeWxUcHpHajZqNmJNQlVKWUtlaUw2WTBPQmxzMHBYZDRsNEl5MVluZUVLRFFNMFFwSy9tSTBYRDhGWUEzVzRwMC9DcHRObXdYeVRNRnFLNzNERGtUaTBWdEl2U3B5RkJHZUw5Y1dpZFFhVTNTOFBvTE9oRERZbW1qVEEyQVpvcys5Z3VpWUVPejNrU2lCKysyNzNnU1pwM2ZYZFEvdHNzcTFNWGQ2MlY1b0RZQjNxb2VvTkdhNE43ZkRUdWNIVWFoelpaREptTDRRSFVnR1dQdW8ycFN5UU9sbnlyaFBVUDJaZUlSUWFqcGQ2Z2N2ZVZDY043ak5jKzExRHU4cXo0WEpnQWNBTnJvUGVraW9TTmx3OTF3RkZ2SlZZTUJlRk5iVFE2S3RGaUZXYldqVnpCVzBtZTFVSzdSVkhxWldOUVRlaklidlBlYzhzY1lxMExKSDd5aFpZSGJoNkFETm40ODVSR3M2dmVjU1R3TWdMY3dyUXBsNzBGa05QaVBCMjltaWZDME1sZnVjYSs3YUt2NWcxUGlXWmkxVjNsWmhGZ2dBZDZxSG1iOEo0N1Q2UG4zSVE3cjk1UExuUWdhbUlrQ1dXaHdUUzFjOXpYcEpVdDRLMU1mbnZWMW11L1oxNzd0ZlZ3TWRJdHkrUWt2T05OVzcvRGVWaWI5NG0wUDNFTXhTQzcvNmRjV3FBaS9jT21yRk4xay8zbGZ1NVhHNmFVZXhmNFF6ZFN2bC9GUzlEY0FiNmhEVzZUdWtCZWhVSDBaUFY1RDRMUCtUb2JLQWpuc0VvdHJHUTNkczhIN2NlZUdib3ZTUUFzMjZOMHA4cVoyLy9TYmlHQkZ3ajdzUGVhdXdWVkJYbC9DTUlVZUVoNmw5K2pkeXFyN3hnbHdVQk5KNkVJMnZubjJOZEtsN2Qza3F6a29aVW1VRm9OZkFyeFZQVFJTMjRsU29LaDdzWXhObDhKSFNIQS9VeWt2RmVVbHdaQmhRNEJNYU1zSFZTYmdMdUZkOWRZalZKOHJ0RVRUVjVOVDVwcVYvd0JSSlh2L2psOFZqczdlNFMxSlVvNXNmS1VneEVYN2hRR1NSNlZ4UmlWbVhVYkwwemNxZzVjOHE0SGNBTHlkRXY2Sm9VYXI4V3VNZkJMd3dpZzVUcTdNRnU1VnZKRXFDMUVZZ05OMEtZbDQ5Mnp3QnFUcSsvL1RlZXJQRWZJVlRnS281QmRyQUw3clRWNy9iMzZQdkJLelNoUFdXWXZpY3VXejNkdnhITnpyNjhMampnQ1V4YUp3Q0YyVTZTVmU5TGhpN3NHTHduSUZXbEQ2UmFJcnhmQVlEMjlORDR1K1JTczU5bnJISnZoWkRHc0wwZlhWYVlPVm1ncU0xbFYvZ2VGUmtmQVdQbithRG11UTZhZnBxd2t6NURMTldoUnJHaFZXTEtOM2VCOVRWRDlOdXVkTzMzTGh3dWt6TG1NMEtlT256L2sybVRRZXFUenZQaDI2Mk40eXpRdkRlNno1b3ZrdG5zVis3Nk4vNzBITFkxZmFKWi95YzFRV0lwWDVpZjBTNFZBMmVIZmdnQzVUT0hmZktVaE5rWE5uYjZFdDU4L25wMmttZVdRV3VTUE5PeFp3YXp6aUZMQkxlQVorekE2aW9VdkNHK3VrTlprcERxY2M5OGN1ZUYyWTFUOUM5bGtodXQ2V0YxOE94TU5iMDBOYjZUdkpzdGM3ampEZDhjZTB1VkhYZG5Cd0xnYld0WnU4UlZwOUNlK1Nyd0hvcDBiTE5IMDF3VGxNbi9rSjdnUjNNQTRHckwvZTRZME5Jc29zL1ZYMlp0T2tPc0hSRytWblZIZzdmM04rNyt1TXlJM3VxM2lBa3pTd0dBMGYvZExaWjRFM3J6bUZRMm92YU9sVS9OalB2dkg4bmp5eHhsTHBpY0hDeTh2ZFcvNlBHUVFTM3BnQ0wwb3lBbi9hdjRweFg5ZDd4V1lPU29PdWVzWERXOU5ETTBrcEt0MSt3MGZKNHdFU3A5ZTFoQk9LWFNvekpMenIvb01vMS9JcXZPRy93ekJUNFR2eDFDZ1FPeUdTVE8vd3hvNVJTMUpKYzhjS2FDVk5PWlF4d0h0K0tVVmRFNHQ1NmNxSXFwOGQzbEdVZWt5WDhKYmRSOG1JWHRYZ1BVT3U0Q1FvWVR2eC9sVHRNNDJIdDZZSGtxUVVuMnIvSVppUTJZbEllTGU5eGFJakgyZ1YzdU0vWmljRzVaaGREYklTOFA3ejdBSTRWVDVYcEsySkJZWCswRVpYTk1DN2NURzZ1SmRqWWxIeGgwU3ZuQlk0TlBERzVPczl3MktXMWVCZHZZbWRHRnpqMHNQMnJtbnRFTzlDVFVRb1dkVURYRTViZXQxQnhxUm5KeE1QQ2U5RllZdWhNanduQzVTR0N1K1pMWEhlbTJaUUczeWZCK1F2aC9kRUlGWG14dDZGYXpHMmpKSXBYZkJLVWxUUUFPL05sYWpDU3JxSlJUbnBvVG8wOE1ZbzdvRk9XQThhdlBjZGZ0NmJOMWd0elZQNDZOM3dhQ2lLUVZEVkE0YUJOT3JVQ2ZRZXF4dVdqa25VSkx4eFVFc1dQU3FjQkNxOHQyc3lsOTE5djdkSTdnUGV4OGhqR3UyRXlCRSt6WXd1SkpSRHRnSGU3Vlp5TlJ3OVlENUNsVVV4K0R5SHlIaC83QlRLR1ZLQ05FNHdwaTVMbGk2M0hsUjRCNzR1aXpGeFZaYm05MWg0YTNyQU1EQ3IxeDFvYk1kL2JGUHprZkJXTnJibVJWZXE4SzRzYVJSaHY2eUxoT0lHRGZRQmIwMWpnbWpNYlliN3VxcHJNV1ZFbGdIZWJuSXQrdTBGNXIxUVdVeUgxalZCUXR1OXpGeEJJdjNFSmJ5ZHBtY1JBN3RibEtRSzd6SGZ2Yys0bFh3LzYvZFpRaXk4cFI2K2UrNmljZ0tKMVJ2NHo3UXZhV3BlRXQ2WWFEWkVwVTNSbFNxOHE2c2FSWGcvSmJ5T2lHMGRxcldwZ09xME9wR1J0dmVvUkJaUk1ocXNrWVhnRnBaU3dndUc0WjNPZWpLd21QZnRXWSs4SGpqK1dqMCs5SmdIYi8vMVZYUnFpOHFod25zODRLaHErRTZ3OGl3dDdMS200bnk0NlJKNmdKTWV2b1dkeEdmZVJLTG50SUsvUEV4TlE4SWJ2cjR0VWFrcHVsS0Y5NlpjVklveWRXK0UyR1RWK0w1WWlzL0VHZ1JMaG81YWlRczhIWkJITGVHRncvQ2U1bTlmZVNYTUFRT0xhcVpIMEV4MndLa2V2RWM5UTBwdU1xdndudlFHSmk0UEhDME0xWERFOC9tbnlZQ3dXRE9LSy9RQSt4VlB5YUp2QlJrTDU1M1lReWQ0OEg1SW1zRFlTK0h0RlR1VlRNZ0dlWU1tN1BYU2RWSndOMmdHbElUZmNXWExrS2FtdThZelRUcHRaaXR1TDZlZ3ZSM2EzanV4bTZLYUUyWlJrTTFOVS8yQXluand4cCtNYlhBWk5vVnpXKzVVMHRRSnZsZkVDK0MzVUNZMUhqbkIxMEIxZG9xb3V1S1ZVQUpTRDVzTTNpWEpSeWt4eU9BUktXbDZKbFU1RE1QZVdHZlYrTlNNSURmQ09DbVk1bWpSMlZ2KzlRZDRIQ3BjWTZGUmJvOWd0a0x0bzAveTNJeS81U3dPelFvZFhQeXpxM0dzS2lGUXRyblFjWldRRjJZeExyV1VVUE1ncytIaW0rWDhaUTk2WFNyY3RqeTNTYnZ5M09tUC80RW8vWkMwVGtwTHJBQS9sT0oyZUduOVYrcWhTcWhxdlZsQ0x6U3cyRlJXWTJqdSt6aGkvT1U1SnRCNzJTRWVaOUxsSDJpYyswdnNDZjhWejJKbnFxaFdjUDBxbC81Qm5OTkFxTmpjNG5FMkJsUzRnbmhLK3QvdExCczdEVG9qdmpmUnlDak1mZTl6a1BadGY2VysvMWtVODFLQ2FNbjlERlVBQUJQNFNVUkJWR0VXTzk1WjFJU3FCNVpkZVBwOTZKdHYwejZobThzYjlINGZQOGxRZUdxYmtEZnhMS1J1MDE2azErVVdMZVRnTkJNN3lQQURzVFptcjZ3RUY2Q3NKTFcyRjFpb1NuRFVhQ3pUckNzbzlIVnJCOVlOU2NSS3RKbkN6VjBva1YrWmRhNXJrbWZUV25BdnNVdFNxSWc0a1JORW5ieTY0MHpXNVdLeVFaNllIVXV6M3BNRWxmczBzemVVaExnZ05XWEdrdjJ0WGllcUJzcnh4S2VDY1E2emFJcXVqeFBzWVBQZ3k2SVhiK0JUeU9VUE9JV2J5R1dHOWgyZXRTc0VIT05SL0lwSkU2ZmIzK0k0ZnlOV1hQUzA0bGVjaW5rZWxucFlKSHNkZU1zV2h0em1JMGw3YXdGNVN1ZE9YOEJ4SlM3bVZKTWVNYUlmZk1CVnhQeDFQN0pZQk4rL3dIeDJ6bVdLRWY3eGlSS1NDQjhtYVBreTZmckhua1N0dExjeWx1R3ByenE1eTMxZFl1bHRuRkJDMjg2Y1UrSGRUam03QkZtTUNCczJrZXZCRlJpRjVYai9HVmM4djE4ZzdQemRPcE5uQjFrNHFpWGdqYS9aZE0rZDR4QmY1dksrRzNhbnkrZHVtdkFnRGxZYVA3R01RNG0veld2TTc0RjBPNHROeWV2MStWdnNhNzRvM25pbWUvTXZta1FZSTFmK25xWVgvNkh1dVFRTEtQMjNMYS8wNUQzdWkyZTlXTGJBVGhhL3hNUmI5MzRsRzNsWmVpU2RiWUxaUGNCaVBvdjFKTGtkNlAzL25zUTN4VG9tRVNyazdheWJmdmhNR0oraXdIVW4zVHUrNlJmR1NUUGRrU0N6UEQxTVloQjhtaHp1WmU0UTdwdm1qMFQweTduaTlXK2hQWUJWMXFUODlrUy9jc2JYMzM0MFBqOHl0OVNUUnlpUzNFRm1qUG5MTTN3Z1ArTjQ1T3ZoUHJMblBSeERiTTRZOVN2a2Zxa2ZIaGdmeENISXlsQnMyNDkwZXRQTWRFYVRyemN1dzZuVlVKWXQxWXpHczZxSEc4dS8yYU0yKzJwbmRSQUcwVFIvb1pJTFJ2ZXI4cjdHNVlJMWI4SzUwS3ZJOVhNdTFBNldTRnV1cGlBRy81eGVlbmtPZ1I3R0E1dFM2WVdQS1RtcWJrKzVnM2lBcXRJTWpKSGlvTEltRC9XemwxRXJKZS9rSEQwb1ZNdFMrMURvb1pMTytaV2xYWGhYWjljdlB4Q2JheXpqUE9tTE0vaFFZd0RUMWVDbGp1Q2dqOTVyRWFXTXlZZENENU5adkJER1pvUVRzWkhySlk3RG9UK0FhN1BYWmQ4QVpORkpGaFJyVmMrNUdtTU5aWGF2a2s2R0pod1NQZnh6RnBsVE5xL3RkM0ZGMFUvSzJtbUtGYitWcHRSQmxDbklsMzBQZ25udVBLZjlmWUF4WmRCS3dlY25TdzlhZzZmcE42SFo5ZTVzT3RHbzJNZ2gwRUJiN05zNTJKZkxaSnNjQXRrSEpzSm44QitpczlqVytiZGtyelV3SnBid0VEUXdWU1l2K2piNC9MOHkrWTBoc0x0S1dOeUxiZHhieWppSHMzR1ZDR3pGak5EQUpFNVQ3TkgvM3VoeDd6ZUM3RldlUFBuR002Ujc4eDllNWEydzRrTURmLzFXZkJMcVQxcFdGMVlEVmdOV0ExWURWZ05XQTFZRFZnTldBMVlEVmdOV0ExWURWZ05XQTFZRFZnTldBMVlEVmdOV0ExWURWZ05XQTFZRFZnTldBMVlEVmdOV0ExWURWZ05XQTFZRFZnTldBMVlEVmdOV0ExWURWZ05XQTFZRFZnTldBMVlEVmdOV0ExWURWZ05XQTFZRFZnTldBMVlEVmdOV0ExWURWZ05XQTFZRFZnTldBMVlEVmdOV0ExWURWZ05XQTFZRFZnTldBMVlEVmdOV0ExWURWZ05XQTFZRFZnTldBMVlEVmdOV0ExWURWZ05XQTFZRFZnTldBMVlEVmdOV0ExWURWZ05XQTFZRFZnTldBMVlEVmdOV0ExWURWZ05XQTFZRFZnTldBMVlEVmdOV0ExWURWZ05XQTFZRFZnTldBMVlEVmdPSFV3UEZ2ejdwZGo5K3V4RHV6UU1SY2hnOG9nVXYzRmcrZFd0MHRzMzVDZGJBUjEzQ3JoZXlOazd2RGFLcHcrQVJJM2VGN0xsa0xhYUF6Zm9KMVVDeERXeDNuL2ZBU1VKZVI1dFlmU0wvaGc2RFI1elVvK1RIVHVIbnI4UVZzWGsva1JxWUtBSGMzNXhGMjM2MlJDNDZ6Z2g1TFBkMkRvTkhyTkFsc3U1TU5ra3J0bEJTNWszNy9kVlBvbS96ODljQVJkNWwwVzFUWlF6Y20rUkhlWE1aQm85WW1hY0pCdTRxSWJYWVVnbVp4d2g1TXFHSXpUNXNHa0NuWCtsSW9ZNlIyaFFoeXpLYTEzMFlQR0psYldCR1FzUElVbXlwaE14RlFoNU9LR0t6RDVrR1BrUEkvcm92VS8zaEJxRVdTcTdYTUhqRUM5ekVqRFFLZUsvRkY0dlBiUklZOFBhNm1qUXdqajVmVVFRK1FseENOcFNFSElMRDRCRXY1Z1Nka1k2Z3FhMzRjdkc1cUcrTmszZ1ZIYkxjUW9tUWw2Z3lBUWlFektvcGZZZUh3U05CU0ZqTkZ4Mzg5T2M1Z2E3Nkd2MFRoTFRadVd2Z1FaZ21PcGpiaE9UczloNEdqd1RGek5BWnFWQ090YnFlMVVrZzRqeEVIa2txWXZNUGt3WW1ZSW5VZElGMkNJSDNKTWRyR0R5U3hOMG1wT000VXgrSUtUZVJZdG41Ulgwa2lLRm1zdzZEQmhyd0NRYmtPRTV5ZG5zUGcwZWdEYUZvbFpCUVdpQmhNbjkvVVlDRGpRNVpBMFZDeUZhQTV4akoxKzA5REI2QkpvU2p6ZEJUSENvelFsWkRhVGJocXRiQVE5aXVETTYzOEE3bjJzL0Q0SkhZQ1NUWmFyYndUdFRpVlZZQWF5M3llRWpta0RVZUtwRWxZUmc4RXVYQkRKSjR6c0RDTzFHTlYxa0I4ejZIU3haeWJNY3dlQ1NLTzVMQ1lXM2huYWpHcTZ4QUJWN0JzTWhsNm1USTdSb0dqMFJocHduWlRTcGs0WjJrb2Fzc24rN2dQQnFXdWRrTnAvV2NNZ3dleWNMQkd4UmNRWWNxV1hpSFZISjFKOUJONmxxNENhWCt0dlowZ3NQZ29YTTB4V1pTSEtPeDhEWnA3aXBPZzkxZ3NrTktlUjRiR2dZUDUwc3JDYjNRSU1uckNRdnZCQ1ZlWmRuVUlXM2FuMnptZUd4b0dEeWNpVVN2M3lMQnl3d0psNFYzZ29LdXNteWNNREllZ0N1djV0ZVFZZkRBMjBXR0JiTFdobmJ5cGlXb3hMZjdYdmMxTFkyb2pSeHFEZXdBM2tzR0NkMkxoc1FlazRiQkl3SGV2NDltaW1zcnJoVUo4SDQvT2R2bmVjTTQ1all2ZHczVTBla3RBOVVQenhvU2Uwd2FCZzluTW5iSHZTekJuZUFjaklmM0ZQbVdzeGg3NExCSERkbHFnOUZBQWQyZTg4blhrS0RENElHRGdNWWxoQlRtYzVjdVBZQ0RZNWN1WGZyZjZ6TE5kSStIZHdPN25qTW1ONnFKbEUwN2VBM2c2RlRpa3F4ZktZZkJ3M0dLU2UzQU1ScURmei9RdUhoNHV4c08zdllKbnE0TWtMRFJ3Nk1CNnBITzBVZGliTmd3ZURoT0lla05TRHhsdTBiNTFNUlllRTlURjlNTXlYUERTK1Z0dzdscm9BRjRML2RBOWFsZmpMcStIS0xXSzQ4UW9ZaUVzZDlrNndSK1htcmtFMUdMQnZodmxpTW8rTW14OEc3UVQyUE01LzJXbnMvY2h2TFdRQlh3WHN0T3RPQ2lYc1MxRWlSWFJjRWVlQVRKUk1ZMytWZTFYSHJzRVc5MExrVVV4Q1JTaThqeWsyUGhYYUt0MkU3aFh2VHAyZENCYXFBSjZMV3lTMEEvRmhKMWhlRFZSTWtlZUtTV3FzMmZIcllSOWRsb0MyUmUveGlBbVh3Y3ZDZlk3bTdkR2lkbTFSM0NWT3JVU0h4Qnl5VDMzYlNpOGRwckJjcjN6Q05BSnpLSzhYUy80emdsbUE3akVLa1dVUkRGV2hGWmZuSWN2S2ZabXRKL2NhOXc5NHY5aWpaMENEVkFqL0lsYmZiMUszWitQQXJObGttWWlSTDdzRTU3MXlrMkNYbXRxUWhOcTZReG11UGdmWlMrRERIcHZ4T0JFNGdYbzVqWjlNT2dBWnp3ajNVWDV5RmpmancrbzMxcXlKZU40cnZtVkZleDVVTDR4NXY5UEQrVXlxcUlnM2RqRjhUd1lnYTkwUXZUUWU2ZlllU1U3VzgrR3NBSi95Ui9XcUZmVHJueHVEZlNlQzRDdXV1VkxmaEdYaG90YlRtTnd6b08zaFU2VnMvN1F6WWVwa2VqMmRtY2c5Y0FmVWtzdm92RytwNkE4K0h4OUgvNFI4aTZFcUd5WXBzOHZQbkxiaHk2blZUN1YzSHcvblFIM0N2K3NjTWRmeUNQRUNzcGVTVFBRL1ZKeks3QmZBcTkrQW0ya1pDZnJMUmNlTkJEaHpkSHc5c3BWSW5ya2svRlNJTWxRTVNMeEtvUC8wdmtkWXBEUCt6RGQ4citHUVpNU3dzeERGTmtqVmw0cDlCUzcwV3dPdkpNU1RPVmRrSyt1WmFhbWd1UFkrZHV2aDBBalJxOTRmREdtY0E0ZE9ORVljVDJiQ1lmUG82dSsxOC8vdWpYMVhiMkVKNjI4TzVCYSttcjBQM3lWVVB4eVk1TWRDTzNTV1NKcEh0dVBHTGg3YnliZERmaVJJbDhrVGlURHgrZXh4elBNSXhhZU1kMVdkOTVkR1JkTmxCaHF5aWFqdEVxZXNRMFZEUWs1Y1lqRnQ2ZlJrdjJGZ3pzWlJMRTJKSmgvWjdCaCs4Y2phU2kwMHdYTzJyaG5VNVJQWmFpSnUyU29XNXpRU1JpU2w4MzVHZEp5bzFISEx5L1FQWXFMeUJkS2JaQnZobmY1V0hJbFVseFMwdGFacnR2ZTF0eVl0UXN2RlYxNUI2bVRqc0R2SXZldDcyUDliOEZuUnVQR0hoL0JOaGQzUG9zNmQ0YXFTTDRPUllpTTcyTUpIalhlOXZrOWVqcmdicUZ0NjZRbkdNNEpHcWFzdjBsejlIKzM3M0tqVWMwdkQ5RS82dXdzb3p6Vk9RTlVScmFURFVQSmNHNzMyL2ZhOUlWKzFldVJzOUdBaHJBRnJOcGFUbi91Q3kzazdUckl3dEczM1BqRVFudm44TTVrRm1udmV2UUora3JFWkpVVTQyN0NmQ0dyZWFwSm9KUGh1UWpGdDRadE5WRFVYcmNhVGRjcjdvbDB4WWpIQVVUaW5kWUQ0Wjh4VDN6a0RMSWV4UzhiMEFqVmh5bmpvYThCOEVOV1Y2L2wzeUh0WjZoeFJMZ2pmWHBxbGErcjBqSndyc3YvU1ZYYnBxMmRRcWtKV3ZXemQyWnlWZmNJdzhwZ25lUGduZVYvekZRazNyc1lCdXZlaFcwZ0pzS1N3bndoZ0cvSnFuK3R6dnZPc040VGQ3MndQMnZ3V0dyYjdobnZ5a3luL0hHNTU5WmM2YSs0ZDd4TnBIeTRUdnZPczgyMEo1eDV6Mjhtdk9GWEMwZEtaYTlLeHFvbUdiYlVmNDJJYzVPOHl2OHJuRW1YM0dQUEJRcGVUQUszaFYrS3F4TVR4ZkFlbGdPVmFRSm1FUDgvUmhqQ1phWUFHODBwWU55LzJzV1AyMG9CeE1HZmZ1UzRuU2t2SCtYUzE1R0U2ZzdGYy9CbUV2T2VTY0J5a2hoOEtaWnE3VE1XMm1JWGt1MGlyMEdvUUVNUjArRTZDN3luWXNLVXo1K3d2QjJzdmlLZStVUmxDc0szdGZ6L1J4dUZmL0FuM20wK25nZ0g5Y1N6SkVFZUlzdCtmSTZhdDhFeERKNEh6dEQ0ZDMrcEVOdGY1cmpGTzUzQ1hsVCtZbDE1N295ZjVYSXVRZWxHYnd2SUdzVlplaVNoRjhXM2xSbkE3bHdJQ1QwWm14QmV0RG01bjZLa0hmTnpmWEpPUzhlVWZCMk9reEFzUWpta1pESVFCNURWeWhEVDRpSE55U2dVOEFFVjFuUmxldVdiWEpsbE0wTmJUbDNBTHhONXZXRFczU0ZzVUJkTGdBbW1GV2FNamQzZ2x5ZXd6WEw4dTNQQURSQXA5RldnTzRSM3h1Ymc5dWJUOVY1OElpRU41Ty9HRzk4WUhOcE5kQk9VelFlM3NBcWhlaTRVRkJWd3ZzWXVWSlpvT1FhM3JFdGpORXNCVGFNTUlxYTh2a3FTMGx5OExwU3B2YUsxa0E5N1BndWJYbkY4K21BbkhqRXczdkNZR1Y1N1dBR2Nob2pJQjdlUjdtaGZQUnhUcmdpNFQxTzlyaUpkOVFUb2l3L3V3Sm5TNHNWYjB0NGx5eThsWTRaYkhBbmRFNzArSjQvVys3SW9hY3ZJWExpRVEvdktkaS9NZGVNNHZPSUtSWVBielJrQVpXM1Z6bUZSUi9lQXJySHZWZjdtdEpNd2Z6SWkxY3R2TG5haHZtTEpaZit0MmpGNXEvNy9CY1RYbmJ3UzhhRmN1SVJEKytFTDhRMjVDQWFKeWoxdkt6R0ZOam1yMnMyRjNnWkZkNDFsalRxTGNPYjNtNXdYUXdSSHJ3OVoycytjeU9YeGY2YU5WQWhSTUd6NHl3cWd6ZmN5S3ZtV3RsUzgrRVJEKzh4RDFsRzJSYlR2RWljQk85TnRnNmZsSXR4RmQ0YmpLdS9WdkhoM1JDTGR3dHZZOGNNT0JITEpmWC81SitpZlVpaC85UGVUUHA4ZU1URE8vNExzVmpoR2R5YllkWEdqOTROOXJybUVmbldqd3J2ZFViTEJHOFk3Q3pUd2p1czdpR2tWT2w1SkhtTnVlcWZqdVJ3MnBzVFRzbGpza3lDMTE1SGlvYi9YNGc5ZS82UGYrZVZOQVRLOGFhNXJCRVA3eGxHcEMzWHFDcTgrWHJGQkcvNFJkY29lUXR2cWVTaDN1a081RHNGeDU5Mjl6c0s4eHhPZTNOcUtYblFvK0hCYThXVEp3SGVYamxqSVBHTEFMeFdQTHpINmVnOTdsbHY2ZUNORjN6WTgyRGhiZXlZZ1NmK0V4RDFuQTdZRkc4a2V4c3FPeGdWYXJTUGNEb2VFeWRQQjYrYitiQklXZmNEYjlTbGUvYUpWenk4OFNKeFo2TGtMVlhTd1JzYlNsdVVyNFYzb3ZZSFUrRDl3SGYzZVplZTd3WmZkOG54VzlZNThPZ0gzcGlIZHRNb0x3SGVONUE5Y3NWNzROTEJXKzVTV25pbjZZQkJsUG1TeTAyQ1Y2L3IxT2R6Y1h0em12M3o2QWZlbUlkcWV0dk1zUVI0T3plcWZ4MlZEdDUyOURhcmVvaXB4WmVmZEx1ZnVEM0ljVFBkakI2c1pvNzN6YU1mZUdQdmNNRXNscDZhQkcrdGREcDR3L2F1MFdxUm8vZWZhMFJ0WkdnYWFLZWIwZnVTSnoyUGZ1QTlrODd0bmJDdEUyaG9PbmlIUENlQlRmbUovUUJaR3gyU0JzcDh6ZitjUWJKTHo2TWZlTzk0dStYeGJSbkE2STBuaTlsODN1amRsSHRsZk5mU3dqdStTd2FYeXgzTjQ0OE1qb09EVC8rdGdId2FIdjNBZXpQbEttSkVIaFZKMCtSMG8vZTIyRkNxeURNbnJvVjNHdTBPdkF6d1JNZWQrU2NIeUNrRGozN2czWmJZU21qS2xIZFVKS0VnelU0SDc1STRKTHNvUlBET1dPR2JRUFMxcUNuNlk2L2hhd0F1TGNxMHZUWkExaGw0OUFidjR0MnZoL2psZEk0VHh6bS9rYjZ4OGZCZTVvUWc5UllMYlFwNHc1T3l5clA0K1VMN21WaXVqYUgvVHJQRFFGT3BEbXYwS2x3R0h0ajZwSFpNeG11YmZwMEtJMllyWTcwVXhjUHdIdlhlZldwS2ErZ0k2WFlZclIzQ1owR2NRZG5seExGSmk4QzRlTjJCcDluZm9XbGdqSzNIZGg0ZkpNTU1QRERzMWJLTEFwZitLaHdpZzNoR3F3cE8xNWxrOEQ4S0NadnlnYXBMNStvUjhiWmN2UzZyNFhsRnRhT0R0UDJ5Nit2YXFURkJRVEhoTGd5eXhXbDV6RDM5TDZwNFkvZC9mSHN1bXpUOEkwS2oza3RpMldySGxaNzdQcjR0OGE1WnZEajg5RVZDZmhWeUZaNWVJZVRQdUlCTjRyS0RoVGhreFpHUFI0eDVBTWNmcnNnWGViakpWRm1LNDJMekJxZUJLa2FYeW9EbnpuUTg2SmtzY2Exa2FpODJWVERtejJSWk1hYWtYMkx5clBJUFFTQzhBQzdzWW5CdWtrKzVPS2cyNHBKblMzcHQ4a2NZTFpvWEs0VGM4V3Nzc1VHZW1CMGpIVm5BM29lckFid2krOXh1YTdBODAvR1lJdDF6cDIrNS8vUTVONlA5VGVIZGNTcmM5WnhyUzByblRsODQ0NjRDM3QyenQ5eC9oc0tiQnM1eFZuaWQ0V2ZJcVh2VWIrcGpGWDNxTGh3NEJyeUZ3Vklza3k3NW5WeWxzc1F5YU9DL2wwOXRaQ2plVTlIQjhnQ204R2tkN1JSN1QxSm1yVVRmMXZucDg5MVRyMUFxVG42ajNQMmxXYWR5eS9PK2RpdFBucnpIZmZHc1VzSUdyUVl5YWFCQVh1STQwNzJzU1RPeENSV204TGFYMWNDZ05iQjVlYjNRSHY3T2lZWDNvRHZXMHFjYW1IUkoyZi91NWRCMFl1RTlORlZmMjR4R1R1NTlhL2dhc1BBZXZzNHR4NkZwd01KN2FLcTJqSWF2Z2JKZFdnNWY2WmJqc0RUZ25Yb2RGa1BMeDJwZ1dCcVlleCsrVy85dDY5RWVscjR0bjJGcUFBY1U2ZlhrTUhsYVhsWURROUpBa1p3N2ZmOFo5eWNYM3Y4ZnoyVEZjd3dLZ3E0QUFBQUFTVVZPUks1Q1lJST0iCn0K"/>
    </extobj>
    <extobj name="334E55B0-647D-440b-865C-3EC943EB4CBC-3">
      <extobjdata type="334E55B0-647D-440b-865C-3EC943EB4CBC" data="ewoJIkltZ1NldHRpbmdKc29uIiA6ICJ7XCJkcGlcIjpcIjYwMFwiLFwiZm9ybWF0XCI6XCJQTkdcIixcInRyYW5zcGFyZW50XCI6dHJ1ZSxcImF1dG9cIjpmYWxzZX0iLAoJIkxhdGV4IiA6ICJYRnNnWEdKbFoybHVlMkZzYVdkdVpXUjlDaVpQWHpFOVhITnBaMjFoWEd4bFpuUW9WMTk3WEhSbGVIUWdlMjkxZEhCMWRDQjlYekY5SUZ4alpHOTBYR3hsWm5Rb1NGOTdkQzB4ZlN3Z2VGOTBYSEpwWjJoMEtTdGNkR1Y0ZENCN0lHSnBZWE1nZlY5N1hIUmxlSFFnZTI5MWRIQjFkQ0I5WHpGOVhISnBaMmgwS1NCY1hBb21UMTh5UFZ4MFlXNW9JRnhzWldaMEtGZGZlMXgwWlhoMElIdHZkWFJ3ZFhRZ2ZWOHlmU0JjWTJSdmRDQkRYM1FyWEhSbGVIUWdleUJpYVdGeklIMWZlMXgwWlhoMElIdHZkWFJ3ZFhRZ2ZWOHlmVnh5YVdkb2RDa2dYRndLSmtoZmRDd2dUMTkwUFU5Zk1TQXFJRTlmTWdwY1pXNWtlMkZzYVdkdVpXUjlJRnhkIiwKCSJMYXRleEltZ0Jhc2U2NCIgOiAiaVZCT1J3MEtHZ29BQUFBTlNVaEVVZ0FBQm0wQUFBRlFCQU1BQUFDdjhDZmhBQUFBTUZCTVZFWC8vLzhBQUFBQUFBQUFBQUFBQUFBQUFBQUFBQUFBQUFBQUFBQUFBQUFBQUFBQUFBQUFBQUFBQUFBQUFBQUFBQUF2M2FCN0FBQUFEM1JTVGxNQUlsU0p1OTN2elprUU1uWm1xMFJ4c3VSZUFBQUFDWEJJV1hNQUFBN0VBQUFPeEFHVkt3NGJBQUFnQUVsRVFWUjRBZTI5ZlpRc1NYVWZtTjN2czdyN2RmY2lNMGdZcTJvWGc4UktvbHQ3RUI1c3k5MzJIb1pCWWs0MTlydzNCb1NyQWIySEVJSnFKR2JHTEVMVkxCd3hXcDJobW84WjlEVENYVVlXSU11aVc4czVlR0hYcXVab0JlaHdkS290d3d6ZXdWdkZ3UWIrME5JdGVOM3ZNVE52WW44M3ZqSWlNNnF5c2lxck92dDE1QitWRVRmdnZYSGpSdHlJR3pjaXM0SWdwOWZ2dkM2bmdubXhUcW9HYmx2UGY4MExsWlg4QytrbFBGRWFPSHQ5SS9mMXZlMHcvekxtWG9sZXdFdzFNTVZlbFNtL0VUQXJWSjhZQVZmUDBtdGdHQTNzSGVSOU1IK0lsWWFwb0tmMUdoaUJCcWJaMmdpNFpzaXlVUGwraHR3OEs2K0JiRFJRdjVZTm4xRnhPWjEzd3g1VnhUM2ZYR3ZnRE52TnRYeExiRDdYOG5uaFRxWUdwdGlUZWE3NGJMN0ZHMWgxeitzTVREcGl3dHQyUmx6QUxjSitpVFZ5WEpPSGIwMDM3ZnhoYm1mUk16bDMzUFBTV2Mrd2xieUk0cENqZG11NmFlMzh4dFlMbFhjNDJzR0RvaHFZWWprT1dNMndHMUY1YjRYOGFkYkpielZ1eS8zV1JENTAxKzdTaU05NDBTWDJ4anRmY0tSQ1BzeCtjS1RsajZqdzJsTWpZcHdGMjR6M3dqL3dzUy8vN01zcWpTd2t5eGVQSWx0MUNEVDFNMHhjNzNROEhCdW96dFpsV1JPVnc4djMzSC8veFV0WGhGLzVMWGJsNHYzMzMzdnhDcFArdUFCY3JCNkRDZW9DV3pRMVdFTlZVTFY3VVRVdWZKMWRvYXBTM1E1TXZIR2xGNjVuV1ZLYmQ2TkdsaXp6d2V1OEsyUTFVMkdIajMvakF4OTdsTEUzSDUyWVU0eHR5TkpucEJuanRrK2d1czdMdnFVQW1UYjZhS3ErWkMyOVVVbDk4UWM2aDhSb0JPak45VlNtV3hOdFhwMUc3eUtQNDlPSnNITnE4YWVyN0dhSDU1N0gyT3MxZU55SjArSHlwdkIvZktYS1crQ2UvOFFGKy8wSDcrRFpnenMvSjZUNmZaSC94WjhldDVDcHk1dU5PSitmZnZCbHZDclg3M3JQNTRuWmMyWCs0SzczeUxxbExtSTRna3FXV3hQUGZaRGFyZUdRNk1jT3JHblhnWkZ2VU50Mkd5RHNUSlhkVUFOOWk3SHRvNUovaS8yTlVmUjU2UC93c3lHZ2pQeGJ3Mnp3QjhpLzI4am5OZmt3MjRtS2RocWlmMTlwSEE5UElYOXpQb28xcm56UjJjMEhMbjBLaHRPSVU2TTVqOFFOalVzeUlHUXJNdjRGRXpWMlhUY2FhbjF6UU1aRGs1WFpzc0VERXlQN25wRmZRTDVqNUlNcWU2V1p6V3U2Rm5jbEw2QXF1NGE4azhpdkdQbnhKcWN6TG52SmFUZDdxT1BpZUN1V2JXbm5RbTlJTUc1YVUweVJXYjAzMjdKN2NvUG5YeklSb0dnenZMYUZ2UGs0cUIrTE4zVm1yRWxVVk9BTXF0SXg2a0pUNnhIMnFXcTJXeE1ZNEJwRzVXU3lqam9lM2RnUWx5YzFaRHF5d1Brd1k3OXNNTUhZbDZXL2EzQk9TbUlVdGxDcXpPcHlSYmh0MXZQeUUxWTJwNWxOSFNNTUJkeEVId3B6UVVCMjFEQUI0MDIzc2kxOHoxbVpNdXE0UDk1NlpWdGF3UjdiSmlyTTN2bkN3TkRKdHNRK3VXMUdKc0lLWTZabGJFTHhKcWRDZk4xZ1BzNUx1cTFqaEtGRUMweUYwd1VzV3JVUWN5eXBNOW1lYnRweTJnMjZWYmJGakVVMVppRmxhd2RuTDFxZElyT2VtNVNqVFRjdE13bUNHbU5QR3lYT1FmRWJSdjU4Zk4xZ1BNMUxjaW95R0hDNTBJZXNPUjF0WU1XcXh5ejhwTFdPZEJiK3BYa24yQW5jY3RvTnV0WHhHT2ljZFNMZ2dxbW1XWVE1ek40WUJIQzJyVWJ0eWlmckI1V0l2WmJ0dU1CWktONXN2YUlaZk10YWxzejRuYmJXYUpKdHhaNUpnNldqVXJtU3gzYUE0NVdmU3JQbWRkc05kdVNPTE9BVXI5QWdrRTF6Y0Z0ZzBXOE9ZSG1lcE1aQlNrMmtRYm03RmxMYjdrM1JSVUI1M2NMT2FXYkxzYnlCcDJ5NytqVjdaaDE3VlpwSmV3K1RhWmIwYnJzSlBubFhhZXdWeTdUQWM4YTRUYnZYNWlCT0JWV3QrRnFtUmZkaWhubHV4M3EraEUwT0E3QUpVVHRoZnZaWVJOT0NzbVBOVFdIbjViQW1RWUQ4dnBrZmQzb3pNdFBIeXA5SlFqQXB1dGlOaVhJczB3aW9iU3ZCYjJQc0taVlc5L2JSTEhEZ2gyMG9FZmk5eWF5MVFSMjlxeFFpbkRrYVp6SVVvSzlVd2JYWlIyRm4zUUpnQTEvNWFKZk1GMHpQM1ZVdmJ6ZlFDallVMTZSeUNwaGJkcU9LYXRueDMrampVZVdMMFM0R09ReVBtTFpCelFtcHRUSXFRYkxrTzIxTm1aSnoxT09rNHdLTFdaYWFsdGNzUzRpeGVMc2hsWWI3aVRqd0VYZDM5aHh6VU5xV0dBQy9hYzB1WUxCZ1JabE9IOXE5cTlvWm9JeXhrNXl4dHFCazhadW9pU2tKSEdmVEF6VWZqU2tkZDlidGdyM2RrRDdLZWxwdXVreGt5K3F2dGdKSG1BdWxrb1hBZm8xaGNPOE42RjNydXZ4VFJ4bTQxVklrSnJiMDFHNmdvbUtXOUhNUk96SlF4NVFzSjh4MzNtNm9JWmFVLzBOUmdiaTdVenlhWm94NWg3QmZJN0JYK1VtSUZmcVV4eU1LamZjZkhBN1lraDBvRE93QllreW1ZaFhUY25RREU4SGJEV2xqUWZYSDZEa3BvYXFqR2Y2d09ONDNteW9JTmszN25ibHVSNkhhNnpaeVRuTk9CNndXMzc0eEE0ZEhVSlZpWk1zNUtvSzNHOUlJT3VRODEwelQ4b1NVc3NodXhITUZHY2NkVWI0VnV4ekxmaDkrd29vNlRVVmlielpsYm5LUU9TNUw3clp2NklCYzcraWt0eHRxUmtSOFMzU25CalJQNmhNTVZ4SGdCaytOOHdlbk9uZnQ4c2h1TmhTb3ZrNU81YXJLbnV2ZHpncnRxTytuekJXYUVvWUdnR1dWb1R2eSsyWisvT2tMOW9JckpvQzNHMUlKNGpmcmRLZDloTWdZVCtBdGdEdVVHT3NGWTk2MkN3UkV6M3NUYk1NYXBvOUhGQnFhZGpoZ0ZIWTJxMG9Ed3BwZDlheHlFeStxM0wxRHpDWitocjIyUkFuM2hVTXc3Z2NTT29EZHpIeTErc2JINXhYWHdxZCs4dmF2WE5wVjJTRDQ1a3VybDM5ZVArYndXWHdaNXA3M0I4RzMxa08wWEtWZ0w3eWROdEZnTzNISkZnQXV4Y0ZEUXdwZnVnVE84anFJbHJBWk0xWno5WFVhOHdzbzk1VVExU2k1ZXBDdis1eHJQcWV3YzhPUUV4NnFLM3BnWUF5YW5Db3pSTyszUWI3RXJ0akdhck9FNlRac2lKMUxiemNmWWxUaXdZN2tRMk9nNlZDOG1MSEx4bVBDK2xDVnZldkJsN0pmbWJRblk4a2dEemMwRk8rQWRWUmxJeTVRQytCT0hEd3NaTFpNcXRQWGFvVGZYamk1eUNmVXYwb3l2YmZLN2VZSE1udE1vdENJbEQwaEpUWnVjNmlYa1Ezb3JlbU9DY2dzM1RyNGZQQTc1SUtkUHZ5TFlMWjhvenRqNXdBYW9xZTJtMm4yaGtZdzhXSjIwQkZNSW5iemZQYjErV0JpaVIyV2RCbVQ3RVlEbVVlcWxWRk52cnFvUVJPSVRORlpZbko4ckgwRXlhOEplR05RM2wzcHBpcGdhMXg2NmdoTGpkZ3d2VTI4STU5V1N2emNuRG9DdmFrUzhuRmViMHZoREJtS2lCSENVbnZVamtMTUlWUG51ZnFhV0RlMjEvQVZpVnFQVnExRUY1ZDIwYW50cGkzODA3cmE4Wmkrdll6VzNKVmNUN0hmb2xTaHpFSlRYcEx2NnFQVklXd3VMOHpLVDBNdyt0YVNJeXdRdEFHZnoxendKWEExcjhWSUNYVjdFTVpUNHhqWERHMkFWc0x3YlhzOVFwM1RiTm0xZmx5S2JOOXNPYU9hR2RSb2lmL0Q4Rm4ydlZPa1BpZzRxdk93akhZWWNnbUJZU3F0M1h4YkdnRzYyRHNrbDBJN3RKdVc3SGFHamN4b1RiVnphemVZYUNnY1JldUgvVkEzT29YK2Fma1Irc0V3aVdlQktidGNwZC83NmZxcktMTjI5SGdhLzhxTGJPbXo1TzdVdEprZmt5ZzBUWkhMMFhyeWVsamVXOU0rOXgwbkdCQXlJNzdtZnA0ZGJHRjZwdTJ2M2E2YzZzNmVvTkhUMmsxMVRaSzJ3cmU3Tm5YNUUreWQ4K0o1UlU4NG05cFZ6Zmp0VTEySERCTGlvSEVSbWxUMU01a0MzTWNYZTM3M3U5MnViNWpNWkhvQ0ZuT2pFd1IvRjh3Ymp1ZlVtNHhETlJ5RDFzdnJBbmVKV3J5dER3VWRreWcwTGNsa0JVUTF4QytxRmIxbytzLzhLZ3F1VUdOMUhVc2NsTG5ZdFl5bTZ4eGRpSjNXYnZTaFIvZ015NUlObGpqVWlyZ0FsQlBPbmw3Qkx1bWhlc2JaS1FYbEVmOVd1WVBkZEd1U3RoY3MvOXNwTEoyazduWnR4eWx1VTc1SksxU2tqUlgvL2hUNWtjc2NDVkZvM091S1I3Q3dZdFBtTlljejNIRmRrSDZqMS80b2FsQmI1RnhKamZOODAwNFA2ZkhTRnJqbkhvZExTRnE3Q2VmVHFvN0V3NzNaRmV3b1NMREJrd2o5ckFsWUpSdzFGVWlXbmFOYmhVOG9OWWpmaUV0RjJ3dU9YWWNJb3F2MVFjaXY1UWd1dGcrcTdBQnRod3VqWDZoVUUwL01nU2FFUEF1aDFRdmtWZ1pMV3E1akVvV21GMnQyekJyeE5PbjN6Z2ZDNjcyNm1qSFVvUUF6OG5BZk5FN0RJT2FibTkzNWJjVmZ3ektSMDlyTnNpWnU2ajRHRzlrVjREblVlSWNuSVp1SThCUU1iNk1zVFVuenlFMENZWDNJQXVuMTVHaUlSdUZmZDljMmtJTGdVU0ozWGdjZEM1RXlHR3VVTWtLWDFzTEMwQncxVnRvUFhPRklXNnQwYXlyVG1nN0hKdjQ0dHo4WTZqc3g0VWkvRFFPS3Z0UERnVElRVXliUHloY1M0UldSd3paUmNmbU1pbWN4cG4zMWhOL1QyczJpcHQ3VUxXL2J6VGJIUUJNTEtaSFFKRXVxcTJoSVhoSnRrcEs2cFdzZGc1cjJYaVFPVUl0Mk9KeGdwZWhpQUduNHBHSThneW5KS0UrdFJHQzRlTUovM096RHJBMCtSNWZFMU5LSWxVNmpyUW1raFVmSEJHU1VYbGdWak1CL24xS3ovNzNJTzMvbmVrMUdGSHBkZFpJNWdWdm1PSURTNWVJdHRCc0tTSFU0S1NKVU4zZ0N6UzhzQ2JsV2J1Mm1UaTFIZnE5cjVrYjNWQk1xS3ZFUldXdGV1MEYvNUlZUkp5OHEzOVptNXJBYmZiQ0dSNkg1ZTJ4aW9xbXYyN1M1eldHb240OEp0NmZNWHo2Wmc3NWpTSDBBQ3JWT1Q2enlvbmdNL3NrZGNTNGMyRnhNMDlyTnRtYUMyVlI2QjZIZG9EdW9CYlRxZ21ockdTb0lncjFkVFoyelJKM2FFNDNxbkp6TGdKZVV3TE9WNkN5Z25xUzVQNno4V1JDaEdSc09XaXdGcEY4UlBvUWdQNkFjajBMemMzTjhxc3BuRlBxTDE4UE9vcXFBL1lrTmxkYjNwY2pNdXFWN2xrYnBLL0hmd2hIYWlhOU10bWdNNVU1RUFvN01ic2lyRVRvSTdTWUkvNXBBVzFDVmliMVF5REliMTFsWHVjZjdBRTAzendPVDJzYkQ4bW1VMTYrTFRaWmozbE9JMlgrcWJ2aG1zSnVTZzdLTDNmQlY0OUl1SjBBSDRJTGxNZ29ORTFGamFGZzdwOTNVSXN2SFpuVDRLb1FNZXFUK2JwSTV2RWNTTHlpbnlHQVdLMkxPYUNFRFR5VUhuMjlvRlYzaWJBeTdVV3hwalMyMXRnUzhYOCt0d1VpQklXU0RUa1c3Z3Zia3Zva1ZldUZIdjRSUklJUDVCcVlZemlXd201MVFienFGdVR0bXhDaWRWaklGT1dCdFFqTENWNDY3cGsxS3RJVGRKYUVaejlOVG9IZkc2d1huUHQ0VmdMaHZGSVczMXRVS1FFQ25lNjNmSmVFSC92bzN3V2JiWk5NMVhZKzdnZkVpem9aanBXSmtidEI5aDczVjJLMXpiZEFwS3R5M0xNbXF5dXZ2YlRlYnFBODcrSHJENEpNNm1iN1ZVbEkweVc2NkhCY2dzSWdOdGxHUmRoWjJBNDl3VlN0aFRvMC9Hc0lUTHJ1cGlSNGxvdERjdytOMlV5blpwSW01Wm1xN1NVOVJodHFXbzVLZ3EwUkIvS05QRmlJSUxUdUsvYzlLakVXQWVZeTkxdXFkY1J3TnFhZ0Zob2FnWjNQL053VGdsU3p0WTBob3lnMDZnNWR0TnhVVkZJM1p6Y1RIL3V4QlBkL1FjRTNYcnpVTVRpbVQ2VnN0SlVXVHBtN2FmYklhVEVpNUI3RG9aNDllZnJ5eGxZWGRiSnBOWEhTdmI2QzMySHlEdmtnd0VZVVdkak9QSGFEVVVlaTZxRStLVmtoUFVZSGFWcUlsdU95R3RtOFdEVVJhQUt3WmVXenY3cHRaVi9yQ2xkZCt6b3hBdVhBVURKTjlOTUR2S0FLanBTS1E5M1FiZENheGJUYzExY3NpZHZPYzk2SGl1SlIzMitRNUROVWxrMWVxZFBwV1Mwa0JHWVhkck1ibFFtZFZLMG84ek1SdVdqWkhnMzFZdk10dTJzSy9xNVVFR2hsNkEyOTVrKytXNmlydnBrSUhjbm9LeU5yZmZJUHVBK1dIVjJ6N3hubW1MY1JYcVg3dEJoUDUwNHBHM2VORnhPZWJkQnQwaWpQZGJidEJmeExqZ0cwM1g4Umk5ZkVYem9kMk0xbUZZdWk2dm1FeVM1Tk8zMm9wS1pyVUFha0JWMkppMGFhSkVaM094RzdLNXFJVFpjY0tCY0RscDlYNVVEbXA1aGNaOXErbnRvTHFHQ2oyb0xkT3RHS3U5YzBjRUUwODRGaUV6ck01Sm9GTTkyczNjSkwzSStTT0lzNmFUUlJCUjNhSXVFQlp1ZjJtM1JUUXRLK1pCK1BRYm9LUFFoSDhNditOS1M1S0Q4akkyN2xKZGtNTnRoYVRnbHhudy9uTnhHNHNUNkVkODZTNURMQ2JNSFlncFZyaXUySXlDaTFPSnBid3RkR05tTkM5QWJQUzcreU5aVDVOVDBIbmgyTHVFSzFEWXNMQ3dOUkF3SXNrT3pLUk1QRTJURm02cGZ1MUc0dzIwVloyRkRGbXUya3k5cXU4WW9iZEJJL0F4UGpWVi8zamVrbmZhbWtwbHNoeElndFppWlcrQmVoT0NNM0NibXhQSVg1K2s1Zm1zcHNtbi9yMDJvMEUzZ25vamVsMDE0WFVkcE9lSWdnK2VXY25KcGJMYnBZaUJnYUZXM1owd1QydXhIajNhemViOW5LSytEaUtHTm4rRFlVTDk3bnd4bnlEbDBya0lHUGFUUkE4NTZ0b1lsZXZqTlhlQlVqZmFta3Bsc2h1YUlHNkdpdS9aamRqRm5hRGdvVG1xREQ0Q0xIMVA4RmQremNMcEZVVmhWYnZzZTJ0RW5xYXE1amFidEpUdU9WeG5SZUFncTMxUmxQM0ljSGpyT2ttdTlseWFMOTJBeVYySW13Y1JjenA5WGtFVjJTSDhOTlEzNmpkMEVzbFVpYmJib0xnZzNVVzBZZFRIaWN3ZmF1bHBWZ2kxd0Fqdk5HZnBTUUVGRkZvQWVodU4xTkdRTjlPUnNQNzZEM2h2QVovSmpRaW8vcm9CckdKWkk5c1dFV2h4YitWcndlcG85QkJKYlhkcEtjd2FtSWtNV0owakN4UFJyVmVqdGhSTWU2dlJsbndmTDkyZzQ2NEVXSGdLR0t6dDdVT1lUY1YxZnJoZklQakkycm9pTnBORUh3QkNvckkyMmMyZmF1bHBZQXV4ZWNGakpXTUVBNVZZaVZEenE1Mmt5SzhqNFhVcm1ZSmQzdFpaNHlFSzF5NlJRY0VWQlNhdjRMQWR1VlpOWU15S1drVm40VE1uNmVuNk1JV28xQXA4b2pDdTJzbXJHcXRKK24wcWpsdW1aaDJ1bCs3cWNSWC9JNGlpc3B4c2d0UnVTSHNCdlZkNTJ4Q3V5bUgreExLYmdwdlVFVUZiV3Vob01HSmlmU3RscG9Db2tHTW1zTmxRcFdzNVcxWHUwa1Izb2VwYk90YUZ4MURNSCtvVHNacXpDQUFMZ3RxSlFYQmNwWXRQeHlMUXYvZVk5VTMvcFVjVWljLy9lRExxcFNlK2ZTRDkxN2hoTE0xdzJ5Ly9MTXZ1N1FZekw0UEZKSnJFb1VxZktBNyt2Wk9oREFhZGdhS01Sc0R1ZTF3bmlNOGVMWlB1OEY0ZEVPUy82Vmk0eWhpci9jc043amRvSHc1ZG1pN2dlUjZrMVhZelhkeE9GOEpSK3Z1ZFoweEVqbG9aL0grVFROaUk1Q1JkMDFEMWg3N04vMi9md09GN1dpZVM5MGNhVFh5YUV6K1BWNm1vOUR5NzVWaVVlaS93dzd1dW8vZG5PZDBNRkhobHN6aHpodm43MVFJaEl2MjE3QzR3aXA1dWtxZjlwTERRd0tGSWMwQVNYU2F4UWdaeGpqTGR5TTdXbGM0M3lMNTZISythcUd3eEwxUHU4R1VKOWVUQmQ0MXV4U1I4ZnVlMjFwV0dsOUZSdHNOVktCZGN0NHVVd2RZM25ZMFNYeDNpUjdsb1oxclBJUlR0RU1BSkZ3TTFIVytJZXcrTCtpcHBGRFJrN3E0SVJVN3JFUUUxUG1mR2M0dk5EUy9NdXFzbjJmZmg4bjhzRFNEQy9jQ1p3T2s1KzZUZHJNQUFML0liZ3IzVmhuNys1VWJqZUQzS3V5dFZFU1FRTUZ4QnY4eGJFSXlvVHFaL01pT1NnclE1SkxpSnp1N3dlSlNPdVBpbkVXWElwcmRta1dJTnZoOGd5V2UzQTdVZGxNTSt3QzZBOXFGMjgyNlVrS3daRS9BQXA2TGRoYXhZSXJyb3M4WkZ5MWFYbVhrc3prdmdLYnJLS1pJNzZxMGZiYzJSOFdqc3hDd0hhTFRiSEhOOGlKaENUWHh4YUZucXU4TmJhbGxjRXZNTjRXclY2dnM1VmR4Y1o0WWZtdThIU0hJdGlnbGdjS1dNbVd1WXE5bFFJM1NyTEF6MVhGRGM3MTY5UkhHL2xES3FxSE9ST0o4ODY4NlJJZjVkRVhReXo5MmRCZVJjTGducmQwc2lpTHhDMnVSQTZXMm03MHdOSVJLS0x0WjFTUUxNYVhscFoyRmwwTDljRjFMUzRtSDBLaGhJeElraS9uR1hCMFh3KzhDRVh2anFvZE9yNEpxSDBvQXlGV09PdjhQU1IwWEt2TGY1TkU2b2dabk5MK3FhYXBWNVRUV2xiT1FSS0drR2VSZWpzb2JOTFdIS1BnVkk1T0xZMi9GWFhETWJyNXpWOGZFUE1VT0c4akRUcGNGZU85TjR1N2F2c0V1aTdRdWlSTzVwYldiZFUyUDhtVkcyMDByYkVWNHFjcHVRcitpYUxhWFpKU1BkcFo3OC9Xd0FseThRa1VyV2RVN0M3dEJmOTlXL01wcTlGRUFmWWMyYlpQbFk1VmFobkEwbUUzbzB3akNtcG94dDJUM3dEd2kySngyMjAxRmNVUXpkamlQSkFwUjBHQy9UZVVrYWZKeUdJUGxNRlQ3aG42SWhHTnZ4WHdjcHFOMkE0Zkltb3VYUk53T2Jid3VpR3FxRVZ4RlZCVldXSUNaU21zM0s1cTRyZHFEWnA1ZERtNkc4dzFneW01Q0xXeUYzVVd6eVVVN1k2TGhhMFZNTDZHMEVQRWprVHhBV2RnTkJyTmxxUUQwMFpKTVJtOTc4Zk1sNVB1dkduaklXajRPYmVtb0NseVEwd2U2VDArN3FhbUJGVW9RdkpNb0RBRlNKN2RZT0l3S1l0UkJyamRFdnEzWDdTSmZWTk5nVWxsUnU0SCtUTjJTTTdFUEhsVTFhTTNvTlpPakNBeHRwVjRGcHJXYnB4UXoxZFdRMTNhem9GMjNZSzlHTFRwNWpiYTlSYk1CY1VHTmhZcEpYdG9aUW5LZmszVGJDWVdicUNnZkpvUmxZamQ3dXF1MHV2ZUtZcnpwYUFGV0NtVUpJRitrRzI1cWdGSzh0b0xRNGJIOHRKcDJudHRSUyt0Q1lRaVFPam5IZEE4U3RCUmVXakhab0Y5YmR0VFNOVEt4SE9tbzNiVEJlUzNFbzhnb0NwbytaSEltS1Q2dEhqcUtBTE41OWRoMVQyczM0a3VoNEFSWGUxRXl4RXB1bVNlTFlUenRZcEc4Z3VrYlpEZTdFaTlvUndaSHdQUFJ6dkFxOTdtUXNQelhLV241ZHk5ZUhlWkVLaE83T2Eyc3hWenBSRXVDV3Jjak1NeE9sZ3ByaG5JRnFyR2NsZjJqZjd2WmtvNWNFa1ZFcUZUWjAreW1qVTlEZ2U0Z2VFVGRlOVZFYWR0Wjg1R2RqdHBOQlp5TVVDVjBSL29zUHRVV3ZiVlFXVlQwamlKbXRGT3JrT3g3U3J0NXNyMGk2ZHVoQXVhVVhaTU9Odmp6MDkrRFhYV0NjMCtieDZ5bW1MWndMVVErMmhrNlhlWWlvUi9ya1NINGNNUkI1aGlaMkEzQ2RQT2NXNTExUHlNT3AyeWRJNFUvc0c5cmZpa3JmV3NVMVJRQVZFU0hTN0tDY0w2Qm9UYUlVUklGNFF4NllYRnVrUmFhNkRPcVQ5R1Q1eU52OVBZdVg1UzJlTWhNMUc2Z0hEVThFUVowaDVVRFhpUXFpdm5zb2RDQUhmc2pGOEx1TGRuYnQ1UjJzM0pHaHBmUXB4WVZKMVJkR0FRZFQzc1ZRUXZsUmZUQUZmcjhLczNESllINVVFZ2lBUGpOUnp1amk4cmFmSnl4MTB2aDhFYy8xMFR2MXRJaWtZbmRCTGNKZS9tRXF3UlZHaHA2VGFYbEhZUHhyZ2xxMnl0ZnZoT3FFV3JDeHBLc0lMUWJwWVVrQ2xPQ3RHbDBoMUNuZi92Mi8xSkQ5MkRzcnEvOVEySTBjL3NEZC9EODI3LzJEellrWjdqTzI2cVF5UXAvYXY3SWo1NFNSdFJ1V3NCVGl6MDhubUFIWUhUaEFBWkVGak5iWGNZdnY4d2lGT3dzZTBvbG5mZVVkdE1wMVBqdUdHb2dOMTEvV0ZUMUxWL3JnUDhXaHVzUzdwOUJJQU5iOE8vRitBVkZ0VVZZWTZvU1dqaHcrR1Y2Y1VmWXpoaHBTMElnL0FNSit6bWUvQ1I4b280QW1yL1oyQTFXVGo4ZEZINk1IVGhLVUtWQk4vc3FMZThZakRaTVVEM3F3NkRMcnl1RXNoaHRrNndndEJ0Z0xoTnhFb1VxWUtDNzFqU29vV3Q5TlpDbm5xNHU5SEYrWWFob3lDUWRPSWxkQ2k5dU54Z0dEczBlMTd4ZUNpWXJHTmVYMkg4T1BsZ09ZMjFtRWFxbytBY0gxQk54VDJjM21PZ3VzRitkTC95N0Nyc2hHM0JQMVlRcVFMM3U4TGYvckh5NHcyTlJ0QU05eTU2Y3JiNjVFUVRQS0ljRGh5Z2J2emxwNTdsd0ZKeXFNZmFHRno3N3IvSGl3MDFJSGJ1eXNadGdwa3AvUzNkdEo4WS9CQ0NrWXprc2VESWJtVitXbExrcktqaWNpeXJkRnFOdGtoV0VkcU1tdUNRS1ZjQkE5N1l4WTliWmxjc1g3Ny8vM290WHhMSnRRZVV2VlE4YmtqdHFwTXVaZXVuRjZQVmEyUTJCRTUxdmduOS84Rmx6TllqM2ppK3ptOENIN2krWlk2SlpoQ3FyR1p2cjFSTnhUMmMzMUk3UDQ0Ynlsbm5KWisvd3lrVmU4MjBDeUwvZWV3bWx2M2o0Ni9pZFFrUGloVS82bzVkM0U5UytjdExPZTRiWFBhdk9tYjBpYkJKRDZJenNoaCtsZk54WmdpNnNGdk1WSnF5bEFBSVhacjhnT295eDY0cStMbHowSkNzSTdRYmo3aW9SSjFHb0FzVDlOenQyUGlHM0Y1MGlFL0RQOEZWSkFoSi9ITE1iUUMzOVRENVcvZWNOUXAyNTQvQk9ucUFNaGJobzRXTmZaYlpqQXlLNVZIWWphTDk1MytIZDc0K3cwZG5DY3grcjN2MFhPb3NwaU01RFAvSlZkdmxmdnNDQXFtUk8ycmxwT3NMQkh6MTI2ZkNleHp0S1J2dWVsZDNZWEowNVd5cU9jckZoWVQ3OFNpdEwza0E0bk12SVRaSVZoSFl6MEh6emJZY1hFUkhLeXA1bFlpMXNBWHRrTnMyMWZRODh4M3lEemhjM0NBY0xSeEdZNjN1UGFRUFlqYVBrZ1VFNWFlZXlXcTBsVjJTTWRyTmxCNTJUWmVOdmdDNHJ2TEp3NnJyYXpWU0RZNFoyQTh4ZEFpVlJjREx4ODZNdk5wYnRCcng3OHBTWUJic2pSSjRzMkJIRXlGTXo2NWh2cG95NGdJbHFweDFGVEZzRHFZM09jMGRzTi9EVGxwVlVSOWpPVlh1clRVbmt1by9SYmhDdGNFblFDd1pYYTAwOWwyNmV0b0xvT1pzdGdSbmFEU2IvUlNKT29sQUY4UDhScnFTY2J6Q1NhL3ArRXNaR1JRSzZ3MjRtbjB5ZzRZOGRSWnhKc3RZanRwdDh0RE1Da2JxM0pTbDZqSGFEUWFXVUpFN2tPV3F5b2tCeU1OQldjRTR2NHNSNWdaamRJRHJTSU9Ja0NsVkFVTGpuUDcxZ0lhWGRCTzEwbGFxSWdmVVZ1dEN1Q1lmZG5PL0xKM1FVVVV6cUVPRy8xbmFWWjVRUDh0SE9zTjd0Zm1zNVJyc3hnL1Q5aWxmVE15Y0dkajRZWU5XeXdhbkRMK2wxc1pzOStaWkxFb1VsUzJxN1NleVNGbnRzOEZIVG5BcWp4dlpqSStld203UDd4dk91U1VjUmRXemE5N3hta3d5ckovWHdEM1BSem5CUVJOZnFvejVqdEJ1MTQ5K0hWQnBsUWEvVXNOZlRJVEFHQlZHNW9qSGZMT1BCSHYzUXkrRnIvRTdiS1dKUExvbENvb3RiYXJzNW4rUUNXZXhoREEwQU5xTVJlUXRKWkJ4Mkk2ZFVCN0lCY2hSUmNFVFlEQXBLM2xlS0FNYWJ6VVU3SjN6eng5TElPTzJtbWFxTGNURlA2MWpDT2RuMmVxKzBxZTFHbUVwcmwxUFVsR2VIL2lNc0tJbkMwa2RxdSttalR4b0Z3SVlwVjE4MFlGMlNEcnVwNzNUQk5jR09JazZsVjd6SmNRenBYTFJ6YUx6Sk5kN3JPeTZhekNzSll6T3l6Wm1FaitjNDZsUVNhQXRNdkpZRlYzaWVRN0NESnA1Z2liR1AxTkkyejlaVWhmQmVtMEJNb3BCY3hDMjEzV0M3dm1GeDZKazV6NDE5VmgvNTc0RU10MWJVU09NVXFqclpJK0VvWWpPTTV2Y2dQTXBIdVdqbmRvcTl1R2JLT09vd3lnM1A4ZmZQWlVzT2xkTDdBR0ZGYk9GZHVLbnRaby9qVklXVjRIeEVoN052NjBFMmdjSVNKcjNkbkVuVEthZjUvRm5zWjMyUFpkbXVKVnB3dm85VkVSMzRwTjFScTRpbC92MTJ1OFR4NWZMUXpzYmhsSjRWTDF4OTlqZHhXdUt2L3ZYVmpaNTRXVDFFMysrazVUVlZQU3dSemZQMVNldVdjTCtXL2s5ZHpUTmsrOU55VDdER3FueFpBeU50RUNHdUJBcUJKSC9UMjgwczY4Y0tKUHNwaWxWTVZYZXNNaDJacXgvNDFCSk9SdjJQUDNMVmVGZ1VNNjRCY1NYalJVekVEbXE0Nkk0V2xvTjIxdXZnSkUzczhTTkc5TlBYdmtBU3UrVG50ZWdJbWt5Q3R4K3V2U0FvZkpGZFU3WjludDFFOGhNM01CNGZ2bjJlT01BZWZ5dG95cVYyamYxRzlUL3lRMXN2Vjl3VEtCUWF2NmUzbTZCdXYwcGdzWXRseUt0ckpxb2JQcHE2dGtNV3RaMHczU01WSytLY0RwWDBvRHJxUjBmZnp1ZVNOb2VWaXZiNHVjT0xsNjZNeTI2U1R1VXF3YXo3dDNFYUVFZEdHeHJZd2dmVjdtQTdzQnNtbHhiUFpFeWZuRVNRNEtQczdzY1krdzFOZ0FtbkYwV0loeUZJT1ZNQUFDQUFTVVJCVk5RQWRuTW1QRU5uc1hKbThDTE1IWWNkNXlNRE9NdHdUUEllSEJDdEdtdWM4MzJkc3FIRFNaRWlXb2RxekRHS3lGM3l5TnQ1b040NUZqV2VUaDhZZ0Z6UGVXbjE4dGY1eENLRi9QRjcyUzkrTnBnK0NGOXIrYW43RGw0aUgxSnc3VU00Y3ZnblpvMTZVcGlJZzlqTmhGNUlXWnk2WlA2NGNuZXB5Nk1FY0tzdk53MU1Ja1VVMGppU0NUS004dkZSdDNNNXpmZzNTa1hFZUNPeUZZTmxEUkJCNllHNURqRGZCQXZ5RTFVREY5b1g0V3lhdUozSjhiUXhaNW53NDUzT3ZKM2g3WnVEYzY2MDB4NTlFMmF1ejJRRlRvOWwvVEQ1dG1SSm5CajFHMDd3TVFkbTNzNFhCbktHeHFQRlRia0pNOExTTXRkbkg3SXVJWjZYMjJzNlBHcWNXeGtIRUN6emRpNnFEZk1CaEJrMXljem9iVHB6ZmZhaGsxUGhXNmw5WUk4WlpTSFBSajI0TGpKdjUzYjZUWkxCcFU5TFdSNjVENW01UHZ1cFl2T3BmckNPQkdjcXQ2dmQ0ZFNSZFR0UGpmRUFRUHFhUHp4eXA2RXkzR0pqa0xnQS9WbDJJNzB1eGtPeG1iaFpOQjQ1c2k0bDYzWStNL29seEJBcW1CejVWbEUxeFNFalIwVUdzNXZnaDNNYml2bG9iaVZ6YUQ4RktPdDJwdDNpSEYvMTBUcHFWMzhmSDFmOGtZM0JGVENnM1F4ZW9LY2NSQU9adC9OVXpzOGlqZmJNQnphSTZQcWJRWnBDMEhpN0dWeDM0NlBNdnAxVG5jNGRYMFhEa2lwOUhlb044Vk9sSnRpVmkvZGVxbnE3U2FXMTQ0ZWNmVHZYclU5czVWQWpENnNYYW5Jb0cwVHk4MDArMnlWcnFTTHRQRE5jTkNscjZSejhKcXBQT0tCNUFSWGE2djhROHlLUmwyTVVHb2kyODk1WWprb05WWlBid245SUdJclBDSWdmdTRpWFNObmxlOVpHd051enpJOEdZdTA4SWY0L0lUOFNPaVNacUs0NG9Ma0ExZWpGaWl0WGhvdGs1NkltWG9oZUdvaTE4ME9SZjczdFJYeGt6ejVxL0pYVmtRbmhDL1lhQ0RWdzIyS1k5aW12QWE4QnJ3R3ZBYThCcndHdkFhOEJyd0d2QWE4QnJ3R3ZBYThCcndHdkFhOEJyd0d2QWE4QnJ3R3ZBYThCcndHdkFhOEJyd0d2QWE4QnJ3R3ZBYThCcndHdkFhOEJyd0d2QWE4QnJ3R3ZBYThCcndHdkFhOEJyd0d2QWE4QnJ3R3ZBYThCcndHdkFhOEJyd0d2QWE4QnJ3R3ZBYThCcndHdkFhOEJyd0d2QWE4QnJ3R3ZBYThCcndHdkFhOEJyd0d2QWE4QnJ3R3ZBYThCcndHdkFhOEJyd0d2Z1Z0WkE0WGZuTCtWcStmcjFyOEdKbjZwZjl3VGovblF3WWxYZ1ZlQTFFRDFIVjRWZldwZ292cW1QakU5MmkydmdhMzgvMkZOWHRyZzRYei80MjllMUhReTVKZzlCdjlZazQrV0tGUytsdzlCdkJSNTBFQXo3My9JbVFjbGtRd1BNZjhuSlhscGl4ekljWjR0NTBDS1l5QkMyUTh3eDZDVnhpZGk1ZWI0eWpyR0paMWlRL3k3K2pHdXR4ZTlpd2EyMkhhWEp4NXNhR0RQcThuUWhrOEdwMWllLzVnOEx3MVVxSG8zTFM5dGtSTTVLbjQ3TDdrbHpuazNMVmxKSnd0anl3ZUtraHU4eGRhVGtUekdTZExBQmZiMFNhcnVRSFV0Vk5uR1FJU2U2SmJWd0FRN0hFZmRudkdpUyt5TmQ3NWdIRVdsS0dQaVV6OXgrMk9YMXBNb3pyTWJTU2pIK1BuRWMxOWFQWHo3NTJRTi9sNjJOZm5BeDc3OHN5K3JOTEpsbWd0dTlUR0VpcVoraG9ucm5ibW9zaFppZ1V1MXJ2TmRFbHZzQitySk05bVZpL2ZmZisvRksxVytMcHl0SGw2KzUvNzdMMTZxeW8wd0FiajMwdkZ4N0g2OEtwcm1GM2dWejJlODNHMXo1ZzJsdmx2b1hndzd4YWhxTlZOaGg0OS80d01mZTVTeE40K3FqSUg0OW1rMzVkQUtXcUtUMFMrVmVEN01ybkFKTkdCdElJSEdUalJSUncwTzczcndwWXk5bFFwZnluaG1iWE1GTmNaZXI5RVhlSUY5ZjhTRlRGZlp6UTR2NDNtTXZYN0VoYVZpLzBNUDFOQ3U2d2swVTR6Tks1UkhIcnlEOTRTRGQvMGpBazNkL2hVeFhOLzkydzJPTXZVaW5qLzhuelVGQitmMVo2b01xM24vQnNUN0lCOGNabGpHeC9DZSt5RHBvK0dvLzQ4ZExEcWd4d2VFWGtGNkc5MDFVMlUzVkFrdE5nYXZNRTFWQ3VnNDZ3a0VwOWsxRTZPT2p2Qm1WYUVnT0kzc1lTZEVtS293ZG1NK3pPYzVSV1p6VGNvK1c4RlVzNUM5OHpGVmRkb05KdWFNWGNKeEs3cVcySEdHa21paXhxN3JiZ1FsNXV4Z1R6SFpicmJzUVJnVXJCU3FaQkpaS3lSNWxoM28rb1pvdVV3dE1YWlR5M3FCN2M0eXRwSzVvQ2lrRVdlNkI3VXR4c0hIQ05MTWZvd3hhOSswcHBnaXk5bEowcmxrdTJtemZiTkNvREJuYU16WDl2UHo3TGk4NGZiZkdMdmVDS3ZXZm5JcldSa2hlcitwQmFmZDFLRzI3RzIwWDVteXdOc2M2UUxudzR6OXNpRWxSdWNuald4V3lWcHBVRTZ3Z3ZYZXRJVUl4bG0wK0h4SU1vSHNhcGdseDYxaFp2T2JQZ1hKdHczeHpyQ3FOWk1hajRaSjdqbnRwb3pDcmVGb21DS09oUGIwS0hkd0ppck1mcWUwemxnbisycFdTb1B5aEJXczk2YWRqclQ3R2JSNEl5U0JXZGtkWVBPcDhHR2VVN1MwZTdVcElNMmM1a3hxUGhzaXZXV3BTekZDUDJCcktuTXM3NWdDU2lNVGZDK3FuV0prZE02bTVPckFOVWkybXpPUmNlVWNXcnhqaUkyczN0NGhjUDJZZElkbndrdmJNT29CeWZ0ZXE4KzgyeUxzbVhIYkRmb0IyK2xKbC9lSEdEQ1hSeVVqRnByMmRFTTdIaU53MUFhMy9HUzcyWXFFTWlpQVZqSVVWbVhXcWM4SjA0a3owUEtXcERqWHJpMFUrbktmMnpkYlZvVFI1aExOdWUxbUJpR0pLT1l4eTllc2RzOVUrQVVXL1lJQm5JSHNEL1pNV0IwNVZRMlM3YWJPYk1mckF1eG0yeWlqd3RnVFJ2WjBuMTNQSURtU0pMcHp0UE5qSnUxeisyWWhSUXpaYlRmQkorOHFIVW05c3l1ME9Zb1pnSXRISHZOOFJOQ3EzZXNpVHdmTHpvelNicXEyRzRaWGxxd0lLcTF2bmpiRTNqc2UwVFFLWjZ3WllsTVNLem5MNDR3OE5yS3RGR05mRjdzeHVCM1RaSkdONnEyczIxaGtySWFHMmlOWTRGd1lvZDJnZzYxWURZdmVaWVlTNkdTTk9VcFh6TG5JSXN4VkJrMXp1QkdSQ0Y3MWFnVFVKZXZ0Qm9xWkcwVVVoUlNPOC9kUkZ6b0lXdlp5b0V2RHBBT2ZIYUhkd0V6V0xXbmdtWnUxS2lKck9ISXpLVHdZaSsxNE00V0tQVXVLMHEySzlSTEkydzIwZzRWdXFaZVNCbjRHeHJFeExkaXp1dG5BdkMzQ3ZjRXJrTGkraVdtSERnZ3NoOFdYTVRnWUovek9QaDAreW5HS2dodUxNZm1xL1lhNHZOMUFkM0RZZDJNcXpBTFFkSm5JVm53OU9uUlo1UkhhelZ4MGlRWnZ4bGdaekI0dVdWR29wZVdoYXpNT0JtZ2FoM05laWExR3U4amk3UWFLd1FDNjJrVS9RNEVwS3JBUzQxQUVOQVljRG9DQ1NvTnlTSnh2TUQvYXZLbGFxeHAwNW5zdE02SjZUS0xRVkFjekNDaXJVK3QzdWUvdEJocERSR2drWHdlampmV083bUFxZ2ZFNzBoSFZrNEh2S0tnMEtIR2kzVFNqNTNidEF3S3R0UVZ6QXIxd1BLTFExRFFPSDZQYzc1YUt0eHZxYjFVcklEUm9ENHpSTloyK0FObk5mQXgzS0VCN2xIYlRqdTNQb1FMN1N0NUN0YkZuVm5PcnowQ3VvaitpTzVyRzFRaGxJOERSVXpKdk42U2VXci9ieEQxMUdYMUk0N0lab0pYUGl3QTNvcmhENVdranNqUW9oOFQ1cGhyYjNVSngyanJPM3dpMnpKM2MydmFnZ295VGpqWnZYQk5qclYrL3c5c05OVmZkdFVZY3VoMXBZMk1semdYZHpPRzl4Zkg2aGt4V3dMRmtvOCsrNk5MaDNYOFN3aVkrOWVYYlgzYUprSDRjRC81KytDQ1Fkdk9kKzJ5d3hvRDFQNjB6SWxFMS9OcmlENEpORks4d2pra1Vta1lhbDRsVVZsVkZFdTdwN1dibXE5VTNQcTc5ak1LbmZ2TDJyMXphRFV2NTVrdXJsMzllUCtad3RDRzc1LzFCOEszMUVDMWZxV2JZOEJrS1J2MXBKODV2QWVCU0hEd29aT0pMRlRDVVYwTnlPVlZsaHhYR2ZrRXpwVUo1c1o5aGgrajIvMVEva0hiemhTaFlJeUI2RnUxaDRLeE5xYnhOMjEvYWJzNDZKbGpOS2orSklrUmVkb2hUWFhjQVhhRFVkdk1oeHE3Z3JPS09aSWJSQ2xkb055OW03TEx4bUxBK1ZHWHZ3bWNQZm1YU0thbmtjN1EzOUNyYjFETVJwdzdOYk1RNXRRRHV4TUdEUW1nWFVsOE53V1d5ZXZQelFmQkR4c2NNVUVOY3BlQlpoNWhybm1lMkdKOXY0bUF0anVQc1NTMzBQMmNSZ0pvRFoxWFBZeEtGYmtQa2pxNWltUGdKVlk4UTVFNmx0WnRwOW9aR01QRmlkdEFSL0NKMjgzejI5ZmxnWW9rZGxuUnhrK3hHQTVsSHFoVWo2SytmNWlPeDVkYmljTUxSOGlaNmNKQTROZ0Z2RE1mYXBKNTk0SUVIeW96ZGlkc0REOGhtWDdyQkUzaGxibDJpL3RDRE5SUmJtcWorRmdITTlSelpqUU1zNmZnWGEvWjFSaVRhNGJiVUdjd3YxQWZteFpPQ1NrUW9jcGFscGhudVdFTmF1Mm1MbmVHNmlyRk0zNDQyMC9QTktjYWJCUzhFaFl1dUpmbHlQVnpLdFp5cFQ0dXpPWUtqbGdGTkJDNnZwUTI0N0daYWdDRVRMZTZDYVNiNmxHZmJXTGROMUlEMHNCQm8wN0Jjc3B2YjRtRE5ETzIyb2pNaVVROWZoV2loVFNtbTJ4QlBqa2tVbWs3WUdVY2NJdFhySjV2U2JyNHRqUUI5NGgyU2ZhRWQyazFMOWhQRFJtYTAxdHY1dFp1NWNHRHVSMm45NFZCMzJuZWdWZ0IzZ0ljQlJleW1lRjFHQkNEQ3V1YTdCYnVwZFhqV3RBV3ltMG9jck1sd3RoNjJZVjFMWWErck5vSUFHR3JCZGt5aTBOUTAwVVdiVmNQRVRFcTdxU29WdHNMWHNUYTEzVXl3ZDg2TEVpdDZ3dG5VZnVTWm1QNFRwUnNYQXZyT2N1WmxGZEU0U2wwbWM0RDc4QkYrOTd2ZHJtK1l6RVE2WWpkMTFZK3hwZzludkRuRy9vY25CYjY1MWtmZGY5c0Ixb1hnK2E3T2lFUlRCM0ZQM1FRRVZxamlIOGNqQ2syUmN6MmNSK3JXWnphbDNlaFRpb2l4THNzaVFzVUNLSnRwVDdWY3NLVEgxaGxuTCtwVHp0R2lZZnhaeWJ3RTlDN0h5Y0dBVG5lNWxqMTIrWFNTdXR1MWJhTWkxOUxxNW85QUsvZFhhb2FqTnNmWUYyUXQ0ZDlMVStHcmswY2RZRjBHeU5aMVJpUlFuS3dCb3REaW01MUNwc2srQm9RSXJ5UEpMa0cxaTBPVm5OSnVudENGVmJXRGlFNjNLOEN3SUJsWUNTZjNTbmg2THI5Mmc4T3hxN3BtV1NWcTBFWWp6b3plK2tyMnJjbTZ1bDNMTWFib3lDVURDRUs1NzkwMGxsSm9uWXJDMGhPR1dOVTd3SnBkTWQ3RkZ2UUJnVGJaUy9nZTJ6R0pRaU11TW13Z0tLWGRMR3Qxb2tVYUlnTWJrWGFEb1VsTzJGaDRDZit4WUF4NDVUVk5uYk1FUEkzOXpFV0NNdlJjYXpDbjFVQTQvQmdQN0NRK0pkM2xPdWpZbU1qRjdVWk9KMXVxUVlBRXU5SFRRVlZOR0YzQnVneXdJT013TDRBRXB5bCtESkpXMmV2OGVUTzNMV3lLVCtjUm5VMWpJZlhPcExTYlJjMXRVenZ2dHQwSUhlTzRxUmp4a05Ba1M3blZLaHpNZlMxbVJnazZjYXY3cWNFVGlsT0Z6YjZ2ZXZCckhlUFpvTW1JM1ZUMHZpUUtXMWRNWVRkNm5xdUV3MWtYc0tLaXRZQm9VdzBKaXVwZ3pUbnVsbFBnY0ptZUZ0UlFHcUxtTWtWTkU3cEJBNGs0c04zQXRYbGFsQmphRFlVcE9od0lpNzdCRXhCUmE1MWlsdm04WURmRGhWY2MxYUxlUkt2bTZJVStMdWRuZkRjYTErRkxvaGpwOHhHN1dkQ0x6emxWRm5qQ1FHU0xCVUVsTk9rdVlDM0VuakZsU2VBbXhPWkowYUwwSGh0dldweFZPeFlYTmMyUW9xYTBHMjBEOUFrRGFiS2gzVUNCYXNXcitnd01TRWQwOW5ienFsVjQ2Sm5iRFd3eEhOK05pcGNCTDFGK29uTHdwLy9kTnl2eGJta2c5NWxzMmV1Ynlkby9rNFN3bTJYRkF3WWlvd1ZSdTNHQkZSVzlucnFqTXlJQnJtSWRTMUZvL0NjQnNpdVV5R2NVK292WHcxNUxVb3BBaGx3QUNrRDh0eEFIV1pDQjdZYVV0Y0ZaaFhZVGhIOU5vQzJveXNSZUtGQm5CYjVWZmo0eXNKcytsaHpwWk1XRUhBNFpJU241MXVMbHFLMkRCc0FZZjF5elVralFUNnBsMjAxSWdoNitySEt3bTMyVnR1Y2JGMWhoNGd2OXdzdzFRQnlzbVVlZVI2RXhBS0JLcS9TNHRrMi8vVjh6cVd1ZW5vS2k1R293VjVKUjAvUnU3K25RdlZWRTluMWd1d2xRZG9uek11d201SzJGWFFMZXIyK0VEd1pKcGRkV1NncDAzdDU2SEVCcXFNVTFpWkdQd0pjWkU5V1hjNjViaGlzMVFER2NwRis3V1ZVRjJIYmpBaXRNbDkzQUF2bEtabE5NVkRRVWtPbE45dnV5cE9JOW5kcHUwbE9RL05FSmsreEd6N0ZLR090dS9NR2NoaGMrWmV5bzFRK056SGRwRU9sK29ZV05BYVdxMnJ1MzNXeENSbmJ3OVVaM3RzbFAwbXNySlFYc1Jydit5ZUwwaDBHTFBlcE5rWXZBM0NjOEo5MWNSSndUZklZSUIwZldiVGZQL3NuYjIvWjhzNkpvSytHM0QyRUVMckRDak1icUNFNURRZ2YzdHV3T3NxWjBWaTNWZFQ2MTNhU25DTXFRYnRrV2krUjNOSTJCVkhjOGZ4aFVYUzRadlRRWW1FbmJiaXBLM3pHN21malluejJvNXhzYVgrbjZ0WWJKS2wwNnZiWlNVb3pDYm1oUWRqVE9Ic0M3VlAwRk5lSzFsY09iVGlrbXRzTnVKcjVVUTBtNGxoVmlGd1BwQWxaVUxydWg4YnFFZFkyYVg1Q2xvU0IxRlBwMGFydEpUNEVRaU9xb3VrbzBkcTNxWEppWW5GZHA5VytsS2s5M2Fya3VWOVFSTk1tdzdMUG1tNXJxRmhHN2VjNzdCSFBGcXluTE9palozRkxrMG1zckpjVW8vRFN5bTlWNEpjc0E4K1lwcjh1SFJVdXRjWW8rSUhHN21ha3g5cGIvL1J0enc5dk5ndkxIUXpua3dSb1JoUWE0eXQzYzlGSG9zNm50SmowRmZlWXhIRHRFSFdpK1dRbXJvMVBOZFpuRWltMWJRMVhpQXFyWjVmb1hDc2Q1MzdLNGxkMTI4MFVzZXg5LzRieWViNEpKVlZ6azIrL09JdHpBOU5wS1NURUt1M0UzRHEyaGVXOHBzTU5GVVZzZ3VoclJyUW8zdEJYdDI3OEQzL2hQZ0R0bjlKa3VFMHNYc0M1b0liWTg0SCtHQytFWDFpUlNoYnU1S2VkNDBPNmx0cHYwRkh5YTZPamE4QVRaL2JJTjRybmFqZ1RDU1dySVpKZmI0SEdCc2xyMm90MTNGZmRDbmJIWHpDTVgyazN3VVdXazV0OG5LWUsrN3VtMWxaSmlGSEZvY21aVXh3cHJTVTNHSFRURUk2VlhqTUtWeXhiaXBVdTFJbmFEY2VCNmlWak1HUjJraTRGMEFXc0JGdUoyQTRrcDNpU2kwRUFzODhoaE1YVXQycW50SmowRkJTejFkcStzRkcwUkxNdTBjWnVRQVdJNnFhcGNVT094bGN6WWJwcU0vU3JuYjloTjhBajB5cStHVlhUL21mVGFTa2t4Q3JzaEMxbUoxWEVMMEIyQ0lod2dBd01ZM0liZFBHclpkak5SVTJmSzVvd08wc1ZBdW9DMTVIdHh1MEZYeEZBWnhsN2FQTFNCTjZiVFhSTXNyZDJrcDRCRW43eXpFNUdMNUk4UGFVRTRZWjVObEd3b3U5bm44aGp6emJPMGJadDJFd1RQK1Nva2RYV2pTSVhjMmZUYVNrdVJ3WkFmRTUwRzVkVVl0S2JNQlE2YlhBRml0M2pZWUY3RWJ2REpjTWt4QTd2WnNyeHpYaUU2SUxBY2JPcjVwVTV6SjcweG5lNDZrOWc3by96U1UwUTU4RHpKdnhwL3NxbWJvY2llaWorMklJUGJEWHBBMUc0bXF1cWNqZW1uOGZJK0NOM0c1a3RMa3U2WjlOcEtTNEdKVzlTbHV4Q3BuMURqeEpnU1VFNHVGYlVyaXZuR3NYazBaZTRQV09rZTc5K2M0aDRKdllQUUVmTE9VUWVYVjVlSnBRdFlVUVdiYXU3U0VQNHF4SnFPUWdmQkVoMWJTUjJGaG51WGRyNUpUeEVLYmFUVWhwTUJvdVRTbWdLMFZDTXBRT3crdU4xVTFQd1J6amVJY0N1VDFhT3BMdkVMNkRJNmt5cVJYbHRwS2VCVHhicDRLaEVkeU5RNGVrUld6MmtQb0NReWYrdGdSeVRnTmNUOXRNSGV2eEYyZzVXVjJsREl3RzdBWWwwSXFuL3ByTWlxamtMekx5YmNER0tuRHd0L2VkL2h1MTRnaVg3aTlxL2N4N1h4NWRzZnU3VEtnZDgyVGtyTWZQb3I5NzRoQ1BBeHFuZVYrcU9RV0lQZGFvNm13YW5VanVMV2RrMUg2aUcvRDI0MzBOMDZaeEhhVFRtYzBwWGRGS0FOZWJYampqSi9rZ1A5b3FldEtqRXp1Nk54WWh1QjBGQjBrUm80Q3gvcy9SdGhOMXRoYmREcGw3R1c2bENsdWt3c1hjQkV3Uy9CUXVYNG5ZS0Mrem9LelY5anVJYnZkbG80d1VTYjNmMVlsZjFIQWEyQWhOc043bHpYRThKMVIyNFpHRVhjdngrSWIxUXQ5a1Voa0FiOGJZWURmTWpodFBDYnZ3VlIrT1U2eks2eEI3WWJHazVMbkkyMkd3eEQyc2NWZHZOZG5QblRSV0ZRWDllWk1KRUgvYUlLZW80T0pSc3kxWXpiQ0Z5eTBHOVM3TkV4MTFVNnZEL0syODcxYzlBSnNXU3FKZHRDMkUwNUhMNUVwOTlhSWJ3dUJ0SUZyTXZBSm1GVU45elAwVkZvdmlONFBWeFVTOG82KzJrY1hhdkw5eW9mcTBpN3ViOHE3SVk4Vm5FdGcrQWpsNkNzUDJEL1cxRDRjM2JZNFJ3U0tEak9vRDlGMTNub2xwajFtMUtzOE1TNHE1U0I3WVlHUk1GUTI0M2hINGoxemRRQlhPR09McllhN3pONGxnZjlvdS9zYWpHelNxQnhvaTk1T0VEY3k1a2Zza3pMYm1nMlVBdzN1WjBPWlRkbzFaV29lQ2poYnlvTkRkM0NibEV4NHBOK2hMMk5uazlVNUxZZEJsV0JnYkZqbFo1Y3Zmb3d1M1lWMXdibGNJenN1bWlET251U0EraVlkVThLZ1RYUUwrcWtSM2pGb01CMlJQTHExVWNZKzhPclY5VUQ1MzFndTBHNDZLYmdxTzBHdlVLWUxQL0NQMlk5YmpmcnV0eWxlQU5ncE1tRGZqRXNMMm94czBwUUlGcjFYOEdURmkydmlyR3ZZbEU5NUxVZzU1c0wxT1hDRVkwZjhWakdMKy80WFNhV0xtQXRFV0ltcXpvakU2akhUZG42QkVIRHM3S3R3RUpGamhrUHFSclhwQlhnNE11cVlHTkZleUhHVXh5TThyYkY4d1FLZ1RUUUx3MHRuUWpsbWJCQ3lkczNRVXE3Q1pVRGE1RkdvdTFtTDF4ZFk2eFFkck9xNVZ1SVRmZ3dzRnpvZDQ2cHdVWUxPM3lDR21mZFl2TVFacUFOQzRLTUduK2o4RFQ1TFNrL1gzT0FvUjVNbThQUE4yRDNnNmdzRlZUTkFHNGlxNHNVdU9kVTc1aFM0ZmE2b2lnNzdRYnVvT3hjTlNhRFN3a1VVYUhTNU50eDU3TzhwaGxZQnEyaFZpS2wzYXhyWWpTVnpHaTdhWVVqRTJKRXltN0NHR3ZSNFF6bFE3OUZ0VmJUMWNzaVVRLzF3ZGtWS283VkRRYnJ3L2xoUzRQOHZOT2RJV1hUcnA1aVdCdmViakI5aFUwbytZS3Q2dVVFbVVNMkVnSlpVcjBqYU12cFk2bTMzWnpUNndrb1JCU1RRQ0ZsR2VoV2pBbDg3bUJEY3lvcVYxRkRZb21VZHJPaUdiVDFLVjV0Tjgxd3ZnRk0yVTNvaEd5cENWZ3pvZEQvdXN3ZHBYNzNvaDZWSWVIZ1NVd3ZZZVhCNWlPUnZPQmNpM2ZMMUVYQ3lWa21vam1hQkdqRkxTMXg5am9mVnhmNHd5NE9XUmN3c2VNWHBzMklUZkNETmViOFFuYXpwdkQ1SFpHRGhnVHNTWHZSVnRCMnpqZm45R0lRL3UwMnAwMmdrUHdIdW1FdzBKODA0d3dtYXE4S0diV1NteVNsM1FnWEZDVVkydFIyczZCZHQyQ3ZSbXFZdkViTzlvWVNhRUUxcHdMd2RWQkQ1bzVTdjdENFVLYk1VdVNvZFVKdUV4WEdkc0tzVE1HZDc4U0FhUUZxRGJLM0Frb3FWblM4NE13citaVFhYQ2VHNk4ycmRLY0xmMWNnRWwzQjZqSGhQaGxtUktwdDJ4SjhMRzBtQWdFQ0tabzVPWGdrV0VGb04vRHhWemx4QW9VcVlLQjdNN0xTYkJuVFRhQXR1enZybEhhalhZclFIYVg0NWpJdm9CanV0MTNrayszMERiS2JYVlY2T3hwZTRtOTZxNmRIcWQrNmNzS1ZNTm5jTVpDOEx1U0UzS3ZEbkVvMTJjREhYUlVMSGdyZ2E0TDJJc0hRcStYaW8xeXEwR0toMWlId1p1Z09JTnlwaDdNdVlLSVFsL214YndtcTIvTUxSczV3VWMxUjV2VHNnYTlIQ3hOTnNJTFFibUNvd2pGTW9KQ3lESGFEWVp0THpRK0h2UlQ4M0lGZnE2QjBkdk5rbXdZMHV0cWhwakNPclhFWUJaQTJlT3IwOTJCWG5lRGMwMlEzYW82YVV1czlqaUorY3FMZmNudzMwaEJ5NENROEpqM1FCUGh6Z05pV0owVUZ6SUZ1NEpMSzNQRGxnZDdiRUJibTdmRGg3eU84ZXhESXIyZ3VoY01hTFlIV1pXRmR3S0VvemRBR0ZMQnB6eThJNjBwRFZRaDdZZmVBVVRVSW5HQUZodDJvMWtpZ1VHVU5ka2UxMzZvcHA2dXFreElJRS9hMmZ0UWxrYzV1VnM1SUkwVW5XRlFjb1VRUkFLSGphZHhMTEpRWDBXVldnb1VWSGhRdENjeUhRaEpGaXBjajlFQjFsUG9kMGY5N0JoOFAvNEVHL3h0MGJWN1hXeWRhY3E3V2dNRVNPTCtEOW5oSUdDWWNIZlo2OEptdUx0SmhoRjhxWS9qKzVBTjNBTXArOFlGM0J4TVB2QmNOeFE3dmZLRFJEV3dKc1JmNlhBcmVDcHVOUUJnd2RXOFFLRXZTT1VNT0Vtd1RNTUVLREx0WmtyTi9Bb1VvYWRCZkRPanFMQVArb1VuK1hZQmdoZ2hpSTRsdE9ydnBGR3JjU0NjcmFxMzR3Nkk5M3ZLMURrcmFRbXVVY1A4TTJxL01EdCtMNGlGZVc3Wm1SWnNJVU9TVkUvMkdDek1sV0RaMy9LRUorem5PNnBQd0N6cHhwak91T1NpT2xnakIydW5hTjU1VFhSYUlHTlhZTC8xZkwySy9nZ1ZrRFczU29XMUZlWEVYUUtaTDNjQldlWnM2ektEQkMvYjhjajVjTFVtVWVsZ3ZHTlU2UVJPc3dMQWJOY0VsVU1paUJyMzlMU2poRmZPZ252aS8yVUhKNUdJc3preXdsVTVsTndpUlhXQy9PbC80ZHhWMlkwT3d3V0FrTGhwVHFKc2MvdmFmbFE5M2VQQ0lKc0paOXVSczljMk5JSGhHMlRYNTVVTy9NTzVWaUQrQ2E2ckcyQnRlK095L3htR3NtdzBILzFZR1FRSE9GaTk0R291TS84cmI1UHZVUmpPMU4rN2d0bkI0NWVMOTkxKzhVaVc3dVhMNW52dnZ2WFNGd1c3Y1lNNVMvY0FSSUE3bXRXZlBMNmZVS0tweGpEVVJldUV1d1JPc3dMQ2JWbjhySWwzWWdJbFBRRW1IZHozd01zUklkaXdXWi9wWTdhYXlHOXJvZkI1dmtyZk15NUwyU1BIM1hyd2lqR0lXaG9QckpmVHdpNGUvanQ4cGFCZ3ZmRjZ1TXZadVNXTGU4cUZmdVB2cnBsUVpwbWZWT2JOWFVDZU9YalBzbFZIUW9QbmZlMW4xdFExTi9NR2Z2ZS9BV2FMRzZEL2gwRTdSUHZNNEdZbENXOHRmekRjcDdXYUErV2J5cTlYTGo2cysyVy9Wdm9OT1NSZitRZEM2TnVNQlJPczVaZExZalNEK0p2NTQrUDB4UGhKUWVPNWoxYnYvd25qS3owTS84bFYyK1YrcUUrWEd3L0hyOTZjdUhiNzJUeXdKS0FNWHZCUURaZ1g0bzhjdUhkN3plTWZKcm5tTlc5T01hMGh4RWh3RkVNdWx0VWk1WjE1dEFRcVhvMTNXQ0ZCQ3VZdUUzWFcrK2JlY2x6SGZMTW5WVXdLRkljSjBsVlhnQ0RjTVVEL0ppZi93MHVyaHV6NFhSVjFnVDBSQnNYeDZ1NG14R0FZd1p2MStoaDFnZlBsZm9oS2ZWWEhBNklNUjU2ZGw5UE1NVGVUNXZhcnBYMDVxaFRFNDVlWnBLNGljczVrU3V4T0czY1RpYVc2S1VHR0YybXMyZ21kVXdqVlYrR2lRbE92amFWRStSMnczNDlYdlJ3NCtHMHpBMGVUam42R0pZdGpLQm5UMHlhWU1UTS90ajc2c0lVcW94NVl2aWN5Syt0Uk1vQVlsYlRjMXRaZ1V4OERpZHFNTzlpUlFoRUtjdTBGcGhNSFdROWdRcVlxSWNiNmlGNHNqdHB2eDZyZkc5ZG9LWTZSU002MCtITnBlU2h6dzJiUmFiMit0RGNoaFBHVEdaa0cvQldLUzJaQzRtM0pRYXFvWVhEWEJiaENsV2VHMENSU2hMTTFkbm00NU5naERwUDVUSW5BdTNtWHFSdFd5VjNqZDBFWUZINnQrNVFkWU1DNTE3UHFVVlpQYTRGSG5tbUxiQzY2L2FQZFJsemNvZjdYam40SWUyM2NsaWI0Z2UzTkxLaG03aXF2aTBWa2V0NXBGbEJaWDZLZnAxV1lDaFdCQ3YxWHhVdkhwYk53R3JPY2FZTHJaMDNuZWk1OTlJVW5HZFkxVnYyZmxsLzdLMFhVdXkyYnpNYVhTcHRWWmduL2xpdENuWkRaS2RBVFVHbW41aHpxdVNlV3FQUjl3V3hYY2hLbklUK0NINTZHM1ZQZFBvTkFpd1JKTGxFRm5tdGZBd1JNWVY0bTR2dGlMeFRuYVdEN0NhNXo2TFVvL2ZVRzlHeUxyYlJqdk9EWFJaRmZvb21Cb1o1emxwaTRMaDV0NzlpRVh3OXZVbW1oU0hUd3VTcTFqdmJNdktCQ2hSdUxVa3p3SHoyTmJnQ3ZxVUY4Q2hjREdMK3lHeTRkN1J3TUhUNGhkM05tamRjU1N4QituZm9zeTRGS1Vub09TclkvWCt4UnFobmY2dnBxNjVqUGtPd0pXYlRWRDlNOWJPanQwaGtRR2RjK3dwemg1dTYzc0JndVpCajU3SVB3aDJJMXdXMkZOZ05LVlFDR1E2TGNxNWh2WWR5a0VEcHlhNXZOZDdXeWJWQUFBRklwSlJFRlVVVWd6TUpjUkU0NVR2MmZsR0xpcHhrSlp0N21zQXBpcGRMV2tqQWIzVklUalI5NktERFQ5U1BCeGZrUXVtS3dlTmdUNmpIQy9UajNaMU9xdVVCeSt1Y3lmbjJPSG90ZTM5UUh4QkFyQmxuNC84UnFlUmwvcThNUndQMU1VQzV5cTdnekhaZFRVWTlUdjFMM0NFNGgyQTdYK0hIVlZMZjVvWkgzbDJ5V2dOZnROUy9aK01qaHo5VTgyZ3QrcnNaY3I3RHI3eitpUHRmVW1ZMi84eHh5NGhlTmEwM0pOZ3NYT3QyNWkzdjBDRTN2QmhOQ2JRdkhWZHl4TU5uUm1pTVFTSnJ5bThCNkg0REppMGlQUWI5Uk9hbXg5eEpWMHNNZWlTbC9wZTZXRDRRaEJzUEgwSFhLMnhnNHI2bGdyQ1lkdWZmZFhjR0MvaVhvTDMyMmlna2xHdm40RXV5bTBEKzZxc2VzZFhaUGVGQnBOSlFZeGIwVnIzaSt3bTNjY2RreElIdFBqMTI5TmJ0TkxiUXpVSy9Lb3lkSEpWRTRmR0tCenhqalU5SGxEcU1uM1ZRNS9maU5vM25QWGV6NHJ3Sk9QVmYrWnRFZ0tyaFgrWHZYeXo4LzNTMkhnaWVRQ2UxTU1OaERnanl0M2x3WWlIQ3ZSdVBXckl6eXlscWZaamJIVzl4Z1dWbFJMK2RISkxvTFN3L0F2VkRJSkN3d2pRbzVwaDlmdlE1R3d3RllrTEozanloK1ZhQmRHZjZCaStIWTlMUU4yUjZXa2ZKYzd2SDdMNm5pTHJHaDdFQ2NrMzByS1dqcjhPVno2QlU0NklZWnYxN2FmYm5xb2ZHajlYb2hNTnhQaEVjUWV4Wjd3UjYyUmp5MFp0T3VyVDNnajlheiswUHB0SHpTc0FpNE1zRGxoTVRnSm1kTWo5MldIYnRkeTNxT1NSOXRQaHRYdmFUdVlSaHZhdTBkYm8rTlFlcUVxVGwrT1R0WXo2bFRhZ0VVOEZQRytCMlJ6eTVJTnFkOUNSWnoyQ1BWVEdibnJIcFoxZkZNTDZ2VFlxS3B3TnZadGoxUWxUVlZmQ2Z4Q0twb1RoVHlrZmo5K1FQc0R4aUwzbE55RE8xRktURi9aODZOMTFBcS91OFRZVDE5Tkw1ZWkyT043Q2MyT3l2dTdwWUZoOVR2TGp3Wk1HMmYydHZ6OGJtbTRXNlkyMGhkT2lqaERnSXZHdElHdUdYbTJ6UmdRQitKenF4SVZ1WG9IMTIrTGZ5TDh3ZzlDL1ZUOGNqSlVSby9VbVpGRzFJcUhsKy9CUjVFR3RwdWx0M0hScXowcWNLSWZEYW5mVStLN2pHZjN0UkxQUjk5aDAwOTh3dEpBb1JyN1Z3THIrWkZtVG9zVEg0K01kRTQ4MGhvZWJlSGxkU3EvMEZ6VFlyUzhxclV1ZWlkdVU2L0Y5RVk3aXFlRm1uQkQvSUdwMFdnZmYwQWpyblhGZjFiOWk1NEMrSHMzRFV4VVg5ZnQwVkhEOFNGNWNlWDk4UDlSSzJxdzh1bTc3K0xhVmd5S21md2JnT0oyYTk5dnkrdHJRdlMzcWVJeTRqMjNkbHVNdFhiNGFMKzhPckxjUXVVZFk1WGdXQmRXZUhUZ1pmdG82NDBYUWVSbHhIdEdXK1NKNHI2bDFLdmZ3cG9RSHhBNlVWcndsZlVhOEJyd0d2QWE4QnJ3R3ZBYThCcndHdkFhOEJyd0d2QWE4QnJ3R3ZBYThCcndHdkFhOEJyd0d2QWE4QnJ3R3ZBYThCcndHdkFhOEJyd0d2QWE4QnJ3R3ZBYThCcndHdkFhOEJyd0d2QWE4QnJ3R3ZBYThCcndHdkFhOEJyd0d2QWE4QnJ3R3ZBYThCcndHdkFhOEJyd0d2QWE4QnJ3R3ZBYThCcndHdkFhOEJyd0d2QWE4QnJ3R3ZBYThCcndHdkFhOEJyd0d2QWE4QnJ3R3ZBYThCcndHdkFhOEJyd0d2QWE4QnJ3R3ZBYThCcndHdkFhOEJyd0d2QWE4QnJ3R3ZBYThCcndHdkFhOEJyd0d2QWE4QnJ3R3ZBYThCcndHdkFhOEJyd0d2QWE4QnJ3R3ZBYThCcndHdkFhOEJyd0d1aW1nWW5udnJSNitQYi9kYVBiODJ6Z3ozalJKZmJHTzErUURUT1R5M2pFTjB2MDZlT3JnUnE3Y3ZHZSsrKy85OUlWZG9OcVVXZFhMbFArNGhWMmtLNVd2MThSL3lOL2ZUc2RYU3JzcVorUmYxYi96bFJrZlNDUFJmdys1UEFveDBFRFU3SWIwdTBhQ1d6a1dhb0svRGxqYi9uVEgzbjJUMVhaNGVnTVo2YkNEaC8veGdjKzlpaGpiMDRsWFNMeVdNUlBsTUlqSEJjTmZQckJsM0ZUdVg3WGV6NVBNajlYNWcvdWVzL24wdFRoTTR6OXZ4eC9FbDI3bElZeUJlNTBsZDNzY1B6bk1mYjZGSVNKcUdNUlAxRUtqM0NjTkhBYWh2TjlZMVZ5Q3ZtYjgrbHE4QVhHZmt0U3pERDJaRHJpZnJGbnF1eUdrclBGV0liVDJsakU3N2VhSHU5NGFPQUM3R1RYRUhVUytSVWozMGZ5V1l5OVRhTjkzR2FuNGNNbUptcnMrcnhpTW9XcFI2V0h2bzlGL0tHbDlBenlwWUV6c0pPT0lkSjU1QmVOZkhKeTJwcGlKdVJTS1prdUhVYlRtbUtLakMybm8rK0tQUjd4dXhidkh4eFBEV3pDVGt6SnlZNGFKaUFwWFNpelE1Tmd3ZXJnU2RUOVB2OHdZNzlzNEdKV3pNZ2RISS80aHVnK2VVdG9BTjJjaDlKVVphSjJwT0JkNzg5azdGWG1RMHhZVDV2NVROSVRGWGF3WVhLcTI3T2srU2hkZWl6aXB4UEpZeDhERGFBRFdpUDNYc1NPa3Fvd3k5aDFDd2VPMnFFRnlDSURxZFlzUGtYR1ZpM0FnSm54aUQrZ2NKNHN2eHFvTVBhRUtkMVN4STdNWjY0MGVyUTEzZERtYVpiQkxsNG1lcmM5M1FTWTFTeHpkNG5XRDJ3czR2Y2ppTWM1Vmhvb01NYjJUWWxyNmR3c0xEUWlQVHJZeW1ncU1LUmFpQmtudG15em1OWEdJNzVSRTUrOE5UUkFZZWRsc3lwUk96S2ZPZEl3a3IrSmdNOW1OQldFYk9sY3czeVk1YWxxSnJQYVdNU1BTTzZ6dDRBR0tPeThiZFFESGxGa0pXRThqQ2NuMEgxM0ltRHNDR1V4RlJoY2IyUHNLU1BMayswc1pyWHhpQjhWM2VlUHZ3YWlZV2M2THJEWWY3VWV4dUdDS0RhT0RNUm1oeWhPcW53Qnhya2JwV2pGSjdvb1NuSitMT0luaStFeGpwMEdOdEhKVGFIUElkOHhBYjNUWmNiZUZNV2dLV3NuQ2h3bWo2TkFoeHRSQm51T09TaUtrNWdmaS9pSlVuaUU0NmNCZEQ5cisyWXVZa2U5YTRTOTlyaUowR3BrdVRkZHVxZE5sNGxzUlFSUHgxSmdqMGY4UVNUek5Eblh3RkprRVE4N3NyZGplc3FQemh0L1R3Y2JPSGFJcmllTDVJZGtoeXN4dENLZ01XQkt3RmpFVHltVFJ6OFdHcWpGdDIrKzM3L2dGV2ZRR2oxNnYzOGVpWmpSRTNTQ1lDNER1eG1MK0luMTh3akhUd1BEYmQrUW43TVdyelNnMGRoMEhLbC9TTk01QlpMZHpQZkg1RHZiYnJ6eGlPOHUyME9QdFFab0RiOXMxZ0Q1L3VlS1RXQ1hUR3FlSmovTk9vSVF3MGdGSU5QK1hweWlDSEFqRG5aQXBsaVhHWFFUTEVveGdvekZqL0gzZ0Z0QUF4UjJOa2RqV2t1czlWMnZ1bXQ1RXhDUERFOTIwZzdUU2x3a3JFMzZEUHpOZEZ1eGpVWDh1T1FlY3Z3MVFHSG5obEVOY2wwV2pYelBKTTBFc2YzSUlLQWpDSTRKb2llckhnODN3VzRuL253QjRGSWM3SUIwczV2eGlPOFF5SU9PdlFibTBQdk1TdEJiMHgwVDBDdE5NOEVQNGdpMDc1bmhmSU5aZ1czRVMybjFMZW1rSFduWHJNWWp2aTdPSjI0aERleEZka0dpZHRTenFwdm91c3R4REpxenNsdmYwS3hnN1RESkFwdUFOK0tGT3lDejdJWURHZ1NiNExBY2Y1S3QrSEgrSG5JTGFHQXBzbjJ6NVl4ZGRha29EZm1sK0RQNllrRjI4VFNhdlZ4ZVh4dncrWGpoRHNoRWw3akFXTVIzeU9OQngxOER0Y2pVME1USGJmcXVWUVZkMTRGTSt5MzdEdmhnb0c3Y3VoVHVLS1RnV29RQnJ3dUhiZ1U2T0h2UVNkVUF1bmowNm50cFFnRmIxOWtDOHZWV2VpcTA4S252ZHJ0aVUwZ1IzTlljM0FDT0gxV0k0RTMvOHcyQ2lQbHE1bDA4bzFFR0YxK3o4SWtUcWdIYXZvbGUrLzNxZ2hZQ3JzbHBEL0Rsbmt4d0RMbmJGWHVKc3duTXhUZzNrdHkxN0xFd0Y5aGJLVitsb1FEZjMxaW1qTDRHRjErejhJa1RxZ0hhdnJuemdmQjZML0pyL2VxQ1l0aXU5ZjhTNEk2ZWJyQWx5K3B5eFd5aEJzU0dRU3VUSkxuTGFDM011aENrUnF1dGIwV2R4OEhGdDhyd21ST29nYUcyYjhnZmMwMU9YWHE2b2Q0TFZaQzZyMzlob1BFa29VVmh5SGZyOVJZcTdKTytWVmhHc0p6c2JOZDZPTGo0Rmh1Zk9ZRWFvTDVqVmp2VjlzMFdpRmRNYXBHbXdMSEZOSTZTQWtLSEQxenJtRTNBWFVacnNaNHE4NDNaK240d1VZdDlVbm9zNGx2aStNeXRvb0c5eUNKaERyMng3N3ExZ0d3UDRaeVVBc2MzKzJhU2hOaU5tMTM0UjdvRU04aHdkb09sMVFEb3Z4QXB5dWFnSDVvRmZ1YytkczgvMGs5OHdtdEFhbUJwbU8yYk9neGtNYTVLbXJOY0d5NXh6SDRndEtudldzZkFJRmhKTVppdHhNSUo4dEZFbXgwMm1tdllVdnFuQ2xuZGs4WEg5OVp4dldGRFVmaTcxNERRUUMyeXNtOUdPMm1oaDZhc3JodmliYUt2cmVyc3NKMnVpeFdTTTZnLy9qRlo3djR0dFlrNmUzTGg1NnB4c3drU3hYOG1lODAzZmhUL1ZPVTRncWVyNXhNblVnUG9mZnRteGRHWExJOW5tcTJiaisxMERkVHpOb2h5TFlBWEZianBQdUtpSGlmZmFmM3ZPSHhBM3BTWWhnby8rcVZxWk5hMHVCYVdXTFhLZnNPQzhVd05MSHFKUDhWZVRYaE5wek1hWitjaEowY0RpVy9mYkxuT2JTcjlWTkR4Vk5xNEUxajFSNnpxTjR4SEF5Uzc3TjRUV0poVEczR0RkdmY1QmhzM0wyWXVzd2xJVG9kQUJPYmkzM2FOaTQ0cVpMZGFjNVRuUWNkUEF4U2NYVFRFcHVEVm1wSEhKMnYzemF5ZHhqRHY2SGhraTdxallYVmkwNlRPNFNPR0xobjJBTjdsekI2OS9IaGpxNWZkQlArR09mOENMa244bXRRRWl0cEpMYlludUpVMVFFNVF4NmdnYmFFdkd2bWdHdGxqTjUvaFliakVDQi9RZ2tRN1ZtZVQ5L1JEU21lSzdHWTEvcVFNOEx3Rzk3U2Ivd3JVZ3gyTnF4TUo0aytxbVJJeEJjZkxFcHFOVDV3OERjeWhTNW0xcGo3Zk1RQTR3clZ0WkNQSm1uTm5wUWdldXdxejJITWlVRmk5N21UYUt6RUVPbHVtSjdVQVg2VHVGazhMZ20remcrYWQ3SEFueHFQV1cvelRhbVdHc3JwemozSDFnQk9nZ2IzSXdVeXlvdzJqM2xoOU40eHNKRm1PVUl2SGJaTkh5M2tRSjhLblo1Wk1lUzJHUWE4cUdKTkFEN3Y1TWNiV1cydmZZb2VmalRKSkVIK1R2VUZTMUp3YnIxRjJQbjl5TkxDa2dsS3l5bHNSUzdqZ2NzUzBldHF1QVp1V1NHSGd0dTN5c1RTRGZoSmtJZkg1Qm9LYWk0N3Vkdk04aHFPZHpSVWM2bVF2aVJTWElENksyQllVUy9aZ0VtSGpzeWRQQTdWSTJMa1pzYU96cGpNVVV3LzZrOTVDMFEvSnJ3cm5oMnJvc21tTWRBa0tYYXpHU0dxMmdYZTFtei9IZVlpTkFPZHNhT1dtL3ZKYWNsdnFMZjZlcmtmTFhFckZSUEdBazZjQmRLWjlzOVlZbGEzdG02SXhkWmg0SXIwQThoaVVnUE1LaXFYQmprcGI5LzdmdjZHUGZGZ3lFaDhDNnRnRDh0M3M1aVBBMnc2Q05oajhBWklsb3RWWGd2aEZwbUlpUU94b0twL3dHcUNROFpxcGhxcTFhcUF0VExOM21waVUzZ1Q1UmdSSWZ4MFFIckxCK21nK2dzQ3pLZDYvb1lNQlA0anlJUHFTQWV4bU4wdU03MTNXcUJidDZMeTFDU1k5eEQramkyajFYT1VaWXZqa3lkQkFOT3hNYTVNVnMrcTlseWZra3BWTWRLUnBHYitvWWQzV1IzdkE2bks1M3I4SkRWRnlMa2Y4eVc1MjAyUThLRmFodDRSZ3cxYmQrSnNJSlMycVNCamlUNVIvUVQ1c2RySCtDSzNQbmhRTlJNUE9aRWZycXZKNHowdGNybFA4SENscWRnVEUyQ3g3L214Vk1iQzdLMkdsZWYrbUdiRVJrTk1obTJYaW82NXVkdk9RMlBCazNQbDhWc1RiNmkyK1lvMDcvbWZleVBua2lkZkFIUHFmcVFTeW81SUNvTCtLcTZ2ZDBDYktta0lYZHdORTNWSmNjYnV4aVhybmluWUlnSkJqb0c1MkU4eHozbktWSmpLNk5FTldCWE9BOElpSldVc2grZnRKMThCV3BFdlMzdnlHVnNyVnE0OHc5b2RYcjJwQUxORzJWK2Q0am9XSC9wZmN3dFdyVGZiRTFhc2h4eGlEZmdBVWlMWjdQSzJoWG1XUmRyVWJqalhSWmQreXQvaTZBQXdBdlZaNUdzOG5Ub29HbWhFWHFCalprSWtzVDc1elY4ZldEUERWcHJwNFVLZ3c5ZzREcC9mNnlFRHNrYVE1WU4xNi9oRE0zVGJHM25ZekZaRlNNVXNVWHlCaU5MSExWL1QrZmtJMVVJNkVuVnNSTzdDM2I3Q1RFbm1CREtjMmJjOGZQZHBhMXcrL2ZZT1dxVWNDWVdTY3kzYUw5YmFiMlM2N1VJbmlpMEpha1VyYVJmdmN5ZE1BUm5JcnhOczJZOGhRaDMyNmJBL29KVXRKMUlQWERVaWhadWN4Vld3Ymp3ZE13aGl0V1EyYk1sWWViSHZiVGRmdnFpZUlMK1JGSlY0M29PU2U3SmJVQUczZnJKZzFxMGJzeUQ1ZDFnYjZtb25PRitnOFZDV2h6elNQMkFDR3VGZkRKaGdrUjQ1YUp5U2NxTVEzVTN2YnpYUzM4MlZGZTc2TmlpL0tSTFM5RVpidVUxNER0T0xlTmRTQWJtNGZhYkdYSitpdjBRVXk5dTBQNXpVSDVBNGFPb2RFWkgxa1BrcVRYckJHZk9SZUhhWHViVGZkL28rQWpoMzBFbCtVVWhkUjdHaVJQbjlTTlZCb3doQldqTm8vUDJvWTl0czNaVHgrMGtDbnBObWw2ZXprb3ZWOCtMZHZPRHVyZTM4NHRzb0NUbSs3Q1g3emJaWllZYWEzK0J4dkd0LzFDQWw4Nm9ScjRHL2YvbDlxc0FQRzd2cmFQeVJWek56K3dCMDgvL2F2L1lNTnFadkk4cVNGNTlHRnhWUlZ2MHRaV0dMc0g5dGF0ZGRIOXJNMHVZK0gzejc3RUNJUDh6SGFCTHVKNFN0QWIvRTVWaXNTOGxhay9uNGlOWUM1UVY4TmFJQ01RbDNiVWlPUjVRbDJSUStOZDhVRUVvYi9hMFFmVE5YamIvSGI2eU5CTU1ndnpXUS94d2svaVJCMEo4NWlVTHNKZW9wUDVjellBY0o0MFI1eW9qUlFaMWN1WDd6Ly9uc3ZYaEYvS2JDZzhwZXEyaStKZmh6ZzN4OThOdjczQTUrQU5mMVAzL2pVWDFZWSszK2lHdXo1ZFlJb2NxLzhWQTJmTVh2aHMvLzZxM2pMcytGQUhOaHVnbDdpVTBHdGlPdnBLTnlEdkFZc0RaeUpqN1Z4dXduK3Y2cVlwNjc5aFVWTW1VcDBueVdHMFM5ZzlsRTVHYjVDT1pFVzVlQjIwMHQ4RkRIamd3S1dvbjJtRHcxc3hzSUFCV3RYVTdLWStnLzNWaSsvNjAvakRQRUtnSEw1NGcvVFF2N29zVXVIOXp6ZWNaTU5ZVGRCVi9HcHFOYkJ2THRFRC9VYTZLYUJCZlpFNU5GVU5DNFFlVzVuRVFkcjJKQlI1WWF4bTE0eVRiT1g4OGRmOHRiVFMwMyttYVdCK1BKa01ocUh0dkNqbWVqNktQbzh1L3lvN0tZcDR5QVZiemZaTmRZdHowa3VUMTRSVnZTOGVUb2dCSGRKeWZYUjZaMHV6N01EajhodXBsVlF3SHJiSWp1eFBhZGJVZ05pZVhMS09NeDVkajlOUmVmRSttaHBNUTNSUUxnanNwdm1VMEthS1VjNFpDQTVQZEVKMEFEZW1tNmdtcHZHeXlkYmEybnF2Y1hYUjRYSTJ6TnBPUFNMT3hxN21WYkg0azdGdHEzNkZjempuVHdOWU51VEtsMDNwb3Y2VGhvMXRQaUhhTTRiODFVYTZqUzRvN0dicGp3SFhkaEx0YXhMSTdqSHZmVTBjSjYvZHpKcnZDWmRxS2FxWloyZkV0MWJTVVUwRVBKZUxHSStFQnViQ0NmVHJ0Q0ZuYU5VeXpxYmk4K2ROQTFNODVNRVJhUFBwSnc2bXZUYXdZUnlka2Fwdm1hWE45T0dLbk5KYnJYaVpyaXFRN0gweENkQUExUDAyc3BVZFNlc2F2Rk5ZYnFQMUJhZHR2NjRYRnYzZ1Q4WVN1SHFzNytKcnYxWC8zcllEeGxFaXFjUGhhcHJQL0xNWjcwR3VtdGdDWEdCcHVuYTEzYTZJenVlbkVKY1lEckRJd09PSWdEYVU1MDdZMTl0Uy9PMTM3WndTK0doWGdOS0F4Zll6VHNPT3lvWEJPZGRwMnpDeC9GVW0zMmwrdFk0T0Z2SUhqK1JldkhTbFl6dFpzR3dtOTFzUmZiY2JtME4vSEhsN3BKUncxWTZOdzFPM2xjUC9vbEI3NU5lQXlkUUE3UGpPbTEyQW5YcnEzenJhbUR5YmJkdTNYek52QWI2MGNEL0R5Wjh5V25YUml0ZkFBQUFBRWxGVGtTdVFtQ0MiCn0K"/>
    </extobj>
    <extobj name="334E55B0-647D-440b-865C-3EC943EB4CBC-4">
      <extobjdata type="334E55B0-647D-440b-865C-3EC943EB4CBC" data="ewoJIkltZ1NldHRpbmdKc29uIiA6ICJ7XCJkcGlcIjpcIjYwMFwiLFwiZm9ybWF0XCI6XCJQTkdcIixcInRyYW5zcGFyZW50XCI6dHJ1ZSxcImF1dG9cIjpmYWxzZX0iLAoJIkxhdGV4IiA6ICJYRnNnWEdKbFoybHVlMkZzYVdkdVpXUjlDaVpjYkdWbWRDNVFJRVZmZXloOUlGeDBaWGgwSUh0d2IzTWdmU3dnTWlCcFhISnBaMmgwS1QxY2MybHVJRnhzWldaMEtGeHZjR1Z5WVhSdmNtNWhiV1Y3Y0c5emZTQXZJREV3TURBd1huc3lJR2tnTHlCa1gzdGNkR1Y0ZENCN2JXOWtaV3dnZlgxOVhISnBaMmgwS1NCY1hBb21YR3hsWm5RdVVDQkZYM3NvZlNCY2RHVjRkQ0I3Y0c5eklIMHNJRElnYVZ4eWFXZG9kQ2s5WEdOdmN5QmNiR1ZtZENod0lHOGdjeUF2SURFd01EQXdYbnN5SUdrZ0x5QmtYM3RjZEdWNGRDQjdiVzlrWld3Z2ZYMTlYSEpwWjJoMEtRcGNaVzVrZTJGc2FXZHVaV1I5SUZ4ZCIsCgkiTGF0ZXhJbWdCYXNlNjQiIDogImlWQk9SdzBLR2dvQUFBQU5TVWhFVWdBQUJhY0FBQUZEQkFNQUFBRGN6YSs5QUFBQU1GQk1WRVgvLy84QUFBQUFBQUFBQUFBQUFBQUFBQUFBQUFBQUFBQUFBQUFBQUFBQUFBQUFBQUFBQUFBQUFBQUFBQUFBQUFBdjNhQjdBQUFBRDNSU1RsTUF1Ky9kelpsVUVHYUpxeUoyTWtRZjdwNlRBQUFBQ1hCSVdYTUFBQTdFQUFBT3hBR1ZLdzRiQUFBZ0FFbEVRVlI0QWUyOURaQmtSM1VtZW1lbXA2dG4rcGUvZFVENHVRYU5kZ0ViVTJPTjRtSExRRFdTQ0MrWWRRM1k4aTRpMXRYR3NCQnYvYUtha2RZcmJKWnFhM0ZnRlBqVllLeFliSytwMGlMZSttYzNxaGxoQmVFMXJnYXo0V1VkZnQzV2czQjRJNTZyaEUwOFAzalBOYW9ac0JnazVmdE8vbWZlclA5N3EydDZic1pNMzh5VEowK2VQSG55NU1tZmV5dUtzakFEQ2VUeXo4MmdscHUwaW9YZTFrM2E4c050OW1YMm5jTmw0Q2pYZnBJOWZaU2JONjl0V3kyd3pyenlkZ1Q0eXJPOUk5Q0tHNjBKN2N5V3BObGxDK3laTk1sbnRFTVNXQzVrcGlRa2w4Umd4VXkraWNseVZFS1gyVGRIUmMzd0pwSEF4V3dtbkVSczA1VEpGZGpHTk9XenNzTWtzTXJZMWpDY0xEOVJDU3l3YTRuU3k0akZKTkJsejhaZ0dTQk5DVFN6L2J3MHhVdTBUN0hlZHRwMVpQUXRDYXhrYzZNbGpaU2lKYmFaRXVXTWJFZ0NYWFk5Qk01Z1NVcmdZcllXVDFLY3cyaGhtWGh1R0U2V1A2MEVGclBwY0ZvUmpsUCtHR01INCtCbnVCTkpvSnd0WENhUzIyU0ZhdGx4MTJTQ0c2L1V4V3lMYVR5QlRZTzl6REx2WXhyNWpWcDJpV1duaXFQS2FtcThCWmJkWlpwYWlLTVFLR1greHloaVNnU25sdTE5SkNMSG9VUmFtZjh4VkVZSklXRHZJN3RKblpBc0I1TTV4ZGpPWUl3c055RUpuR1RzVWtLa2Jod3l5NzNkUTJDMndGNTJDTFhlakZXMldlL21hL2JKUTdsZVZHUGZ2dmxFZlNndHp0K01seUtyYk5zUjl1cEhmdU9GNTFQZnJEL08yR0ZNRUU1TGI0ckUyazI1b1ZmejdnVzBHRUxxU28xTnZjWk5vVlNIM1VoczZPMGNOZzhKMS8rMU85bnRuM0JvZnZrcDF6QkhSZThlNkh0dmcxSTdSVkpKWkd2eVZNUWFJOW85Y2k3MWcyUjEyU3NzTmNieFVzTnArR3I4dUtuS25uSlFVa2xrdTZlcGlEVkd0SGpVRmkrUHNkZDg0NDgreHV5VkFqWjROcHlHbjQ3UFR0VlozQldBVTIyTk5ZZWxHenR4K2NJODhRK1grdS9uaVorcGVWbGxyeVVhKzdaeHhvMnRIWWR3TmU1cVZOZ01QdWFEbmVwTERpTkhKWEg4Mmp3TlZ2UjM0NmhJbHJmanNuQ2Y4VTZnV1F1dStWZVo5K092R2RmWmxmVGxBRC9vYUprUUpiSlY5bW9WbllObmF3YUwvcGsyczdRcHF1dmExdm54WFpjSGY1MkkzTm04bUpLZmhaUGp0blUycWU3Vk9UTFY1U04ySDJGUk9hMm5CeGpGdGNDYlZiTnhEQ3BIYmxrdXg4eEtRS1N6R1U3eFduS01mU3NPdllFaHg1UmpnWm0rNzBlUkF1dEVyQzA2TTJnMlZvbzdNNmptRUtvb3oyRHphTVJtNFpYYkdiaVNJektUQkZxVnZVS1NLYkdyL1FnRzFvbFl3dlhEVGhLT2FzNGxTVzkrYUoyWW43VVpqbDQyNWtjd0NYRFMxamZ4Ni8yM3p3THJ4Qmw5K1FUcjErOGswTW81SkxIYWYyS2NOYmRZSis3TXVzNVU2OFA2Y0ZOVVVPdC8wYUlRVjZ6MUdXM1hGMlpVVDZwQ0RoS3ZwMy9OSUZodkhEakFuTVdSSjRQYy82ckp5azFXQ3FOVVRqMlZ2bDV5YUozWW5jVTJOWnBVN3U4VVRkYmd1U2wxWW00Y3EwTDZoOFAxbVg3UjdBUlRsMHBocVEvQ1BYNU1vVmpaOVJsdElHTW02Y09WeGN3TkdWMmRsemtJYS83VVAzRmZVUHNSTSttcTVmd1B5bnIybGZ2eDVDMXZkcXV1T2hmSWx6OWF2S09EYmVwekxsSktxZlhaYkIybXhQMUFzczJaN0I4TlpJRm40bEpFMmlkY2F6T2ExMk9OemNzdDRmZXl1OWtQTzdsMSs2cithcDY5cVhROVl1eUNnNU5XQXR2blo5S2lmY2gwVzNQU01teWJicVlzaXBPSDFWUW16c1p6eFVaVWNqMGdaNTFZWjIrUGx2UGZvNzJXbE1XQjd6UTlhMVh4Zk9hRXMyOTR0NVdKNktsSG5oY0tEUmRyUGxJbjUyVC9BOHVxdlpRbHNuNUlWM2l3QTgvM09JN0JMSmNkSjNwUkxTV3A1ZmZ6dzZlRnEvMzMvNUtWRDA2N0xIY01LVDhvNzBsVUN4YzhGR1p3OTJyOFp1TzRhM3Y4VXNtWGdOK1o5cktsY2todk1HRVM0ZzVGN1Z3VTVaMkJaYThUYzBYdUNLSS8rcDdVSkN6MW9sUFRoKzk5WG9HMDlrWDNVSGlVNGkrM0svejBYVHlic2JQbmVhQjNHUkFPUWFrZmVMUnc5azNlUEFKT1AzaXRvL2x0T21MVzRLa2o3N3g2YVJ3YStmVFAwZktldGp6eGZUNkREN3lsZU90MysyTXJCTXo5MGd0NnIvOHpyM2dRQ0p5YWRLbUx1MUZVY0J6bWxyVk9QQ0dYN0UzYmZubzFKSnNzKy9ZTTZ4cjlrdm55QjVINExyZENMT2J0emNuSDM0cGtmSi9kTFpOODZrbmlnakYzSG9raUxCRU1MKzEwRm1nUWtLZERnNXZIVXIvT2xQTWNyYlhZWFpNL0I4LzR0K053R2dKaVNjZUt2bHlEUUpDQzdlV2pad2xYRWhDM3FkdnJ4S2JjOUtqRjJITFlTVEJSODcxMytFbVdEL2dPaUdMYnJRN050bGUyMFlPSGNMWGhEeGg3MDF0SzRQU1ZMbTlvamJsaHM1Q09aZWlpMmpGTU5ZeUE1ZUM1N0NhVVduRkhiNjdzYTgvUHM2c2Zpbkx2Wk5kc1d4MEM1cHJzQjdlam55dXhmMkt4RmdSU1BzNy9PY0VUdUsrRkN4ZTdWcG1DMmZEQm03Q2kybjJYVFF1N2YvUnJqOXpsdUFvYzgxMlAzUFYwL3lMSWFmbjdMREIyRm52NG1UVC9haklnOXRveUFzcVpnVlVrbjdsYTRFWW5QbytVN0QxaERNL3Q1T3ZHaW1pc0N6UG83YlR2NkMzWXE3SW85d1cvUnZWYmQrK3dOOHlEd012Q0ppd1diTE1iQkpKZ3k5THZySjZKb3VQT0NaTzlUcXlxbVVwWjdISDZwRzUzcUNxSUhoaXMxTWY5SGdMQThvZWlpbTlvYURGNVJaSG56MjdxVzFaT2RVaFVwTXozd2F1d0FoSUR2Qm4zQTV4ZThrc21rTTdIQkRDUUtJN2ZERXNETVNmT2JOa2JENThsL3R4aDlJUk1LejNtRllXQStFbmVMWjRwOVpqSGcwREtXVkhDZjJ3dmlycE9uUXQ4YWNpTFIzV1ZVNWpnanRuai96YWd2NC8vY1FBb0toTi9ZWmpOVEVHZ2x2Mk9EcDlpM01VN05nRWR3MEFvRFVGclZuOVgyZmVMcXNpL2Q5WkVlVWVQODZsTUlXVlV1amw2VTlkOUd6QjYwVkV4Ni9wRzU3dmVVZ1IzbmxMalEzNTdnbFJiNlZjVUJZRVhsZk5tLzNoYkVFajBhdlljM25Rc25iVk9oR2tSTnREenVnVkhRLyt1aHZSM0xRUzBTR0dPZG9kMXpiWHQ1R0kzTFB5SUZwSjdOZ0R1MUFVbm5YcmlvdjVJRytZUjUvZVlManZ1ZnNWcldqS010U0NBbmRGSnRYMGJNSHJSVVRITklYa1p2TDNpTTE2WG1odWY2RXcxc1FXQjVuV3JmZU5pQm9GZ2JjbDJPS0M2RFl2ZHNsblp3S1hlNERtSTdGb29JMFp6SWYxZERnRXRnckYxVE5PZExza3dYN0h3STB5bldqSUN2dVlwdVkyZFNyeXB0eEJwQWRDdzYvaTdiU3VWem1jbTBEblhyVXFHUldFa0xnM0RtUzdmT2lSLzYvazMvQXF0M3h3N3RXKzJYQXQ2amdrQm9mTWR5Y3B4NVFqRHlRZ0FDYXRtdHd0Q1VVVXB6MW9uNnJmTVR6dHVMV0dORWlaUzZ0aVdlSUU1a3pZbUlpTVQ0cUlLZ012TnF1M1N1Vm1wcEZiTnpFQU92dGJ3V0dYbzNRbHNRNHlNRC9qS1M3WjgwSUIwbWFVdG50Tk9oM0dQMFZGcTZ5ZVU5clc2aDRESHpWNGxWRmsyTWdoRWU1Y2N3Uzg0R3J0a1dacDExUW5IeDdJRlNxSVRLVFZ1bVRnNkNpVjNYR1p5VzU5V05kQ3p3dXhwaHlETG51VW1XSnJobUxXcEFaVng3eHpZRmFObjl1ejBvY1JMNmV6QldHM3hEOGs5UzQzdEZ5MkZsdEs5SUxDdVhHcSs3WHhHVkJFRUlxdDIxVFlZTGNmdnM5ZUpiYVZmTFZlUEJQV2hmeWRUYWdqOXdDS05lY1RJQUhCeVA0eURCQURVeUVtVEFMWXRBdWxIMTYzWkh5THJiNDB4UURmVFoyZElEV0J3Q01hMDJmNGh1YWZVMk03U0hRemZzY09yQ3dJTHhwR09pc29RQjRHMDlmRmRuTkF2Q2RXdU8xczhiZXQwcXF1c1RzMUJHYlhSa3lrMWxIVExxb0c4VkMwRHdHSHRYQ1V1ZXR2VVViU2FkcTlaN0ZHMHdxN3RLUkE2eHhtRENpNmUvczZPbXp1VFZNeTlTNzdXdkRkWGVVcmR0VVlWVnZrTnprQUlpRW41aXVhdUxKMkZJQkJZKzlLeUZJVlNGNXpwdld5WlBmMjk2TExuSmVtcUJrWW1VK3A5ZHlGRFdtTFhRa3B1ZTJqa3hacW1jOHhGYTF6YVJkT0tseTJYQTh1UUFkWTQ3N0NlRmo4RDZXS21TL205OWxpM2UwcmRWS1lTZk1KRWljNExBZEhWbTdvdFVBc2VEd0tKMENXQktyQ2crbHRSOUROQ3dhUEkzaVd1S2EralNPUHBZNWo3NzMxaFlUZDZxTlQ3N3UwbytzcWR2VGVxVXRIcTU0dTlOeDRJdXZqN3dDY0x0LzZtYWQzaWp4ZHUvU21ST1d6M0E3dm16aUJyZVoxQVNtNGZIcEE3c3FIcjVaRWx6MUs0dWNtbjhtQmhSNUtGYitpUE1hdkMra1JyRTR2QTlGRXdtUElwdVhkSUhsc28ycHMxNkQyeFFBb0IxNVVacDFaWHBJeURRQmhxdWM1YUZYMHZkamFrMWNZYXNtRUVwL1pWWVExM3NDMFM4VDNoM1FldmYveGo3RlhSWjY3OXM4OXJiM3l0OU5USFA5eTh1aVhML2dHNy90LythK0gzMUpoWUtUejE4WSt5MS9ITW9VcmRjbzhVYTU2M2dXem5KUng3bTNvSlhDS3N5Sm1JSjJid3B3U1cxTGlpSllCN2VHUXpNQWZmNm9HbCs3Yk5Vdkx4RTFvWWtyWnJxYUhIWmxTcHI5OEZnZERqQzVxOXR0VHdJQkNHdWlNd1Q0bStyMUlkcTJyR1BtRTdzRzNwbktPbkRpSWFBOHZ2S2JMZmYyWTdpcHJzQTA4ZG1PUGhxUHhOQUtOOStabnJGZTcxTGhXa1V1ZEsxM2VqNkRQQ21nMVY2blhYMURVOWw3a0dyZGtURGVCLzdXM3E2amtPT21WNVVCWm1hdEVTV05xVTFHbmlzQ2NTdDlMcWdGV2tpNWxhQ2hvbWpWcGFWYlNkTlJGcWNaVWFVNFVaVlRDWC9BNUVFRmkzSFZHSTdneHhIQVJHKy9JY045Y1ZmVitoSmVacDFWQjduUml0U3hjUVV6N3NIMGZ2c3JkQ21hTVcrdzk3ZUN4SW8zbE02Tm1pUEtjc2l4TzJ5MUo4OTRrQlYwUTl0RFdocXFKVUlFQ3BPYUxNS3JvNmpwY2xYUjhiamRVKzkzNkRGMXA3YllCc2lxQW1XQkExaTgwWm0zMjNXZ2h5eTRYTVBBVVdua3UzMHJwOVZZZXFjcFVhS2FGNG5BdUlqc3hoRUlpdTN1Tkk5QWRxd1dmQUlCQzNQbTZoQUdxaWNYVWFBVlg4NTZGc3E1eDZBU2xQdzJtQjAyd0pQWmQzb0U3SnFiWXAxeDVsN3RHb2JYQjFJbDRTMDBDWFA0WXFOVXl2dFJDa2RlQ0c1STBldEcxdEJqb0FGY3ZuTHUwUXlzeERGengxWksyRDNRLzAzWVdacytkV0NPWG9QNU80cUJPbXpDRzVKT0FxTlJpdytsZUtMZ2hFM3BibUFSaGNYNFBBT3FBeWlNYnRzMDI4KzdJalN1Y2NoM0JaTEpUaGhrRWYydzFDYVFuYmZFSlkweFh4ME9laUxiWURuQ3BSUkpCS3ZTUnQ4M0h1MlF4VmF1d2ZXQ09acHZNOVRrMzhJUmY2bkpXMnQ2bVgrKzBRNXo3M25pODljaGNaMEhmZDJmdUIzN0tMVS95QlI0dTN2dmpBaHE1OTlEWjIrMDlGMFZkSFVrSHdwRG0yRjRvL1hmamVqazJWcjBrMlhjZ2tLWWU3M0YrOTUrRkhibXR3T3AvNzJ5Kzk1YTUvaENnVzVtZmRGdWw2cXQ3TWg2dEV5VXBuelpsb3FWNVhxVnZLbW5LV0NzTEZDQUhKZm5VNEV2M0JERVBHTEFna29hdHdoWmRvd3hLdXFQMkNKZGVTN0JQVjVkS1BrYVhPSTBwSzNhREhnbGppTDRrR0hGTUwvdU5jNGVwY3RiVlNMMGpUSUQ0N09WU3BvU0tXS1NZbDdsQ05NbFNSM2xVSmVwYU10M0xLbi9jVUhrWWx3clA4Wmk4aXIxRnc4ZndnZnd1ajkrOE05SDBGOXFaN1g4QmVidC9DTmJueDJGKytXTE5FVzNwbkJNYVgyVmttbGkyNmhON0IwcEFKSWk1MzZHeUVCdEVoQThETjRFcUIzWUpHYlJIUUQyM05uOHBKV0RxblhhT0RXbHlsN3BvT1ExNVI4QjRDWWx2T1d1QmhBaWRoQm9Gb2t3N25lTE9Pb1JQS3IrYlJDTGVERG1TTVAwN2pUbVVPMjlyNFpNVXA0V0cweEg3Z2d1ZzVxZFJWMVk4TFhNbUxVZzJscGE2eTUvNk93cE84NkZDbFJzZGJxa0RyUUp1anNyZk9zYmVwcTFZNXV3eTlWSVh3TEZ5Vk4vL0xQL29DWTJUTWRQaHJkZzF2WVh6ZG1oQVcyVGRKQ3U4dkZPV1VvM0dIUjBqSExuQzBOYnlHWDNOdEJLbWRtQjZIRStxTDRYRVhVT3JsMGlzT29zV2lMVVpEcmNMOFJpVXNIZitRM0ZmcW1pT0RvdkF1UTBEeTVIWTE0MUFFMHNBZ0VHM1NvY0ZMNUlyWDh0ZTJaZUcyTXRreXZjL3VLUFU2Mk1wN3F2UWpIS1NWK2h3bHBWSzMxZUE4eHQwbHhZdFU2cmF1Y0E5RmhpbzEyTFpPQjZyV3dRWktrekhhd1ZNSEdya2JNcFYvV29QZHlPTERQdzYwWjAreS8weHdDRkNWUU9vMHUzcEFVTHhNeEorSTFxL3RFb1RHd2lhUGpQR25qWXEyT0g0Ym51TTZScElkc0lQMW5KMmVKTzV4dC9Kd0hsVTJpTkx5dzQ4aStxM29NdCtLZ24yOEVLRHZ0cDRRRXBaT3pkSkVVYjlycWZkOXBUNEhyQkNRem81RlJ4QVpLRFd0eVlKQXl2ZkN5dk5mdXFWQVRVOHZjbDhzM0VHWlh5LzhrRUFKS25YWEtEV1ZWN3hJcGRhNW5NSlFwWWJlaW9VbFI2ODR6Z2lkekZpckRHQ1FPN1hITWFOUEQ3S0NqMEdkOHFJbzNwelFnempLbFlSQ2tLNUxmVnRTcmNFRXRTbElqLzYzTHZlb3NLMi9SVDFoalU4UXdieWl2ZS9SYVRxWWNlN3d5cDVxQS9aTjJiZHlWRE92eXgxUmdnd1liSWlZOVRkSjZmaUg1TDZsTHZ0S2ZRYU1oSURrZVRwS1RkNWxFR2kxSkJETktlYzRrQ2RBUWFWdUdmZURGS01vZlJpcDFDMkg2RkNsaHUyMWZHTzAxckp0VUdITUczYUFGUkMxL1p1SG1PTEN6bGR4alBDZWV0T3FiYjNtK0ppZXBER1lkamgyVlhwUHBKT2JxdnlvejRKeWowN1NDY082M1JRaVlSODhqRXJTeFF0d1Z6VjZpcW5nV3d0U1lFM2JPR2dpR0FGeEE1NmdkTXd4c3E3U3RkUmd3SExCU21MZEdnS1NXMlNVbWpvYUZJTkFYVk13c2hKb3NJc1lWT29UYXM5a25ldHZYV3FIVkdxZHl5a05WV3E2TUczcUxOcUw5VFdrdkI1WkI3WU9EVlBPajVIZm9nd1g0dHJMS21xekhOWGw4S25yNnBmR1ZtcXE1aHl2dTAwN29GWC9tbWVmRDQ3bS9vcXZPa0ovVExlS0pnVzRnMXZkRUprMGFyNVYyUk9KcnEwVEtqL0t4MFNJckFTbEV6c2s5eTAxR0lncmRRaElhMjdUZXFuVVFhQnVYRERpclJNRE9FR2xYbEUrUVp2clhFdktXQ3ExMnRLTFRuVkFjS2hTMDZiTnRxcVoxb0diS3ZGQWtjbXpkZ1doOXl1dHNHZmdmb3lHeW80Q3dpNWNFbkVNZkMyM0UvSk5yS0xXK01qVXJZb09lZEs2OW9EajVLa0djT2NXS0FhdFozVFJhb1FYOWQyVkFIZW90S0dxd1VSeFZzYXIyakZUbWZRczZiWmIwQVNsRS9qRkJOZFM1MzJscHRFZkFzYjFkenVLZ2tDckpZRm8xL1JuSUpkQVFhV081UEZLbE9lT3d5bHBFMDh4NGFHWDVHdDc5VDBRR0tyVXBNZENMNEJOSnVUdC80WEM1LzcySnhEL0hzQ2NVTWV5a2o3ZTlNaWRkakdOa2xNeGRKdHhiMXZhcDZsWlVLeFFONEdlTTJZOHloTmduRkJUVHZNcUh5eE4zLzNJK3dCQkhNcmZMeGl1T1dxSU95aE5RekZaWUZmVm9tTTlaSlA3S3JXcFp6cnB0TFh6cGxqeXR2VHl6dVVZakRHcDFQU1FRUUJKZjZIR01wQ2xsa29kQXlxYzhMT3BCQkxPQmxRcjlSbENXWkV6dGp3SVg1R3ZVdWZGOTJiMjVZYnpmWXp2bkt5TmRxS0lHZFFvTmEwTFRMajZkcXJVQ1dqL3N3THdQdDhxRXZpckRaR0pPOWJXRWcxVXhlakZBTEphTEJMQWxHV3dEN0twb3lORjhFcTAxSytUWEVuc2tjUUpOQzNpRnNYVEtOY252TTVDUXpURW5hdlUycCtDVjdMaEZxWlVNV1MvRTVSTzJWb1F5ZHBkUzQwZWkra3ZEYlVZVUtxeElVSktIUVJLbFBBak4yaXBKWXBVaEtBdUNoNU9TbHVjeXorMUN5TmNsbnRoSjdtWDhHbDhXT3IvT0VDeFhMNjNoYi9sbHhFSmJMUFNZMEJBNzNaVU5rM25NdlJlLzVOb2xCK1FlVVhDeXNiWUtLd2xjUWtGU2FmYmtCQlZZT0dwU2dOSHJLeVF1YWZLMXpaVmJMUW52Qms1MXgybndZSjV4aG96UktJY1Z1clJxQk5XaUR0UHFTOUphcERkcG94YWo2TGxobWx3Z3RLSkhaTDdQblZNZjhuRERnSGorcnNiVW1vQUJ3WjkwN29mMWdvK3dOaTdQVm85RDYwNDM0bGVVTUNYR2JrTUY0dFhmK2MzU3IwOVdmQnYyQS85OHEvMS9qZGduU1BJWXJIM29vZEwxN2NSL1dNcTBpQmczNEJTSFpWWlJVTEZRMDk3bTdyaXU1L1FJZjBSRHFmYnlGeHRFam1RNTArSzg4M1NIYjRWcGpXeDJ5RDQ2S0dyOTFYYVYxQUtFeWc5ckZDMmZIZ0xQSHJVbmxzVWQ1NVNkeVExS0RXWHZrc2M4dDl4SVVnbEo1MzRJWGxBcVVtTlpTZ0pFNDFIREVoS3ZhdndsSWtPQWpWU0tITGNJaExLeHk3aExlZHZZWkFCUFRwUkVZOUNnMk91L2xxaDk4YU9MdlNYZC9idTJGcnIzZjZTUFozN1pzNWd1WGYydGtKQTFyb2tObmpWOFFWZ2xkZ0ViaUVpYW0xVFI5MW4zVHpzLzJoRDdYVmJYYzUyTmNmdGJBc1ZSLzMvVkZKYTIvWkpEa3puc0E2VUpmWXZBTFBxa0tlaXFIaDNJSW1obVFIdVBLVldQSWVWbWxuUzFaVzVTZzBtdVM4d2lYVGloK1MrVXVjRCtwdm1RckVibjhCMXUyY1hRYmR0cWRyS3RpdXNnTmFUQnU2QlRGZXVXQms4V2pacTduWmJSZm9GRVBDT0tWUVZuVmtIelgrc05NUGtqaENEWmVhckI2QSt1WXMvKzRZNVdScTBGYnNqMEF1aEJManpsRnFWbWxpcHA1Rk8xZmh1aWc4eXNucnVDMjkwcEtuVWVhdHV6ZExNSTFEcUhWVnBVYThERmNSOXJrTUJGV1IvUThYa2M4WFE4U3gxUzk0dlFla2RVd2pFU0FCVlFOblYzNTVBK2VyV1VTV1JqVy9nN1UrdDFBSHVYS1hXQzdXK1N0MGgzcHpnRHZuV0ZOS3BXUnNXcW9wQlNsMFVIbHJlTWQ4Q1NMc2ZaQnBFUUd1b3A0TkFoUk42anJCT0RCVkxHb1ltN1VpYThDQjlyOVN0cmF0WFpsam5YUko1aS9JWlZheUp4KzAycUM5dHhaQkh2bVVJWXJ2Z09sSjBaNGFDOWNxbHdSa1V3N3B3dzg3SGpydnY1a09wT3piSytQRUFkNjVTNnpzR1VJTXpjZnBvV0NjR1RVNDZKVXZtcWhwWHFac0IvY1VhblgxSG9aTXhvRjUzRHcrbFVnZUJwbVE4dHFTT0pPSlpzNFNnU1h1eVBxaUpxeWMrSDNYcmFraXhJM0tyRUFpRlhJRnZ0NGlFMjIxU1FxUWdIWkZQZndIbGV4ZlFQQjZ1YnBtOFVXSnRQaVlNSmh4K3E2YzRmSHFsSnAvRzQyNGNwU1l6Y1dCWWxMSEVwQk04aFhDVnV1eE12a1ZodFVKQTJzNDFyTW91Q3dKajdiRUFhNEdwdzhxZVZSVHQzSk4xVVJOVVBGaDlTUitqUkpHYWQrc05nU3J1Yjh0aWJyZEJ6RFNYMFRLekl4SHdnTnk0bVZzc0FFN0IzSHN5U1AxaitERHRKU2NYbG4vVEFZUzhiQTloZURMTzNUaEs3WndDNk1vU2s4NUthR0oxbFJxRDBpeDF5Q2lmQXhzaElGM0ljNVNhT2ljSTFPMElSZjUxQ0RoekdOcTVKeXVsNFduYUZlQUUrVmNVK0JzeVVwQWxLbm9pUm9iYmJkSXpjNGM5S2JWdzBIOGVFUjdrRjNwVkRZT2ZGOW5UTGtMWCtGRXFBNTAzc0QwS2I5QXp4dDI0U3QySlVVOU1Pb0ZEY24vM28rWXI5U2JZQ1FGcEhqWENRdWZRTkJvRXh0b3pmNENDMFlVcTJqV0lRWEtLTnoyRUZhWExCWHZaRyt3MmN0Q00ySXhTUisvUEk0ZUNsZXRWRTB2bWlyWi9UdG5OT1BOMWUrMFRJekVpd09jdUphV2VSRHB0ZStaVHpYRXRkZGVhWFBuK2JRTjRJU0IxYmtmUmlPU0NKd2pVU1BNYnNaUzZNc0kyOVNXdkpjZWx2VFFYanduQlZXcUltUVlMV2VvTzVZb0F1U2tYSnZyc0o1RVhQTDFRMlA1elFYMTVYV2ZJVFFTZFJxU2VoRkpISG5kSksvVVUwZ2tja3Z1V3V1MXM4RUhHMUlFaElMck1NaFByWXZVVUJOb1NudE80MVpaeWZQL0FZWnJFMzNFZ21NbXVDTUFKN2NSUTJsVnE2V2lRZzdZbHNPa3Y1S2FzUEZJL2g4clp0MDN1c0ZqZW5QUUlWTXlVei9tRjZ2WWRIVDl6bkxUTjNiaEt2UldyS0RIcEZFSUNBMy9XcEFrcFM3TkRiTWdlQ0FLUnQ2TlpCUVluRWdScXJMbU5nTzJPWks3bytGOXhqdEhTbUh0U3ZDRHdLczZ5MSswMmxDUDFKUWR0eTFBRjFObVFlakJBM1dCN3NaUDZ0eG5XM2kyeTBKZG5QS1NvSE9lWG80eCtuMXBUTk55TnBkUUZwOG1TV2xMU1diVFhnSnBUVjZtUmVrWm4wV2JNTGxKQllNa3NydmpwQWQ5S0NnSTF2Ym1Ob0owZHdkeFkyOVN5UFl0cXc5N2RNWFc3clNYZVFBSFFzZ1ZrcVhIWkt2Y0tMWm1tazYzQndVaGRIWkJINi9LK0dTcWhtZFVKb09pa1pXTDArOVFoN3BKVzZzbWxFem9rOTkwUGJEa1pjMDQ5UURJSUF1dTJBTnR5U3lBSURNbDBybURXVHVwWTI5U3lFU2Vrc2ZWZUszS1Z1aUxuc29JdHRxakYvUVhyUThCWUtrbXpQMVJDUy9xQVBHcWRFZGo3d2doOWZkc3FQUFY5NmhCM1l5bDFNVFJRazVKTzFYSDVWTHZCbitWK29GUHBpRXNFSlBqUlFCQ0lYbW9vUkxvRnRFbUpJRkJqeld2RVV1cXh0cWxsZS9hbEg3dkNuSU1QdDl2S2N0amp1V0hrQUhtZG9XUEdqZ2E1WHpuVzRFQ2tZdmEwSzVzaXZ5Zzg5T0tCaFY1U1YxTXRHS0tqMzZjT2NUZVdVcGZzT1YxeGtaUjBRb2ZrdnFWRy8zSTk1blZqVmNOOWtTQ3dhbTl0N1V1K2cwRFZqcmw5MHV0Y3U0STdXcy9aS2hIakdmbHlybGRaeThxUFZaLzVreGx1dHhXa0RlZzZibStkUTljczYxd1BYZDVVVmRuUE5XdG5zWDZCNThnYVYvV0dDa0VMbHBXeXk0OGNEM0UzbGxMbm5jbEoxcHVVZEZ5WFR6WEt0ZFM0TzIxRUFyTWxiRThJaUhKbkZBMWFqWEN0Q0FJMTFyeEdMS1d1c3JBTHFsaEhYMWpLeEtIeVU1VzBsU0YwUytJQzFYaHl0Tm1wSkdRTkNoZ3hRTmNzU1ZaODhxcG0vOW0yVnBpbFBaNkwvaUxhOHR1eXNvRE5oUVNOOXdoeE41WlNOME11VlVMU1diYmRETk11VDZuM3JSMGdtSzFOamhnQ3dveWIzaWxLK3g0RW1ycm1ORWFhS2xtcmVOc1JQc2UwSmVlb0xyMWFzaTJ3dXE1N0I2cm1qUnNjS0lvRXROdXN4REdhQ0dwZmMyOVpUcDJwL0dzdjZaZ0VqeTBYTmpRa0o5MFg3SG9UOFBoek9nY1JaenZMemhnMUh1SnVMS1d1eTBuS3FUQWg2Wnd5eDdzMmVVK3BxOWIreTdyeThFTkErQ1RHRjFlU0N3THQydVl5RGdHcjZRa2RZSFF1d0N5ZGRtODU4QlU5dmZQUEFKbzhVRFdlWEZ1YkFIdmhoaFU0R1lZMVMvdmI3c2dRNUp5VnVnRGRaNVkrdUowZ2hsVkw5RmYzakVEaGZ6RnVURGRaOE5HakllN0dVbXFZUkRNQVZiMEpTU2Q0U083NzFIVGsxVkFWZDVYVkRnTEx1amZSSzhwcUI0R0szcncrd2I0NkFpbU9zRTB0TkVnMXBzNmVsZEc4Y3N4Rkd0MW05TCtrNDloTDIxRmxvWVZiaUtOK1RkUC9uU21PaW80d3BFVGgwc3YvQlEvditlV1BQRnlTODR6c0wrZnp3cUR0TEY5RjZYSCtocmdiUzZscmFzSzNhMDFJT20xcmpXMlJCMzlQVzBtTTdDc3EyV1RQaUdnUWlCNVJpTmlJMmhQeElGQ2h6ZXNUSnlKNlY4NXFmb2hkNkkzU2Y1R05yMjV0U3NTaWxnY0hVTGVwbTZqd1dwUi9EYkRXc3BLQVFtMGFra2JVTk5aZGdmaVZEbDJMZ05LTVlZSXNVK0VUenFLYWRUZ21hdGI5YVFpT0V3dHhKeDBkVHNaTWMzUmI0a3ljZENVRVRVZzZ3VU55ZnZ0UnFxNWdwNjUxSEw3RU9jbGlDSWc1Y1VkbVYzVlBCNEVTYTI0ZllGcDZ2K1F5cXpZSDJXMXFWSkg5RlJUWWtwaGFDQ0tOYnJ1bU5CVDkycEJZMlBaVXd3TDFjaWpVUnRtVlZlWTR4TEpNRWJYb2tjQmg0TU1LMXdWZW00L05FNDY3Z1VsMlExS1o4QkhpYnQwTVpXaUpIc3dBbTNXV3JxNGRHbGNKU1NkNFNNNnZINWoxREJoUlh3M2k3d0YwSkdkQllGRWJvcWJwaWlCUXQyOCtJNWhvcEIyRjh1bEdoWGg5UC9JdEUvQ0JMeUt0REdOT0s2c29pVzU3cGlrVUNodjl5bEREMlNpd0h4WVlUUW1GMnFpUmNWLzhTQkM0ZWJkYWNTMGJNQlVrUyt2Y0lTdzdTZ3lUZmluVWt0RmhJZTcyelNVVGpFdzFUZE1kWlVlWFJDVkJWVTlHT292ZVdKZXRXczJEcVE5WlRjVEY4NFpJZGszL0JZR1h1UXlCaTJidmlTSlJGQVNxekRsOUNnL3NnWWQvbDJUQjJFcys5ZSszQTV3dWYrbmVSeW03OTYyNUE0Z0FBQ0FBU1VSQlZLbTMvVG9GOFlrbW82NnIxcnFRaWxPM0hSTWY2eTFycGFXTXg2UzQva1pCSWIrbVVQclZvalM2aEdkQ0RkVTYybEloUmt5UTF2MFVXZXBUK3ZDY2w0ZEhzR1VJVFJLTGNmZjc5enlmcXY3ZVQzV2kxWHZlVWtDMDk2SjdkaU1KZnVrOS85eXJCU3lvWllmSlNVWTZ4enl2RFBUZjkvQzl6eU9lR1B1QjM3M240NnJDdHJRZnFQYUNna1VoSUJDRUVXaGJFZzhDTlpuNWpHRHJFbXBSNXBJUWYzWUNqRUwxZzBINUJhdktNWmRscWR1aThsT2RhUGtMNWdzSVBPOUJ4bjd5THg3L1k4YitvMEJkWTgrc0ZWNTVFRVdQNTQxMXNEbUF1ZTA1Mmw1eU9WRXNGTm51YXY3VmRrbTZYYkxyQU1aT3hManJxc3IzNk5zNU1uVG9ncklJanZ1RDZpQTRIeVR2TUU0dG5XcGNYbFhGQmozMVhqNCtwc3lWdVNLVm0wc2hDSHhDS0ROYUpwU2JZd2FCWTB0eXBnWFE4VEFsKyt5V3MrZnZ2dnN1ZkZqRU5YYVNsNU1GVzF3NjNsTnRYMU1UbDhUblNyMVd4QzlXc043dnVlMkJQbE5RMEZYSUR5K1huRVVGYjNjUlZlcUxWLzlFdWVjY1ZPVGw5WjhyRXU5K2RwVmQzMWFGK0xPcjNTTUhQRVlpeGwyM2Q4dDVFaE1VYWhFeXUvM3V1MjZqVDdKdzhOMlFucS9COE80c2wwM1duSXgwQW9mazFSNDRFdUg4TFZxcElkL2VuMGJSTzFtdll6VTlCTXcxMlN0M284VVNmcmZUaENEUVpNOWpyQnBjMzR6TDZXSklxYU8xWHl1Y2ZWSEhwL1dIajlwUWZnL3UvWjlrWjk4Z3I1RDY2SlIybERxRVFMQmZqUDJRMGI0MWkvWXJOUmcrRW5lRFNKaDF1SVhGbFhwcTZZUVB5YTFxVFBSSjdGc1ZXRy9QUUJBTEFkZnlqT0d6WUs5MEVJTkFCMlBlRXUzUW50UFlUQVl0OWRoVStoWElHYVBURHlVSXp3ZW0vaUJpZWtDelkyclZJWlRhQWt3UzdYTklIaWIxMlVjTHQ3NjQ0K1dGZ01zUDNkbDcvU2M4eENEUXc1bXJaR1hxYlM5cXpwcng0SGpyRXVrMkxhZFZaNkdvd1VNamhkQW0yOUJTaVNKQUVHb1QwOUJOUkRwOURzbE5MVGR4Yk45WkZFd3FpT0JDY1ZKaXNYS0xjYmMwaGhNQTROaHNNd0NlTFFpK2Y2ekNSSlQ2dUxXVkVhdmhKZ2ZVcDk3MklnSGFIeWVuZENMZFJvUjRPQ20zN1ZSNnhDZW0vcjBSVWROREt3YXU4eVlpbmU3Z2E4THB0ZWdHb0p5ZmV0dUxOOUtiWkJQcE5pMjk0MnFIUTBOR2ltQXowTjBOR2FsVXdramxnTkZJUkRybHVGdVRNT3MzTGpsc3BTWEJmUHp1eDJRdVE1Q1g5bVlRUEF5NDdqbjZ3L0JUeWE4RjNMdEVsTnJlZEU2Rjh4dVhLUHpPa2ZiTGhyVXc3eHJGUkxwTjExbmUwZEZ4SXBYRDMvemduOWpZOEpsT1FqcDlEc245cW03S3RQTUs1aFFTcUxzZVhoTGRwcm5KRlhSMHJFaVRuUmtMUHhYazljQ1dhUkxTQ1J5U3A4TC9qVWdVaHdPSitBbnhOMSsrblpnNFRrNUlLakR4SjhiVHlJUndUaDY3dkFlbG5yQkpwdG9xMnpHSkxPWklBRExIS2ZuMG9hcHVnZ2xTdUFnMDRkNXlnSldXdXBrZHlCc0F3dWJINGE4VDZjVVQvK2ljTHNGTkxaMzllV2pjQU9rZlpsWm9kcHlFSCs5dGNpaVVjd2xwRXBLNmpQTTJpNFlPalN4TXJ6bEQ2eGlPQUFXT1dlVWtwRk5LVHI3REczR0RZYlNZYTJJblpkLzdPV0c2MWJjN0tTMnZuUGlOUkE4NFFySWRuL2RIS0pVNFNtQWxub0IweGpva1Q3eE5jMDZ3WWw3aG1ZcFQrNXYyUy9mUXIrV3lxNTk2MjFRa1ZlSGFaTjRIM2k2NG9FZ2M1alB2N1prbUk1MVQ4N0FJUGt5eERxcTduSlRqYWQwWnczVkxHUWJWUEdyZW1ydXZNbW94T3RSTWFxNFl1YzRRNGo3RDFWUXJKQ09kN0pEY0Vxa2ZMWGxIZ1g3K3lHbnJkdTlwL083ajdYZWZ2NjJReUxITzRvK096SU9EZURydXl6cjVzMHEwR051ejYwcEdPdGtodVMxVE40NDNSNmRlaHd1S3g5MnVjNnM1akZScjhGdkVNMk1KcnhadEpsOVpNenNrN3l0VXJNTW51eXdVbzdneUp6cWtHV3U2czc2R3p6cUNQYjNZUnZYMFBDUnp1akE5SC9OSUFYZCtyaVRFVit4TnBvVG9Ua2htTmNFOXhRbFpFTVd3cHhmYnFKNktJQlZlQzc5SlBqWGRJMEVBMjlTTmhCcmkvRHBYUWpTbklITmk0T2NlcGlBOGR0R3BQNzBhcUhGeDJnK2FCR2dlR1JCMjlEb0pOZWJZZkozYmVwZFJFbXJrSkdUcTNwN2VKRFJpWlQ0NkZ6czdNYmJtQXRDYytuMXIzWXpjM0poR1ltbFZmL2RKTTNoWUVXeC9kQTZyN3B1eTNrSlNteCtRWG0yZURtNzdmQkgwTURvWjU0ZHpjUXAwR0cwL2pEcXhpRW5rT2hQbi9kUTgrUi9sUkc2Sko5SW4yR0U2a3dpaGpNaElFc0IyMDdtUkVFZENhaVkzUUVhcWJ3RFNVaHA3d3dQcUc1aVZ4dmJId0FwdjdreDg2VzBuT1FrYzgzK3ZNem5TNDFMcUJyOHpOUzZWaFBDYnlieGNsQkEzUjU1TUxkbUZlZlA3NWtSaXkvcW5RK2VCSWF3VXM3MksyWFZFTWRuN0VTdnpZcXJ2TTc5SU56dGg5cTBKVjVndTljM01NaEtXQUM2eUpYdUNXMmtrek9HRTVDN1BsUkpCekdjbWJFaFdiR3dKd0lRMHhpNDBxRUJ1ZTFEdVRaczNCOS8wdTNsa1h3MThQZWptYWYzc1d0cE82bjd2N0ZpK2NXdXF6OFBYWG01YzhZM01PWTVmdGtaR3poQ25rMEFod2FPWDZUZzUycVZ4eG5YdWFMZHdmbHFIbzY3Ry9IQnpsRGtwcFhENzlDakxhNHEyNGVobGQ0cmlXZEdSSmRES25PcVJaVFVsWWozQjIweFRzbkxFaStNN1dGdEh2SWx6MGp4OEczTENqdy9NU1FOdUlEWUsyVTcxYkhvTHU5UTdzNmtwcThYNXRiZE1IT2xKb0ozZHMwbFB1QjVsdkF0NjRJR3laQm9TS0dVYmVtbUlOVWh6TG41K0pzalowUUs2UDJ0NnRObzJmNjNabjUvWHkrWlBPTWx4ZERIYlprcE9tRU1wSFdPOTdGN01VQ2xOalpEUFBoMHh0UXhISjVBclpCODFHRjFhazJLdVpIc2ZrNHB1b25MdDdKdEtFOGx0ckVMdDdETFRXUEthRmhsM0VyTDlqMm1GT0t4OE1idGpNMHhFeWVhWE00RW5LOUE0dFpOc1hsNjlpdk4yTkNFTDJkU1lkc2RXa3ZyYWFkcU1IaG42dVdMMnBtSzZuWWtidmp2cDFwQlI5eVZ3TWR1cTlrV1NiTHFWcmNXVEZlZ0kxSllMMlRmMVJoRFR4Q2pZTmIwMGNlR3M0SVFTZUNKeitTYVUzRWpGN3N0dVVvOGtwMlNSWUtxelhiMWtSV3BUSzJXRzJoYkhyT0wzWlllNDZZbjZkT1pScHlmY0FaUnpwWVIrWUdkQUhUZHQxb25lMWszYjlxemhtUVF5Q1dRU3lDU1FTU0NUUUNhQlRBS1pCRElKWkJMSUpKQkpJSk5BSm9GTUFwa0VNZ2xrRXNna2tFa2drMEFtZ1V3Q21RUXlDV1FTeUNTUVNTQ1RRQ2FCVEFLWkJESUpaQkxJSkpCSklKTkFKb0ZNQXBrRU1nbGtFc2dra0VrZ2swQW1nVXdDbVFReUNXUVN5Q1NRU1NDVFFDYUJUQUtaQkRJSlpCTElKSkJKSUpOQUpvRk1BcGtFTWdsa0VzZ2trRW5neHBmQWU3TnZueWJmaVF2WjU1bVNGK3JvRlBHVnlOM1JzVFBNMFNSd012djI5MmlDU2djcis1NXZLbkxOczcxVTZHWkVSNURBYXZZVERpTklhWHlVaGV5YnArTUxMYWtTbHpQaEp5VktsMDR4TTlXdVFHYVhna2Q5WVhhMTNVdzFaYitvYzJpOWZUSDczYm1VWkErL2Jpc2wwaG5ad1JJb3NjM0JDRm51cEJMb3NtY25MWnFWbTBZQ3AxbTJuemVOL0FhVlBjVjYyNFB5czd5VUpMRFB2cFVTNVl4c2xNMkNoNklFK0VuV3hxRlVmRk5VZWpIN3libkQ2T2VMN09waFZIdVQxTG1ZTFJVUG82ZnoyVm9tVGJHWHMxLzBTMU84WWRwTExEc2dDRXNtR2VoRmRpMFpRaG1WMFNYUXlyeVAwWVUxQVdabU5DWVEyclJGU3RsdmswOHJ3c0hsUzVuL01WaEF5ZWZDa0RTU3A1cFJOQkpvWmY2SEVjWnNZaGV6azVlVUJYMHF1d0tac29SajVNdnMyekhZa1FVczl3N2pWWWdDZTltUmxlaGNOZ3czYnM3TUpXT3BNSFh5VUs0WDFXNG11NUZLdjQxSjlOaE5OVGRXbVhzUlkvVWp2L0hDOHdkamlteHM5T09aaHplMnpLWXEwTDJwTnZScTExMWh0UmhDNmtxZHJjVmRxYWVlS2gyZGQwTy9kaWU3L1JPT3dMNzhsR3VZbzZKM0QvUzl0MEdwblNLcEpBclpwbDRxY3UxREZKZVp6dlRKdXRIQUQ1TFZaYSt3MUhqWjM2MWNaZWY4VmxWbjhYNUVqWGt6aE05RmxrNVNBaWNZdTVRa3ZjT2o5Umg3elRmKzZHUE1ubmhPTXJiaE1IU2E3VGhwSktxemVEc1RUclUxMW53V2J1ejA1UXR6eDMvM3FJaDdsYjJXaEx0dkcrZllJcmdhZHpVcXN6aFB4VTcxRVRFZGNRVStmbTN1eG12K3FFeU1sNFg3akIxS005T3YrVmVaOTc4WjY1UTZ1eEtESlE2QUgvVDNpUk9kRTRLcjdOVnp3b2xpQTlMMmxrNHE1MFo3bGpZRng1aDZkalR2aisvcUtJLzQ2MFFBWi9OaVNuNFdUbzdiMXBtbHVsZm56RlRENjl5Y1dldlRyR2hST2ExNDM3S3ZVVndMTkhZMmprR0Y5ZEpzL2FIU1hnbEk5VkFacWg2VjF6S09LY2NDYzg4ei9VUWFXQ2RpOTZmVER6MUJPRmFLT3dtU215OVM1YWZtaXgrc3ErYUxvVW01cWJKWHlLS2wvcWRKZ1hVaWxuQ1RWamxPT1ZSemJoejhHd3IzeEp4ZDh5ek5ZcGQyRmozVTFxL3YxUHZ2NXdUV2lRdXp1UmFLOWV0M1ppR0dRNmxqdGYvY2VCajhZSzUrK2pEcVRiNU9yQTgzQmRWYS80c1doYmhpcmMvb3JsRmhSdlVrTDlrUktOYlR2Mmt3QWhjS0JiTmkzMVdWd3JreG5pMTl6bExwNnlXSDFvbmRXV3hUUTRUbC9rN1JqU0hnUVZ5ZW1DdmZDdXVYalVIY1RwTjMvNnVtS1QxdVdaeU1ib2t5c05RSDRkTEhGSXFWWFovUnFNWk0wb2NyaTVrYk5ibzZWOU1RUkwyVGxpVHJNMzJIZWpuL2c3SWgrOHI5ZVBLV043dHRxenJiYXNzZkxkN1J3VGIxYkJadzY3UFpPblFiUExOVWN5WmJTQ00ycDl4L1VUVWloZjVvQmJYSjFoOGxsWnk4M0JKK0w3dWIvYkJUUTkxK3hXYzF6OTVVdWg2eEdYM0RHTnZuWnh4bWpsU2lOVStOSzZTMzlsK2JrYk1hVXc0bXpzWnp4VVpVY2ljTFo1MVlaMitQbHZQZm83MldHSjFrQWZoTzA3UEpVcHduYWlmbmFQOWowRUhGdERJN2VVaURkMFZ1bmgyRFdTNDdUdlNpdlg2NG4zOFRjK0ZxaWxPVkk4R2NIR3NHK0h6bWhMTnZlTGZKbzlpcFI1NFhDZzBYYXo1U1VLVHQrZUFraXFBQXFabVA5VU82bDRhMTd3V1NidzIrY3Q3aHdWNG41b3JjQzBSbnpPb3pna1d2Sm1pNUg5U3FRS2dIMWp1aDhOeThLSS9EUjlPUnRKTTE2d1N1Wmw1SnE4N0tJWDN5dWlaZDZ1SnVGTGsvK3RHeTFva241SHE5NmQvalMwc2NtRFU4WS9iaGU1OVhJSzE5MFQwVUhxWDR5KzNhUDMwWHoyYnM3SGtlNkIwZGhFTlE2Z2NlTFp4OWt6ZVBnTk1QWHV0b2Z0c3oya1RTRmZhUHJPc1RpLzQ0aytia1BSUDR4UGY1bEI1NFMvSFc3ejV3b2JsZmVrSHY5WC9td3FJZ01GUWE1V0I3ZVVWTHVJK0ErSTVGeWw0bk51V21SMjFtWCthdUJieDNYQ2ZUSDA5WS9pQVMzMld4aXlndXB0aWI3bysvRmNuNCtaRmJKdm5VazhRRlkrNDhFa1ZZK2hwZUZtWm1ISWEycjV2ZTJqL25MUjNXWXRyejU1ajY4Vy9INWhKYkVxem95eThJREpVbVNndHlQL2dFUGlPUG95V1lheDBLNXB3SmI4S0swYlEvdm9WWnUvZUZ0KzFvb2pLeWVPOExpekdnZzlRS3lCcnVuL1Z0em5kQUd0dE9HZmhQY2thUjRBZFRuRnJkbWszcUR4aDcwMXRLNFBTVkJrWXhqRkp6Y3d3dDhWaDNrV2VZcWdlc1IwTFZyN2pha2l2N1N2M3o3T3FIb3R3NzJUV2hYYnphWEpQOTRIYjBjeVgyVHl3dWdzQlFhVjZtTE9mbjZwa29PdTVjYkxIWGlWVzE2Nk1zdGxYZnNDaUdpak1CY0h5eXVUc0RTOExYUCtjandOaFp3dzQva2ViZnR3ZkVXZlFBNVl4UEpPWDBhb0hibmZnOEFqMS9XdGVORmNJbG5UamNTTkdXYWJLc0xOaGJEVkh1Qzh4VGFuVFBIdFg0RGtzeWtmdzF4OFdDclNBaFlMQTBrVnRoUFRGSUh0dUxvcTVUNXdKZkdoSlNGTlZWVG1IOEMyYkw3eW5hN0FtQ3l6OGJBSW9zK1JjS2JHWUtDWU9pVzM1K1ZQRjNTR2d4ZWNXaDBtV2JUanI5UkVVMmRoKzhDdEhLT3NIYmQwejErWm1QTmxPM0d3TmZMaUM1Vk12ZVRmdHNIalc1UHl2emhFd3I5YVNhVnd1eWtQMVRwVUZncURUbnZXYmJ1cWFqRWRZNkVjb2lkTVh6dWtkc2ZqdXUxRFNDZGdZV3h3VHRTZ0RZTGZ2ZE0rNDZ1V2ZwMk54MmJBT2hOQWJXa25qbUt2dCtRWlA4ZTJkWmxIZU1jeVhldXNSNUdZa2c3a09tZHIyN3JvZkx1OTVTaER5OExzMUpReDFGYlNPTmk4cEpBMk5icWdVaFlMQTBGVml5R3dUVmJTZ3FlSmFOQndpWGVvUG5JTEpyb1l3WXJZYjB0eFVDV2dTaEZMRWoxcG85Zy9NZFZvZmppSnlhUFlzR0xSTXVPT25VRXhmMXh3Y3hqemkvTTNiWmNmZG44cVdKVVZxTExzVUpSVHJCSEpLWDBUT3YrSXluMU9ZYU15ellnV1RCdkM2NGIxekpFREJZbW9qVWJNOE96ZXRJeXZTdzFvbll5dHpoT2FlZDZaK0RSdmd6a1ZLSHRzU2J6Z3dla1dHK1l0ZVBXMXBhT0FLKzVpbTVqWjFLdkttM0VHa0IwTERyK0x0dEs0VUYrcTZWUEx3b0RFRnNSa3lJRyt1US9LM24zL0FydENuaFZMVnY5bHNMeWsyRWVuZGs5Y2ZWUW83T2grTEFVR2txdVdTb0lyWGdhT3lTMVNQcnFnZU9XNitlRTRIUndrUktqVnNtZXZKUzFSU1k0NGxpZ25JYUVGVmpaVmJORkthSXBQcGNOVE1ET2ZoYXcyT1ZvcC8yWXNEREFFRFRZbXVYaFBnNDdmUVdkeGNkcFM2WXJRRDlJNDdIelprYlJMUWxPQWtDUTZVSnZYYlZ0aFl0Wng2eTE0bHRwVjh0ZTVrcUtoemg3MlJLWGZLdEx1MmpPeTR6dWExUDIvVlhZdjdoc21lNWJldzA0c2VzbmJveTA2WW1YaFhhc2htSEhnSUVCc3VaN1JKa3dUOGs5eXcxdHNYMlZHMHRaVkRyeXFYbXh5Wm5SSDRJR0N3TjlCVjVlUEZMUXJYcjdEdXFEanpiMW1GUVYvVk96VUd4c0FkR0oxTnE2TVNXU3hiK2tSRURzc2o5TUk0L0FDamlwRWt3Mnk2TmxGUHIxMDBGYmJCbkd3MlRRN0gwREtSYno3QlVLN0IxT3F6TWlQbitJYm1uMU5qTE9sQ1U0RGgyZUx4Z0hPbW9xR2E2RURCWUdpVDJaUThVaGVnTGpoa3NXK3FodnhkZDlpWVV4ZFBnNTJSS3ZlL3NGbEFONUtWcU1TQ04rY2xWNHFLM1RZME5vcGdMTTVqVmFYTXI3TnFlb2dHeE8yTlF3Y1V6Ny9xWGJ1WU1VNWpkTmxLcUx1OWUrdlI5NnE2YS8xRTlQUHNHY1lISjl3bzllU2hMWnpjSURKVkdxUlcxU2hRZGo2SmJVZlF6UXNGaFNTeFBxNlptK1NKVi9USFl5SHRmV05pTkhpcjF2bnM3aXI1eVorK05xbFMwK3ZsaTc0MEhuQ2Y4eVQxMEcvS01Vci9ydHQ0Yk9pS3pOV1QzQTN0K3ZyUkpTeFJsZXBLUzIwNWFmSnM2V3JUbUc3dG9Xdkd5NVhKZ2VUM0F4YWhQdER4Sm51OTY0T1EybVZweVNtc1VPYzlTTjlYOGozellweXVFaGk3ZHBDY1ArN0s3ZzhCUWFaVGFsLzdvcWhoUVltZERXbTJzSVJ1Q012MVZtNnJRbWgxc2kvQ0J4WFlmdlA3eGo3RlhSWis1OXM4K3I3M3h0ZEpUSC85dzgrb1dsY0xrMzJULzZTTnZ2YTcxOXd2c3hSL09YKzN3UEEza3FjQ2ZWbXhlQk1UWlVpVWx0ejJtK0RaMXRPUVppMEE5aVlMeVlHbEhVcVNqVk41VHdScm01WE05emRpRUdHUjNBcUIzU0I1YktOcUhEdWc2cm8zcjBtTHo2aXBTbGtGZ3FEUU5qbzdnOUpUd1FxcTBMN3lxTE5zSmU2SnZTK2NHVHUxQlJHT0FUZ2wvLzVudEtHcXlEengxUUZxL0kyaVZ2d2xndEM4L2M3M1BwOThIVlQvZnozNFBSVXRpTExWVUVWRXcvaGROOFZTaTVua2JMV2pOT2F1Z3ZVMjl0TU16VmtUYkxLUjBveVd3dENHcm9DV0FOZDE1RlZjSE9kd2VicHBKY0x5VER2MFRXaEtTdm11cG9jZm1JQUliV2J5bkt2YTgwWllhSGdJR1MwUHo1SGxYcml1ODV3cTU2S2VsOVhiV2lkRzZuT1ZoR2pFWU9IcVh2ZlVBdkxiWWY5akRZMEVxMXpIaFJDNktjOHFUNGtnTmg2QTd3SWx5UmQ0SU9WeEdVV293WkllbTV6TFhvRFY3Rm9LOVRWMFYybjdLV2hsWW1LbEZTMkJwVTFLbmllTTdmV3VDTExmNlpzNHdvNkNXYUluWDJmWWI2Q28xSnJKdjZ6cmhBL0FMRUhWNzNxZ3lzWVFMQVlPbFlhaDd0MUNBNU1WdWFwMG9WUEdmaDdMU2JrcXB0NC95VlBNQ3R6NHRvZWZ5RHRRcGFaS2EwajBvODFtL0p1Y0NlU0l1Tlg5TkRJQ2hTZzBWdFIxbXNGSDBiRGRwRUdkVy9xbGE2ZjBHQjY2OTFrWklQOTRFQzZKbXNUbmpEVXVMQWZUd0JTdDVhRkV3dkp0TzVYWDduZzVWNFNvMVVwYkZBUnZiUUVHWDdoRXFEK3R5cGdzQmc2V2pPc2pJSU16SlBwbVkvSTZnbDNNbXptWGh5OEpoaDNmU2JoQktTNmptQ1RMdjVNcndoejVDNGhxYlV3c0JxZFExWWJDakFzY2RxdFJZWjFtTlJpVzBEdHlnMm1TZ2JXc3oxZ0dzV0Q1M2FVZWh6ZlRaQlU4ZFdlTmc5d08rMHVaTVdRdFhSa0lONTB3Tk5ZZmtrcFNyMUZCWnkyaEp1ZUd4cFNzR0JyZTNJV0N3TksxaVZMakN5YlNoTVN0cVhiWGttcEY5NnFubDBvK1JwYzRqU2tyZG9NZUM4SHVYaEZJZlUxN3djVkw1VThMMzEzZVhTdElrTkorbWtrT1ZHcjN1cUN6Zmx0NmpvaktRQzQxcVRDaWJZYkRjei96a1B2ZWVMejF5RncycmQ5M1orNEhmTW9WRjdJRkhpN2UrK01DR3JuMzBObmI3VDBYUlZ5L1kwSDV4OEtSSG9yMVEvT25DOTNiY01tcTk3MEluU0Qzd1NMSDNoZy9aQlhNUDNkVjd2ZHUwLytjRmhhdllkMXI3aHpZZXhlSE0rZ1lWMEQ4djNDR0U4SXVGVzMvVExmTCtUeGJPL3ZhMkE4czk5QUoycTFzZjh0ZUVUbGlZcmxLM2xJdkFNUXJjN3lBNzFkRWxqZ3NOQ0FKRHBYRXZ5b1J6bk13eHVCL2xWMHVLempxUmRscStQOHBoVzd2Sk9xZUVoOUVTKzRFTEtJUWdsYm9xVXFUclVKc1QwcStSRi9KZ0UvNk9oenpYMWFGS2pWN25hd2ZKa2RoeTZlZ1VYQ1cwWU5kSzA5eUZhbms0RmVncG5rSGJnSVJHbDNzUlhpUHg1ZU9EL0VXTTNyOHowUGNWMkp2dWZRRjd1WDI3M09UR1kzLzVZczBTYmVtZEVSaGZabWU5eHRBUUZUTmtuTVpZa0ovbTdXRC9reW0wQkRrVW5SL3p5ZjBxdS9ZcDZQNU94ZGs5b2lKZ1F4a3lRK0VVdTRYUldoOUNPc3ZZZnpRWlVZVHFyaGJZZGQxSTVLM21HVHZQMk90c05NUlB1eFlIRUZlcHU2YTNrQWVHRytMVnBRT2tSSUFEU2hxQXZXWnIxMElDUTZWcHF0YWh3V25raXRmeStwY2IybDVMOTlrZHBWNEh6dlZUcFIvaDJGcXB6MUZTS25WYnRlTVl6U3pycXRlRSswRTNOVVRndG15b1VtUDJkcnNBelhGbXlySjNTRTR6NlJYT0hCVGVIUThTaW9kUzZncDc4Ny84SXlqMlB6SlpVZlRYN0JwZXhQaTY1ZGN0c20rU2tOOWZLTEpORzNPVU9BeU5uTy9XOEhtSm1qdjNrWWw4YmhRcVEzQyt6TmliLytJWGZyWmszbXhiSzdKL3ZCMTlvR21tREhUMlB3ZVozQmV1eGhVNEptV3FiLzlWS0FMNzlnVDd6V2l4WUdrVXJ2UDMvaFRtemFKTmwrMy93WGEwL0cvVnFZZGkyRDhrOTVXNjVvenFJbmN0eVdQYlZRUmdGYmtHQklHaDBycWdGVmw1L2t1M1ZGSzRDQ29GZ1h5eGNBZGxmcjN3UXdJWVZPcXVVV3E0R0o1U3I1bXJLa1JpcUZMRGhxajlSVkZsMVRVcXlKZE91c2ptSTNwRHh2UGN4WkVKKzdINDhJK2ozTE1uMlg4bUtFU2pTaUIxbWwwbERZN3dtaEIvSWxxL3Rrc1FHZ3ViUERMR256WXEydUw0YlQ3RW4zWEtZZ2hxUjhYSkdDc0JkK2ZIcUVCdVgxOTViWW9mODhFTFVLK1ZwRTZ4SHhVeCs4QkM1L2xUQ0xra3U5RXhnRmZZUHdWV1MwOS9VZlJwMXRzQ2FMbElabFdHKzJVOSsxNXphcFo2Q2xUWFV1LzdTbjJPbjhGWXBhRFVwQUYwY0N4NmdjaElZS2kwcUtYdjM1dzJlZjFRZ2tyZFV0UHRBbGtodVloVVBqVmNJNXZZVUtYR3JPUDZFQlhYeWU0NkN3MlFKaDkyVDFUeGFUWmdhbjhNTmpJdjFpaDRvMEpQVGxHdXBMcXFwb3pva2hxbGNMdzJCZW5SLzlaMUF3cGJKQTEzM3NIbEQ3Tk5PenBSRHpPdlZESlhlcG5JdWw5QllPQTZBbFJUeHVGMDNGSmp0TWJZT0FiMWhEQjM2MXhJcDh5MWNKQVU4L1JGcTFCSlNuREp1MmFUOXlaNzMxS1hmYVUrSXcvMUJOUDRDLzBsRGFDMWs2UFVCQXlWMWdYRGtSVnZyb3hqQlpYNmhOb3pXYWRCNFM4VWkwNnJoeW8xdVN0T3ZXaUhOV0ZENnZDSDdBQkRJR2JLZi9NUVU2UEx6bGR4alB5ZWV0T3FiYjNtK0poU0IzSTBkemgyVmVrRkJMeXB5by82TENqMzZDU3B6Ym8zUlBFOUNrL0xSNlZyNGFISkRaSDhId1hoY0ZsR3RNTEVkSlV6WWl2R0ZBMk9mMHlwVytnODZPK3ZDMmxpU3BGMVJIVWxJZVJ1aVhveGg4blJGSlgySklnL1lvZmt2bEkzSGFVdWNkY1JROHpTWCtwUTBBb0NRNlh0NmdOeGI1MFl3QWdxOVFxNTBoVGFOQ2lXbFFpOExiM29FNFF5VktscDBidE5tQ29VamN1TTFRTlNxTU1PNnlpZ1E4UE9jZVBrdHloWEFISGR6MFZ0bHRGN1l2alU5YkJhR2x1cHFacHp2T2IyMytOUjlWb1RGVDN2U2pLWit5dXhuQTc4M1hYYmdWUlQwYURLdUxCT0tBZzN0aDBxY2NwTXV6WGRXTXFnQU1YaDYzYVJFbi9MRUN6TitWSkllVFh0d1dSdVNEenpRbk5Yelk2L3FqTTVUdXlRM0ZmcWZFQ3BNY1RpU2gwRWhrcmJiUWpFdTdIRyswaEJwWTVLY3FMTGM4ZWhMcGNZZFdIM0Z1U1lGcWQ4UTVXYTFuMEhWcldVM2xUcEI0cng1WFlYQ0Ryc0tjejRrNmFBSFFYR2lMOGs0akFJdXdwNlFrNjVsbVV6ZFN1a0lVOU1ucEwvUE5VQTd0d0NlZDkwaSt5THVnbXhpT2UwY25NcUZZOHEyeUlDVGFXQmlCZUZ3SzFKWmozV3J5R2xKcmJKbCtzUVFacnBwUzIzWEhLekRDMUp5d1BWMitUbzhrL2dOMEJRbHpSNmhKUDNsUnBEUDY2LzIzMkFvZEoyOVlGNDA2bzhrQTJRVnVvemxMOGlMZHQ5d25xdWlQUHhZK0swSElPZWVqWEM5Z3BZUlBlZW83OURsWnBlZlRrZ1RCbklHTDM5djFENDNOLytCT0xmb3pMVXM0N0ZNbjI4NlpFN3ZaSUNJYWZ3b05SbTRtOXBuNlptUVRHOWJnSmRIeDhobmlmQU9LR21Wb0swN2lKdGMxY0lBSGhhTG9oRCtmc0Z3N1hrQTh4dmlHZ1ZaZllRQmVNU2drUk56RUpWbzIzSFlrcU4wZUNQbFRWaUZFTmNXZkI5eVRuNlVhOVVGQXlMU21uSHdIY0Q1WFJvcXpHaElkNldYdDY1R1ZQaUtWTHFiVjBBZzRCU1FXQ290QzRZak9RR3VhU2lSRVVJNzZMd29rOHE5eTMvMUM3OGpyTGNNeWhmN1NDVkw3Sm4vajhxOVY2K2dmYXZ4T3VvRmQ5N0VIU3R2MmhTeDByU2VzR0VxMiszc2tRVWNubFd4TjRYMHBldk5tUUpLTFhwUjFBVkhZMkp3QnJKSWdGTVdTYUs2cHM2T2xJRUx6dkxYajdKbGRFZVNaeEEyU0p1VVR5TmNuM0M2eXcwSHMxckNhMmp5QlpnVldtd2VUYUFCR3NiOStOVVNLbUY1ODFMOEQ5OENYRGNMRXRxY2dycldoTmNSUmtjYlBLS2tuVXJseUJsYnd3RDVGcnFVa0NwcFJvTGlvUlBTaDBFaGtyTFluMGUrcVoxbi94b0JSK3E2OTBlcldMUG5aM3ZSQzhvNEF0Mmx3aDVzWGoxZDM2ajFOc1RCZGRLVnovKzRkTEx1MnB6N21mWVM5LzJFM3d6bnhPNFEyRDErd3ZhSFN1UFpsZ1plcS8vU1RUV0Q4aThJbUhsbUZHTGx2U2VsNlBVU0loYU1OK3EwaUFpbkZWazdxbGFhcHNxTnRvVHBrNXEwSEVhTEpobnJERkRKTXFXdXpNYVNSOEw3S2w5RFRWdjErMlJBaGJPb1V6YmpPSDRUVndvcjYvVTlMR3VxR3FhWGhOakEvZlNqSjYyVmZZSjFjcUs1a1d3R1Rza0g2clVtQWJpK3J2YkJ4aFRhajJKK0ZKUzZlUEd1MVFnOTNtUzNYTCtGb2E1aHg2ZHFJaEhvY0ZSVm4rdDBIdGpSMkVqZGZaL2o3cG5YLytmQk9RdjcyUzMvaWxGT1FIVkl3cmJlMktrYkZrZ2lObllUUXV1b25Ud3RDRVRGV09LVlhaWlhrcmtKOE5XZGxINmdpQy9xWEJ4L01EdGptMjl1dzJUTzBxc3EvZFYyalJZb0hYMHNFSjlhcVdHMHFxZEMyZ2M2U1lZdG13eC9BVUNvU3FFZHdBQUZqMUpSRUZVb21WYnN0NjE2ektpSCt1eHdSWlZhVjFiTWR5QjBUMUFvSEJHL2R0cUdrSjU2QjNDcVZ0b1UxdUgrQ0Y1UUtrdFJTeHh1MDFLTGNnUklhbmlRU0R3WTZWMTVjRklOMjdvZ25qcEFndW1NNmlpU213Q2Q2dW5wYzJlQkhXbEgySXdUbXREamFISUxLVkdsMUVuMGpuTUJZT09UdHRFQ2l5b3JscmJOcmtqeEhMWTNKQWw5b2x1MVNGUEJGRHh3UWlFQnFDc1cycTI5RFlpQnBkYXFUbFNhQ2lwT0l3eHYrVk9sUDV2K21NSDBQQm1rS2l5QVlTeU1jdE5zU2JxR29lRWR3WmgwVTZsYlFzNGlQK0pINUw3U3AwUHFLV2FjQVFkcWRSQllLaTBxVDBVeS92dERDR2xEaXU0WGxyWjBjVjQ3U1FDcFNXVkszNSsyYWk1cTlRVjJhdVEwbzRwVkJXcVhnZE5uRGxQRU5BVFB5S0xQYm1MeUw1aFRvTGprSEdyQWV1V3RhTFNxTlZZVTdMYjVKUFNhTWZ4ZnppczY0V3l6di96RHFKRnRSK0xKYklZajBWak03Z0pPTWNMWU1UMC9rUVhOWkdxTmpBR2hoNnlGQXRrTGU1TFhPQkIvUTBDUTZWTlRZSFlDT3ZFUUtuRVFaRGlqa1VVU2FPWUZseEYwVDNhUGRuZlVGRDVYTEZJdVVyZEVyZG1hSzlseHhRQ01aSi9GVkIyOWJjUFRNYW9zYnAxVkVsbFlMaTlvdnVNZFR6UW1NbHl6S1VCMjVaU1U1dTJ1RStDeUIyL0VxU09FbUpMM3MzRmVOQ0VpdHhTWXhLd1BJTzYyb01uVThLTXY2bXAxS3hkREFVY3BOUkYzaFpYZjJrVmhiSkJZTjRaRXFLMHFpZjRYRkpidDhIY21RSEI2WjZwak16T0ZaT014N3FXUDltOEpQSVg1VE95cjZlNVNvMWVKWFVqajN6TEVJVUJJdmVUZXBLQ2VaWFlvQXlNWVYyNFlTUGdKTWx5ZVhqTy90UktYYlFkQWs0VE1yQnNJWGxQRGNCcnZBM3MybTl4SFBkUE5Xd3F3TDh5b3lUNEhYM25RcGJPSzYrRERta1FZZ0lxQlR4WVY2bWJwZ29RTGZMZXhTckJHamxTcVlQQVVHbTNaVjVxTFRES1BKUlpKTkhPUFZNUHhPenFpY2tTc2JyWldZMktIUUdyeW1HUUs3ek1vTHRLTFNWSDZpc0xFU2FnZk1XMUR6Q0ZxMXNFSFQyMHplek5DOEVGVUVxaWlJRDBnWXBQOWdSZjU5eVNOZGZ1Rm9YcVNjVmo3SDkyc1NtMUhsWnE3SFNla2NnMDNEdDByc0MrTFNGNEZGUm4wTTRsaFd0QXNjS3lNZlFHNmlwMTJhbTV5SlVhMVZwQ2tWMFRCSVpLbTVwQ3NYOGRBczRjaG5idW1VcXBhVmJTWktoWXllcFF0ZmRVYjRqYzA3WnI0U28xelo5QUlzZXpJNURwTCtUSjNRVmN2QlJCM3RveEdBTmoySXk0NUNEQThtODZnSkNYN1NFTVRZSXpqMmpka2dHS0Y2WFd2ME8wd2JqNWh2UzZXMEpsb1AwTkdTZkpZUFR0MnpwSVZ4Z3VpUHl1cE8xT1JDdWhXZFZWYW9lZ1pKV0dIK3FTUVhaQ0VCZ3FyY3JOODdQZ2VMazBiRTE3QTN3ai80b0NmME5HQ3JKRXhYWm9YYVdXSHB0ckRraXBoWVArODRqdzhQMks5aWpQaTc2aFF0ZnZlQVhyOWt6cjVZMlVKTTNhY0RITHR1YXBPUjFlZFpNM0FXdTZtQVRYdzBwZE5meVNnRkJMMGRodThmcmxqcWg2RGQzRXd5V2JsY0FodWIvN1VYTjRCZmxONGU0WkZ0RUpORjNTSkJvRGhrcmJETXhySE5MYU1ieFYwVFNUaXNkb2x0ejB3Q3RLbHd1MnB4bFVhbkxjak9TTVVrZnZ6eU9IZ3BYclZSTkw1b3EyZjA3WnpUano5UlNVR3RVOGEzRlRWT004OTNscUFZS2R5eEhYdzBwZE1lMEZCdnhqOHF3M05Ha3lBYnN5dFZJZ3doNlp0ajN0cVdLdXBlNDZSVUNrSVZZMkhZVk9lNUhYa1pEK2p3UkxZS2kwTGpqSEVRaHF5N0JYR1dHYitwSkI1N0hqVHd1QXVSWk5hVmVwcGZ0QjNkUVIyUFFYb2xNdVRQVFpUMUtmK2U2cndZM0hGdFNYMTNXVzNHTFJhVVRxOWpVSE8yUGtPSmphZEpITGpxS1E1M3RHSWl3L1ZBUjZiQXVHZkdwN3dDdHkxaloxbTIrRVFHaVc5d2Z4bUVPZVJYcnR3aU1kT0NUM0xYWGJxUmtFMEh0VXk1YmlnWGdqTno0SURKWFdCZWM0Z2daMkRIdmwrUDZCeVVTTWxOTkM1M20xS3dMbGhOVWZ2bEpMUjRNY3R5MkJUWDhoVDJYbGtmbzVWTTdsYXhBR3h2TG1wRWZnWVFhTmJaeUI1a0Fpd3pQQjFEa1hhOTlSRk5yU013aTVkeUhwdWZwODlJYVV1cWl1ZFBEQmh6VXVyZE03dXJLMjJ4a2YrRlVpYmJLeGtDUnQ5SU5ycVNIaXB3MEd5bThoaGNlT0JnS0Q4eFlDQmt2cmt2TWJjZVZVRE15ZE51OW9aVXhKaWhjRVJzWFp6bkV0TmNxUitwTGp0bVhvQWVyc1NUMFlvRzZ3dmRoSmNUc1IwTFYzaXl4MDV4a1BLZVNSY0pUUjcxTkRKQjdWV2t5cE42eHFsd3JLSFRGQTJOeUFVc1BaZUViaG9CYU1EQnIwQ3NKWGpWQjBLenlKYkNsc2dpN0cvUnhBWGFWR1N0ZkJ2WnRkb0pUcythQXF0NHhDd0dCcHFucStBM2x4QjVwRlNsM1JxVUNrYTgrSUluOVIrWDN1cHFtcjFDMXhza3h6M0k0aHU4Nmh1VmRvU05QSjF1QmdwSzRPeUtOMWZnTFA5OE11K2FoNTQrRFlXV1BjcHdaUG5ramFqdlVqdTNjaGlpN3FxckZ3c0l3anJ4VVRsUThDSEhaWmVkOGsrQzMrVHBVMWRaVnNCNXZUMlhjZ29VTnlYNm14cTJMTU9ZbWY2TlR0dWFRdDJ4Y0NCa3R6VHViNmo2dlVOUDF0RE9JWExUY3lFb2ducExIMTNpeHlsYm9pVFZYQkZtZlU0djZDOVNGZzZBUDBZNlN3cEEvSW85WVpVUUpkdm92WTE3Y3RBaVhMTGJYQVhUUzBUM0RtRGhRQjYwcjFKQUhZWFVzSXREM1N3UzI5SzVwOC9BZUxIWXVuOGJEQ1VJVmdva21ib1VUR2l5WVZQT0RJLzVjcUF2bHNxamlkeE82WmhJNmhMbXRXUUkvU01sQUVKRGg1TkttaFlOUytUVXFFZ01IU3V1VGNScWhMZGpWM3RKRGIwNmxBcEJSM1cvZWxIN3ZDbkxuU1ZlcXk3RDg4Tnd4WnlQRU1yYnM3R3VSK3ZWdURBNUdLMmRPdWJJcjhvdkRRaTBJVEJBeGZ6d2dVanNhNFQxMjFKM0JPQzFLeU5COGRUNnZkcmhRRG91NHZaVklSYk5oWnc0QWdGR0MvbFRDa0tZZHVHM2Fod1NKUjB5dGlDRldWUVBuUUlibHZxV0cwekRBQmVlNkxvRW1ieEFBUCs3TExROEJnYVZWd2ZwK3VVa08ybGpNUzRCcjVjcTVYbWN1a2x4VFU1eXRGeXR2OUtFamIwSFVjMURxSHJsbld1VzZ0dVNTaDhHUE42cGI2Qlk0amg5R3EzbEFoYUZDYndpVDdRR0g1TEJWZXhYMUM3SDVaZGNDNmt1NTF6Y1c5VS9ieWwxT0ZmcHBzWFEvVWFFOG0ybUt4aVRXSHdVTTJselZVVWV1bE05RzUvcDRpNjFwcStNK0dWNHhHYm5pQWNrYWhSMlZwMVlMQVVHbGRjbTRqTk1jWjVpQkhLMlhnS2tiWW15b2hudklUckxTVklYUkxaZ1BWR0NmYUJOMmxERWpPR2hRbERsMnpKRnp4eVV0cXNVZmJValQ1Z2pXNmpHakxieWJMRWtGbk5rWnRFSUI0Ti9rbnlDQ0Q3MjBOUXBOSVU3cEdkeGFORWtvc3FmaTZqSWhVakFVcGl5aE1qRkhxdXRUNWxzVUE5M1FrbVdYYnpUQ2t3WS9sZnRBWnBlWVZObXVURURGTVRDOFVKYmRCWUtpMHFXcGVZOUE5MHh0RGIxT2o0YTdxMHBWZ0tUUDl3ck5vS2dpYi9zSDBLeExRRUxNWWwxMW8zM1J2c1VaQVVsOTdTY2VETGhjMk5DUW4zUmU0dWdROFRtcW5BcXF3ZTFpQngzcENoZmQwZ2U0VlJMczJCRHAzZ2NNT0ZKSit3VjhCU0l1c1FhakFUVDFhd0thd0FKYTNoS2xmZVIvYThpL2JuV1c5djY0bzB0TlQ2aXBmZ1FxRWRia09CMmtqRlRYc2c4QlFhYnV5K1l4RHk2ejFkdDNXdVFERFVFNWFwRnRoUlVxZU5xQTZGcHpjRHoxcFJtMXRHdXpkQ05ndk1oaHJsdmEzTGYzUjFJQm5qTDZBM2lmNm15ZFc1TEJxaVM3cm50RUZ1YWZnZVBwVzFzaFJNRzlJTmhzb0J6RVlTRjJZd3E0Wjdhdld3QVUyQXR3S0l3d0J3dCtDWHM1QUVUYzV1R3lVSDdCekVxYnBMZW9ZY29LSDVER2x4dnpWNEdUd0I0TnhtOGZMdXRmSWw1SldPd1FNbGxiazV2WUpjVnMycEJoYjZidU1ZNmdyd3l3ejZ1eFpHY3RiQzA2QW9OUkcvMHM2anIyMEhWbUFOaisyRUlkWWhhZ1I5MzlxaXFPaUx3d3BEb2xLTC84WFBMem5sei95Y0VsNkI3TExTanNDaGYrRmlieGlKU2VLWWt3OW93cXU4aVVITHMwOXJTQnFMdWdxM2FDdE9uOGd5Y1drS2lPZUtLbGtVV0h5SUFraVVVaDFCV3NxalNlRnRlNUJ0bDByb3NwaE1Ham1BRU10V2dMNmt3dFdOWEQzOTBUUkVEQllXdFUwdDAvMG1QRVNNQU1aQ1lSWWh0NVlkaDBZK00zZ1RZbFkxTjNCQWFUVXFnZWdXc3JVQXF4N3ZDU2dVT3FHcEJFMUF3YU5EbEIwTFFLUlpnd1RaQmxvQm5JWExXK0tiL3h1S05vVFAvUEc5ejBoWm9pMnRyRTAyMThpeWwxai9FNTczSW9SSHF1ZVRxSTJPUlNEUkw3YkNSWHJDRVJJNVlkRnJHNitHbHV4QjNmWmFhbkF4Vjg0em5vTUVyQ3VkUnpkZTA2Z29kZDNSQ3lxNmg0TkFrT2xaY241ZlVDS1N0L0VnWlpzZHBoanFKY1pBa0Q1Q3ZwbFM2SnE0WWcwdVI5S1F5dVcycHIzb1NIRUJ1R2krNVJwV1dXMlF5d0lSVkVSdGVpUndJR2s1aVlJUllPUFEzTU9mMHRibFNSSGdhdWNCa3dTdVUrLzNSczF4VGlGNVZWeXFrdGw3aG85YVN2Rk5KV0IyVzJURWpHSVhqWUxGUndJR05SN1E4UXErcVdldG03N3NpUDk0Q0U1djN2ZzlKSDZaQkQveWtoSEVJZElsY0ZwR3BHSGdNSFNrc2pjUHB6SkNzcW5HeHZpK1AzSXQ2ekFCNzZJdERJWHViaFNQOU1VSFFRVk1BTUhseWlsQldwS0tKUmFqWXo3Z2lxWWQ2c1YxN0lCVTBHeXRNN1ZxeXlWUXZDUHhlTldxQ1hqd2JBUTJPVWxUcXBicFY5bDhtZU1vWm1YZUJhVVdpNitja1hUV2xWUFFhdXRndkFMSVcva3d6NVgxQnZSTVBoaWdHUEVxNFljMHp2eVR4aS9QZVRrY05LcmVZamxRNmFXQ0xmT0d5TFpOWjEzV1E1RnNpaDdDamtFREpaV0JlYjFpY2xLR01jSEh2NWRFZ2RqTC9uVXY5OE9jTHY4cFhzZnBlemVwOTcyNnhURUo1cU11cTU2U3lGWTZtZU9pWS8xbGgzTmVreUs4VzhVRkhKdENqVllMVXFqNjlaZlE3V084YUhCWndWcDNVK1JwVDZsRDg4NWpYWGpKN2cweDBwaHVjUUh6bXJ4V1ZsdXVTZ2dheVdseW5BL3BIci9uMHFKckRwS3FyRVdySVh4VUx3QXdGL3piNitMSEJpQUxjU2dtdnFiM3JuaTYwVGV2NUpXUUtTT3haeWM2SDBQMy91OEFoZk1EL3p1UFI4WGFEanJsTVhRSTFRYkQ0aGY0cEcySmRrZ01GUmFFcG5iQjNwZGRGVFowcEtkQUxzdzZjR2c1c1pWZThHSjhwRFFNMUg1cVU2MC9BWHpCUVJPOTBIR2Z2SXZIdjlqL2ZIOE5mYk1XdUdWQjFIMGVONVlEWnNEK0JBOVI5dWhJblpRTEJUWjdtcisxWFpKR0Q0MWt6amdjUk4vemRnLy9NWXYvTDhsK1NOL0tJNXJTOS84WDMvaFo0dnMrcllnaGgzTnIvYitEQXV6bnhicTdsYlJsQ1BaaHRZWTYxeStkaEQ5RCtPNElQdXI3UHBCOUlHOHBXdjQ1dGFiSVozYy84S0FiRUkxTHF5cUxSVzkvc2VYbEM5UXNZcFViazdpQ1ZFQnh0QWxReklFREpZMlJlWXlCam1JSFoxOWRzdlo4M2ZmZlJjK21PTWFPOG4yeVlJdE1SM3ZLWm1zcVFsTjRuT2xYaXZTTHovMGZzOXRPdlNaZ29LdVFxNTQ5ZVVzS25pN2k2aFNYN3o2SjhvOTU2QWlMNi8vWEpGNDk3T3JXc2NrYU45V0RrVnVndWNIZVdYWGRrelJGY0hFOVYwSmFuK2JYbjNwNGFOYTMxUWdneHpWTFN1cHdGQjBmQzBPdjdIaGZ2Mmd6bm9nL1pwdGhZYm5PeUVkRUg1cXk0S0ZEc21ydmJPMzN5M0MrVnUwVWtPNCtHRUNFT2wxVEhudytzcmRhTEdFMzUwMUlRZ01sVFpGNWpMV3RyZGNwK0Z3TWFUVTBSbytIdldpamsvM0R4KzFvZnlXM3ZzL3ljNis0ZDArb2trN1NtM0FidXdYWXo5a2xGZmVnWXM0ZnVxQlJ3dTMvbzZqcmN2L0hiL1I5Rk9hRXQzU3kvMzNZdS8yMExmYW9JSGFSZFlsQ3VTd0xUNi9kOGVXQnZISXUrNWtMLzB0Ri9TSG55emdJM0F1TEh4STd1TEkxSlBZdENxdzNwNmR1WlpuREFQbGxUWXNDZ0pEcFoxU2M1ZW9CS1E5RVpOQlN6MFJwVkNobkxFN29leStzSUxaUGU2TE00c00ySTV6WGozWUFwWXJYQzlqdEdTZlEvSnc0YzlpU0w2NDQrWXRQM1JuNy9XZmNHRlJFQmdxN1pXYnIrUys0MVJOd2R0YXlLZWVncDViZE5WWktMcDVBMUpRbk0wQjJiUExXbzhmQUdDYldxeG1KdU9penlINVpNU09XS202V0cxUDM2cmdRbkY2c3BMQzRtUkdEWXF6bHhnUDB4QTZFZGZnMDNFOUg2ZUc0MllyWTV4aU53VXVQQ3ZIVTV5NDBmYW4wNGtJWHloT1RNMHZlUEk1SHpKU0d2c20yeU1ocG8yRVRVRnpoVWhVaGkzMGpTbXE3YXJ6bWlsb0hOV2lCWFBaWU1vbUJnNWZwcVJvRlQ5K3hVcU1IbDMzZktMUlN5YU1pU25qMng3SjFuU3pTTm05citBUnY2bVRjRHBIMmxjWVFVanh1eCtUdVF6QnF0cWJRZkF3WUNWbUg0ZVZTQ2tmODVhLzFLMWhtM3FLMm1LRFpBcGFSNndvTnQrZFk0MHBtcGQzWi9wazNZL3l6a1NjTmRtWmljb2xYd2k3OVI3UjVsUnpaUHdtb0VmK0prN2lpa0ZTOXJUdU9ubUpLbld1TUZrZkpiVzFNMW50ZHFsU3pMdm4yOVEyeWxqeHdDSDVXT1dQTWpJT3Y2ZlpWN0pGRTMvenhmY2liZXp4NGljbkl3VlBkajdXaWZ5M1o3YWNOc1B4bTZ4UmdrcVY3VGprc29TUndIcFNCNHBSVkhYdjhlQ2EwbVI3eTRZNUUydXBpNUlHTkVwc0lVRVdScWx2QUU3WG56UXc0UHo5a0FIRlkxbjdjek5jWTZ3ZE9nQkw4RVpDVEhodms2UFRrdkxXOGFicnprUk10dWZrUEJITXczcHNPbTNBTnJWOGpjb0JqNW9vSlNmY1VhdThZZkFxemcyeHFkajJmbEVZamsxQ08rQjRmOFhmT1JpUjBmejhIRkJneDl6ZGxZVHBua0tweHpva0gxRmFSd2F0bkp6WGFYL1dmdWtlK3JWY2R2VlRiMHRFVXJYSnZBK3NWWGNUcVQ4QkluaWp6VG8veXYzWFJ5R2Uzb3ZldGpVaDZWTnpzNjB6WVFQU0xGYnlqa3ltcWN1Nk5vYTVWWVpwQ0txeWErNitpZ0lQZlo2ZWFpazJsUHhZQ083MUpSd3dpdUJhNzlFcFpvZmsvV1dGVnpHVFc4MVpYOEU2amQ4enZmM3U4N2NWM0pkeCt6TXlNR2Z4UndkbTk4MXN4VzdHOVVWTlA2Tm9uM0l0UVQ1MzN3WHhOQ2FzT0Rzazd5ODRyT2FzU2JFLzNrZzV4OW5lU0hnelEycE9kV1NYTUp2bDVCdzljTmJNRHNuNzlrOXMrZElYYzRTTWxYa3lqT0IzTmNIdGx4R2FQd1FGQzhPdElTaGpaQ2QyWkRaR25UY0tLamFhR3NueDZ2em1TM0prSjZWMFl1Q2I4Wk5TbmJRY0x1VTFKaTBiSzdmRzFIdVpzYXdNZ0IyOVRuSlNjSDZkS3pteWsxTHl6dTBuSlpOUU9WeEltSFJWR09kZ2NhcGJxM0Y2UndxQ04wVVRiTSt4dVRxNlhaVmYwRWl3Z2RPUXd2Wkhjc3VYNktOenMxYzVqVXpTS1l2My9CTWtuSnVyK2I3UDl4TVRiTzk0cEVxSnlucTh1bThtYk56UFNPbzZFeGRiN2ZvY1NhK2MxRVh4aE5wVVMzUldUSWlwSTBnR1p3RG5rbXpXcVRueVA1YTh1eFpKdG5NaVdsaVViMDFVTUNzMGxnU3dJdDhacThBdzVHYWlobjlZYlFQenU4RlA4Z3dza200bVRsazMwNjBobzA0U3FFMzE4a1ZBaHNma2h4UURXVE1HTGV0ZldaeHh4WDJydzBveDI0ZnJLNTNrTW9xSlg0NW9mbDl5M0UxRjZUNzlxZENweUNSWldIM2xOVW1hR1MxZkFyakZOc1h0UjU4YVQ2L01pNm0rZkNuSTMyRUMyOWxLY1FiaWg1ZlhTTHFhU3VJVWsrYncwT2poVHNMV29WViswMVJjWlJQZTZSd2dvZHoyZ015Yk93c1RZNko3VFRlM05QdTF2aDc3RmtVL3pBeWVoQVQwQjlxVElKYlJDRXVna096UlM3aVNES29sMEUzd2pReE5OSXM0RXNCbDZvWUR5QkxwU2dDdmJXNmxXME5HSFVjdnU1a1VaaWdCN0ZSblRuWEs4cTVuTjJ4U2xyQlB2ajdWcHo1OGFsazZMZ0hZamNsZTBvNlR5aUNqU2VCNHRsTTltcUFteHNJdTljN0VoYk9DazBqQS9TMnNTU2hrWlFaTG9HMi8zandZTmN0TlNBTDViTDhwSVVuMklWUEtCTnhITXVtQlc1a2hTVSs0b0p4TmhhbUtOMHdjMzJuYUNlZGswQ1FrY0RFN0NVaENqR1BTeUdlTDh6RWxOaFo2UHJ2ZE81YThra0crbU4xTVNFYVFRU3JaUkJnVVM5cEFYR3JhUzd1T201ZCtPek1aaDlMNXRXeDVucDdjaTltSmJYckNIVUQ1WkxhVUdTQ2Q2YkpPc25sNVJXVzZkdHg0cFV2Wng1WFM2clJLa3A4TFNvdkpJMG4zdnNUZkN6MlNZcHFnVWZpS3pjNEV4YklpMDBzZ1Y4aEVQNzBVUXhSYTJhZGdRMktaQ2V4eU5rbW1JbWRZaTB1cEVNNklEcGZBYWlISkw4ME9yKzltd2JndnUwbDlpRjE5T2R2VlMwUDZwY3hRcHlIV0VXbm1pdGtiUnlPS2FneTAwNWxIUFlhMGtrZTlQL00va2hmcWlkNVdqT2ovRDJ6ZVB5aEhQdFFXQUFBQUFFbEZUa1N1UW1DQyIKfQo="/>
    </extobj>
    <extobj name="334E55B0-647D-440b-865C-3EC943EB4CBC-5">
      <extobjdata type="334E55B0-647D-440b-865C-3EC943EB4CBC" data="ewoJIkltZ1NldHRpbmdKc29uIiA6ICJ7XCJkcGlcIjpcIjYwMFwiLFwiZm9ybWF0XCI6XCJQTkdcIixcInRyYW5zcGFyZW50XCI6dHJ1ZSxcImF1dG9cIjpmYWxzZX0iLAoJIkxhdGV4IiA6ICJYRnNnVENCT1hHeGxablFvZUY5cFhISnBaMmgwS1QxY1lXeHdhR0VnWEdaeVlXTjdlRjlwTFZ4dGRWOU1mWHRjYzNGeWRIdGNjMmxuYldGZlRGNHlLMXgyWVhKbGNITnBiRzl1ZlgwclhHSmxkR0VnWEYwPSIsCgkiTGF0ZXhJbWdCYXNlNjQiIDogImlWQk9SdzBLR2dvQUFBQU5TVWhFVWdBQUE2a0FBQUM3QkFNQUFBQjFCOFdOQUFBQU1GQk1WRVgvLy84QUFBQUFBQUFBQUFBQUFBQUFBQUFBQUFBQUFBQUFBQUFBQUFBQUFBQUFBQUFBQUFBQUFBQUFBQUFBQUFBdjNhQjdBQUFBRDNSU1RsTUF6ZS9kdXpKMmlabXJWQkJFWmlMRFdYNWhBQUFBQ1hCSVdYTUFBQTdFQUFBT3hBR1ZLdzRiQUFBZTVFbEVRVlI0QWUxZGZZeHNTVlcvYjc1bmVxYm5yU0xFWU5LenV3SXFTcy91dzZCWnd4M0FQekJvZWlBbUd0RDB4RWpVWU95bllNQ1AwQU5Ha1VUdElSb2lHTFpISVNINmh6TXVtMFZjMkc0TkNTWWFaeEpqaEpqWXpTNEVnZWpNNjFsNSs5NnlXLzdxM2x0VnArNUgzYnJkOS9aTTQ3MUo5NjJQVTZlcXpybFY1NXo2ZEp6L2wwLzFIZTRyVDNuTnEyOW5QM3lZSndsKzdhVjVZaXR4WmFEQVlvT05HTnREaWphN3ozZGtTRzBDWFdGc1Y4Ui9jWFFvbk9WN0NoUVlYUHluODdmc2FjZFpHUDJIczk1NEpyOHNlNHdkQ214MWRpNmM1YnQ0Q3F3dzN2dTIySUhUdmU0NEd6WFZ2Q2JPdThYWWNZQmtqWlZjblppZUdSQzBYOEdCNTlqZDVWdDRkeGk3bVNHeEdiVEJMZ1RBS21QYndsMitDNmZBeG1qSTgxaGhGODNuSFFkTkNvMDJyNmZPN2doVWM0enRDM2Y1THB3Q1o5LzBzbGhpckw0UDBRcXU1dFpXRnhsN1RwVC9qSGtkdmZDVzcySXBVUE9adUFGMkRubEh6Rmcvcnd5QkU4M2Zmd1llZXVFcjM4VlNZR1BrNDBkYmhSYk0yNnJzTkNmT0dMSjBTeURwc2lBakVWQytDNlRBWE5CSHdyVGtYWEhWelZIOG9lSHZpS0xYdlk5RytNcDNzUlE0MnZMeG81R2VjOWY2WC92K1BQNGhTL2NDUEZYR3ZxRlFvbXUrNzhhTkJ6SGtzYXNDUzFkK0ZHZ0V1dEVtWTlmRFdOLzQ5SEU0S0pNZnNsUndEWHo4WDVXV0MzSHZ1Umlxd05LVkh3VzRpc1FmMHE3OEFQVEdreG81WGNZRUxvalljK0htN3lmYWFMeHZvU0dsTzBjS3ZDL0FkUlRWZlNGcWR5YktpY2hTS21JOW5DZGtNSEdpVE1yRUJncDBWTHNTVUJDMXA4SXQzOVYvam45aTJoMlZwWkd1b0JYTlQrWlJPdktpZ012NGVLSDJyTE9ZZ1g3WGs0Y3hmMzB0TGZkUVdUcFFJdGFIYTVRNmNZUmd1UWRVR0xzZFFmcTFZU1RJaWVHbkg3UVhnYVd5dEJ0dW1wcE9IRWxhQnVSQ0FZei8raU9IYWRqZW5zRFdlNGVSbEZTV0VoSHJ3V0V3a2VqRWthUmxRQzRVZ0dhazZhaDVJQ1d5bElwWUR6V0dzbkxQTDQ4eWYydmhtSTh4VnlldDRVREpVb2hZT1NMc29ZVW10ak1wL2pKOUdnVjZPVTdWaUx5SUxLVWp3bDcwcGhwMkV1RGxPM2NLSEVYTjFZbnpJTElVSXZaQXc5ZFU3VmdMTHoxNVVxQ2oxcUxraFpiS1VvaFkzZlJ0aFhYaXZISXQ4UkFLdUdvdENnbWR5QWxaS3RWcWlOaWhocXcwVnpWeUZPT0J1U3BHSEw0UTVQRForMTQ0V1Y2NnVjcG5WeGNmbGhoTGMxV1NvamdIek5XN1B2WktNQ0QvS0x1SHZYcWlES0ZXYndzRXZvaGREZklBZjB0elZaQ213RGZNMVdkOTlFdit3R0hGUFhCcWtUSEVUQ1dBV3IwVEpBaEU3RnlRaCtPVTVtb21VbVlHL25TZkoxSHRhdDZmM0Y3QStHRkhMZEhPakJZSm9GWUx2VGNRc1UzWmRrdHpkUnlLV3FkWlpxTmRBTVBRMlBIVG5MemNldy9BZ01aa3F3MmhWdC8wY1RyWC9KR2s5bjdnZHpaTGMxV1Fvb2gzMng5VEFnY0NpdGYydkd6Y29lUFVSWmdYa3ZuUGxUaDVzOTFDK3RxaFFJS3ZxQy9jNVR0dkNrRGdlZU94ZGRGMk52ekY5aHRZYjRpNDB3bnlnMW90MmovUFpZY2psT2hhTTIrdWZyUXZLNVBtcVA1QUdrVE84UkI0WEZGZHdwNjRmUTkxc09aN0h0cnFjdGpHekpZMzN3VUExUHlCMU9ib2w5V2ExRVowTnRlRG5KbS9GWC9IZzExNTNSMDd1THlnb1B2eVpZQm56M1g5ZGxWeGZWSFkyK0lMdnZrQzRiRWZqdnBaUDNYM2haNkluWk9ERXVqY283TzVZK2QwR1FtN1dlWVJQM0hyZUtwbEROWjJOdzdPZkE1OEltaE9UKzA1em9rd1ljY3JFVytnUHVzV0xoNzN1TW8xTVA5Qmw2dzRMQUpuNmIyUVNTMm8xaCthYXVXcTdHTFBjVll2WUVCeWZxN1hkMVQyM2NsbVFIdmdxbGYzZGZmRk1KS3VPOVY2WHlCSHgzOHUzSTd6TDhvNUs2N2FjNWxLMnJ5WWJtTnQzVHAwMWx4OFNtMzJaODdmTlVpL0NHM25JRlBSUThEUWV4dnNtU0dRWWl4eWdUM252RW1NU2VJem9yTzUxY2tHTzBMWlNtL2xMeDlrRngrV1hqaHE3TDc3SDdqbm5udjQ4dkt3Y0xrR2ZSSFBSVjhtcUxnakRuM2pQcUVkeUJoZS9wdkVsKzVjaTY2MVRrODBBY1JhbmQzUDd1QkwycWl6QjltdHZrS0Y5a1I4S3R6VzFXRnNzY1pHSUMzUVZMbzRtMkJmSnNYRW5DTExDbG5VTHlFbWRsUTZQRzlHMUUrTVVxcEg3cXNOTW1vR1Vkc3k0M1VKZkM3RGhLTWQvaWhFUk5LN3pYdkNLVDVySDZqLzBDN1BiK08xbzlkN2ppRHpheE51ZDNMUkhxby83NDVlNUNGZGZNL294MVd0enVnWHN4bm9WQ282RDllQS9Ub2tTb1AyTjcvdy90ZjRuSHJCaDk3MzFsQWVTKzk2Lyt0NHBCTDNsVi8wQXRpdFArMkhZSjExb1FhR0l4TDk4MXdudlFyUDJXUnFLanJ3NURZNG9PWnFhNmVBNmo0NmVodkh1aGF5b0RCU3llN1FiNWRtM1VLazFnaS9pb0RmcFJDQis1SE1obnoxcXF5OWE0ZFdHc1hVemhRRWN6VlorZTlTWXJ1SEpqemp4Vldob1huUEVlbjNFUUNCN3B0d2NXZ2hNMEltZW9POUpBNXdqR21QVnJqTGo4TTdoYkI2Y3ZWdGNvZTVlcDRJUjgzVkRUWGlsQWlmT2VKSkljY1c5RytMbTF1SFNkamMzMEhzUG8wOVlrUHFEZHdiWTN6dmMwU1JpRUU1clNBb0M0ZU84OUhodVBtQmZqdEphVFZ6ZFU2cHhrbndtY01yL0RBRTcxblQrOVFlK0JiRVJGNFY5bGVJMVQ3RmsxZ2gwdE5aSDBFVUY3Q2hmMTF4SU5NSVcvV1VKWGM0Ymw2ZzMxNVNXczFjN1NaMzFFbnBVOE1YcEhpRWVEOG00RWVNOXYwa0FzNDFkbHduQjFud3lNSHpPb2p2NjJvbzR5Qml3dHhpN0xlWW5FeEJQYjdrWlhGOGFYQmlXRVJJemRVbGJ6YkhWSkl4NGxyYk1wSGU0MEowRXBOY0FubU9sUXNZN2ZyeXJjNTFIY1R6TGNyRlFER1JpVUZIeVQxL1lwcjhJNDU0bDdHYWJRaUZscUp0TUl5b3VkcktLSEEyL29qbUV1OWVKT0tRV3NhTzQxTGJKWlI0L2hrSEhZemNSODFqM2IwUURQY3VaTFpyZUtyNUlyNWVqampUMCthbDZPRTM1bE5qUW1HSklqaFQ1dXFuUWxwbkZEZ1UwcFNkYXlpQ2VJUDFIRHhFSHlHRFR4ZWNKSkhUdSt1cHlBY3FyS0t4V0lRM3h4Q3JmRTFQckl3V1NLZjBidkZCcnNicDJMbUZKSlNHcHkyRjNXTUdPYWNsa1o0akM2SFFVaDBuRkxOOW1kWTdJMHpGcVhEUGRmUXNoaGZrUEJNUFdvdlZyQnF4dkE0aGkzZ3JocjRyQWx4WVFCTXFiTEF5Ylp3OFFKL25FOUk5OFZPZzNkY2ZmL3p4Sjk3OHEzQmw3T1FINlFmOFZPcTdNbXVZelRlbEJ3ZkFhVjRWd1YyZGJhK0hKbkozSmE1ZnFPaWlWOGRoOEhXdmdtQmRRQS9jZWNoUVNuTVVwdHkzNGlGcW9DeDlubzBIU3dxMTRPb3lZUWI0ZUtoUWNYTzFyN3k2eTkySDBzdG9reUk5dVFKZFN0YTNGRkNNNjJUS0kvd3hSWUJBY204MUpwanN4ZnF6ZzFpOG1EblJudEZlUEZoU3FBVlhlOFJXMnRUczB4NnlUa0pjNGV3SE9Qa0tLQ0taYkQ2eEU1SWdzWTdOTWRQRkloczdjT20xMzMwNGRtSk9udFB4VXh0U1duQzF2YVBTRHpTbDdjUWd4bUd1OGpNNjZSemgwYmxDSkYzTk1kdmN3cGh0WEdaOEJSeWczN0NRWWxod1ZjM084emxWS3Q3YkJuTjFtYXRoZk4yY2F1bWRuWmdxZEtpZ2pvbFBDdG9ZVXg0bjRidU04QmFWVDNrV0lKMnI2MFNmZ3RLMlQzS3ZHY3pWYXhoMTRXdWd5UmhEckxscWtNd2twNmdUSDh4dU5IUzJRbzZLTXMvU3VicEt0TmhIdEFhU1pxNkN4RWRvck9pSnZhY1NwMW5oT3dtaXM3N2M1Q0hVcktndUMzN2w0clNZck5PNXVrbjYzSWJXQVhOejlIcFNzVTQ4WlJ6RFhwTDRzZWJxY3ZKQWNoTG1JTHdMVzdGODRpbVF6dFdqYlprU1N5ajcwdU90Y0U0V2ltMHZHVkxJZFVvcmNRUHkxeUpLaisyOU1ZUGtZUzFTUmd2blkzOWN2LzhqeHhhQXN3T1N6dFhPdnF4TlM1LzFocm1sY1ZuQ2NVZHRuLy96VHZxYjNJRm5ublRsZmdqK045bGQ2ZlljMXZmR05Ja2VwcVBJNXZzWXBpQnc5UDB3VzZxckRaM09WYmVQc2I3WHNkRUR2LzBwZGt1cit5WllsbGk3d0U3dHFsVXVQY0ZlbXVZa3pCdnJlMk0yc3c2ajBXeVYreS9ZNkZlY1Npc2ZaQXJ0NWJwU3VWcmgyZzRXaWRiQlFpa2kvVEtmR016VjlVQkphaUxWMEFlUE5WZmJvWDdVL3Q2WWVjMTBIcGVLWDJLalE2U3QxcEpHZWNaRmZLbnBVcm02Qm1sWVpROC8vc1MvUnRiRHRkUE1WZFNNOTlJMy9Sckd6cTQycE5qMWdlenZqZkhYSVV4SVBDdzRlSU9INGhGaGdYM25oQml2UlBKVXJxNXdhZWcxMUpGTFJ2OTQ0V3RLWmticTRwdXIzcEdhWWdUYkRiaXJ3WWFXYzJXNE53YmpWaHFtc1R4dDBlQXhiWEhJTVN6R3FYUmpvYjdNUktsY25lZlNjTzM5UC9wanY3ZjdTRWo0b0JtZUo1VjlVOHdkNFlQd25iSG1LazduM0tjb010d2JBL1Y2U0pONjdzclB4Qi9NaTlBb3NEZWllUkRnY0psbmlpM0hxWFNSYks1NlFDcFhlMTVsdldwZ09HZEk2bU0yVjRXVmkyN2FuOEtOTlZlQmNvK2dkR3ArZTBiSHlMUGkxbTZmUmxNM1dsYzA3aEdrU0hqaVp0bTd5bHB1K2VNODNrZE1zNWxKZHlwWGo2NnJlbmxULzlLN0RQTDVUSkJCeXRIZUN0eG5nTnJsN2xoekZWL0dhUURJWDFudWpjR09FSnJVeHdJRkx1a2g4NGtpUjlSQWZIdzRVdDhiR1cxdWljaFpmcWR5dFVNWU42ZDF3V1p6OVNDZ0NsL2U3N2xqemRYUTdxTXM5OGFnbVpPaUJibXRlaHBBTEdOL0pNb21mQU9uSWhUOXdpSGM3WDBSTU12dlZLNXljMVU4SzZyRFF0QW1pSGNzb3NKdlNTN2VUM3VkZUt5NWl0YXlTNUptdWpjbWNjcVpJRFE2OFYyb21RdDhmZnVBcGhOVXhzUlhPaktOcStJVU1LOFNhRm1FQi9qU0V4WEdkU1dCM2NBaWlqVlhvY2dPQ1gweTNSdGpHSVFtS0ExT2REWkNwL09HUDdld1AweXgyWkR3eWtlbGNaV2JxL0tCS051WEhyN2FOMUZoWEZiVWFRVXRJdFpjeFZKbTJ0d0ZpODlDU2hReVJjTTZVSGx6MThSY3hXZTVKVkZDcFlhTVhZalRxU1RNekRqU3VPcVpxNkkyb095MmNLZVlxM2NrWEE5ZDhDRjhzZVpxaUt1WjdvM1JDaU96eStCQUw3SW53YUZTdzRZNzg0U0ZESnhWUnhwWE5VMGZZL1hucXFMZ1ZpSU5wTGtxVjduRW02dVFaclN0Q3VTZDZBZ0RJRTlGdFArdWs1YW14OWo1QXZNcEFJYjh2NHVGa2Z1QmR4TzF1OUpQdUk2YXBkNFpVYk45R0laMWVvU052Tk5UZkl5YXE1OVJxVS9RbXdVUDM1TU9YNnk1eWdjVUJSeDl1MUdKSGIwM1psS3VZb1VrV1F5TjZqeUhibjRZRkdQbXVKckpVcWZtS3BkdGlsdFJjN1d4S3puVDNwSk9wK2F0Y29rMVZ4TzRpajRoS3JHL05sUW9QWmRMTzQ1UW5JMzNUTXNGSDk4M25OVm5STUtaNCtwSmNzOFN0ZFNwdWNvUHJGVnROV0t1THBKbVZ6c1E1QkdyWEdMTjFRU3UrakpPWVloM1RkcFdXM1NsSEsvYmJhY3BQOXFaNDJvbVM1MmFxM3lIaGVxUWViMlBLYjFYbElia1VCbm9yM0tKTlZleGRVckg0ZU9EdmFQeW9WbG83anBWM2JRWU80L0wySmFDOUxncUxDc1ZQSnV1RkcxSk0xZjVuV2FLRG1qeVJDeWg5cHZRSVlPSG1LditRcGh0SjlaYzVmdXJ0Qy9EVHcrSmQxMmdTbjVQeUZXK1RHTkhZWWQwdVIyY09xa0NaOVdWd2xYTlhPVThVTlJ1MDBXaHZQcURMVWtFWXE2S1ZTNng1bW9DVjN0eGc0RVN1WERRd29pd0RHODBUbUxZY0ozaGRqQmpsQUhKRlFWTjRhcG1ydkpqTVE5a1BXcnlGUG9naUJpazEwaG43RGhkdnNxRnhFb1VudGt6Sk43QWVSUTNIUk1CMDVwYUpEWTFBTUtiOVJVVTV5clZCbFRNRExwU3VLcVpxMDR2bUZyMjZnbWlLTlVKSVl0a05KR1lxNGhCWDgyK1RpbW82QVJGdXE5OHd0V0o3WmRGYlBCR0Q2bytNUmxuUDcvS2x6L0taRjZQTXRJbENvbWNOV2NLVjNzYTR3YUVEcndEMjZhMVhTQTBVYm9raDBBVFo3OUpLYWlTb2NFY0twOXd1U0dKTGNLMU54clhUUzJBZXpKWWJWREpTSW05MVpCcTgwZ0U4V3dGcEhCVlRLTDRsYUliM3ZtbnZrL3JTZzlvYVczUkdENkk4ejEwUEZsRjR0czRWYjdBaFZZbzdNWXZCRUV4OThaQUlZOG01ZDFDd2hPMjJ0Qk4wREp4NVNuNmxVVEtOaHNCS1Z6bFc0dmxnOWFoMUZ6WUpIb3pjMG16Ymh6SVJOekI2UndkVnVBeG9HV1VsR2pBR0x6em8vMTMzTDB4Z09yN3NlUS9nOVdHei9JT1NZbEMwcVpMWTJiUG5jSlZsM0lWWC9kMVdjTk5jT3BZK3ZoQkRUdktGMnBGa0pQa2UxQmdjSVVhdkJlSHZqSDRRa3ozeG9BclF3MVZSZzk2RU5FamVDbEQzb3pZcmhhNG1hc1ZZcC9pc0JJNnZkb01mZHNucE9YU1ExOTRkYy9BMWZQNGVydmtRM0djVC9jNUZPUnc4REdaN28wQjcrTlJXb2FpNXdseE5iNDdzVVIzcGNETVhGM1RtTkdoWkdqcFJLblVDWTAxY3hYVjViMjFhdVZhL1J2MHU4bDBiOHpDcEQwbXVTT1RGeWxKU0dqRm5SR1BtYXNyZEw4RU5KdUhWSzBhVXZoNVlVOVNJVFVmMGt5NGFYaFRKYVd1bHVoc2VXRGJaejQ2N0gwZnByYm52ZDFoekwweGMvUWI4OEd6L1hlMHorSnY5SzgwRzZxckJtM202anpkTnZzSUd3MVY4Y0Vvb2g0dDFxbmdiSWI3c25xY1p1UGhvbnVnMENkNmZRT2c5N3hJNDcweFBhRlNxVEpsYzUzUkxod1ZvTjlsTmt4WER0ck0xZDV0cFJkV1hOcHcrZXhxSVB4UXB3cGEyWmFxVzAwVFdBaHZVUUlxT0xqb0hpaHVBUUduNWIweFRmYThoaW16QjNLaEx4TzFicmM5UTJmMVZBWlpPbERveTNpTXBUTno5ZWdocFFNOVJZbkFCM0JGTnduOFB3ZWY2bUlmWmFOalBkT2VaaHJTdUFYU1FxRC84RVpxZVcvTWdINUhGS1d0RzZyQWpvQjk0NmpmOHpya2dRd1NVU252TjEwR1M1R25zVmhtcm5iMjJ5OFBra00ydmxwaHd0WkEwVTA2em44M2VNMTJSZXhqZGNhK1Mzajg5MnFDdWNvbmROUzZOZGdxWENCYjNodlRqUnN3MUxOTjhSM0pQdnlyd0lXbU80VDRQa3hKRkk2dThicGZ3aE11aCtZM2M5VTluQThPaWFwMFZhUDZ6THMrVk9QMStON2ZmK2M3My9tdUQ3amNMVFNQNm0rODF2UGUrOEVoeVdlUlNsMFNqcVdhSGkzOW9HejN4dFJEUnJHRzFzb2p4ekUreTc5Q1NQVlRaeldrNTZYaTRaTG9VaDVqeVl4Y3hkN1ZhdjBIZWZwcWg5M3FDMFRkdUdvRVN5NTV6K3cvK3dLY3Yydm4xRWZkZElRcXk3MHgwTWhEM1R6RmF1ZitCM1lIUFF5NkdxOXJHYkNIcWpYUk5ka2g0RHM1dDIxQnB3aG41T29hZEtXbjJFOE1Lei9iWUJlSHNsVHZGWXlqN3hmNzBlaFJjVzNOalFmcm83NkVoK05OKzlSSDNiUWp6WEp2ekZLaXFLYllVOXh0eG03VTJjaS80Z0hLbXB2NStEbzYrSktTMlJTampWejFabGU1SnNUWXEvQlJGL0tjVUtVbnc3MHgvS0tteVo5Ly9IYjJnSlFWbi95MmUwK3pvcXdwSXlGcjBnTGhqVnoxWjFjLzk1b0hYdjl2aFJWaExsSGswaXlqOThiMHFMbE1RYWZxWGt6N3R0YmZVNzk0VVgrcVpVSm1ScTcyeURoRFVRVmJWbHFZSVl0MnhEaHRFY1BLa0xEZ0tINlVyT25CRldSNFJyOWxnaWtnenNoVmJURndBWmx6bEppTHM4Qk1UTXNBMmxXbWxFWDZva0NhWmtXODZsNzg4djk4em8yYkNTNnFSQjVlSTFlMXhjQkZGYU9yQmpvU3M0RDljS2pmRzFQTlExbEt6TTg2b3F1czdiZzB6UXV1am9SbmN1TWc4dzBibUtTOTI4ODNzMWhzWjBuVE9RUTZlbS9NaXBVNEppZ0tjVmJwT0hrMGgycjlEVjVnTTNhSlZSUSt0NUFUdXNvamhGVmZEQnlLek0ycnpRc2xZTzN4K1JudDNwaWVHdTFMU0RPTjRGV3pXTDBXRUJkZFRSNEt1MzJOcm4xZk1xeStHRGdaYnJLWWluNmRWU3l5NkwweDdTc2hWcy80dUhYeWd3c2wvS2VidzVCSmNqYlpZdlRGd05uU1pvQzJZRkNidDRrZWZ1S3BXR25PQXJxd2Q4Yzh2dFhZRDNJK1U0UG1oWlhGRnJHK0dOZzJWV2E0K2ZSaCtzaTlNY3RYd2xxdEpFNWFlRVRBN1N3M2ZXcGdwOWwyWnJvVWxLQjNYaEJpSGUxNnV1TFRoQlRWN28wNU0xc1VlZ2FGK1ZiTTN4YUdxb1BSY2F6akU1MXhZWVd4UlR3TmM1V1hwV00yRHdBUnVUZW1abER5YktzM09WelBQQklDSlNrb0pvYVluNTg4dTN3d1RNVmNSVkhuemNRQlJQamVtQTJXZFc0bEg0cUVzTFROWWhWemU4SEVIdWI4dmhsS2UybmVxWmlycUozRmZkYWhlMk42WkczS3BaRUh3MkxobFR5aHNyaGlXaDV0OWFyczlwaU91Y29KY1hSeEhLSkhpcmNSeUtzVXNJS2psOU82MVMrSjJ4SXd1blJWZXVDMXJPc0N4aWJpa3NYd0VrVytrdHBsVStqQzNIUHB5bnVRTjFiUGJCVldqR3lJMTZZM0h0SytrNmxvcmFsOWI4Wml0ZmhDSjZ0bmsxMk43OUNxc0xrQkxaTVZpdWxJMTZ6YlNEcXVTU0RxMXQ5aWk2ek9taVRIR1V2Ynl0SXZORk9VbENuVmZjTmVBNnFuNlZWVEt2S1VzMW5MTUt4Yk1RKytUcTNrY3hnYXNYdWdBbS9aUVg2TFFmM1gwTHBDbFlldFFRc0ZIRmgvaVRoUjJxSjZObGZNRjFxaEVqa280RnJyYkRXcnZycHBqYThrZjJFVVdMTWVMc0pPazc1Rk1XeXVtTGRBVTRKTVFvRjVheU03ZEJGYlVxYkd4VVpKaWNyd2ZDbHdaTlVBa1NmdS83VWFPaXU1bWkrRHhzSm12YjU3WUtrcmwxd2Rpdys1SmxvWEkvZHBXRGZNVStzcWVjbFZSWXZMY2xsdm14clk5dFFsVnkrTGx5cmZsUFhkRW5DRGJ2dVZvWEdPa3F0eFZKbHVXQ04xQVlkZm50YlRucXBrTWNSUWNuVzZISXpKTFhYYlZKQm1LWmlKbUUrZlh5MjVHa1BuNlFhbGJac1NwV2tGeDlsc3BxL3NzK0JxOWVPdnE0OWUxQmZJeTNmT0ZFaFozeTF5V3hKckladlhSVkRpTzUyclg4RStMRHlqZHlmaUtDTW1va0EzS2xZcm4zL1FJN3IzRjJ6TmI0bEZhTzJEMU94U3VmcVRFdjFlS3JJU1lBd0t4R3liV205SW9uUEhGc2U2Sk9acVBtMHhlNWpHMVU5eHRLTWIvUDlLckpzZGcyeFhQRWwwZmZlaXk4bXRIaytPdHRoOS9La2p1Sjlhb3hTdXJ1TUFpejk4QzFiUi9qVFE3YVZpS3dHeVU2QVhXWkxUVmd6MVhEZUJGRXYyNVROTXpTU0Zxd1Ayc2dBSDBCNm1ZaXNCc2xNZ3NtM3FpNXg5OS9OR3llN2h6NGM1empiM0JrOTZIbWF1cnBPQngwZGZsbzZ0aE1oTWdjajY3aXI0K1V6ZmNUNEdIdTRLZE5obkl4L1Q1dThBM3N6VnM0dWh3RnUraTZGQVpFdmVrMktqMUlDcEdScCtnSzU0N3FRWHhNelY3a1BwR0VxSWlTZ1EzamFGcGhvMEphelNIM2Z2aFpHclZkVUZURlR5TW5FeUJkcWg5ZDA0VS81NkFPMk92VWpVeU5XTmNsRlRNanR5aW1HaERyV3JMTWlCT0tjemMxWkdyaTZIRDlMT2pMNU1rRUtCSmZhOEJnRUJLZ1BPeGo0Q291U3FSdFJpUFl0UjlPRnRVN2p4NmxSQWJSSWxXSVRadlkxY25kNVdOcnZDempwVTl6aFNnMVpJZGFIM01vQ3JoNUVFVmdGR3JsWkNXVnBoTElHU0tQQlVaQlFKQjM3cnFnc083VlBiaE1CVjJXNlRjTXJ3REZmTXQxN2hWRC8vSi9lOC9tMHljZWtZbXdJUW1Wdmh4T0Z0VTFqRnJXQXl0ZFVNbHhVdXNIK3ZlOGJ2YnJnNHBUOHpCZHI2dFQxZStuazEwT0Q1ZTNTMC9TeUxYRDBSZ3hUUnQ5NGRJSjhHRy8zQnNmTllPYkNmbVllUkJMaTdTQmt0SWphOHZudkFpUG5hcEI2Ukl1bWQ0YkpDZmlidDZBWk9IaDhtSVN2RExTbXdYbjhCMkJydTg5elE5Q2FPcjFmNFdsWW40eXA0NVRKcVMwNzNkdVdYTUN2L3lsS3VLb3FONldyZDVpUDBCM3JxeUxZcDdZYTVMb3V1a3REVEovbU1YRjBZaGIrdEpEUmxlQW9GSGgzMW5WcmtXTFA1ME9sMSttRks5ZkM0VTBvZUt0ckkxYzZWT0dCS0ZYYUdYWjBYNDlRZ3JTWHl5b1N2eGNBazlybXNKRTdPdWlzOWNBeHdaOGlORzFnTmtUN21iK0xxUmtRTTBFeEtkeFlLYkFCNERrcUtuaWE4YlFxR3piYUV3SnlOWWpGQ0IrakJ2ZWZWRWlUSlllSnFUNnhxUzBwY2htZWlBTmlrRHl1c2t5RUhEeE1PVXpxUUtERjdzeU05M0ZINUNoQzg5VmdMaS9lWXVHcXhSREVlYVJrYVN3RitpNzFxaWdDSnJPOEdJL2RrMHJQSXVqT2NVYW4xeVJJMDdEQnd0Und2REJOclVuOG5kTEprWk52VU5kcVkyK0pBU3BsdHVFK1dFV0dIZ2F2bDdHcVlXSlA2MGZxMDJkVEl0aW4wd0ljaUU3UnNPU2NYaENGNlIwUWIzd2F1VHVsVWRXUHh2clVpd1JVNm5yTW9UbktXdGFTSGVjQ3RaS3dQc1VrN2FKa294bUhnNm9KZEh4NkR0QXlLcHdEa0lwMjJpVjZMQVh2MVVDUTlpNTRCMFl3T1RnbG8vVzNnNnJ5YUU5TFRsTDV4S2VEU0tSa251bTBLdmU2ZXdOMklkTUNHMjc5Rm91QnQ0T3FDdHI3bHNWREMwanNHQlZwMCt0VHBScy92YmtqQmlRNzRNSnhESTZJL2hTRUN2NEdySzVySlhMT3hreEl5S1lNRENrQXdxdEg3S2xsQ0x5aDBJcTlLR0VTRXJ1T0lsY0lDT3ZGdDRPbzZsUUhMbXZLV2lLNk1NRklBRFpEMUJVUjAyeFMzWUlPanhhbUVGUWt3UFpBK1dPZ0JHN2pxdU9UdzhsWll5eFpabGU4TUZNRFFydXhpbmZENmJvNm5JaVk5Tyt3bEVielc1cXJ4MHRRVDloMEM4OStyVDB3RWxlOHhLTkFnUm1oazJ4VEg5NlRQelRleXA0Y1I5TmJtcXBHcjZDOWU5VThjOTV2Znk4b2g0UWlSeHdrNHdjNm9JRjFrMjVRWFhuWFp1NTNLbjdPTGZoUTlwUEplTkRRdXhOUURPeDEwR094K3ZwbmR1L3d6TG4wWmxva0NHT2dWTi84bVhJdUI1U2YzNC9LYTB4aTBUVnR6MWRoV2NSaWllRzdHWkZJR1phY0FwMmpBc0Y1azZNaEhoK3ZMNy8xZ3JNSFJrbDlFV3NiR3R1cDhzdTZ4OVdJdkRVMFpiMGtCMEhQYkI3Vy9Ga09ndGpaWHpXM1ZjZGJmOGVEb2dZOE1CZDd5UFNrRjJuTGF4djVhREpHbnRibWF4bFdCc0h6blJJRXpjZUhia3EzdEtUT0d1V3FyczVwN1lJbXhkT1JFQVRsdFkzOHRoc2paM2x4MUJtb0VTNlF1M3dWU2dFL2I3SFA4Zzh5THd2QkJYTGNzbWVtS2VVc1VKVmdXQ3JqQjh0SFF0aWtMRkZqTWR0TUNqSU9ZcnBpM1JGR0NaYUhBd05kNU5xeGxwRVFPa2R5WG50SnhwU2dRTEIrMXZ4WkRsaDdmZzNRNzYwUGxMbDJYVGdFczVPWVRwK0Z0VXhibElpZEdPTTZacllpMVFGeUNURXdCdm53VUhIR3phNmwxT2gvYjJadTRKQ1dDSENuUTVkTTJhK3h1VnBTWXhTUG1hblFaUlZaOEpYeWVGR2p5YVJ2cmF6RlV6aGhDUHBlK3BjaE9ZeGxWT2k2REFsakp6WTVQeEJpL2ZRbFdxYms2bjdtcDIyZFVRbzVCQVQ1dHMxZlQxb1JaWWRITTFZRnF0bGFKUzZDaUtZQjVzTzhQYjV1eXlGTXpWK3Y3RmlsS2tDbFNvSTBOaitTa0Z0dWNCOFJjWGMwODNHaWJTd2szSmdWNjZJSnRsNnFRTEtpNTJzcmVnUk5NcGJNQUNrRHRZV053aFppclM5UnlMYUNFSmNyc0ZPQ25mcEExdVpZSWlMbGE2VVkzYTFoaUtjRUtvMEF0Y3VxSFJWWVlhWHpXQjZ1MHFJMWprYlFFbVFZRmp1eW4xRVJ4S2w5dVkwanFjVHhmL2pnK2l1eldya0JVdm91aUFDelA0Mnk0K2NpRjltUk1ueTIzRW5vY0NtUlhkc0pjZmVrNDJaWnBDcVZBUmUyMUtUU2Z5MEwrZjU4U0YvblFSKzdHQUFBQUFFbEZUa1N1UW1DQyIKfQo="/>
    </extobj>
  </extobjs>
</s:customData>
</file>

<file path=customXml/itemProps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10256</Words>
  <Application>WPS 演示</Application>
  <PresentationFormat>宽屏</PresentationFormat>
  <Paragraphs>662</Paragraphs>
  <Slides>57</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57</vt:i4>
      </vt:variant>
    </vt:vector>
  </HeadingPairs>
  <TitlesOfParts>
    <vt:vector size="72" baseType="lpstr">
      <vt:lpstr>Arial</vt:lpstr>
      <vt:lpstr>宋体</vt:lpstr>
      <vt:lpstr>Wingdings</vt:lpstr>
      <vt:lpstr>Segoe UI Black</vt:lpstr>
      <vt:lpstr>Times New Roman Regular</vt:lpstr>
      <vt:lpstr>Times New Roman</vt:lpstr>
      <vt:lpstr>等线</vt:lpstr>
      <vt:lpstr>等线 Light</vt:lpstr>
      <vt:lpstr>微软雅黑</vt:lpstr>
      <vt:lpstr>Arial Unicode MS</vt:lpstr>
      <vt:lpstr>Cambria Math</vt:lpstr>
      <vt:lpstr>DejaVu Math TeX Gyre</vt:lpstr>
      <vt:lpstr>Times New Roman Bold</vt:lpstr>
      <vt:lpstr>Office 主题​​</vt:lpstr>
      <vt:lpstr>1_Office 主题​​</vt:lpstr>
      <vt:lpstr>第5章序列到序列网络</vt:lpstr>
      <vt:lpstr>绪论</vt:lpstr>
      <vt:lpstr>绪论</vt:lpstr>
      <vt:lpstr>绪论</vt:lpstr>
      <vt:lpstr>绪论</vt:lpstr>
      <vt:lpstr>5.1 循环神经网络(RNN)</vt:lpstr>
      <vt:lpstr>5.1 循环神经网络(RNN)</vt:lpstr>
      <vt:lpstr>5.1 循环神经网络(RNN)</vt:lpstr>
      <vt:lpstr>5.1 循环神经网络(RNN)</vt:lpstr>
      <vt:lpstr>5.2 长短期记忆网络LSTM</vt:lpstr>
      <vt:lpstr>5.2 长短期记忆网络LSTM</vt:lpstr>
      <vt:lpstr>5.2 长短期记忆网络LSTM</vt:lpstr>
      <vt:lpstr>5.2 长短期记忆网络LSTM</vt:lpstr>
      <vt:lpstr>5.2 长短期记忆网络LSTM</vt:lpstr>
      <vt:lpstr>5.2 长短期记忆网络LSTM</vt:lpstr>
      <vt:lpstr>5.2 长短期记忆网络LSTM</vt:lpstr>
      <vt:lpstr>5.2 长短期记忆网络LSTM</vt:lpstr>
      <vt:lpstr>5.2 长短期记忆网络LSTM</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5.3 Transformer网络</vt:lpstr>
      <vt:lpstr>本书代码请参考： https://github.com/vsislab/BAAIT </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Xiaolei LI</dc:creator>
  <cp:lastModifiedBy>Radar</cp:lastModifiedBy>
  <cp:revision>243</cp:revision>
  <dcterms:created xsi:type="dcterms:W3CDTF">2022-09-25T12:33:00Z</dcterms:created>
  <dcterms:modified xsi:type="dcterms:W3CDTF">2026-03-10T14:15:45Z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7A90BC37BDA09971AAB510638E17671F</vt:lpwstr>
  </property>
  <property fmtid="{D5CDD505-2E9C-101B-9397-08002B2CF9AE}" pid="3" name="KSOProductBuildVer">
    <vt:lpwstr>2052-12.1.0.25225</vt:lpwstr>
  </property>
</Properties>
</file>